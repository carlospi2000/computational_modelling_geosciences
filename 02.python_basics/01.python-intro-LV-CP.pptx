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5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341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068" autoAdjust="0"/>
  </p:normalViewPr>
  <p:slideViewPr>
    <p:cSldViewPr>
      <p:cViewPr varScale="1">
        <p:scale>
          <a:sx n="121" d="100"/>
          <a:sy n="121" d="100"/>
        </p:scale>
        <p:origin x="1904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0240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5385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5223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4682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138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124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769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972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635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691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968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4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9388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5620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9123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61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2995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44067" y="1016634"/>
            <a:ext cx="5737859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0404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9915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33348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g"/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.3/library/functions.html" TargetMode="External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python.org/tutorial/" TargetMode="External"/><Relationship Id="rId2" Type="http://schemas.openxmlformats.org/officeDocument/2006/relationships/hyperlink" Target="http://www.python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ypi.python.org/pypi" TargetMode="External"/><Relationship Id="rId5" Type="http://schemas.openxmlformats.org/officeDocument/2006/relationships/hyperlink" Target="http://docs.python.org/release/2.5.2/lib/lib.html" TargetMode="External"/><Relationship Id="rId4" Type="http://schemas.openxmlformats.org/officeDocument/2006/relationships/hyperlink" Target="http://www.python.org/do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125" dirty="0"/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600200"/>
            <a:ext cx="6475984" cy="4680127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Introduction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Running</a:t>
            </a:r>
            <a:r>
              <a:rPr sz="22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Python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Python</a:t>
            </a:r>
            <a:r>
              <a:rPr sz="22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Programming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416559">
              <a:lnSpc>
                <a:spcPct val="100000"/>
              </a:lnSpc>
              <a:spcBef>
                <a:spcPts val="1005"/>
              </a:spcBef>
              <a:tabLst>
                <a:tab pos="698500" algn="l"/>
              </a:tabLst>
            </a:pPr>
            <a:r>
              <a:rPr sz="2200" spc="8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Variables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416559">
              <a:lnSpc>
                <a:spcPct val="100000"/>
              </a:lnSpc>
              <a:spcBef>
                <a:spcPts val="1010"/>
              </a:spcBef>
              <a:tabLst>
                <a:tab pos="698500" algn="l"/>
              </a:tabLst>
            </a:pPr>
            <a:r>
              <a:rPr sz="2200" spc="8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Types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416559">
              <a:lnSpc>
                <a:spcPct val="100000"/>
              </a:lnSpc>
              <a:spcBef>
                <a:spcPts val="994"/>
              </a:spcBef>
              <a:tabLst>
                <a:tab pos="698500" algn="l"/>
              </a:tabLst>
            </a:pPr>
            <a:r>
              <a:rPr sz="2200" spc="8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Arithmetic</a:t>
            </a:r>
            <a:r>
              <a:rPr sz="220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operators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416559">
              <a:lnSpc>
                <a:spcPct val="100000"/>
              </a:lnSpc>
              <a:spcBef>
                <a:spcPts val="1000"/>
              </a:spcBef>
              <a:tabLst>
                <a:tab pos="698500" algn="l"/>
              </a:tabLst>
            </a:pPr>
            <a:r>
              <a:rPr sz="2200" spc="8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Boolean</a:t>
            </a:r>
            <a:r>
              <a:rPr sz="22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logic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416559">
              <a:lnSpc>
                <a:spcPct val="100000"/>
              </a:lnSpc>
              <a:spcBef>
                <a:spcPts val="1005"/>
              </a:spcBef>
              <a:tabLst>
                <a:tab pos="698500" algn="l"/>
              </a:tabLst>
            </a:pPr>
            <a:r>
              <a:rPr sz="2200" spc="8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Strings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416559">
              <a:lnSpc>
                <a:spcPct val="100000"/>
              </a:lnSpc>
              <a:spcBef>
                <a:spcPts val="1000"/>
              </a:spcBef>
              <a:tabLst>
                <a:tab pos="698500" algn="l"/>
              </a:tabLst>
            </a:pPr>
            <a:r>
              <a:rPr sz="2200" spc="8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Printing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Exercises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20" dirty="0"/>
              <a:t>What</a:t>
            </a:r>
            <a:r>
              <a:rPr b="1" spc="-245" dirty="0"/>
              <a:t> </a:t>
            </a:r>
            <a:r>
              <a:rPr b="1" spc="-335" dirty="0"/>
              <a:t>is</a:t>
            </a:r>
            <a:r>
              <a:rPr b="1" spc="-254" dirty="0"/>
              <a:t> </a:t>
            </a:r>
            <a:r>
              <a:rPr b="1" spc="-10" dirty="0"/>
              <a:t>python?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861131"/>
            <a:ext cx="7924800" cy="39312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ts val="3354"/>
              </a:lnSpc>
              <a:spcBef>
                <a:spcPts val="95"/>
              </a:spcBef>
            </a:pPr>
            <a:r>
              <a:rPr sz="2200" spc="17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spc="2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200" spc="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Object</a:t>
            </a:r>
            <a:r>
              <a:rPr sz="2200" spc="-1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oriented</a:t>
            </a:r>
            <a:r>
              <a:rPr sz="2200" spc="-1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language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ts val="3354"/>
              </a:lnSpc>
            </a:pPr>
            <a:r>
              <a:rPr sz="2200" spc="17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spc="2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2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Interpreted</a:t>
            </a:r>
            <a:r>
              <a:rPr sz="2200" spc="-1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language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ts val="3354"/>
              </a:lnSpc>
            </a:pPr>
            <a:r>
              <a:rPr sz="2200" spc="17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spc="5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200" spc="-1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Supports</a:t>
            </a:r>
            <a:r>
              <a:rPr sz="2200" spc="-1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dynamic</a:t>
            </a:r>
            <a:r>
              <a:rPr sz="2200" spc="-1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data</a:t>
            </a:r>
            <a:r>
              <a:rPr sz="2200" spc="-1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type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ts val="3350"/>
              </a:lnSpc>
            </a:pPr>
            <a:r>
              <a:rPr sz="2200" spc="17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spc="2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Independent</a:t>
            </a:r>
            <a:r>
              <a:rPr sz="2200" spc="-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from</a:t>
            </a:r>
            <a:r>
              <a:rPr sz="2200" spc="-1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platforms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ts val="3354"/>
              </a:lnSpc>
            </a:pPr>
            <a:r>
              <a:rPr sz="2200" spc="17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spc="5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Focused</a:t>
            </a:r>
            <a:r>
              <a:rPr sz="2200" spc="-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on</a:t>
            </a:r>
            <a:r>
              <a:rPr sz="2200" spc="-1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development</a:t>
            </a:r>
            <a:r>
              <a:rPr sz="22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time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ts val="3354"/>
              </a:lnSpc>
              <a:spcBef>
                <a:spcPts val="5"/>
              </a:spcBef>
            </a:pPr>
            <a:r>
              <a:rPr sz="2200" spc="17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spc="1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2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Simple</a:t>
            </a:r>
            <a:r>
              <a:rPr sz="2200" spc="-20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and</a:t>
            </a:r>
            <a:r>
              <a:rPr sz="2200" spc="-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easy</a:t>
            </a:r>
            <a:r>
              <a:rPr sz="2200" spc="-1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grammar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ts val="3350"/>
              </a:lnSpc>
            </a:pPr>
            <a:r>
              <a:rPr sz="2200" spc="17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spc="6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200" spc="-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High-</a:t>
            </a:r>
            <a:r>
              <a:rPr sz="220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level</a:t>
            </a:r>
            <a:r>
              <a:rPr sz="22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internal</a:t>
            </a:r>
            <a:r>
              <a:rPr sz="2200" spc="-1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object</a:t>
            </a:r>
            <a:r>
              <a:rPr sz="2200" spc="-1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data</a:t>
            </a:r>
            <a:r>
              <a:rPr sz="2200" spc="-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types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ts val="3354"/>
              </a:lnSpc>
            </a:pPr>
            <a:r>
              <a:rPr sz="2200" spc="17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spc="6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Automatic</a:t>
            </a:r>
            <a:r>
              <a:rPr sz="2200" spc="-1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memory</a:t>
            </a:r>
            <a:r>
              <a:rPr sz="2200" spc="-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management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ct val="100000"/>
              </a:lnSpc>
            </a:pPr>
            <a:r>
              <a:rPr sz="2200" spc="17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spc="4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200" spc="-2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It’s</a:t>
            </a:r>
            <a:r>
              <a:rPr sz="2200" spc="-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free</a:t>
            </a:r>
            <a:r>
              <a:rPr sz="2200" spc="-1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(open</a:t>
            </a:r>
            <a:r>
              <a:rPr sz="2200" spc="-1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source)!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210" dirty="0"/>
              <a:t>Brief</a:t>
            </a:r>
            <a:r>
              <a:rPr b="1" spc="-215" dirty="0"/>
              <a:t> </a:t>
            </a:r>
            <a:r>
              <a:rPr b="1" spc="-225" dirty="0"/>
              <a:t>History</a:t>
            </a:r>
            <a:r>
              <a:rPr b="1" spc="-210" dirty="0"/>
              <a:t> </a:t>
            </a:r>
            <a:r>
              <a:rPr b="1" dirty="0"/>
              <a:t>of</a:t>
            </a:r>
            <a:r>
              <a:rPr b="1" spc="-225" dirty="0"/>
              <a:t> </a:t>
            </a:r>
            <a:r>
              <a:rPr b="1" spc="-35" dirty="0"/>
              <a:t>Python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7867" y="1981200"/>
            <a:ext cx="7587933" cy="411670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364490" indent="-342900" algn="just">
              <a:lnSpc>
                <a:spcPts val="2590"/>
              </a:lnSpc>
              <a:spcBef>
                <a:spcPts val="425"/>
              </a:spcBef>
              <a:tabLst>
                <a:tab pos="354965" algn="l"/>
              </a:tabLst>
            </a:pPr>
            <a:r>
              <a:rPr sz="2200" spc="114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Invented</a:t>
            </a:r>
            <a:r>
              <a:rPr sz="2200" spc="-1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</a:t>
            </a:r>
            <a:r>
              <a:rPr sz="2200" spc="-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the</a:t>
            </a:r>
            <a:r>
              <a:rPr sz="2200" spc="-1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Netherlands,</a:t>
            </a:r>
            <a:r>
              <a:rPr sz="2200" spc="-1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early</a:t>
            </a:r>
            <a:r>
              <a:rPr sz="2200" spc="-1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90s</a:t>
            </a:r>
            <a:r>
              <a:rPr sz="2200" spc="-1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by</a:t>
            </a:r>
            <a:r>
              <a:rPr sz="2200" spc="-1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Guido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van</a:t>
            </a:r>
            <a:r>
              <a:rPr sz="2200" spc="-1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Rossum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675"/>
              </a:spcBef>
              <a:tabLst>
                <a:tab pos="354965" algn="l"/>
              </a:tabLst>
            </a:pPr>
            <a:r>
              <a:rPr sz="2200" spc="114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Named</a:t>
            </a:r>
            <a:r>
              <a:rPr sz="2200" spc="-1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after</a:t>
            </a:r>
            <a:r>
              <a:rPr sz="2200" spc="-1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Monty</a:t>
            </a:r>
            <a:r>
              <a:rPr sz="2200" spc="-1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Python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710"/>
              </a:spcBef>
              <a:tabLst>
                <a:tab pos="354965" algn="l"/>
              </a:tabLst>
            </a:pPr>
            <a:r>
              <a:rPr sz="2200" spc="114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Open</a:t>
            </a:r>
            <a:r>
              <a:rPr sz="2200" spc="-1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sourced</a:t>
            </a:r>
            <a:r>
              <a:rPr sz="2200" spc="-1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from</a:t>
            </a:r>
            <a:r>
              <a:rPr sz="2200" spc="-1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the</a:t>
            </a:r>
            <a:r>
              <a:rPr sz="2200" spc="-1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beginning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355600" marR="612140" indent="-342900" algn="just">
              <a:lnSpc>
                <a:spcPts val="2590"/>
              </a:lnSpc>
              <a:spcBef>
                <a:spcPts val="1045"/>
              </a:spcBef>
              <a:tabLst>
                <a:tab pos="354965" algn="l"/>
              </a:tabLst>
            </a:pPr>
            <a:r>
              <a:rPr sz="2200" spc="114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Considered</a:t>
            </a:r>
            <a:r>
              <a:rPr sz="2200" spc="-1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</a:t>
            </a:r>
            <a:r>
              <a:rPr sz="2200" spc="-1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scripting</a:t>
            </a:r>
            <a:r>
              <a:rPr sz="2200" spc="-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language,</a:t>
            </a:r>
            <a:r>
              <a:rPr sz="2200" spc="-1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but</a:t>
            </a:r>
            <a:r>
              <a:rPr sz="2200" spc="-1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is</a:t>
            </a:r>
            <a:r>
              <a:rPr sz="2200" spc="-1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much</a:t>
            </a:r>
            <a:r>
              <a:rPr lang="es-CO" sz="22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more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355600" marR="5080" indent="-342900" algn="just">
              <a:lnSpc>
                <a:spcPts val="259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2200" spc="114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Scalable,</a:t>
            </a:r>
            <a:r>
              <a:rPr sz="2200" spc="-1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object</a:t>
            </a:r>
            <a:r>
              <a:rPr sz="22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oriented</a:t>
            </a:r>
            <a:r>
              <a:rPr sz="2200" spc="-1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and</a:t>
            </a:r>
            <a:r>
              <a:rPr sz="22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functional</a:t>
            </a:r>
            <a:r>
              <a:rPr sz="2200" spc="-1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from</a:t>
            </a:r>
            <a:r>
              <a:rPr sz="22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the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beginning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670"/>
              </a:spcBef>
              <a:tabLst>
                <a:tab pos="354965" algn="l"/>
              </a:tabLst>
            </a:pPr>
            <a:r>
              <a:rPr sz="2200" spc="114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Used</a:t>
            </a:r>
            <a:r>
              <a:rPr sz="2200" spc="-1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by</a:t>
            </a:r>
            <a:r>
              <a:rPr sz="2200" spc="-1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Google</a:t>
            </a:r>
            <a:r>
              <a:rPr sz="2200" spc="-1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from</a:t>
            </a:r>
            <a:r>
              <a:rPr sz="2200" spc="-1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the</a:t>
            </a:r>
            <a:r>
              <a:rPr sz="2200" spc="-1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beginning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725"/>
              </a:spcBef>
              <a:tabLst>
                <a:tab pos="354965" algn="l"/>
              </a:tabLst>
            </a:pPr>
            <a:r>
              <a:rPr sz="2200" spc="114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Increasingly</a:t>
            </a:r>
            <a:r>
              <a:rPr sz="2200" spc="-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popular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8600" y="762000"/>
            <a:ext cx="7543800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z="4000" b="1" spc="-75" dirty="0"/>
              <a:t>Python’s</a:t>
            </a:r>
            <a:r>
              <a:rPr sz="4000" b="1" spc="-195" dirty="0"/>
              <a:t> </a:t>
            </a:r>
            <a:r>
              <a:rPr sz="4000" b="1" spc="-60" dirty="0"/>
              <a:t>Benevolent</a:t>
            </a:r>
            <a:r>
              <a:rPr sz="4000" b="1" spc="-229" dirty="0"/>
              <a:t> </a:t>
            </a:r>
            <a:r>
              <a:rPr sz="4000" b="1" spc="-10" dirty="0"/>
              <a:t>Dictator</a:t>
            </a:r>
          </a:p>
          <a:p>
            <a:pPr marL="359410">
              <a:lnSpc>
                <a:spcPct val="100000"/>
              </a:lnSpc>
            </a:pPr>
            <a:r>
              <a:rPr sz="4000" b="1" spc="-195" dirty="0"/>
              <a:t>For</a:t>
            </a:r>
            <a:r>
              <a:rPr sz="4000" b="1" spc="-225" dirty="0"/>
              <a:t> </a:t>
            </a:r>
            <a:r>
              <a:rPr sz="4000" b="1" spc="-20" dirty="0"/>
              <a:t>Life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17843" y="2590800"/>
            <a:ext cx="5060315" cy="29906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“Python</a:t>
            </a:r>
            <a:r>
              <a:rPr sz="2200" spc="-7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is</a:t>
            </a:r>
            <a:r>
              <a:rPr sz="2200" spc="-5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an</a:t>
            </a:r>
            <a:r>
              <a:rPr sz="2200" spc="-35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experiment</a:t>
            </a:r>
            <a:r>
              <a:rPr sz="2200" spc="-45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in</a:t>
            </a:r>
            <a:r>
              <a:rPr sz="2200" spc="-55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how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much</a:t>
            </a:r>
            <a:r>
              <a:rPr sz="2200" spc="-11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freedom</a:t>
            </a:r>
            <a:r>
              <a:rPr sz="2200" spc="-12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programmers</a:t>
            </a:r>
            <a:r>
              <a:rPr sz="2200" spc="-8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need. </a:t>
            </a:r>
            <a:r>
              <a:rPr sz="2200" spc="-4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Too</a:t>
            </a:r>
            <a:r>
              <a:rPr sz="2200" spc="-7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much</a:t>
            </a:r>
            <a:r>
              <a:rPr sz="2200" spc="-65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freedom</a:t>
            </a:r>
            <a:r>
              <a:rPr sz="2200" spc="-85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and</a:t>
            </a:r>
            <a:r>
              <a:rPr sz="2200" spc="-9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nobody</a:t>
            </a:r>
            <a:r>
              <a:rPr sz="2200" spc="-85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can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read</a:t>
            </a:r>
            <a:r>
              <a:rPr sz="2200" spc="-35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another's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code;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too</a:t>
            </a:r>
            <a:r>
              <a:rPr sz="2200" spc="-35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little</a:t>
            </a:r>
            <a:r>
              <a:rPr sz="2200" spc="-5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and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expressive-ness</a:t>
            </a:r>
            <a:r>
              <a:rPr sz="2200" spc="-35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is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endangered.”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Times New Roman"/>
            </a:endParaRPr>
          </a:p>
          <a:p>
            <a:pPr marL="546100">
              <a:lnSpc>
                <a:spcPct val="150000"/>
              </a:lnSpc>
              <a:spcBef>
                <a:spcPts val="5"/>
              </a:spcBef>
            </a:pP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-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Guido</a:t>
            </a:r>
            <a:r>
              <a:rPr sz="2200" spc="-35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van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Rossum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400" y="1600200"/>
            <a:ext cx="2845307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Language</a:t>
            </a:r>
            <a:r>
              <a:rPr b="1" spc="135" dirty="0"/>
              <a:t> </a:t>
            </a:r>
            <a:r>
              <a:rPr b="1" spc="-65" dirty="0"/>
              <a:t>properties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898717"/>
            <a:ext cx="7055380" cy="3494546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  <a:tabLst>
                <a:tab pos="354965" algn="l"/>
              </a:tabLst>
            </a:pPr>
            <a:r>
              <a:rPr sz="24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4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Everything</a:t>
            </a:r>
            <a:r>
              <a:rPr sz="24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is</a:t>
            </a:r>
            <a:r>
              <a:rPr sz="24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an</a:t>
            </a:r>
            <a:r>
              <a:rPr sz="24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object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24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4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Modules,</a:t>
            </a:r>
            <a:r>
              <a:rPr sz="24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classes,</a:t>
            </a:r>
            <a:r>
              <a:rPr sz="24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functions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24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4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Exception</a:t>
            </a:r>
            <a:r>
              <a:rPr sz="24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handling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24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Dynamic</a:t>
            </a:r>
            <a:r>
              <a:rPr sz="24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typing,</a:t>
            </a:r>
            <a:r>
              <a:rPr sz="24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polymorphism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24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40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Static</a:t>
            </a:r>
            <a:r>
              <a:rPr sz="24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scoping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24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Operator</a:t>
            </a:r>
            <a:r>
              <a:rPr sz="24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overloading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24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4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Indentation</a:t>
            </a:r>
            <a:r>
              <a:rPr sz="24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for</a:t>
            </a:r>
            <a:r>
              <a:rPr sz="24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block</a:t>
            </a:r>
            <a:r>
              <a:rPr sz="24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structure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5297" y="820817"/>
            <a:ext cx="6675933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60" dirty="0"/>
              <a:t>High-</a:t>
            </a:r>
            <a:r>
              <a:rPr b="1" spc="-70" dirty="0"/>
              <a:t>level</a:t>
            </a:r>
            <a:r>
              <a:rPr b="1" spc="-240" dirty="0"/>
              <a:t> </a:t>
            </a:r>
            <a:r>
              <a:rPr b="1" spc="120" dirty="0"/>
              <a:t>data</a:t>
            </a:r>
            <a:r>
              <a:rPr b="1" spc="-220" dirty="0"/>
              <a:t> </a:t>
            </a:r>
            <a:r>
              <a:rPr b="1" spc="-5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887628"/>
            <a:ext cx="7543800" cy="4139723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Numbers:</a:t>
            </a:r>
            <a:r>
              <a:rPr sz="22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int,</a:t>
            </a:r>
            <a:r>
              <a:rPr sz="22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long,</a:t>
            </a:r>
            <a:r>
              <a:rPr sz="22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float,</a:t>
            </a:r>
            <a:r>
              <a:rPr sz="22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complex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ct val="15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1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Strings:</a:t>
            </a:r>
            <a:r>
              <a:rPr sz="22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immutable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ct val="15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1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Lists</a:t>
            </a:r>
            <a:r>
              <a:rPr sz="22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and</a:t>
            </a:r>
            <a:r>
              <a:rPr sz="22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dictionaries:</a:t>
            </a:r>
            <a:r>
              <a:rPr sz="22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containers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355600" marR="5080" indent="-343535" algn="just">
              <a:lnSpc>
                <a:spcPct val="15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Other</a:t>
            </a:r>
            <a:r>
              <a:rPr sz="22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types </a:t>
            </a:r>
            <a:r>
              <a:rPr sz="22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for</a:t>
            </a:r>
            <a:r>
              <a:rPr sz="22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e.g.</a:t>
            </a:r>
            <a:r>
              <a:rPr sz="2200" spc="-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binary</a:t>
            </a:r>
            <a:r>
              <a:rPr sz="22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data,</a:t>
            </a:r>
            <a:r>
              <a:rPr sz="22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regular</a:t>
            </a:r>
            <a:r>
              <a:rPr sz="22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expressions,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introspection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ct val="15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Extension</a:t>
            </a:r>
            <a:r>
              <a:rPr sz="22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modules</a:t>
            </a:r>
            <a:r>
              <a:rPr sz="22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can</a:t>
            </a:r>
            <a:r>
              <a:rPr sz="22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define</a:t>
            </a:r>
            <a:r>
              <a:rPr sz="22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new</a:t>
            </a:r>
            <a:r>
              <a:rPr sz="22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“built-</a:t>
            </a:r>
            <a:r>
              <a:rPr sz="2200" spc="-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in”</a:t>
            </a:r>
            <a:r>
              <a:rPr sz="22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data</a:t>
            </a:r>
            <a:r>
              <a:rPr lang="es-CO"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types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457200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130" dirty="0"/>
              <a:t>Why</a:t>
            </a:r>
            <a:r>
              <a:rPr b="1" spc="-229" dirty="0"/>
              <a:t> </a:t>
            </a:r>
            <a:r>
              <a:rPr b="1" spc="-70" dirty="0"/>
              <a:t>learn</a:t>
            </a:r>
            <a:r>
              <a:rPr b="1" spc="-235" dirty="0"/>
              <a:t> </a:t>
            </a:r>
            <a:r>
              <a:rPr b="1" spc="-10" dirty="0"/>
              <a:t>python?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5909" y="1676400"/>
            <a:ext cx="7752182" cy="4537781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400" spc="19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400" spc="26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400" spc="-1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Fun-</a:t>
            </a:r>
            <a:r>
              <a:rPr sz="24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to-</a:t>
            </a:r>
            <a:r>
              <a:rPr sz="24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use</a:t>
            </a:r>
            <a:r>
              <a:rPr sz="2400" spc="-1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"Scripting</a:t>
            </a:r>
            <a:r>
              <a:rPr sz="2400" spc="-1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language"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400" spc="19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400" spc="22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Object-oriented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R="3850004" algn="r">
              <a:lnSpc>
                <a:spcPct val="100000"/>
              </a:lnSpc>
              <a:spcBef>
                <a:spcPts val="750"/>
              </a:spcBef>
            </a:pPr>
            <a:r>
              <a:rPr sz="2400" spc="15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4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Highly</a:t>
            </a:r>
            <a:r>
              <a:rPr sz="2400" spc="-1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educational</a:t>
            </a:r>
            <a:endParaRPr lang="es-CO"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R="3861435" algn="r">
              <a:lnSpc>
                <a:spcPct val="100000"/>
              </a:lnSpc>
              <a:spcBef>
                <a:spcPts val="685"/>
              </a:spcBef>
            </a:pPr>
            <a:r>
              <a:rPr lang="es-CO" sz="2400" spc="19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400" spc="24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lang="es-CO" sz="2400" spc="-95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Very</a:t>
            </a:r>
            <a:r>
              <a:rPr lang="es-CO" sz="2400" spc="-1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lang="es-CO" sz="2400" spc="-55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easy</a:t>
            </a:r>
            <a:r>
              <a:rPr lang="es-CO" sz="2400" spc="-1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lang="es-CO" sz="2400" spc="-1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to</a:t>
            </a:r>
            <a:r>
              <a:rPr lang="es-CO" sz="2400" spc="-1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lang="es-CO" sz="2400" spc="-1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learn</a:t>
            </a:r>
            <a:endParaRPr lang="es-CO"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spc="19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400" spc="22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4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Powerful,</a:t>
            </a:r>
            <a:r>
              <a:rPr sz="2400" spc="-1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scalable,</a:t>
            </a:r>
            <a:r>
              <a:rPr sz="2400" spc="-1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easy</a:t>
            </a:r>
            <a:r>
              <a:rPr sz="2400" spc="-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to</a:t>
            </a:r>
            <a:r>
              <a:rPr sz="2400" spc="-20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maintain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414655">
              <a:lnSpc>
                <a:spcPct val="100000"/>
              </a:lnSpc>
              <a:spcBef>
                <a:spcPts val="750"/>
              </a:spcBef>
            </a:pPr>
            <a:r>
              <a:rPr sz="2400" spc="15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400" spc="14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400" spc="-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high</a:t>
            </a:r>
            <a:r>
              <a:rPr sz="2400" spc="-1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productivity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414655">
              <a:lnSpc>
                <a:spcPct val="100000"/>
              </a:lnSpc>
              <a:spcBef>
                <a:spcPts val="735"/>
              </a:spcBef>
            </a:pPr>
            <a:r>
              <a:rPr sz="2400" spc="15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400" spc="13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400" spc="-1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Lots</a:t>
            </a:r>
            <a:r>
              <a:rPr sz="2400" spc="-1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of</a:t>
            </a:r>
            <a:r>
              <a:rPr sz="2400" spc="-1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libraries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spc="19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400" spc="29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Glue</a:t>
            </a:r>
            <a:r>
              <a:rPr sz="2400" spc="-1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language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414655">
              <a:lnSpc>
                <a:spcPct val="100000"/>
              </a:lnSpc>
              <a:spcBef>
                <a:spcPts val="745"/>
              </a:spcBef>
            </a:pPr>
            <a:r>
              <a:rPr sz="2400" spc="15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400" spc="15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40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Interactive</a:t>
            </a:r>
            <a:r>
              <a:rPr sz="2400" spc="-1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front-</a:t>
            </a:r>
            <a:r>
              <a:rPr sz="2400" spc="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end</a:t>
            </a:r>
            <a:r>
              <a:rPr sz="2400" spc="-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for</a:t>
            </a:r>
            <a:r>
              <a:rPr sz="2400" spc="-1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FORTRAN/C/C++</a:t>
            </a:r>
            <a:r>
              <a:rPr sz="24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code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3974" y="647479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65" dirty="0"/>
              <a:t>Where</a:t>
            </a:r>
            <a:r>
              <a:rPr b="1" spc="-260" dirty="0"/>
              <a:t> </a:t>
            </a:r>
            <a:r>
              <a:rPr b="1" dirty="0"/>
              <a:t>to</a:t>
            </a:r>
            <a:r>
              <a:rPr b="1" spc="-240" dirty="0"/>
              <a:t> </a:t>
            </a:r>
            <a:r>
              <a:rPr b="1" spc="-120" dirty="0"/>
              <a:t>use</a:t>
            </a:r>
            <a:r>
              <a:rPr b="1" spc="-235" dirty="0"/>
              <a:t> </a:t>
            </a:r>
            <a:r>
              <a:rPr b="1" spc="-10" dirty="0"/>
              <a:t>python?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17868" y="1752600"/>
            <a:ext cx="6711654" cy="3994040"/>
          </a:xfrm>
          <a:prstGeom prst="rect">
            <a:avLst/>
          </a:prstGeom>
        </p:spPr>
        <p:txBody>
          <a:bodyPr vert="horz" wrap="square" lIns="0" tIns="346073" rIns="0" bIns="0" rtlCol="0">
            <a:spAutoFit/>
          </a:bodyPr>
          <a:lstStyle/>
          <a:p>
            <a:pPr marL="121278" indent="0">
              <a:lnSpc>
                <a:spcPct val="100000"/>
              </a:lnSpc>
              <a:spcBef>
                <a:spcPts val="440"/>
              </a:spcBef>
              <a:buNone/>
            </a:pPr>
            <a:r>
              <a:rPr lang="es-CO" sz="2400" spc="19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400" spc="26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400" spc="-210" dirty="0">
                <a:latin typeface="Verdana" panose="020B0604030504040204" pitchFamily="34" charset="0"/>
                <a:ea typeface="Verdana" panose="020B0604030504040204" pitchFamily="34" charset="0"/>
              </a:rPr>
              <a:t>System</a:t>
            </a:r>
            <a:r>
              <a:rPr sz="2400" spc="-8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</a:rPr>
              <a:t>management</a:t>
            </a:r>
            <a:r>
              <a:rPr sz="2400" spc="-6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400" spc="-185" dirty="0">
                <a:latin typeface="Verdana" panose="020B0604030504040204" pitchFamily="34" charset="0"/>
                <a:ea typeface="Verdana" panose="020B0604030504040204" pitchFamily="34" charset="0"/>
              </a:rPr>
              <a:t>(i.e.,</a:t>
            </a:r>
            <a:r>
              <a:rPr sz="2400" spc="-7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400" spc="-80" dirty="0">
                <a:latin typeface="Verdana" panose="020B0604030504040204" pitchFamily="34" charset="0"/>
                <a:ea typeface="Verdana" panose="020B0604030504040204" pitchFamily="34" charset="0"/>
              </a:rPr>
              <a:t>scripting)</a:t>
            </a:r>
            <a:endParaRPr lang="es-CO" sz="2400" dirty="0">
              <a:latin typeface="Verdana" panose="020B0604030504040204" pitchFamily="34" charset="0"/>
              <a:ea typeface="Verdana" panose="020B0604030504040204" pitchFamily="34" charset="0"/>
              <a:cs typeface="Lucida Sans Unicode"/>
            </a:endParaRPr>
          </a:p>
          <a:p>
            <a:pPr marL="121278" indent="0">
              <a:lnSpc>
                <a:spcPct val="100000"/>
              </a:lnSpc>
              <a:spcBef>
                <a:spcPts val="440"/>
              </a:spcBef>
              <a:buNone/>
            </a:pPr>
            <a:r>
              <a:rPr lang="es-CO" sz="2400" spc="19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400" spc="26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400" spc="45" dirty="0">
                <a:latin typeface="Verdana" panose="020B0604030504040204" pitchFamily="34" charset="0"/>
                <a:ea typeface="Verdana" panose="020B0604030504040204" pitchFamily="34" charset="0"/>
              </a:rPr>
              <a:t>Graphic</a:t>
            </a:r>
            <a:r>
              <a:rPr sz="2400" spc="-19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400" spc="-215" dirty="0">
                <a:latin typeface="Verdana" panose="020B0604030504040204" pitchFamily="34" charset="0"/>
                <a:ea typeface="Verdana" panose="020B0604030504040204" pitchFamily="34" charset="0"/>
              </a:rPr>
              <a:t>User</a:t>
            </a:r>
            <a:r>
              <a:rPr sz="2400" spc="-19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400" spc="-45" dirty="0">
                <a:latin typeface="Verdana" panose="020B0604030504040204" pitchFamily="34" charset="0"/>
                <a:ea typeface="Verdana" panose="020B0604030504040204" pitchFamily="34" charset="0"/>
              </a:rPr>
              <a:t>Interface</a:t>
            </a:r>
            <a:r>
              <a:rPr sz="2400" spc="-16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</a:rPr>
              <a:t>(GUI)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Lucida Sans Unicode"/>
            </a:endParaRPr>
          </a:p>
          <a:p>
            <a:pPr marL="121278" indent="0">
              <a:lnSpc>
                <a:spcPct val="100000"/>
              </a:lnSpc>
              <a:spcBef>
                <a:spcPts val="325"/>
              </a:spcBef>
              <a:buNone/>
            </a:pPr>
            <a:r>
              <a:rPr lang="es-CO" sz="2400" spc="19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400" spc="26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400" spc="-145" dirty="0">
                <a:latin typeface="Verdana" panose="020B0604030504040204" pitchFamily="34" charset="0"/>
                <a:ea typeface="Verdana" panose="020B0604030504040204" pitchFamily="34" charset="0"/>
              </a:rPr>
              <a:t>Internet</a:t>
            </a:r>
            <a:r>
              <a:rPr sz="2400" spc="-14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</a:rPr>
              <a:t>programming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Lucida Sans Unicode"/>
            </a:endParaRPr>
          </a:p>
          <a:p>
            <a:pPr marL="121278" indent="0">
              <a:lnSpc>
                <a:spcPct val="100000"/>
              </a:lnSpc>
              <a:spcBef>
                <a:spcPts val="325"/>
              </a:spcBef>
              <a:buNone/>
            </a:pPr>
            <a:r>
              <a:rPr lang="es-CO" sz="2400" spc="19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400" spc="26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</a:rPr>
              <a:t>Database</a:t>
            </a:r>
            <a:r>
              <a:rPr sz="2400" spc="-5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400" spc="-229" dirty="0">
                <a:latin typeface="Verdana" panose="020B0604030504040204" pitchFamily="34" charset="0"/>
                <a:ea typeface="Verdana" panose="020B0604030504040204" pitchFamily="34" charset="0"/>
              </a:rPr>
              <a:t>(DB)</a:t>
            </a:r>
            <a:r>
              <a:rPr sz="2400" spc="-9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</a:rPr>
              <a:t>programming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Lucida Sans Unicode"/>
            </a:endParaRPr>
          </a:p>
          <a:p>
            <a:pPr marL="121278" indent="0">
              <a:lnSpc>
                <a:spcPct val="100000"/>
              </a:lnSpc>
              <a:spcBef>
                <a:spcPts val="335"/>
              </a:spcBef>
              <a:buNone/>
            </a:pPr>
            <a:r>
              <a:rPr lang="es-CO" sz="2400" spc="19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400" spc="26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400" spc="-235" dirty="0">
                <a:latin typeface="Verdana" panose="020B0604030504040204" pitchFamily="34" charset="0"/>
                <a:ea typeface="Verdana" panose="020B0604030504040204" pitchFamily="34" charset="0"/>
              </a:rPr>
              <a:t>Text</a:t>
            </a:r>
            <a:r>
              <a:rPr sz="2400" spc="-18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400" spc="105" dirty="0">
                <a:latin typeface="Verdana" panose="020B0604030504040204" pitchFamily="34" charset="0"/>
                <a:ea typeface="Verdana" panose="020B0604030504040204" pitchFamily="34" charset="0"/>
              </a:rPr>
              <a:t>data</a:t>
            </a:r>
            <a:r>
              <a:rPr sz="2400" spc="-204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</a:rPr>
              <a:t>processing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Lucida Sans Unicode"/>
            </a:endParaRPr>
          </a:p>
          <a:p>
            <a:pPr marL="121278" indent="0">
              <a:lnSpc>
                <a:spcPct val="100000"/>
              </a:lnSpc>
              <a:spcBef>
                <a:spcPts val="325"/>
              </a:spcBef>
              <a:buNone/>
            </a:pPr>
            <a:r>
              <a:rPr lang="es-CO" sz="2400" spc="19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400" spc="26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400" spc="-114" dirty="0">
                <a:latin typeface="Verdana" panose="020B0604030504040204" pitchFamily="34" charset="0"/>
                <a:ea typeface="Verdana" panose="020B0604030504040204" pitchFamily="34" charset="0"/>
              </a:rPr>
              <a:t>Distributed</a:t>
            </a:r>
            <a:r>
              <a:rPr sz="2400" spc="-17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</a:rPr>
              <a:t>processing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Lucida Sans Unicode"/>
            </a:endParaRPr>
          </a:p>
          <a:p>
            <a:pPr marL="121278" indent="0">
              <a:lnSpc>
                <a:spcPct val="100000"/>
              </a:lnSpc>
              <a:spcBef>
                <a:spcPts val="325"/>
              </a:spcBef>
              <a:buNone/>
            </a:pPr>
            <a:r>
              <a:rPr lang="es-CO" sz="2400" spc="19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400" spc="26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400" spc="-45" dirty="0">
                <a:latin typeface="Verdana" panose="020B0604030504040204" pitchFamily="34" charset="0"/>
                <a:ea typeface="Verdana" panose="020B0604030504040204" pitchFamily="34" charset="0"/>
              </a:rPr>
              <a:t>Numerical</a:t>
            </a:r>
            <a:r>
              <a:rPr sz="2400" spc="-19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</a:rPr>
              <a:t>operations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Lucida Sans Unicode"/>
            </a:endParaRPr>
          </a:p>
          <a:p>
            <a:pPr marL="121278" indent="0">
              <a:lnSpc>
                <a:spcPct val="100000"/>
              </a:lnSpc>
              <a:spcBef>
                <a:spcPts val="335"/>
              </a:spcBef>
              <a:buNone/>
            </a:pPr>
            <a:r>
              <a:rPr lang="es-CO" sz="2400" spc="19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400" spc="26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</a:rPr>
              <a:t>Graphics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Lucida Sans Unicode"/>
            </a:endParaRPr>
          </a:p>
          <a:p>
            <a:pPr marL="121278" indent="0">
              <a:lnSpc>
                <a:spcPct val="100000"/>
              </a:lnSpc>
              <a:spcBef>
                <a:spcPts val="325"/>
              </a:spcBef>
              <a:buNone/>
            </a:pPr>
            <a:r>
              <a:rPr lang="es-CO" sz="2400" spc="19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400" spc="26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400" spc="70" dirty="0">
                <a:latin typeface="Verdana" panose="020B0604030504040204" pitchFamily="34" charset="0"/>
                <a:ea typeface="Verdana" panose="020B0604030504040204" pitchFamily="34" charset="0"/>
              </a:rPr>
              <a:t>And</a:t>
            </a:r>
            <a:r>
              <a:rPr sz="2400" spc="-18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400" spc="-135" dirty="0">
                <a:latin typeface="Verdana" panose="020B0604030504040204" pitchFamily="34" charset="0"/>
                <a:ea typeface="Verdana" panose="020B0604030504040204" pitchFamily="34" charset="0"/>
              </a:rPr>
              <a:t>so</a:t>
            </a:r>
            <a:r>
              <a:rPr sz="2400" spc="-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400" spc="145" dirty="0">
                <a:latin typeface="Verdana" panose="020B0604030504040204" pitchFamily="34" charset="0"/>
                <a:ea typeface="Verdana" panose="020B0604030504040204" pitchFamily="34" charset="0"/>
              </a:rPr>
              <a:t>on…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838200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130" dirty="0"/>
              <a:t>Why</a:t>
            </a:r>
            <a:r>
              <a:rPr b="1" spc="-235" dirty="0"/>
              <a:t> </a:t>
            </a:r>
            <a:r>
              <a:rPr b="1" spc="-70" dirty="0"/>
              <a:t>learn</a:t>
            </a:r>
            <a:r>
              <a:rPr b="1" spc="-240" dirty="0"/>
              <a:t> </a:t>
            </a:r>
            <a:r>
              <a:rPr b="1" spc="-20" dirty="0"/>
              <a:t>python?</a:t>
            </a:r>
            <a:r>
              <a:rPr b="1" spc="-229" dirty="0"/>
              <a:t> </a:t>
            </a:r>
            <a:r>
              <a:rPr b="1" spc="-4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3747" y="2057400"/>
            <a:ext cx="7296506" cy="3764749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Reduce</a:t>
            </a:r>
            <a:r>
              <a:rPr sz="2200" spc="-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development</a:t>
            </a:r>
            <a:r>
              <a:rPr sz="22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time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5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Reduce</a:t>
            </a:r>
            <a:r>
              <a:rPr sz="22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code</a:t>
            </a:r>
            <a:r>
              <a:rPr sz="2200" spc="-1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length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5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Easy</a:t>
            </a:r>
            <a:r>
              <a:rPr sz="2200" spc="-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to</a:t>
            </a:r>
            <a:r>
              <a:rPr sz="22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learn</a:t>
            </a:r>
            <a:r>
              <a:rPr sz="22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and</a:t>
            </a:r>
            <a:r>
              <a:rPr sz="22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use</a:t>
            </a:r>
            <a:r>
              <a:rPr sz="22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as</a:t>
            </a:r>
            <a:r>
              <a:rPr sz="22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developers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5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Easy</a:t>
            </a:r>
            <a:r>
              <a:rPr sz="2200" spc="-1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to</a:t>
            </a:r>
            <a:r>
              <a:rPr sz="22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understand</a:t>
            </a:r>
            <a:r>
              <a:rPr sz="22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codes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5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Easy</a:t>
            </a:r>
            <a:r>
              <a:rPr sz="2200" spc="-1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to</a:t>
            </a:r>
            <a:r>
              <a:rPr sz="22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do</a:t>
            </a:r>
            <a:r>
              <a:rPr sz="22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team</a:t>
            </a:r>
            <a:r>
              <a:rPr sz="22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projects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5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Easy</a:t>
            </a:r>
            <a:r>
              <a:rPr sz="2200" spc="-1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to</a:t>
            </a:r>
            <a:r>
              <a:rPr sz="22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extend</a:t>
            </a:r>
            <a:r>
              <a:rPr sz="22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to</a:t>
            </a:r>
            <a:r>
              <a:rPr sz="22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other</a:t>
            </a:r>
            <a:r>
              <a:rPr sz="22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languages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838200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40" dirty="0"/>
              <a:t>Course</a:t>
            </a:r>
            <a:r>
              <a:rPr b="1" spc="-245" dirty="0"/>
              <a:t> </a:t>
            </a:r>
            <a:r>
              <a:rPr b="1" spc="-10" dirty="0"/>
              <a:t>Goals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828800"/>
            <a:ext cx="7430729" cy="38417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37795" indent="-343535" algn="just">
              <a:lnSpc>
                <a:spcPct val="2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24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400" spc="-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To</a:t>
            </a:r>
            <a:r>
              <a:rPr sz="24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understand</a:t>
            </a:r>
            <a:r>
              <a:rPr sz="2400" spc="-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the</a:t>
            </a:r>
            <a:r>
              <a:rPr sz="24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basic</a:t>
            </a:r>
            <a:r>
              <a:rPr sz="2400" spc="-1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structure </a:t>
            </a:r>
            <a:r>
              <a:rPr sz="2400" spc="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and</a:t>
            </a:r>
            <a:r>
              <a:rPr sz="24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syntax</a:t>
            </a:r>
            <a:r>
              <a:rPr sz="24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of </a:t>
            </a:r>
            <a:r>
              <a:rPr sz="24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Python</a:t>
            </a:r>
            <a:r>
              <a:rPr sz="2400" spc="-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programming</a:t>
            </a:r>
            <a:r>
              <a:rPr sz="24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language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ct val="2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24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400" spc="-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To</a:t>
            </a:r>
            <a:r>
              <a:rPr sz="24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write</a:t>
            </a:r>
            <a:r>
              <a:rPr sz="24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your</a:t>
            </a:r>
            <a:r>
              <a:rPr sz="24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own</a:t>
            </a:r>
            <a:r>
              <a:rPr sz="24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simple</a:t>
            </a:r>
            <a:r>
              <a:rPr sz="2400" spc="-1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Python</a:t>
            </a:r>
            <a:r>
              <a:rPr sz="24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scripts.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355600" marR="5080" indent="-343535" algn="just">
              <a:lnSpc>
                <a:spcPct val="2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24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400" spc="-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To</a:t>
            </a:r>
            <a:r>
              <a:rPr sz="24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serve</a:t>
            </a:r>
            <a:r>
              <a:rPr sz="24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as</a:t>
            </a:r>
            <a:r>
              <a:rPr sz="24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the</a:t>
            </a:r>
            <a:r>
              <a:rPr sz="24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starting</a:t>
            </a:r>
            <a:r>
              <a:rPr sz="24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point</a:t>
            </a:r>
            <a:r>
              <a:rPr sz="24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for</a:t>
            </a:r>
            <a:r>
              <a:rPr sz="24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more</a:t>
            </a:r>
            <a:r>
              <a:rPr sz="24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advanced </a:t>
            </a:r>
            <a:r>
              <a:rPr sz="2400" spc="-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training</a:t>
            </a:r>
            <a:r>
              <a:rPr sz="24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on</a:t>
            </a:r>
            <a:r>
              <a:rPr sz="24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Python</a:t>
            </a:r>
            <a:r>
              <a:rPr sz="24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coding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452718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125" dirty="0"/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5077" y="1853248"/>
            <a:ext cx="7055380" cy="3710631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lang="es-CO" sz="2600" spc="19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600" spc="26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6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Introduction</a:t>
            </a:r>
            <a:endParaRPr sz="26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lang="es-CO" sz="2600" spc="19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600" spc="26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600" spc="-6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Running</a:t>
            </a:r>
            <a:r>
              <a:rPr sz="2600" spc="-125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Python</a:t>
            </a:r>
            <a:endParaRPr sz="26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lang="es-CO" sz="2600" spc="19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600" spc="26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600" dirty="0">
                <a:solidFill>
                  <a:srgbClr val="B31166"/>
                </a:solidFill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6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Python</a:t>
            </a:r>
            <a:r>
              <a:rPr sz="26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6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Programming</a:t>
            </a:r>
            <a:endParaRPr sz="26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416559">
              <a:lnSpc>
                <a:spcPct val="100000"/>
              </a:lnSpc>
              <a:spcBef>
                <a:spcPts val="1005"/>
              </a:spcBef>
              <a:tabLst>
                <a:tab pos="697865" algn="l"/>
              </a:tabLst>
            </a:pPr>
            <a:r>
              <a:rPr lang="es-CO" sz="2600" spc="19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600" spc="26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Data</a:t>
            </a:r>
            <a:r>
              <a:rPr sz="2600" spc="-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6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types</a:t>
            </a:r>
            <a:endParaRPr sz="26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416559">
              <a:lnSpc>
                <a:spcPct val="100000"/>
              </a:lnSpc>
              <a:spcBef>
                <a:spcPts val="1005"/>
              </a:spcBef>
              <a:tabLst>
                <a:tab pos="697865" algn="l"/>
              </a:tabLst>
            </a:pPr>
            <a:r>
              <a:rPr lang="es-CO" sz="2600" spc="19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600" spc="26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6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Control</a:t>
            </a:r>
            <a:r>
              <a:rPr sz="26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6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flows</a:t>
            </a:r>
            <a:endParaRPr sz="26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416559">
              <a:lnSpc>
                <a:spcPct val="100000"/>
              </a:lnSpc>
              <a:spcBef>
                <a:spcPts val="994"/>
              </a:spcBef>
              <a:tabLst>
                <a:tab pos="697865" algn="l"/>
              </a:tabLst>
            </a:pPr>
            <a:r>
              <a:rPr lang="es-CO" sz="2600" spc="19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600" spc="26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6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Classes,</a:t>
            </a:r>
            <a:r>
              <a:rPr sz="26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600" spc="-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functions,</a:t>
            </a:r>
            <a:r>
              <a:rPr sz="2600" spc="-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6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modules</a:t>
            </a:r>
            <a:endParaRPr sz="26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lang="es-CO" sz="2600" spc="19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600" spc="26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6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Hands-</a:t>
            </a:r>
            <a:r>
              <a:rPr sz="2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on</a:t>
            </a:r>
            <a:r>
              <a:rPr sz="26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6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Exercises</a:t>
            </a:r>
            <a:endParaRPr sz="26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0FE72-22A6-9BEA-B187-9248E9C7A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87E7A4-B8D7-136C-FC08-5665924922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84" y="452718"/>
            <a:ext cx="4761268" cy="2885617"/>
          </a:xfrm>
          <a:prstGeom prst="rect">
            <a:avLst/>
          </a:prstGeom>
        </p:spPr>
      </p:pic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0FAB05AB-36E2-ABB7-F219-2FC47D9145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98" y="3594995"/>
            <a:ext cx="4561696" cy="2885618"/>
          </a:xfrm>
          <a:prstGeom prst="rect">
            <a:avLst/>
          </a:prstGeom>
        </p:spPr>
      </p:pic>
      <p:pic>
        <p:nvPicPr>
          <p:cNvPr id="8" name="Picture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DD6DA369-D98B-DC70-3133-6008CF1D7B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399" y="166006"/>
            <a:ext cx="3812616" cy="31723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ED0847-EC2A-341C-5C1F-CE803B3ABDC1}"/>
              </a:ext>
            </a:extLst>
          </p:cNvPr>
          <p:cNvSpPr txBox="1"/>
          <p:nvPr/>
        </p:nvSpPr>
        <p:spPr>
          <a:xfrm>
            <a:off x="1261609" y="6488669"/>
            <a:ext cx="2188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Spyder Console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A1EA96-F733-9291-08E4-3D4A5D79FEFB}"/>
              </a:ext>
            </a:extLst>
          </p:cNvPr>
          <p:cNvSpPr txBox="1"/>
          <p:nvPr/>
        </p:nvSpPr>
        <p:spPr>
          <a:xfrm>
            <a:off x="5833609" y="3279364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Verdana" panose="020B0604030504040204" pitchFamily="34" charset="0"/>
                <a:ea typeface="Verdana" panose="020B0604030504040204" pitchFamily="34" charset="0"/>
              </a:rPr>
              <a:t>Jupyter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 Notebook</a:t>
            </a:r>
          </a:p>
        </p:txBody>
      </p:sp>
      <p:pic>
        <p:nvPicPr>
          <p:cNvPr id="1026" name="Picture 2" descr="Getting started with the terminal">
            <a:extLst>
              <a:ext uri="{FF2B5EF4-FFF2-40B4-BE49-F238E27FC236}">
                <a16:creationId xmlns:a16="http://schemas.microsoft.com/office/drawing/2014/main" id="{40B23458-0361-BDB1-C94D-D6B6C5D53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3682" y="3648696"/>
            <a:ext cx="4240317" cy="281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95E027-0A00-F74D-736D-6AE357987FC9}"/>
              </a:ext>
            </a:extLst>
          </p:cNvPr>
          <p:cNvSpPr txBox="1"/>
          <p:nvPr/>
        </p:nvSpPr>
        <p:spPr>
          <a:xfrm>
            <a:off x="6232325" y="6451693"/>
            <a:ext cx="1885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Visual Studio</a:t>
            </a:r>
          </a:p>
        </p:txBody>
      </p:sp>
    </p:spTree>
    <p:extLst>
      <p:ext uri="{BB962C8B-B14F-4D97-AF65-F5344CB8AC3E}">
        <p14:creationId xmlns:p14="http://schemas.microsoft.com/office/powerpoint/2010/main" val="108561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884258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75" dirty="0"/>
              <a:t>Python</a:t>
            </a:r>
            <a:r>
              <a:rPr b="1" spc="-235" dirty="0"/>
              <a:t> </a:t>
            </a:r>
            <a:r>
              <a:rPr b="1" spc="-100" dirty="0"/>
              <a:t>as</a:t>
            </a:r>
            <a:r>
              <a:rPr b="1" spc="-245" dirty="0"/>
              <a:t> </a:t>
            </a:r>
            <a:r>
              <a:rPr b="1" spc="250" dirty="0"/>
              <a:t>a</a:t>
            </a:r>
            <a:r>
              <a:rPr b="1" spc="-235" dirty="0"/>
              <a:t> </a:t>
            </a:r>
            <a:r>
              <a:rPr b="1" spc="-10" dirty="0"/>
              <a:t>calculator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2974" y="2438400"/>
            <a:ext cx="7702296" cy="12183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28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8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Let</a:t>
            </a:r>
            <a:r>
              <a:rPr sz="28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800" spc="-1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us</a:t>
            </a:r>
            <a:r>
              <a:rPr sz="2800" spc="-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calculate</a:t>
            </a:r>
            <a:r>
              <a:rPr sz="28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8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the</a:t>
            </a:r>
            <a:r>
              <a:rPr sz="28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distance</a:t>
            </a:r>
            <a:r>
              <a:rPr sz="2800" spc="-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between</a:t>
            </a:r>
            <a:r>
              <a:rPr sz="2800" spc="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8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Edinburgh</a:t>
            </a:r>
            <a:r>
              <a:rPr lang="es-CO" sz="28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800" spc="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and</a:t>
            </a:r>
            <a:r>
              <a:rPr sz="28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8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London</a:t>
            </a:r>
            <a:r>
              <a:rPr sz="28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8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</a:t>
            </a:r>
            <a:r>
              <a:rPr sz="2800" spc="-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8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km</a:t>
            </a:r>
            <a:endParaRPr sz="28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974" y="4038600"/>
            <a:ext cx="7702296" cy="8107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85800" y="1905000"/>
            <a:ext cx="7445345" cy="22442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24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Great</a:t>
            </a:r>
            <a:r>
              <a:rPr sz="24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calculator</a:t>
            </a:r>
            <a:r>
              <a:rPr sz="24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but</a:t>
            </a:r>
            <a:r>
              <a:rPr sz="24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how</a:t>
            </a:r>
            <a:r>
              <a:rPr sz="24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can</a:t>
            </a:r>
            <a:r>
              <a:rPr sz="24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we</a:t>
            </a:r>
            <a:r>
              <a:rPr sz="2400" spc="-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make</a:t>
            </a:r>
            <a:r>
              <a:rPr sz="24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it </a:t>
            </a:r>
            <a:r>
              <a:rPr sz="2400" spc="-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store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355600" algn="just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values?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24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Do</a:t>
            </a:r>
            <a:r>
              <a:rPr sz="24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this</a:t>
            </a:r>
            <a:r>
              <a:rPr sz="24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by</a:t>
            </a:r>
            <a:r>
              <a:rPr sz="24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defining</a:t>
            </a:r>
            <a:r>
              <a:rPr sz="24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variables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24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400" spc="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Can</a:t>
            </a:r>
            <a:r>
              <a:rPr sz="24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later</a:t>
            </a:r>
            <a:r>
              <a:rPr sz="2400" spc="-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be</a:t>
            </a:r>
            <a:r>
              <a:rPr sz="24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called</a:t>
            </a:r>
            <a:r>
              <a:rPr sz="24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by</a:t>
            </a:r>
            <a:r>
              <a:rPr sz="24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the</a:t>
            </a:r>
            <a:r>
              <a:rPr sz="240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variable</a:t>
            </a:r>
            <a:r>
              <a:rPr sz="24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name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24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Variable</a:t>
            </a:r>
            <a:r>
              <a:rPr sz="24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names</a:t>
            </a:r>
            <a:r>
              <a:rPr sz="24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are</a:t>
            </a:r>
            <a:r>
              <a:rPr sz="24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case</a:t>
            </a:r>
            <a:r>
              <a:rPr sz="24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sensitive</a:t>
            </a:r>
            <a:r>
              <a:rPr sz="24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and</a:t>
            </a:r>
            <a:r>
              <a:rPr sz="24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unique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8814" y="4495800"/>
            <a:ext cx="6786372" cy="1309116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C816A55D-775D-16FD-CD38-A2B037D21BB6}"/>
              </a:ext>
            </a:extLst>
          </p:cNvPr>
          <p:cNvSpPr txBox="1">
            <a:spLocks/>
          </p:cNvSpPr>
          <p:nvPr/>
        </p:nvSpPr>
        <p:spPr>
          <a:xfrm>
            <a:off x="457200" y="600076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59410">
              <a:spcBef>
                <a:spcPts val="105"/>
              </a:spcBef>
            </a:pPr>
            <a:r>
              <a:rPr lang="es-CO" b="1" spc="-40" dirty="0"/>
              <a:t>Variables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800" y="2438400"/>
            <a:ext cx="7385050" cy="104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es-CO" sz="24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4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400" dirty="0">
                <a:latin typeface="Verdana"/>
                <a:cs typeface="Verdana"/>
              </a:rPr>
              <a:t>We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spc="100" dirty="0">
                <a:latin typeface="Verdana"/>
                <a:cs typeface="Verdana"/>
              </a:rPr>
              <a:t>can</a:t>
            </a:r>
            <a:r>
              <a:rPr sz="2400" spc="-10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now</a:t>
            </a:r>
            <a:r>
              <a:rPr sz="2400" spc="-105" dirty="0">
                <a:latin typeface="Verdana"/>
                <a:cs typeface="Verdana"/>
              </a:rPr>
              <a:t> </a:t>
            </a:r>
            <a:r>
              <a:rPr sz="2400" spc="-75" dirty="0">
                <a:latin typeface="Verdana"/>
                <a:cs typeface="Verdana"/>
              </a:rPr>
              <a:t>reuse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the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variable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105" dirty="0">
                <a:latin typeface="Verdana"/>
                <a:cs typeface="Verdana"/>
              </a:rPr>
              <a:t>mileToKm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-85" dirty="0">
                <a:latin typeface="Verdana"/>
                <a:cs typeface="Verdana"/>
              </a:rPr>
              <a:t>in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the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spc="-80" dirty="0">
                <a:latin typeface="Verdana"/>
                <a:cs typeface="Verdana"/>
              </a:rPr>
              <a:t>next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block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without</a:t>
            </a:r>
            <a:r>
              <a:rPr lang="es-CO" sz="240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having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to</a:t>
            </a:r>
            <a:r>
              <a:rPr sz="2400" spc="-114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define</a:t>
            </a:r>
            <a:r>
              <a:rPr sz="2400" spc="-105" dirty="0">
                <a:latin typeface="Verdana"/>
                <a:cs typeface="Verdana"/>
              </a:rPr>
              <a:t> </a:t>
            </a:r>
            <a:r>
              <a:rPr sz="2400" spc="-120" dirty="0">
                <a:latin typeface="Verdana"/>
                <a:cs typeface="Verdana"/>
              </a:rPr>
              <a:t>it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again!</a:t>
            </a:r>
            <a:endParaRPr sz="2400" dirty="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444" y="3912790"/>
            <a:ext cx="6611111" cy="952499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29CB445F-14ED-38DC-3319-3F157FA5D69A}"/>
              </a:ext>
            </a:extLst>
          </p:cNvPr>
          <p:cNvSpPr txBox="1">
            <a:spLocks/>
          </p:cNvSpPr>
          <p:nvPr/>
        </p:nvSpPr>
        <p:spPr>
          <a:xfrm>
            <a:off x="457200" y="685800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59410">
              <a:spcBef>
                <a:spcPts val="105"/>
              </a:spcBef>
            </a:pPr>
            <a:r>
              <a:rPr lang="es-CO" b="1" spc="-40" dirty="0"/>
              <a:t>Variables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842866"/>
            <a:ext cx="1494333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70" dirty="0"/>
              <a:t>Ty</a:t>
            </a:r>
            <a:r>
              <a:rPr lang="es-CO" b="1" spc="-170" dirty="0"/>
              <a:t>p</a:t>
            </a:r>
            <a:r>
              <a:rPr b="1" spc="-170" dirty="0"/>
              <a:t>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5988" y="1634706"/>
            <a:ext cx="7391400" cy="1662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es-CO" sz="20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0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spc="-35" dirty="0">
                <a:latin typeface="Verdana"/>
                <a:cs typeface="Verdana"/>
              </a:rPr>
              <a:t>Variables</a:t>
            </a:r>
            <a:r>
              <a:rPr sz="2300" spc="-114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actually</a:t>
            </a:r>
            <a:r>
              <a:rPr sz="2300" spc="-114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have</a:t>
            </a:r>
            <a:r>
              <a:rPr sz="2300" spc="-130" dirty="0">
                <a:latin typeface="Verdana"/>
                <a:cs typeface="Verdana"/>
              </a:rPr>
              <a:t> </a:t>
            </a:r>
            <a:r>
              <a:rPr sz="2300" spc="150" dirty="0">
                <a:latin typeface="Verdana"/>
                <a:cs typeface="Verdana"/>
              </a:rPr>
              <a:t>a</a:t>
            </a:r>
            <a:r>
              <a:rPr sz="2300" spc="-120" dirty="0">
                <a:latin typeface="Verdana"/>
                <a:cs typeface="Verdana"/>
              </a:rPr>
              <a:t> </a:t>
            </a:r>
            <a:r>
              <a:rPr sz="2300" spc="-40" dirty="0">
                <a:latin typeface="Verdana"/>
                <a:cs typeface="Verdana"/>
              </a:rPr>
              <a:t>type,</a:t>
            </a:r>
            <a:r>
              <a:rPr sz="2300" spc="-8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which</a:t>
            </a:r>
            <a:r>
              <a:rPr sz="2300" spc="-95" dirty="0">
                <a:latin typeface="Verdana"/>
                <a:cs typeface="Verdana"/>
              </a:rPr>
              <a:t> </a:t>
            </a:r>
            <a:r>
              <a:rPr sz="2300" spc="-40" dirty="0">
                <a:latin typeface="Verdana"/>
                <a:cs typeface="Verdana"/>
              </a:rPr>
              <a:t>defines</a:t>
            </a:r>
            <a:r>
              <a:rPr sz="2300" spc="-110" dirty="0">
                <a:latin typeface="Verdana"/>
                <a:cs typeface="Verdana"/>
              </a:rPr>
              <a:t> </a:t>
            </a:r>
            <a:r>
              <a:rPr sz="2300" spc="-20" dirty="0">
                <a:latin typeface="Verdana"/>
                <a:cs typeface="Verdana"/>
              </a:rPr>
              <a:t>the</a:t>
            </a:r>
            <a:r>
              <a:rPr sz="2300" spc="-8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way</a:t>
            </a:r>
            <a:r>
              <a:rPr sz="2300" spc="-70" dirty="0">
                <a:latin typeface="Verdana"/>
                <a:cs typeface="Verdana"/>
              </a:rPr>
              <a:t> </a:t>
            </a:r>
            <a:r>
              <a:rPr sz="2300" spc="-25" dirty="0">
                <a:latin typeface="Verdana"/>
                <a:cs typeface="Verdana"/>
              </a:rPr>
              <a:t>it</a:t>
            </a:r>
            <a:r>
              <a:rPr lang="es-CO" sz="2300" dirty="0">
                <a:latin typeface="Verdana"/>
                <a:cs typeface="Verdana"/>
              </a:rPr>
              <a:t> </a:t>
            </a:r>
            <a:r>
              <a:rPr sz="2300" spc="-190" dirty="0">
                <a:latin typeface="Verdana"/>
                <a:cs typeface="Verdana"/>
              </a:rPr>
              <a:t>is</a:t>
            </a:r>
            <a:r>
              <a:rPr sz="2300" spc="-145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stored.</a:t>
            </a:r>
            <a:endParaRPr sz="2300" dirty="0">
              <a:latin typeface="Verdana"/>
              <a:cs typeface="Verdana"/>
            </a:endParaRPr>
          </a:p>
          <a:p>
            <a:pPr marL="12700" algn="just">
              <a:lnSpc>
                <a:spcPct val="150000"/>
              </a:lnSpc>
              <a:spcBef>
                <a:spcPts val="994"/>
              </a:spcBef>
            </a:pPr>
            <a:r>
              <a:rPr lang="es-CO" sz="20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0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spc="-120" dirty="0">
                <a:latin typeface="Verdana"/>
                <a:cs typeface="Verdana"/>
              </a:rPr>
              <a:t>The</a:t>
            </a:r>
            <a:r>
              <a:rPr sz="2300" spc="-7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basic</a:t>
            </a:r>
            <a:r>
              <a:rPr sz="2300" spc="-110" dirty="0">
                <a:latin typeface="Verdana"/>
                <a:cs typeface="Verdana"/>
              </a:rPr>
              <a:t> </a:t>
            </a:r>
            <a:r>
              <a:rPr sz="2300" spc="-70" dirty="0">
                <a:latin typeface="Verdana"/>
                <a:cs typeface="Verdana"/>
              </a:rPr>
              <a:t>types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spc="-20" dirty="0">
                <a:latin typeface="Verdana"/>
                <a:cs typeface="Verdana"/>
              </a:rPr>
              <a:t>are:</a:t>
            </a:r>
            <a:endParaRPr sz="23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988" y="3561044"/>
            <a:ext cx="7583424" cy="22707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523" y="0"/>
            <a:ext cx="9119870" cy="6858000"/>
            <a:chOff x="-1523" y="0"/>
            <a:chExt cx="911987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18092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895600"/>
              <a:ext cx="2362200" cy="2362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8691" y="1676400"/>
              <a:ext cx="2819400" cy="28194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89091" y="0"/>
              <a:ext cx="1600200" cy="1600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98691" y="5870447"/>
              <a:ext cx="990600" cy="98755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1523" y="2667000"/>
              <a:ext cx="4191000" cy="4191000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10" name="object 10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9144000" y="0"/>
                  </a:moveTo>
                  <a:lnTo>
                    <a:pt x="8642350" y="0"/>
                  </a:lnTo>
                  <a:lnTo>
                    <a:pt x="8642350" y="514350"/>
                  </a:lnTo>
                  <a:lnTo>
                    <a:pt x="8642350" y="6356350"/>
                  </a:lnTo>
                  <a:lnTo>
                    <a:pt x="514350" y="6356350"/>
                  </a:lnTo>
                  <a:lnTo>
                    <a:pt x="514350" y="514350"/>
                  </a:lnTo>
                  <a:lnTo>
                    <a:pt x="8642350" y="514350"/>
                  </a:lnTo>
                  <a:lnTo>
                    <a:pt x="864235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0" y="6356350"/>
                  </a:lnTo>
                  <a:lnTo>
                    <a:pt x="0" y="6858000"/>
                  </a:lnTo>
                  <a:lnTo>
                    <a:pt x="9144000" y="6858000"/>
                  </a:lnTo>
                  <a:lnTo>
                    <a:pt x="9144000" y="6356350"/>
                  </a:lnTo>
                  <a:lnTo>
                    <a:pt x="9144000" y="5143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05343" y="0"/>
              <a:ext cx="760488" cy="116128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744968" y="0"/>
              <a:ext cx="685800" cy="1100455"/>
            </a:xfrm>
            <a:custGeom>
              <a:avLst/>
              <a:gdLst/>
              <a:ahLst/>
              <a:cxnLst/>
              <a:rect l="l" t="t" r="r" b="b"/>
              <a:pathLst>
                <a:path w="685800" h="1100455">
                  <a:moveTo>
                    <a:pt x="685800" y="0"/>
                  </a:moveTo>
                  <a:lnTo>
                    <a:pt x="0" y="0"/>
                  </a:lnTo>
                  <a:lnTo>
                    <a:pt x="0" y="1100327"/>
                  </a:lnTo>
                  <a:lnTo>
                    <a:pt x="685800" y="1100327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82156" y="2944367"/>
              <a:ext cx="2193036" cy="2287523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983127" y="931324"/>
            <a:ext cx="419100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125" dirty="0">
                <a:solidFill>
                  <a:schemeClr val="tx1"/>
                </a:solidFill>
              </a:rPr>
              <a:t>WHY</a:t>
            </a:r>
            <a:r>
              <a:rPr sz="4800" b="1" spc="-120" dirty="0">
                <a:solidFill>
                  <a:schemeClr val="tx1"/>
                </a:solidFill>
              </a:rPr>
              <a:t> </a:t>
            </a:r>
            <a:r>
              <a:rPr sz="4800" b="1" spc="-170" dirty="0">
                <a:solidFill>
                  <a:schemeClr val="tx1"/>
                </a:solidFill>
              </a:rPr>
              <a:t>SHOULD</a:t>
            </a:r>
            <a:r>
              <a:rPr sz="4800" b="1" spc="-125" dirty="0">
                <a:solidFill>
                  <a:schemeClr val="tx1"/>
                </a:solidFill>
              </a:rPr>
              <a:t> </a:t>
            </a:r>
            <a:r>
              <a:rPr sz="4800" b="1" spc="-180" dirty="0">
                <a:solidFill>
                  <a:schemeClr val="tx1"/>
                </a:solidFill>
              </a:rPr>
              <a:t>WE</a:t>
            </a:r>
            <a:r>
              <a:rPr sz="4800" b="1" spc="-114" dirty="0">
                <a:solidFill>
                  <a:schemeClr val="tx1"/>
                </a:solidFill>
              </a:rPr>
              <a:t> </a:t>
            </a:r>
            <a:r>
              <a:rPr sz="4800" b="1" spc="-10" dirty="0">
                <a:solidFill>
                  <a:schemeClr val="tx1"/>
                </a:solidFill>
              </a:rPr>
              <a:t>CARE?</a:t>
            </a:r>
            <a:endParaRPr sz="4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377" y="3886200"/>
            <a:ext cx="6921246" cy="25641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17423" y="2084116"/>
            <a:ext cx="8109154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lang="es-CO" sz="20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0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We</a:t>
            </a:r>
            <a:r>
              <a:rPr sz="2000" spc="-3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can't</a:t>
            </a:r>
            <a:r>
              <a:rPr sz="2000" spc="-3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do</a:t>
            </a:r>
            <a:r>
              <a:rPr sz="2000" spc="-4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arithmetic</a:t>
            </a:r>
            <a:r>
              <a:rPr sz="20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operations</a:t>
            </a:r>
            <a:r>
              <a:rPr sz="20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on</a:t>
            </a:r>
            <a:r>
              <a:rPr sz="2000" spc="-4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variables</a:t>
            </a:r>
            <a:r>
              <a:rPr sz="20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of</a:t>
            </a:r>
            <a:r>
              <a:rPr sz="2000" spc="-4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different</a:t>
            </a:r>
            <a:r>
              <a:rPr sz="20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types.</a:t>
            </a:r>
            <a:r>
              <a:rPr sz="2000" spc="-3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Therefore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make</a:t>
            </a:r>
            <a:r>
              <a:rPr sz="2000" spc="-4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sure</a:t>
            </a:r>
            <a:r>
              <a:rPr sz="20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that</a:t>
            </a:r>
            <a:r>
              <a:rPr sz="20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you</a:t>
            </a:r>
            <a:r>
              <a:rPr sz="20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are</a:t>
            </a:r>
            <a:r>
              <a:rPr sz="2000" spc="-4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always</a:t>
            </a:r>
            <a:r>
              <a:rPr sz="2000" spc="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aware</a:t>
            </a:r>
            <a:r>
              <a:rPr sz="2000" spc="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of</a:t>
            </a:r>
            <a:r>
              <a:rPr sz="2000" spc="-3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your</a:t>
            </a:r>
            <a:r>
              <a:rPr sz="20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variables</a:t>
            </a:r>
            <a:r>
              <a:rPr sz="20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types!</a:t>
            </a:r>
            <a:endParaRPr sz="20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  <a:p>
            <a:pPr marL="12700" algn="just">
              <a:lnSpc>
                <a:spcPct val="100000"/>
              </a:lnSpc>
            </a:pPr>
            <a:r>
              <a:rPr lang="es-CO" sz="20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0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0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You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can</a:t>
            </a:r>
            <a:r>
              <a:rPr sz="2000" spc="-3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find</a:t>
            </a:r>
            <a:r>
              <a:rPr sz="20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the</a:t>
            </a:r>
            <a:r>
              <a:rPr sz="2000" spc="-4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type</a:t>
            </a:r>
            <a:r>
              <a:rPr sz="20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of</a:t>
            </a:r>
            <a:r>
              <a:rPr sz="20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</a:t>
            </a:r>
            <a:r>
              <a:rPr sz="20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variable</a:t>
            </a:r>
            <a:r>
              <a:rPr sz="20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using</a:t>
            </a:r>
            <a:r>
              <a:rPr sz="2000" spc="-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b="1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type()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.</a:t>
            </a:r>
            <a:r>
              <a:rPr sz="20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For</a:t>
            </a:r>
            <a:r>
              <a:rPr sz="20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example</a:t>
            </a:r>
            <a:r>
              <a:rPr sz="20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type</a:t>
            </a:r>
            <a:r>
              <a:rPr sz="2000" spc="-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000" b="1" spc="-10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type(x)</a:t>
            </a:r>
            <a:r>
              <a:rPr sz="20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.</a:t>
            </a:r>
            <a:endParaRPr sz="20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A2E479A-E011-87FD-E30F-97D00E7D7F41}"/>
              </a:ext>
            </a:extLst>
          </p:cNvPr>
          <p:cNvSpPr txBox="1"/>
          <p:nvPr/>
        </p:nvSpPr>
        <p:spPr>
          <a:xfrm>
            <a:off x="483010" y="512378"/>
            <a:ext cx="780435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CO" sz="4400" b="1" dirty="0" err="1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Arial"/>
              </a:rPr>
              <a:t>Important</a:t>
            </a:r>
            <a:r>
              <a:rPr lang="es-CO" sz="4400" b="1" spc="-40" dirty="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Arial"/>
              </a:rPr>
              <a:t> </a:t>
            </a:r>
            <a:r>
              <a:rPr lang="es-CO" sz="4400" b="1" dirty="0" err="1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Arial"/>
              </a:rPr>
              <a:t>lesson</a:t>
            </a:r>
            <a:r>
              <a:rPr lang="es-CO" sz="4400" b="1" spc="-25" dirty="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Arial"/>
              </a:rPr>
              <a:t> </a:t>
            </a:r>
            <a:r>
              <a:rPr lang="es-CO" sz="4400" b="1" dirty="0" err="1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Arial"/>
              </a:rPr>
              <a:t>to</a:t>
            </a:r>
            <a:r>
              <a:rPr lang="es-CO" sz="4400" b="1" spc="-40" dirty="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Arial"/>
              </a:rPr>
              <a:t> </a:t>
            </a:r>
            <a:r>
              <a:rPr lang="es-CO" sz="4400" b="1" spc="-10" dirty="0" err="1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Arial"/>
              </a:rPr>
              <a:t>remember</a:t>
            </a:r>
            <a:r>
              <a:rPr lang="es-CO" sz="4400" b="1" spc="-10" dirty="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Arial"/>
              </a:rPr>
              <a:t>!</a:t>
            </a:r>
            <a:endParaRPr lang="es-CO" sz="4400" b="1" dirty="0">
              <a:solidFill>
                <a:schemeClr val="tx2"/>
              </a:solidFill>
              <a:latin typeface="+mj-lt"/>
              <a:ea typeface="Verdana" panose="020B0604030504040204" pitchFamily="34" charset="0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4769" y="821488"/>
            <a:ext cx="3932733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30" dirty="0"/>
              <a:t>Casting</a:t>
            </a:r>
            <a:r>
              <a:rPr lang="es-CO" b="1" spc="-30" dirty="0"/>
              <a:t> </a:t>
            </a:r>
            <a:r>
              <a:rPr lang="es-CO" b="1" spc="-30" dirty="0" err="1"/>
              <a:t>types</a:t>
            </a:r>
            <a:endParaRPr b="1" spc="-70" dirty="0"/>
          </a:p>
        </p:txBody>
      </p:sp>
      <p:sp>
        <p:nvSpPr>
          <p:cNvPr id="3" name="object 3"/>
          <p:cNvSpPr txBox="1"/>
          <p:nvPr/>
        </p:nvSpPr>
        <p:spPr>
          <a:xfrm>
            <a:off x="675895" y="1899203"/>
            <a:ext cx="7629906" cy="14952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s-CO"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85" dirty="0">
                <a:latin typeface="Verdana"/>
                <a:cs typeface="Verdana"/>
              </a:rPr>
              <a:t>Luckily</a:t>
            </a:r>
            <a:r>
              <a:rPr sz="2200" spc="-125" dirty="0">
                <a:latin typeface="Verdana"/>
                <a:cs typeface="Verdana"/>
              </a:rPr>
              <a:t> </a:t>
            </a:r>
            <a:r>
              <a:rPr sz="2200" spc="-45" dirty="0">
                <a:latin typeface="Verdana"/>
                <a:cs typeface="Verdana"/>
              </a:rPr>
              <a:t>Python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75" dirty="0">
                <a:latin typeface="Verdana"/>
                <a:cs typeface="Verdana"/>
              </a:rPr>
              <a:t>offers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50" dirty="0">
                <a:latin typeface="Verdana"/>
                <a:cs typeface="Verdana"/>
              </a:rPr>
              <a:t>us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spc="150" dirty="0">
                <a:latin typeface="Verdana"/>
                <a:cs typeface="Verdana"/>
              </a:rPr>
              <a:t>a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way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converting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variables</a:t>
            </a:r>
            <a:r>
              <a:rPr sz="2200" spc="-13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to</a:t>
            </a:r>
            <a:r>
              <a:rPr lang="es-CO" sz="2200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different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types!</a:t>
            </a:r>
            <a:endParaRPr sz="2200" dirty="0">
              <a:latin typeface="Verdana"/>
              <a:cs typeface="Verdana"/>
            </a:endParaRPr>
          </a:p>
          <a:p>
            <a:pPr marL="12700" marR="296545" algn="just">
              <a:lnSpc>
                <a:spcPct val="100000"/>
              </a:lnSpc>
              <a:spcBef>
                <a:spcPts val="994"/>
              </a:spcBef>
            </a:pPr>
            <a:r>
              <a:rPr lang="es-CO"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25" dirty="0">
                <a:latin typeface="Verdana"/>
                <a:cs typeface="Verdana"/>
              </a:rPr>
              <a:t>Casting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254" dirty="0">
                <a:latin typeface="Verdana"/>
                <a:cs typeface="Verdana"/>
              </a:rPr>
              <a:t>–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operation</a:t>
            </a:r>
            <a:r>
              <a:rPr sz="2200" spc="-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converting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spc="150" dirty="0">
                <a:latin typeface="Verdana"/>
                <a:cs typeface="Verdana"/>
              </a:rPr>
              <a:t>a</a:t>
            </a:r>
            <a:r>
              <a:rPr sz="2200" spc="-12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variable</a:t>
            </a:r>
            <a:r>
              <a:rPr sz="2200" spc="-1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to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100" dirty="0">
                <a:latin typeface="Verdana"/>
                <a:cs typeface="Verdana"/>
              </a:rPr>
              <a:t>a </a:t>
            </a:r>
            <a:r>
              <a:rPr sz="2200" spc="-50" dirty="0">
                <a:latin typeface="Verdana"/>
                <a:cs typeface="Verdana"/>
              </a:rPr>
              <a:t>different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type</a:t>
            </a:r>
            <a:endParaRPr sz="22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308" y="3842003"/>
            <a:ext cx="7559040" cy="109423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5896" y="5181600"/>
            <a:ext cx="762990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s-CO"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Similar</a:t>
            </a:r>
            <a:r>
              <a:rPr sz="2200" spc="-5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methods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exist</a:t>
            </a:r>
            <a:r>
              <a:rPr sz="22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for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other</a:t>
            </a:r>
            <a:r>
              <a:rPr sz="2200" spc="-3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data</a:t>
            </a:r>
            <a:r>
              <a:rPr sz="2200" spc="-4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types:</a:t>
            </a:r>
            <a:r>
              <a:rPr sz="22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b="1" spc="-10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int()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, </a:t>
            </a:r>
            <a:r>
              <a:rPr sz="2200" b="1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float()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,</a:t>
            </a:r>
            <a:r>
              <a:rPr sz="2200" spc="-6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b="1" spc="-20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str()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480" y="2133600"/>
            <a:ext cx="6949440" cy="79705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4067" y="1016634"/>
            <a:ext cx="3323133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Quick</a:t>
            </a:r>
            <a:r>
              <a:rPr b="1" spc="-250" dirty="0"/>
              <a:t> </a:t>
            </a:r>
            <a:r>
              <a:rPr b="1" spc="-90" dirty="0"/>
              <a:t>quiz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71700" y="3311394"/>
            <a:ext cx="419100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What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will</a:t>
            </a:r>
            <a:r>
              <a:rPr sz="2200" spc="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be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the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result?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2480" y="4038600"/>
            <a:ext cx="6902196" cy="24079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0910" y="613033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85" dirty="0"/>
              <a:t>Arithmetic</a:t>
            </a:r>
            <a:r>
              <a:rPr b="1" spc="-215" dirty="0"/>
              <a:t> </a:t>
            </a:r>
            <a:r>
              <a:rPr b="1" spc="-2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4683" y="2118486"/>
            <a:ext cx="3353917" cy="31821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6100"/>
              </a:lnSpc>
              <a:spcBef>
                <a:spcPts val="100"/>
              </a:spcBef>
            </a:pPr>
            <a:r>
              <a:rPr lang="es-CO"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135" dirty="0">
                <a:latin typeface="Verdana"/>
                <a:cs typeface="Verdana"/>
              </a:rPr>
              <a:t>Similar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to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actual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Mathematics. </a:t>
            </a:r>
            <a:r>
              <a:rPr sz="2200" spc="-25" dirty="0">
                <a:latin typeface="Verdana"/>
                <a:cs typeface="Verdana"/>
              </a:rPr>
              <a:t>Order</a:t>
            </a:r>
            <a:r>
              <a:rPr sz="2200" spc="-1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125" dirty="0">
                <a:latin typeface="Verdana"/>
                <a:cs typeface="Verdana"/>
              </a:rPr>
              <a:t> </a:t>
            </a:r>
            <a:r>
              <a:rPr sz="2200" spc="65" dirty="0">
                <a:latin typeface="Verdana"/>
                <a:cs typeface="Verdana"/>
              </a:rPr>
              <a:t>precedence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90" dirty="0">
                <a:latin typeface="Verdana"/>
                <a:cs typeface="Verdana"/>
              </a:rPr>
              <a:t>is</a:t>
            </a:r>
            <a:r>
              <a:rPr sz="2200" spc="-15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same</a:t>
            </a:r>
            <a:endParaRPr sz="2200" dirty="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</a:pPr>
            <a:r>
              <a:rPr sz="2200" spc="-60" dirty="0">
                <a:latin typeface="Verdana"/>
                <a:cs typeface="Verdana"/>
              </a:rPr>
              <a:t>as</a:t>
            </a:r>
            <a:r>
              <a:rPr sz="2200" spc="-125" dirty="0">
                <a:latin typeface="Verdana"/>
                <a:cs typeface="Verdana"/>
              </a:rPr>
              <a:t> </a:t>
            </a:r>
            <a:r>
              <a:rPr sz="2200" spc="-85" dirty="0">
                <a:latin typeface="Verdana"/>
                <a:cs typeface="Verdana"/>
              </a:rPr>
              <a:t>in</a:t>
            </a:r>
            <a:r>
              <a:rPr sz="2200" spc="-1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Mathematics.</a:t>
            </a:r>
            <a:endParaRPr sz="2200" dirty="0">
              <a:latin typeface="Verdana"/>
              <a:cs typeface="Verdana"/>
            </a:endParaRPr>
          </a:p>
          <a:p>
            <a:pPr algn="just">
              <a:lnSpc>
                <a:spcPct val="100000"/>
              </a:lnSpc>
              <a:spcBef>
                <a:spcPts val="1975"/>
              </a:spcBef>
            </a:pPr>
            <a:endParaRPr sz="2200" dirty="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</a:pPr>
            <a:r>
              <a:rPr lang="es-CO"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dirty="0">
                <a:latin typeface="Verdana"/>
                <a:cs typeface="Verdana"/>
              </a:rPr>
              <a:t>We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100" dirty="0">
                <a:latin typeface="Verdana"/>
                <a:cs typeface="Verdana"/>
              </a:rPr>
              <a:t>can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spc="-45" dirty="0">
                <a:latin typeface="Verdana"/>
                <a:cs typeface="Verdana"/>
              </a:rPr>
              <a:t>also</a:t>
            </a:r>
            <a:r>
              <a:rPr sz="2200" spc="-135" dirty="0">
                <a:latin typeface="Verdana"/>
                <a:cs typeface="Verdana"/>
              </a:rPr>
              <a:t> </a:t>
            </a:r>
            <a:r>
              <a:rPr sz="2200" spc="-70" dirty="0">
                <a:latin typeface="Verdana"/>
                <a:cs typeface="Verdana"/>
              </a:rPr>
              <a:t>use</a:t>
            </a:r>
            <a:r>
              <a:rPr sz="2200" spc="-120" dirty="0">
                <a:latin typeface="Verdana"/>
                <a:cs typeface="Verdana"/>
              </a:rPr>
              <a:t> </a:t>
            </a:r>
            <a:r>
              <a:rPr sz="2200" spc="-65" dirty="0">
                <a:latin typeface="Verdana"/>
                <a:cs typeface="Verdana"/>
              </a:rPr>
              <a:t>parenthesis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()</a:t>
            </a:r>
            <a:endParaRPr sz="22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200" y="2035686"/>
            <a:ext cx="4311395" cy="32720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4463" y="2851404"/>
              <a:ext cx="7824216" cy="87934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9308" y="2848355"/>
              <a:ext cx="1458595" cy="516890"/>
            </a:xfrm>
            <a:custGeom>
              <a:avLst/>
              <a:gdLst/>
              <a:ahLst/>
              <a:cxnLst/>
              <a:rect l="l" t="t" r="r" b="b"/>
              <a:pathLst>
                <a:path w="1458595" h="516889">
                  <a:moveTo>
                    <a:pt x="0" y="86106"/>
                  </a:moveTo>
                  <a:lnTo>
                    <a:pt x="6767" y="52613"/>
                  </a:lnTo>
                  <a:lnTo>
                    <a:pt x="25222" y="25241"/>
                  </a:lnTo>
                  <a:lnTo>
                    <a:pt x="52592" y="6774"/>
                  </a:lnTo>
                  <a:lnTo>
                    <a:pt x="86106" y="0"/>
                  </a:lnTo>
                  <a:lnTo>
                    <a:pt x="1372362" y="0"/>
                  </a:lnTo>
                  <a:lnTo>
                    <a:pt x="1405854" y="6774"/>
                  </a:lnTo>
                  <a:lnTo>
                    <a:pt x="1433226" y="25241"/>
                  </a:lnTo>
                  <a:lnTo>
                    <a:pt x="1451693" y="52613"/>
                  </a:lnTo>
                  <a:lnTo>
                    <a:pt x="1458468" y="86106"/>
                  </a:lnTo>
                  <a:lnTo>
                    <a:pt x="1458468" y="430530"/>
                  </a:lnTo>
                  <a:lnTo>
                    <a:pt x="1451693" y="464022"/>
                  </a:lnTo>
                  <a:lnTo>
                    <a:pt x="1433226" y="491394"/>
                  </a:lnTo>
                  <a:lnTo>
                    <a:pt x="1405854" y="509861"/>
                  </a:lnTo>
                  <a:lnTo>
                    <a:pt x="1372362" y="516636"/>
                  </a:lnTo>
                  <a:lnTo>
                    <a:pt x="86106" y="516636"/>
                  </a:lnTo>
                  <a:lnTo>
                    <a:pt x="52592" y="509861"/>
                  </a:lnTo>
                  <a:lnTo>
                    <a:pt x="25222" y="491394"/>
                  </a:lnTo>
                  <a:lnTo>
                    <a:pt x="6767" y="464022"/>
                  </a:lnTo>
                  <a:lnTo>
                    <a:pt x="0" y="430530"/>
                  </a:lnTo>
                  <a:lnTo>
                    <a:pt x="0" y="86106"/>
                  </a:lnTo>
                  <a:close/>
                </a:path>
              </a:pathLst>
            </a:custGeom>
            <a:ln w="571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2459" y="2929127"/>
              <a:ext cx="958850" cy="355600"/>
            </a:xfrm>
            <a:custGeom>
              <a:avLst/>
              <a:gdLst/>
              <a:ahLst/>
              <a:cxnLst/>
              <a:rect l="l" t="t" r="r" b="b"/>
              <a:pathLst>
                <a:path w="958850" h="355600">
                  <a:moveTo>
                    <a:pt x="0" y="59182"/>
                  </a:moveTo>
                  <a:lnTo>
                    <a:pt x="4650" y="36165"/>
                  </a:lnTo>
                  <a:lnTo>
                    <a:pt x="17332" y="17351"/>
                  </a:lnTo>
                  <a:lnTo>
                    <a:pt x="36143" y="4657"/>
                  </a:lnTo>
                  <a:lnTo>
                    <a:pt x="59182" y="0"/>
                  </a:lnTo>
                  <a:lnTo>
                    <a:pt x="899414" y="0"/>
                  </a:lnTo>
                  <a:lnTo>
                    <a:pt x="922430" y="4657"/>
                  </a:lnTo>
                  <a:lnTo>
                    <a:pt x="941244" y="17351"/>
                  </a:lnTo>
                  <a:lnTo>
                    <a:pt x="953938" y="36165"/>
                  </a:lnTo>
                  <a:lnTo>
                    <a:pt x="958596" y="59182"/>
                  </a:lnTo>
                  <a:lnTo>
                    <a:pt x="958596" y="295910"/>
                  </a:lnTo>
                  <a:lnTo>
                    <a:pt x="953938" y="318926"/>
                  </a:lnTo>
                  <a:lnTo>
                    <a:pt x="941244" y="337740"/>
                  </a:lnTo>
                  <a:lnTo>
                    <a:pt x="922430" y="350434"/>
                  </a:lnTo>
                  <a:lnTo>
                    <a:pt x="899414" y="355092"/>
                  </a:lnTo>
                  <a:lnTo>
                    <a:pt x="59182" y="355092"/>
                  </a:lnTo>
                  <a:lnTo>
                    <a:pt x="36143" y="350434"/>
                  </a:lnTo>
                  <a:lnTo>
                    <a:pt x="17332" y="337740"/>
                  </a:lnTo>
                  <a:lnTo>
                    <a:pt x="4650" y="318926"/>
                  </a:lnTo>
                  <a:lnTo>
                    <a:pt x="0" y="295910"/>
                  </a:lnTo>
                  <a:lnTo>
                    <a:pt x="0" y="59182"/>
                  </a:lnTo>
                  <a:close/>
                </a:path>
              </a:pathLst>
            </a:custGeom>
            <a:ln w="57150">
              <a:solidFill>
                <a:srgbClr val="E23C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1000" y="1066800"/>
            <a:ext cx="7931829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40" dirty="0"/>
              <a:t>Order</a:t>
            </a:r>
            <a:r>
              <a:rPr b="1" spc="-225" dirty="0"/>
              <a:t> </a:t>
            </a:r>
            <a:r>
              <a:rPr b="1" spc="125" dirty="0"/>
              <a:t>precedence</a:t>
            </a:r>
            <a:r>
              <a:rPr lang="es-CO" b="1" spc="-250" dirty="0"/>
              <a:t> </a:t>
            </a:r>
            <a:r>
              <a:rPr b="1" spc="-10" dirty="0"/>
              <a:t>example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4067" y="1016634"/>
            <a:ext cx="3310179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Quick</a:t>
            </a:r>
            <a:r>
              <a:rPr b="1" spc="-250" dirty="0"/>
              <a:t> </a:t>
            </a:r>
            <a:r>
              <a:rPr b="1" spc="-90" dirty="0"/>
              <a:t>quiz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54245" y="3024632"/>
            <a:ext cx="51679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vs</a:t>
            </a:r>
            <a:endParaRPr sz="2200" b="1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7075" y="2967227"/>
            <a:ext cx="8689975" cy="502920"/>
            <a:chOff x="227075" y="2967227"/>
            <a:chExt cx="8689975" cy="5029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075" y="2967227"/>
              <a:ext cx="3852672" cy="4648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1455" y="2970275"/>
              <a:ext cx="4125467" cy="49987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76656" y="3011423"/>
              <a:ext cx="5006340" cy="367665"/>
            </a:xfrm>
            <a:custGeom>
              <a:avLst/>
              <a:gdLst/>
              <a:ahLst/>
              <a:cxnLst/>
              <a:rect l="l" t="t" r="r" b="b"/>
              <a:pathLst>
                <a:path w="5006340" h="367664">
                  <a:moveTo>
                    <a:pt x="0" y="57658"/>
                  </a:moveTo>
                  <a:lnTo>
                    <a:pt x="4531" y="35200"/>
                  </a:lnTo>
                  <a:lnTo>
                    <a:pt x="16889" y="16875"/>
                  </a:lnTo>
                  <a:lnTo>
                    <a:pt x="35216" y="4526"/>
                  </a:lnTo>
                  <a:lnTo>
                    <a:pt x="57657" y="0"/>
                  </a:lnTo>
                  <a:lnTo>
                    <a:pt x="710438" y="0"/>
                  </a:lnTo>
                  <a:lnTo>
                    <a:pt x="732895" y="4526"/>
                  </a:lnTo>
                  <a:lnTo>
                    <a:pt x="751220" y="16875"/>
                  </a:lnTo>
                  <a:lnTo>
                    <a:pt x="763569" y="35200"/>
                  </a:lnTo>
                  <a:lnTo>
                    <a:pt x="768096" y="57658"/>
                  </a:lnTo>
                  <a:lnTo>
                    <a:pt x="768096" y="288289"/>
                  </a:lnTo>
                  <a:lnTo>
                    <a:pt x="763569" y="310747"/>
                  </a:lnTo>
                  <a:lnTo>
                    <a:pt x="751220" y="329072"/>
                  </a:lnTo>
                  <a:lnTo>
                    <a:pt x="732895" y="341421"/>
                  </a:lnTo>
                  <a:lnTo>
                    <a:pt x="710438" y="345948"/>
                  </a:lnTo>
                  <a:lnTo>
                    <a:pt x="57657" y="345948"/>
                  </a:lnTo>
                  <a:lnTo>
                    <a:pt x="35216" y="341421"/>
                  </a:lnTo>
                  <a:lnTo>
                    <a:pt x="16889" y="329072"/>
                  </a:lnTo>
                  <a:lnTo>
                    <a:pt x="4531" y="310747"/>
                  </a:lnTo>
                  <a:lnTo>
                    <a:pt x="0" y="288289"/>
                  </a:lnTo>
                  <a:lnTo>
                    <a:pt x="0" y="57658"/>
                  </a:lnTo>
                  <a:close/>
                </a:path>
                <a:path w="5006340" h="367664">
                  <a:moveTo>
                    <a:pt x="4262628" y="71374"/>
                  </a:moveTo>
                  <a:lnTo>
                    <a:pt x="4267285" y="48357"/>
                  </a:lnTo>
                  <a:lnTo>
                    <a:pt x="4279979" y="29543"/>
                  </a:lnTo>
                  <a:lnTo>
                    <a:pt x="4298793" y="16849"/>
                  </a:lnTo>
                  <a:lnTo>
                    <a:pt x="4321809" y="12191"/>
                  </a:lnTo>
                  <a:lnTo>
                    <a:pt x="4947158" y="12191"/>
                  </a:lnTo>
                  <a:lnTo>
                    <a:pt x="4970174" y="16849"/>
                  </a:lnTo>
                  <a:lnTo>
                    <a:pt x="4988988" y="29543"/>
                  </a:lnTo>
                  <a:lnTo>
                    <a:pt x="5001682" y="48357"/>
                  </a:lnTo>
                  <a:lnTo>
                    <a:pt x="5006340" y="71374"/>
                  </a:lnTo>
                  <a:lnTo>
                    <a:pt x="5006340" y="308101"/>
                  </a:lnTo>
                  <a:lnTo>
                    <a:pt x="5001682" y="331118"/>
                  </a:lnTo>
                  <a:lnTo>
                    <a:pt x="4988988" y="349932"/>
                  </a:lnTo>
                  <a:lnTo>
                    <a:pt x="4970174" y="362626"/>
                  </a:lnTo>
                  <a:lnTo>
                    <a:pt x="4947158" y="367284"/>
                  </a:lnTo>
                  <a:lnTo>
                    <a:pt x="4321809" y="367284"/>
                  </a:lnTo>
                  <a:lnTo>
                    <a:pt x="4298793" y="362626"/>
                  </a:lnTo>
                  <a:lnTo>
                    <a:pt x="4279979" y="349932"/>
                  </a:lnTo>
                  <a:lnTo>
                    <a:pt x="4267285" y="331118"/>
                  </a:lnTo>
                  <a:lnTo>
                    <a:pt x="4262628" y="308101"/>
                  </a:lnTo>
                  <a:lnTo>
                    <a:pt x="4262628" y="71374"/>
                  </a:lnTo>
                  <a:close/>
                </a:path>
              </a:pathLst>
            </a:custGeom>
            <a:ln w="57150">
              <a:solidFill>
                <a:srgbClr val="E23C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84479" y="3491610"/>
            <a:ext cx="567183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13</a:t>
            </a:r>
            <a:endParaRPr sz="2200" b="1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95417" y="3491610"/>
            <a:ext cx="567183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49</a:t>
            </a:r>
            <a:endParaRPr sz="2200" b="1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697134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30" dirty="0"/>
              <a:t>Comparison</a:t>
            </a:r>
            <a:r>
              <a:rPr b="1" spc="-220" dirty="0"/>
              <a:t> </a:t>
            </a:r>
            <a:r>
              <a:rPr b="1" spc="-35" dirty="0"/>
              <a:t>operators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5523" y="2118486"/>
            <a:ext cx="3049118" cy="3356688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spc="-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I.e.</a:t>
            </a:r>
            <a:r>
              <a:rPr sz="23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comparison</a:t>
            </a:r>
            <a:r>
              <a:rPr sz="23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operators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Return</a:t>
            </a:r>
            <a:r>
              <a:rPr sz="23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Boolean</a:t>
            </a:r>
            <a:r>
              <a:rPr sz="23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values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994"/>
              </a:spcBef>
            </a:pPr>
            <a:r>
              <a:rPr sz="23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(i.e.</a:t>
            </a:r>
            <a:r>
              <a:rPr sz="23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True</a:t>
            </a:r>
            <a:r>
              <a:rPr sz="23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or</a:t>
            </a:r>
            <a:r>
              <a:rPr sz="23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False)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355600" marR="304165" indent="-342900" algn="just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Used</a:t>
            </a:r>
            <a:r>
              <a:rPr sz="2300" spc="-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extensively</a:t>
            </a:r>
            <a:r>
              <a:rPr sz="23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for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conditional</a:t>
            </a:r>
            <a:r>
              <a:rPr sz="23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statements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0" y="2118486"/>
            <a:ext cx="4951476" cy="309524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463" y="2180844"/>
            <a:ext cx="6929628" cy="19309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3963" y="685800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30" dirty="0"/>
              <a:t>Comparison</a:t>
            </a:r>
            <a:r>
              <a:rPr b="1" spc="-220" dirty="0"/>
              <a:t> </a:t>
            </a:r>
            <a:r>
              <a:rPr b="1" spc="-25" dirty="0"/>
              <a:t>examples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9604" y="4131309"/>
            <a:ext cx="115539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False</a:t>
            </a:r>
            <a:endParaRPr sz="2400" b="1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2060851"/>
            <a:ext cx="3276600" cy="153386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Logical</a:t>
            </a:r>
            <a:r>
              <a:rPr b="1" spc="-185" dirty="0"/>
              <a:t> </a:t>
            </a:r>
            <a:r>
              <a:rPr b="1" spc="-40" dirty="0"/>
              <a:t>operators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4681" y="2051430"/>
            <a:ext cx="4268319" cy="17953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4" marR="5080">
              <a:lnSpc>
                <a:spcPct val="100000"/>
              </a:lnSpc>
              <a:spcBef>
                <a:spcPts val="100"/>
              </a:spcBef>
              <a:tabLst>
                <a:tab pos="227329" algn="l"/>
              </a:tabLst>
            </a:pPr>
            <a:r>
              <a:rPr lang="es-CO"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Allows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us</a:t>
            </a:r>
            <a:r>
              <a:rPr sz="23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to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extend</a:t>
            </a:r>
            <a:r>
              <a:rPr sz="23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the</a:t>
            </a:r>
            <a:r>
              <a:rPr lang="es-CO" sz="23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conditional logic</a:t>
            </a:r>
            <a:endParaRPr lang="es-CO" sz="2300" spc="-1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  <a:p>
            <a:pPr marL="12064" marR="5080">
              <a:lnSpc>
                <a:spcPct val="100000"/>
              </a:lnSpc>
              <a:spcBef>
                <a:spcPts val="100"/>
              </a:spcBef>
              <a:tabLst>
                <a:tab pos="227329" algn="l"/>
              </a:tabLst>
            </a:pPr>
            <a:endParaRPr sz="20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227965" algn="l"/>
              </a:tabLst>
            </a:pPr>
            <a:r>
              <a:rPr lang="es-CO"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Will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become</a:t>
            </a:r>
            <a:r>
              <a:rPr sz="2300" spc="-3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essential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later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spc="-3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on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94663" y="4191000"/>
            <a:ext cx="5354674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4380" y="2855976"/>
              <a:ext cx="7642859" cy="139446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76300" y="3549396"/>
              <a:ext cx="1056640" cy="306705"/>
            </a:xfrm>
            <a:custGeom>
              <a:avLst/>
              <a:gdLst/>
              <a:ahLst/>
              <a:cxnLst/>
              <a:rect l="l" t="t" r="r" b="b"/>
              <a:pathLst>
                <a:path w="1056639" h="306704">
                  <a:moveTo>
                    <a:pt x="1005077" y="0"/>
                  </a:moveTo>
                  <a:lnTo>
                    <a:pt x="51053" y="0"/>
                  </a:lnTo>
                  <a:lnTo>
                    <a:pt x="31182" y="4012"/>
                  </a:lnTo>
                  <a:lnTo>
                    <a:pt x="14954" y="14954"/>
                  </a:lnTo>
                  <a:lnTo>
                    <a:pt x="4012" y="31182"/>
                  </a:lnTo>
                  <a:lnTo>
                    <a:pt x="0" y="51053"/>
                  </a:lnTo>
                  <a:lnTo>
                    <a:pt x="0" y="255269"/>
                  </a:lnTo>
                  <a:lnTo>
                    <a:pt x="4012" y="275141"/>
                  </a:lnTo>
                  <a:lnTo>
                    <a:pt x="14954" y="291369"/>
                  </a:lnTo>
                  <a:lnTo>
                    <a:pt x="31182" y="302311"/>
                  </a:lnTo>
                  <a:lnTo>
                    <a:pt x="51053" y="306323"/>
                  </a:lnTo>
                  <a:lnTo>
                    <a:pt x="1005077" y="306323"/>
                  </a:lnTo>
                  <a:lnTo>
                    <a:pt x="1024949" y="302311"/>
                  </a:lnTo>
                  <a:lnTo>
                    <a:pt x="1041177" y="291369"/>
                  </a:lnTo>
                  <a:lnTo>
                    <a:pt x="1052119" y="275141"/>
                  </a:lnTo>
                  <a:lnTo>
                    <a:pt x="1056132" y="255269"/>
                  </a:lnTo>
                  <a:lnTo>
                    <a:pt x="1056132" y="51053"/>
                  </a:lnTo>
                  <a:lnTo>
                    <a:pt x="1052119" y="31182"/>
                  </a:lnTo>
                  <a:lnTo>
                    <a:pt x="1041177" y="14954"/>
                  </a:lnTo>
                  <a:lnTo>
                    <a:pt x="1024949" y="4012"/>
                  </a:lnTo>
                  <a:lnTo>
                    <a:pt x="10050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6300" y="3549396"/>
              <a:ext cx="1056640" cy="306705"/>
            </a:xfrm>
            <a:custGeom>
              <a:avLst/>
              <a:gdLst/>
              <a:ahLst/>
              <a:cxnLst/>
              <a:rect l="l" t="t" r="r" b="b"/>
              <a:pathLst>
                <a:path w="1056639" h="306704">
                  <a:moveTo>
                    <a:pt x="0" y="51053"/>
                  </a:moveTo>
                  <a:lnTo>
                    <a:pt x="4012" y="31182"/>
                  </a:lnTo>
                  <a:lnTo>
                    <a:pt x="14954" y="14954"/>
                  </a:lnTo>
                  <a:lnTo>
                    <a:pt x="31182" y="4012"/>
                  </a:lnTo>
                  <a:lnTo>
                    <a:pt x="51053" y="0"/>
                  </a:lnTo>
                  <a:lnTo>
                    <a:pt x="1005077" y="0"/>
                  </a:lnTo>
                  <a:lnTo>
                    <a:pt x="1024949" y="4012"/>
                  </a:lnTo>
                  <a:lnTo>
                    <a:pt x="1041177" y="14954"/>
                  </a:lnTo>
                  <a:lnTo>
                    <a:pt x="1052119" y="31182"/>
                  </a:lnTo>
                  <a:lnTo>
                    <a:pt x="1056132" y="51053"/>
                  </a:lnTo>
                  <a:lnTo>
                    <a:pt x="1056132" y="255269"/>
                  </a:lnTo>
                  <a:lnTo>
                    <a:pt x="1052119" y="275141"/>
                  </a:lnTo>
                  <a:lnTo>
                    <a:pt x="1041177" y="291369"/>
                  </a:lnTo>
                  <a:lnTo>
                    <a:pt x="1024949" y="302311"/>
                  </a:lnTo>
                  <a:lnTo>
                    <a:pt x="1005077" y="306323"/>
                  </a:lnTo>
                  <a:lnTo>
                    <a:pt x="51053" y="306323"/>
                  </a:lnTo>
                  <a:lnTo>
                    <a:pt x="31182" y="302311"/>
                  </a:lnTo>
                  <a:lnTo>
                    <a:pt x="14954" y="291369"/>
                  </a:lnTo>
                  <a:lnTo>
                    <a:pt x="4012" y="275141"/>
                  </a:lnTo>
                  <a:lnTo>
                    <a:pt x="0" y="255269"/>
                  </a:lnTo>
                  <a:lnTo>
                    <a:pt x="0" y="51053"/>
                  </a:lnTo>
                  <a:close/>
                </a:path>
              </a:pathLst>
            </a:custGeom>
            <a:ln w="57150">
              <a:solidFill>
                <a:srgbClr val="E23C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3400" y="914400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Combining</a:t>
            </a:r>
            <a:r>
              <a:rPr b="1" spc="-270" dirty="0"/>
              <a:t> </a:t>
            </a:r>
            <a:r>
              <a:rPr b="1" spc="-20" dirty="0"/>
              <a:t>both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51661" y="3477895"/>
            <a:ext cx="7048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90" dirty="0">
                <a:solidFill>
                  <a:srgbClr val="EC7C30"/>
                </a:solidFill>
                <a:latin typeface="Verdana"/>
                <a:cs typeface="Verdana"/>
              </a:rPr>
              <a:t>True</a:t>
            </a:r>
            <a:endParaRPr sz="27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405252" y="3520821"/>
            <a:ext cx="1115060" cy="363855"/>
            <a:chOff x="2405252" y="3520821"/>
            <a:chExt cx="1115060" cy="363855"/>
          </a:xfrm>
        </p:grpSpPr>
        <p:sp>
          <p:nvSpPr>
            <p:cNvPr id="9" name="object 9"/>
            <p:cNvSpPr/>
            <p:nvPr/>
          </p:nvSpPr>
          <p:spPr>
            <a:xfrm>
              <a:off x="2433827" y="3549396"/>
              <a:ext cx="1057910" cy="306705"/>
            </a:xfrm>
            <a:custGeom>
              <a:avLst/>
              <a:gdLst/>
              <a:ahLst/>
              <a:cxnLst/>
              <a:rect l="l" t="t" r="r" b="b"/>
              <a:pathLst>
                <a:path w="1057910" h="306704">
                  <a:moveTo>
                    <a:pt x="1006601" y="0"/>
                  </a:moveTo>
                  <a:lnTo>
                    <a:pt x="51054" y="0"/>
                  </a:lnTo>
                  <a:lnTo>
                    <a:pt x="31182" y="4012"/>
                  </a:lnTo>
                  <a:lnTo>
                    <a:pt x="14954" y="14954"/>
                  </a:lnTo>
                  <a:lnTo>
                    <a:pt x="4012" y="31182"/>
                  </a:lnTo>
                  <a:lnTo>
                    <a:pt x="0" y="51053"/>
                  </a:lnTo>
                  <a:lnTo>
                    <a:pt x="0" y="255269"/>
                  </a:lnTo>
                  <a:lnTo>
                    <a:pt x="4012" y="275141"/>
                  </a:lnTo>
                  <a:lnTo>
                    <a:pt x="14954" y="291369"/>
                  </a:lnTo>
                  <a:lnTo>
                    <a:pt x="31182" y="302311"/>
                  </a:lnTo>
                  <a:lnTo>
                    <a:pt x="51054" y="306323"/>
                  </a:lnTo>
                  <a:lnTo>
                    <a:pt x="1006601" y="306323"/>
                  </a:lnTo>
                  <a:lnTo>
                    <a:pt x="1026473" y="302311"/>
                  </a:lnTo>
                  <a:lnTo>
                    <a:pt x="1042701" y="291369"/>
                  </a:lnTo>
                  <a:lnTo>
                    <a:pt x="1053643" y="275141"/>
                  </a:lnTo>
                  <a:lnTo>
                    <a:pt x="1057656" y="255269"/>
                  </a:lnTo>
                  <a:lnTo>
                    <a:pt x="1057656" y="51053"/>
                  </a:lnTo>
                  <a:lnTo>
                    <a:pt x="1053643" y="31182"/>
                  </a:lnTo>
                  <a:lnTo>
                    <a:pt x="1042701" y="14954"/>
                  </a:lnTo>
                  <a:lnTo>
                    <a:pt x="1026473" y="4012"/>
                  </a:lnTo>
                  <a:lnTo>
                    <a:pt x="10066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33827" y="3549396"/>
              <a:ext cx="1057910" cy="306705"/>
            </a:xfrm>
            <a:custGeom>
              <a:avLst/>
              <a:gdLst/>
              <a:ahLst/>
              <a:cxnLst/>
              <a:rect l="l" t="t" r="r" b="b"/>
              <a:pathLst>
                <a:path w="1057910" h="306704">
                  <a:moveTo>
                    <a:pt x="0" y="51053"/>
                  </a:moveTo>
                  <a:lnTo>
                    <a:pt x="4012" y="31182"/>
                  </a:lnTo>
                  <a:lnTo>
                    <a:pt x="14954" y="14954"/>
                  </a:lnTo>
                  <a:lnTo>
                    <a:pt x="31182" y="4012"/>
                  </a:lnTo>
                  <a:lnTo>
                    <a:pt x="51054" y="0"/>
                  </a:lnTo>
                  <a:lnTo>
                    <a:pt x="1006601" y="0"/>
                  </a:lnTo>
                  <a:lnTo>
                    <a:pt x="1026473" y="4012"/>
                  </a:lnTo>
                  <a:lnTo>
                    <a:pt x="1042701" y="14954"/>
                  </a:lnTo>
                  <a:lnTo>
                    <a:pt x="1053643" y="31182"/>
                  </a:lnTo>
                  <a:lnTo>
                    <a:pt x="1057656" y="51053"/>
                  </a:lnTo>
                  <a:lnTo>
                    <a:pt x="1057656" y="255269"/>
                  </a:lnTo>
                  <a:lnTo>
                    <a:pt x="1053643" y="275141"/>
                  </a:lnTo>
                  <a:lnTo>
                    <a:pt x="1042701" y="291369"/>
                  </a:lnTo>
                  <a:lnTo>
                    <a:pt x="1026473" y="302311"/>
                  </a:lnTo>
                  <a:lnTo>
                    <a:pt x="1006601" y="306323"/>
                  </a:lnTo>
                  <a:lnTo>
                    <a:pt x="51054" y="306323"/>
                  </a:lnTo>
                  <a:lnTo>
                    <a:pt x="31182" y="302311"/>
                  </a:lnTo>
                  <a:lnTo>
                    <a:pt x="14954" y="291369"/>
                  </a:lnTo>
                  <a:lnTo>
                    <a:pt x="4012" y="275141"/>
                  </a:lnTo>
                  <a:lnTo>
                    <a:pt x="0" y="255269"/>
                  </a:lnTo>
                  <a:lnTo>
                    <a:pt x="0" y="51053"/>
                  </a:lnTo>
                  <a:close/>
                </a:path>
              </a:pathLst>
            </a:custGeom>
            <a:ln w="57150">
              <a:solidFill>
                <a:srgbClr val="E23C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609214" y="3477895"/>
            <a:ext cx="7048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90" dirty="0">
                <a:solidFill>
                  <a:srgbClr val="EC7C30"/>
                </a:solidFill>
                <a:latin typeface="Verdana"/>
                <a:cs typeface="Verdana"/>
              </a:rPr>
              <a:t>True</a:t>
            </a:r>
            <a:endParaRPr sz="2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840" y="2474976"/>
              <a:ext cx="7088124" cy="13426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58824" y="3115055"/>
              <a:ext cx="1056640" cy="306705"/>
            </a:xfrm>
            <a:custGeom>
              <a:avLst/>
              <a:gdLst/>
              <a:ahLst/>
              <a:cxnLst/>
              <a:rect l="l" t="t" r="r" b="b"/>
              <a:pathLst>
                <a:path w="1056639" h="306704">
                  <a:moveTo>
                    <a:pt x="1005077" y="0"/>
                  </a:moveTo>
                  <a:lnTo>
                    <a:pt x="51053" y="0"/>
                  </a:lnTo>
                  <a:lnTo>
                    <a:pt x="31182" y="4012"/>
                  </a:lnTo>
                  <a:lnTo>
                    <a:pt x="14954" y="14954"/>
                  </a:lnTo>
                  <a:lnTo>
                    <a:pt x="4012" y="31182"/>
                  </a:lnTo>
                  <a:lnTo>
                    <a:pt x="0" y="51054"/>
                  </a:lnTo>
                  <a:lnTo>
                    <a:pt x="0" y="255270"/>
                  </a:lnTo>
                  <a:lnTo>
                    <a:pt x="4012" y="275141"/>
                  </a:lnTo>
                  <a:lnTo>
                    <a:pt x="14954" y="291369"/>
                  </a:lnTo>
                  <a:lnTo>
                    <a:pt x="31182" y="302311"/>
                  </a:lnTo>
                  <a:lnTo>
                    <a:pt x="51053" y="306324"/>
                  </a:lnTo>
                  <a:lnTo>
                    <a:pt x="1005077" y="306324"/>
                  </a:lnTo>
                  <a:lnTo>
                    <a:pt x="1024949" y="302311"/>
                  </a:lnTo>
                  <a:lnTo>
                    <a:pt x="1041177" y="291369"/>
                  </a:lnTo>
                  <a:lnTo>
                    <a:pt x="1052119" y="275141"/>
                  </a:lnTo>
                  <a:lnTo>
                    <a:pt x="1056132" y="255270"/>
                  </a:lnTo>
                  <a:lnTo>
                    <a:pt x="1056132" y="51054"/>
                  </a:lnTo>
                  <a:lnTo>
                    <a:pt x="1052119" y="31182"/>
                  </a:lnTo>
                  <a:lnTo>
                    <a:pt x="1041177" y="14954"/>
                  </a:lnTo>
                  <a:lnTo>
                    <a:pt x="1024949" y="4012"/>
                  </a:lnTo>
                  <a:lnTo>
                    <a:pt x="10050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58824" y="3115055"/>
              <a:ext cx="1056640" cy="306705"/>
            </a:xfrm>
            <a:custGeom>
              <a:avLst/>
              <a:gdLst/>
              <a:ahLst/>
              <a:cxnLst/>
              <a:rect l="l" t="t" r="r" b="b"/>
              <a:pathLst>
                <a:path w="1056639" h="306704">
                  <a:moveTo>
                    <a:pt x="0" y="51054"/>
                  </a:moveTo>
                  <a:lnTo>
                    <a:pt x="4012" y="31182"/>
                  </a:lnTo>
                  <a:lnTo>
                    <a:pt x="14954" y="14954"/>
                  </a:lnTo>
                  <a:lnTo>
                    <a:pt x="31182" y="4012"/>
                  </a:lnTo>
                  <a:lnTo>
                    <a:pt x="51053" y="0"/>
                  </a:lnTo>
                  <a:lnTo>
                    <a:pt x="1005077" y="0"/>
                  </a:lnTo>
                  <a:lnTo>
                    <a:pt x="1024949" y="4012"/>
                  </a:lnTo>
                  <a:lnTo>
                    <a:pt x="1041177" y="14954"/>
                  </a:lnTo>
                  <a:lnTo>
                    <a:pt x="1052119" y="31182"/>
                  </a:lnTo>
                  <a:lnTo>
                    <a:pt x="1056132" y="51054"/>
                  </a:lnTo>
                  <a:lnTo>
                    <a:pt x="1056132" y="255270"/>
                  </a:lnTo>
                  <a:lnTo>
                    <a:pt x="1052119" y="275141"/>
                  </a:lnTo>
                  <a:lnTo>
                    <a:pt x="1041177" y="291369"/>
                  </a:lnTo>
                  <a:lnTo>
                    <a:pt x="1024949" y="302311"/>
                  </a:lnTo>
                  <a:lnTo>
                    <a:pt x="1005077" y="306324"/>
                  </a:lnTo>
                  <a:lnTo>
                    <a:pt x="51053" y="306324"/>
                  </a:lnTo>
                  <a:lnTo>
                    <a:pt x="31182" y="302311"/>
                  </a:lnTo>
                  <a:lnTo>
                    <a:pt x="14954" y="291369"/>
                  </a:lnTo>
                  <a:lnTo>
                    <a:pt x="4012" y="275141"/>
                  </a:lnTo>
                  <a:lnTo>
                    <a:pt x="0" y="255270"/>
                  </a:lnTo>
                  <a:lnTo>
                    <a:pt x="0" y="51054"/>
                  </a:lnTo>
                  <a:close/>
                </a:path>
              </a:pathLst>
            </a:custGeom>
            <a:ln w="57150">
              <a:solidFill>
                <a:srgbClr val="E23C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86652" y="817360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40" dirty="0"/>
              <a:t>Another</a:t>
            </a:r>
            <a:r>
              <a:rPr b="1" spc="-235" dirty="0"/>
              <a:t> </a:t>
            </a:r>
            <a:r>
              <a:rPr b="1" spc="-10" dirty="0"/>
              <a:t>example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34464" y="3042665"/>
            <a:ext cx="7048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90" dirty="0">
                <a:solidFill>
                  <a:srgbClr val="EC7C30"/>
                </a:solidFill>
                <a:latin typeface="Verdana"/>
                <a:cs typeface="Verdana"/>
              </a:rPr>
              <a:t>True</a:t>
            </a:r>
            <a:endParaRPr sz="27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26261" y="3086480"/>
            <a:ext cx="2893695" cy="363855"/>
            <a:chOff x="1326261" y="3086480"/>
            <a:chExt cx="2893695" cy="363855"/>
          </a:xfrm>
        </p:grpSpPr>
        <p:sp>
          <p:nvSpPr>
            <p:cNvPr id="9" name="object 9"/>
            <p:cNvSpPr/>
            <p:nvPr/>
          </p:nvSpPr>
          <p:spPr>
            <a:xfrm>
              <a:off x="3133343" y="3115055"/>
              <a:ext cx="1057910" cy="306705"/>
            </a:xfrm>
            <a:custGeom>
              <a:avLst/>
              <a:gdLst/>
              <a:ahLst/>
              <a:cxnLst/>
              <a:rect l="l" t="t" r="r" b="b"/>
              <a:pathLst>
                <a:path w="1057910" h="306704">
                  <a:moveTo>
                    <a:pt x="1006602" y="0"/>
                  </a:moveTo>
                  <a:lnTo>
                    <a:pt x="51054" y="0"/>
                  </a:lnTo>
                  <a:lnTo>
                    <a:pt x="31182" y="4012"/>
                  </a:lnTo>
                  <a:lnTo>
                    <a:pt x="14954" y="14954"/>
                  </a:lnTo>
                  <a:lnTo>
                    <a:pt x="4012" y="31182"/>
                  </a:lnTo>
                  <a:lnTo>
                    <a:pt x="0" y="51054"/>
                  </a:lnTo>
                  <a:lnTo>
                    <a:pt x="0" y="255270"/>
                  </a:lnTo>
                  <a:lnTo>
                    <a:pt x="4012" y="275141"/>
                  </a:lnTo>
                  <a:lnTo>
                    <a:pt x="14954" y="291369"/>
                  </a:lnTo>
                  <a:lnTo>
                    <a:pt x="31182" y="302311"/>
                  </a:lnTo>
                  <a:lnTo>
                    <a:pt x="51054" y="306324"/>
                  </a:lnTo>
                  <a:lnTo>
                    <a:pt x="1006602" y="306324"/>
                  </a:lnTo>
                  <a:lnTo>
                    <a:pt x="1026473" y="302311"/>
                  </a:lnTo>
                  <a:lnTo>
                    <a:pt x="1042701" y="291369"/>
                  </a:lnTo>
                  <a:lnTo>
                    <a:pt x="1053643" y="275141"/>
                  </a:lnTo>
                  <a:lnTo>
                    <a:pt x="1057656" y="255270"/>
                  </a:lnTo>
                  <a:lnTo>
                    <a:pt x="1057656" y="51054"/>
                  </a:lnTo>
                  <a:lnTo>
                    <a:pt x="1053643" y="31182"/>
                  </a:lnTo>
                  <a:lnTo>
                    <a:pt x="1042701" y="14954"/>
                  </a:lnTo>
                  <a:lnTo>
                    <a:pt x="1026473" y="4012"/>
                  </a:lnTo>
                  <a:lnTo>
                    <a:pt x="10066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33343" y="3115055"/>
              <a:ext cx="1057910" cy="306705"/>
            </a:xfrm>
            <a:custGeom>
              <a:avLst/>
              <a:gdLst/>
              <a:ahLst/>
              <a:cxnLst/>
              <a:rect l="l" t="t" r="r" b="b"/>
              <a:pathLst>
                <a:path w="1057910" h="306704">
                  <a:moveTo>
                    <a:pt x="0" y="51054"/>
                  </a:moveTo>
                  <a:lnTo>
                    <a:pt x="4012" y="31182"/>
                  </a:lnTo>
                  <a:lnTo>
                    <a:pt x="14954" y="14954"/>
                  </a:lnTo>
                  <a:lnTo>
                    <a:pt x="31182" y="4012"/>
                  </a:lnTo>
                  <a:lnTo>
                    <a:pt x="51054" y="0"/>
                  </a:lnTo>
                  <a:lnTo>
                    <a:pt x="1006602" y="0"/>
                  </a:lnTo>
                  <a:lnTo>
                    <a:pt x="1026473" y="4012"/>
                  </a:lnTo>
                  <a:lnTo>
                    <a:pt x="1042701" y="14954"/>
                  </a:lnTo>
                  <a:lnTo>
                    <a:pt x="1053643" y="31182"/>
                  </a:lnTo>
                  <a:lnTo>
                    <a:pt x="1057656" y="51054"/>
                  </a:lnTo>
                  <a:lnTo>
                    <a:pt x="1057656" y="255270"/>
                  </a:lnTo>
                  <a:lnTo>
                    <a:pt x="1053643" y="275141"/>
                  </a:lnTo>
                  <a:lnTo>
                    <a:pt x="1042701" y="291369"/>
                  </a:lnTo>
                  <a:lnTo>
                    <a:pt x="1026473" y="302311"/>
                  </a:lnTo>
                  <a:lnTo>
                    <a:pt x="1006602" y="306324"/>
                  </a:lnTo>
                  <a:lnTo>
                    <a:pt x="51054" y="306324"/>
                  </a:lnTo>
                  <a:lnTo>
                    <a:pt x="31182" y="302311"/>
                  </a:lnTo>
                  <a:lnTo>
                    <a:pt x="14954" y="291369"/>
                  </a:lnTo>
                  <a:lnTo>
                    <a:pt x="4012" y="275141"/>
                  </a:lnTo>
                  <a:lnTo>
                    <a:pt x="0" y="255270"/>
                  </a:lnTo>
                  <a:lnTo>
                    <a:pt x="0" y="51054"/>
                  </a:lnTo>
                  <a:close/>
                </a:path>
              </a:pathLst>
            </a:custGeom>
            <a:ln w="57150">
              <a:solidFill>
                <a:srgbClr val="E23C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54836" y="3115055"/>
              <a:ext cx="2836545" cy="306705"/>
            </a:xfrm>
            <a:custGeom>
              <a:avLst/>
              <a:gdLst/>
              <a:ahLst/>
              <a:cxnLst/>
              <a:rect l="l" t="t" r="r" b="b"/>
              <a:pathLst>
                <a:path w="2836545" h="306704">
                  <a:moveTo>
                    <a:pt x="2785110" y="0"/>
                  </a:moveTo>
                  <a:lnTo>
                    <a:pt x="51053" y="0"/>
                  </a:lnTo>
                  <a:lnTo>
                    <a:pt x="31182" y="4012"/>
                  </a:lnTo>
                  <a:lnTo>
                    <a:pt x="14954" y="14954"/>
                  </a:lnTo>
                  <a:lnTo>
                    <a:pt x="4012" y="31182"/>
                  </a:lnTo>
                  <a:lnTo>
                    <a:pt x="0" y="51054"/>
                  </a:lnTo>
                  <a:lnTo>
                    <a:pt x="0" y="255270"/>
                  </a:lnTo>
                  <a:lnTo>
                    <a:pt x="4012" y="275141"/>
                  </a:lnTo>
                  <a:lnTo>
                    <a:pt x="14954" y="291369"/>
                  </a:lnTo>
                  <a:lnTo>
                    <a:pt x="31182" y="302311"/>
                  </a:lnTo>
                  <a:lnTo>
                    <a:pt x="51053" y="306324"/>
                  </a:lnTo>
                  <a:lnTo>
                    <a:pt x="2785110" y="306324"/>
                  </a:lnTo>
                  <a:lnTo>
                    <a:pt x="2804981" y="302311"/>
                  </a:lnTo>
                  <a:lnTo>
                    <a:pt x="2821209" y="291369"/>
                  </a:lnTo>
                  <a:lnTo>
                    <a:pt x="2832151" y="275141"/>
                  </a:lnTo>
                  <a:lnTo>
                    <a:pt x="2836164" y="255270"/>
                  </a:lnTo>
                  <a:lnTo>
                    <a:pt x="2836164" y="51054"/>
                  </a:lnTo>
                  <a:lnTo>
                    <a:pt x="2832151" y="31182"/>
                  </a:lnTo>
                  <a:lnTo>
                    <a:pt x="2821209" y="14954"/>
                  </a:lnTo>
                  <a:lnTo>
                    <a:pt x="2804981" y="4012"/>
                  </a:lnTo>
                  <a:lnTo>
                    <a:pt x="27851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54836" y="3115055"/>
              <a:ext cx="2836545" cy="306705"/>
            </a:xfrm>
            <a:custGeom>
              <a:avLst/>
              <a:gdLst/>
              <a:ahLst/>
              <a:cxnLst/>
              <a:rect l="l" t="t" r="r" b="b"/>
              <a:pathLst>
                <a:path w="2836545" h="306704">
                  <a:moveTo>
                    <a:pt x="0" y="51054"/>
                  </a:moveTo>
                  <a:lnTo>
                    <a:pt x="4012" y="31182"/>
                  </a:lnTo>
                  <a:lnTo>
                    <a:pt x="14954" y="14954"/>
                  </a:lnTo>
                  <a:lnTo>
                    <a:pt x="31182" y="4012"/>
                  </a:lnTo>
                  <a:lnTo>
                    <a:pt x="51053" y="0"/>
                  </a:lnTo>
                  <a:lnTo>
                    <a:pt x="2785110" y="0"/>
                  </a:lnTo>
                  <a:lnTo>
                    <a:pt x="2804981" y="4012"/>
                  </a:lnTo>
                  <a:lnTo>
                    <a:pt x="2821209" y="14954"/>
                  </a:lnTo>
                  <a:lnTo>
                    <a:pt x="2832151" y="31182"/>
                  </a:lnTo>
                  <a:lnTo>
                    <a:pt x="2836164" y="51054"/>
                  </a:lnTo>
                  <a:lnTo>
                    <a:pt x="2836164" y="255270"/>
                  </a:lnTo>
                  <a:lnTo>
                    <a:pt x="2832151" y="275141"/>
                  </a:lnTo>
                  <a:lnTo>
                    <a:pt x="2821209" y="291369"/>
                  </a:lnTo>
                  <a:lnTo>
                    <a:pt x="2804981" y="302311"/>
                  </a:lnTo>
                  <a:lnTo>
                    <a:pt x="2785110" y="306324"/>
                  </a:lnTo>
                  <a:lnTo>
                    <a:pt x="51053" y="306324"/>
                  </a:lnTo>
                  <a:lnTo>
                    <a:pt x="31182" y="302311"/>
                  </a:lnTo>
                  <a:lnTo>
                    <a:pt x="14954" y="291369"/>
                  </a:lnTo>
                  <a:lnTo>
                    <a:pt x="4012" y="275141"/>
                  </a:lnTo>
                  <a:lnTo>
                    <a:pt x="0" y="255270"/>
                  </a:lnTo>
                  <a:lnTo>
                    <a:pt x="0" y="51054"/>
                  </a:lnTo>
                  <a:close/>
                </a:path>
              </a:pathLst>
            </a:custGeom>
            <a:ln w="57150">
              <a:solidFill>
                <a:srgbClr val="E23C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24840" y="4136830"/>
            <a:ext cx="7467194" cy="104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s-CO" sz="24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4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That</a:t>
            </a:r>
            <a:r>
              <a:rPr sz="24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wasn't</a:t>
            </a:r>
            <a:r>
              <a:rPr sz="2400" spc="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very</a:t>
            </a:r>
            <a:r>
              <a:rPr sz="24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easy</a:t>
            </a:r>
            <a:r>
              <a:rPr sz="24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to</a:t>
            </a:r>
            <a:r>
              <a:rPr sz="24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read</a:t>
            </a:r>
            <a:r>
              <a:rPr sz="24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was</a:t>
            </a:r>
            <a:r>
              <a:rPr sz="2400" spc="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it?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  <a:p>
            <a:pPr marL="12700">
              <a:lnSpc>
                <a:spcPct val="150000"/>
              </a:lnSpc>
            </a:pP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Is</a:t>
            </a:r>
            <a:r>
              <a:rPr sz="2400" spc="-4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there</a:t>
            </a:r>
            <a:r>
              <a:rPr sz="24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</a:t>
            </a:r>
            <a:r>
              <a:rPr sz="24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way</a:t>
            </a:r>
            <a:r>
              <a:rPr sz="2400" spc="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we</a:t>
            </a:r>
            <a:r>
              <a:rPr sz="2400" spc="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can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make</a:t>
            </a:r>
            <a:r>
              <a:rPr sz="24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it</a:t>
            </a:r>
            <a:r>
              <a:rPr sz="24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more</a:t>
            </a:r>
            <a:r>
              <a:rPr sz="24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readable?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19857" y="3042665"/>
            <a:ext cx="15944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2335" algn="l"/>
              </a:tabLst>
            </a:pPr>
            <a:r>
              <a:rPr sz="2700" spc="-20" dirty="0">
                <a:solidFill>
                  <a:srgbClr val="EC7C30"/>
                </a:solidFill>
                <a:latin typeface="Verdana"/>
                <a:cs typeface="Verdana"/>
              </a:rPr>
              <a:t>True</a:t>
            </a:r>
            <a:r>
              <a:rPr sz="2700" dirty="0">
                <a:solidFill>
                  <a:srgbClr val="EC7C30"/>
                </a:solidFill>
                <a:latin typeface="Verdana"/>
                <a:cs typeface="Verdana"/>
              </a:rPr>
              <a:t>	</a:t>
            </a:r>
            <a:r>
              <a:rPr sz="2700" spc="-190" dirty="0">
                <a:solidFill>
                  <a:srgbClr val="EC7C30"/>
                </a:solidFill>
                <a:latin typeface="Verdana"/>
                <a:cs typeface="Verdana"/>
              </a:rPr>
              <a:t>True</a:t>
            </a:r>
            <a:endParaRPr sz="2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6363" y="2534411"/>
            <a:ext cx="6876288" cy="1804416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CE38C0C4-05F2-FBD1-FBD6-66C15982E202}"/>
              </a:ext>
            </a:extLst>
          </p:cNvPr>
          <p:cNvSpPr txBox="1">
            <a:spLocks/>
          </p:cNvSpPr>
          <p:nvPr/>
        </p:nvSpPr>
        <p:spPr>
          <a:xfrm>
            <a:off x="486652" y="817360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59410">
              <a:spcBef>
                <a:spcPts val="105"/>
              </a:spcBef>
            </a:pPr>
            <a:r>
              <a:rPr lang="es-CO" b="1" spc="-40" dirty="0" err="1"/>
              <a:t>Another</a:t>
            </a:r>
            <a:r>
              <a:rPr lang="es-CO" b="1" spc="-235" dirty="0"/>
              <a:t> </a:t>
            </a:r>
            <a:r>
              <a:rPr lang="es-CO" b="1" spc="-10" dirty="0" err="1"/>
              <a:t>example</a:t>
            </a:r>
            <a:endParaRPr lang="es-CO" b="1" spc="-1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Strings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1905000"/>
            <a:ext cx="6928917" cy="3482877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200000"/>
              </a:lnSpc>
              <a:spcBef>
                <a:spcPts val="1100"/>
              </a:spcBef>
              <a:tabLst>
                <a:tab pos="354965" algn="l"/>
              </a:tabLst>
            </a:pPr>
            <a:r>
              <a:rPr sz="25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5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500" spc="-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Powerful</a:t>
            </a:r>
            <a:r>
              <a:rPr sz="2500" spc="-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and</a:t>
            </a:r>
            <a:r>
              <a:rPr sz="25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flexible</a:t>
            </a:r>
            <a:r>
              <a:rPr sz="2500" spc="-1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</a:t>
            </a:r>
            <a:r>
              <a:rPr sz="25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Python</a:t>
            </a:r>
            <a:endParaRPr sz="25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2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25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5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500" spc="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Can</a:t>
            </a:r>
            <a:r>
              <a:rPr sz="2500" spc="-1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be</a:t>
            </a:r>
            <a:r>
              <a:rPr sz="25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added</a:t>
            </a:r>
            <a:endParaRPr sz="25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2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25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5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500" spc="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Can</a:t>
            </a:r>
            <a:r>
              <a:rPr sz="2500" spc="-1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be</a:t>
            </a:r>
            <a:r>
              <a:rPr sz="25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multiplied</a:t>
            </a:r>
            <a:endParaRPr sz="25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2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25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5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500" spc="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Can</a:t>
            </a:r>
            <a:r>
              <a:rPr sz="25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be</a:t>
            </a:r>
            <a:r>
              <a:rPr sz="25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multiple</a:t>
            </a:r>
            <a:r>
              <a:rPr sz="25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lines</a:t>
            </a:r>
            <a:endParaRPr sz="25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9858" y="2336292"/>
            <a:ext cx="6844283" cy="2185416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ED62C0E2-B6E1-5DCF-B499-9320D0B369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Strings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42645" y="3810000"/>
            <a:ext cx="7458709" cy="20649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51484" algn="just">
              <a:lnSpc>
                <a:spcPct val="150000"/>
              </a:lnSpc>
              <a:spcBef>
                <a:spcPts val="100"/>
              </a:spcBef>
            </a:pPr>
            <a:r>
              <a:rPr lang="es-CO"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These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are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called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methods</a:t>
            </a:r>
            <a:r>
              <a:rPr sz="2300" spc="-3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and</a:t>
            </a:r>
            <a:r>
              <a:rPr sz="23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add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extra</a:t>
            </a:r>
            <a:r>
              <a:rPr sz="23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functionality</a:t>
            </a:r>
            <a:r>
              <a:rPr sz="2300" spc="-4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to</a:t>
            </a:r>
            <a:r>
              <a:rPr sz="23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the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String.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  <a:p>
            <a:pPr marL="12700" algn="just">
              <a:lnSpc>
                <a:spcPct val="150000"/>
              </a:lnSpc>
            </a:pPr>
            <a:r>
              <a:rPr lang="es-CO"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If</a:t>
            </a:r>
            <a:r>
              <a:rPr sz="23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you</a:t>
            </a:r>
            <a:r>
              <a:rPr sz="23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want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to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see</a:t>
            </a:r>
            <a:r>
              <a:rPr sz="2300" spc="-3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more</a:t>
            </a:r>
            <a:r>
              <a:rPr sz="23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methods</a:t>
            </a:r>
            <a:r>
              <a:rPr sz="2300" spc="-3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that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can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be</a:t>
            </a:r>
            <a:r>
              <a:rPr sz="23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applied</a:t>
            </a:r>
            <a:r>
              <a:rPr sz="2300" spc="-4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to</a:t>
            </a:r>
            <a:r>
              <a:rPr sz="23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</a:t>
            </a:r>
            <a:r>
              <a:rPr sz="23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string</a:t>
            </a:r>
            <a:r>
              <a:rPr lang="es-CO" sz="23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simply</a:t>
            </a:r>
            <a:r>
              <a:rPr sz="23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type</a:t>
            </a:r>
            <a:r>
              <a:rPr sz="23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in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b="1" spc="-10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dir('str')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323" y="1698400"/>
            <a:ext cx="6672073" cy="1760220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11F54D27-032F-CCB0-22DB-06FD8F1FEA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Strings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4439" y="4724400"/>
            <a:ext cx="6912864" cy="11079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199" y="838200"/>
            <a:ext cx="7205345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0" dirty="0"/>
              <a:t>Mixing</a:t>
            </a:r>
            <a:r>
              <a:rPr b="1" spc="-225" dirty="0"/>
              <a:t> </a:t>
            </a:r>
            <a:r>
              <a:rPr b="1" dirty="0"/>
              <a:t>up</a:t>
            </a:r>
            <a:r>
              <a:rPr b="1" spc="-210" dirty="0"/>
              <a:t> </a:t>
            </a:r>
            <a:r>
              <a:rPr b="1" spc="-235" dirty="0"/>
              <a:t>strings</a:t>
            </a:r>
            <a:r>
              <a:rPr b="1" spc="-245" dirty="0"/>
              <a:t> </a:t>
            </a:r>
            <a:r>
              <a:rPr b="1" spc="114" dirty="0"/>
              <a:t>and</a:t>
            </a:r>
            <a:r>
              <a:rPr b="1" spc="-225" dirty="0"/>
              <a:t> </a:t>
            </a:r>
            <a:r>
              <a:rPr b="1" spc="-70" dirty="0"/>
              <a:t>numbers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96038" y="2362200"/>
            <a:ext cx="8219362" cy="19756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14705" algn="just">
              <a:lnSpc>
                <a:spcPct val="150000"/>
              </a:lnSpc>
              <a:spcBef>
                <a:spcPts val="100"/>
              </a:spcBef>
            </a:pPr>
            <a:r>
              <a:rPr lang="es-CO"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Often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we</a:t>
            </a:r>
            <a:r>
              <a:rPr sz="22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would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need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to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mix</a:t>
            </a:r>
            <a:r>
              <a:rPr sz="22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up</a:t>
            </a:r>
            <a:r>
              <a:rPr sz="22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numbers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and</a:t>
            </a:r>
            <a:r>
              <a:rPr lang="es-CO" sz="22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strings.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It</a:t>
            </a:r>
            <a:r>
              <a:rPr sz="2200" spc="-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is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best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to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keep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numbers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as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numbers</a:t>
            </a:r>
            <a:r>
              <a:rPr sz="2200" spc="-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(i.e.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int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or</a:t>
            </a:r>
            <a:r>
              <a:rPr sz="2200" spc="-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float)</a:t>
            </a:r>
            <a:r>
              <a:rPr lang="es-CO" sz="22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and</a:t>
            </a:r>
            <a:r>
              <a:rPr sz="22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cast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them</a:t>
            </a:r>
            <a:r>
              <a:rPr sz="22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to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strings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whenever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we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need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them</a:t>
            </a:r>
            <a:r>
              <a:rPr sz="22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as</a:t>
            </a:r>
            <a:r>
              <a:rPr sz="2200" spc="-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string.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436" y="2286000"/>
            <a:ext cx="7501128" cy="294741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838200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110" dirty="0"/>
              <a:t>Multiline</a:t>
            </a:r>
            <a:r>
              <a:rPr b="1" spc="-235" dirty="0"/>
              <a:t> </a:t>
            </a:r>
            <a:r>
              <a:rPr b="1" spc="-210" dirty="0"/>
              <a:t>strings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480251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135" dirty="0"/>
              <a:t>Printing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104" y="1830575"/>
            <a:ext cx="7955789" cy="2039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When</a:t>
            </a:r>
            <a:r>
              <a:rPr sz="2300" spc="-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writing</a:t>
            </a:r>
            <a:r>
              <a:rPr sz="23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scripts,</a:t>
            </a:r>
            <a:r>
              <a:rPr sz="23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your</a:t>
            </a:r>
            <a:r>
              <a:rPr sz="23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outcomes</a:t>
            </a:r>
            <a:r>
              <a:rPr sz="23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aren't</a:t>
            </a:r>
            <a:r>
              <a:rPr sz="23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printed</a:t>
            </a:r>
            <a:r>
              <a:rPr sz="23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on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3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the</a:t>
            </a:r>
            <a:r>
              <a:rPr sz="23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terminal.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355600" marR="524510" indent="-343535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spc="-1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Thus,</a:t>
            </a:r>
            <a:r>
              <a:rPr sz="23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you</a:t>
            </a:r>
            <a:r>
              <a:rPr sz="23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must</a:t>
            </a:r>
            <a:r>
              <a:rPr sz="23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print</a:t>
            </a:r>
            <a:r>
              <a:rPr sz="23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them</a:t>
            </a:r>
            <a:r>
              <a:rPr sz="23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yourself</a:t>
            </a:r>
            <a:r>
              <a:rPr sz="23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with </a:t>
            </a:r>
            <a:r>
              <a:rPr sz="23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the</a:t>
            </a:r>
            <a:r>
              <a:rPr sz="23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print()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function.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Beware</a:t>
            </a:r>
            <a:r>
              <a:rPr sz="23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to</a:t>
            </a:r>
            <a:r>
              <a:rPr sz="23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not</a:t>
            </a:r>
            <a:r>
              <a:rPr sz="23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mix</a:t>
            </a:r>
            <a:r>
              <a:rPr sz="2300" spc="-1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up</a:t>
            </a:r>
            <a:r>
              <a:rPr sz="23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the</a:t>
            </a:r>
            <a:r>
              <a:rPr sz="23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different</a:t>
            </a:r>
            <a:r>
              <a:rPr sz="23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type</a:t>
            </a:r>
            <a:r>
              <a:rPr sz="23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of</a:t>
            </a:r>
            <a:r>
              <a:rPr sz="23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variables!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52" y="4343400"/>
            <a:ext cx="6483095" cy="174345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079" y="2788414"/>
            <a:ext cx="7264908" cy="107442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62000" y="929900"/>
            <a:ext cx="3475533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200" b="1" dirty="0">
                <a:solidFill>
                  <a:schemeClr val="tx2"/>
                </a:solidFill>
                <a:latin typeface="+mj-lt"/>
                <a:cs typeface="Verdana"/>
              </a:rPr>
              <a:t>Quick</a:t>
            </a:r>
            <a:r>
              <a:rPr sz="4200" b="1" spc="-250" dirty="0">
                <a:solidFill>
                  <a:schemeClr val="tx2"/>
                </a:solidFill>
                <a:latin typeface="+mj-lt"/>
                <a:cs typeface="Verdana"/>
              </a:rPr>
              <a:t> </a:t>
            </a:r>
            <a:r>
              <a:rPr sz="4200" b="1" spc="-90" dirty="0">
                <a:solidFill>
                  <a:schemeClr val="tx2"/>
                </a:solidFill>
                <a:latin typeface="+mj-lt"/>
                <a:cs typeface="Verdana"/>
              </a:rPr>
              <a:t>quiz</a:t>
            </a:r>
            <a:endParaRPr sz="4200" b="1" dirty="0">
              <a:solidFill>
                <a:schemeClr val="tx2"/>
              </a:solidFill>
              <a:latin typeface="+mj-lt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5523" y="2010195"/>
            <a:ext cx="783295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24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4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Do</a:t>
            </a:r>
            <a:r>
              <a:rPr sz="2400" spc="-3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you</a:t>
            </a:r>
            <a:r>
              <a:rPr sz="24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see</a:t>
            </a:r>
            <a:r>
              <a:rPr sz="24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anything</a:t>
            </a:r>
            <a:r>
              <a:rPr sz="24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wrong</a:t>
            </a:r>
            <a:r>
              <a:rPr sz="24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with</a:t>
            </a:r>
            <a:r>
              <a:rPr sz="24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this</a:t>
            </a:r>
            <a:r>
              <a:rPr sz="24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block?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9834" y="4191000"/>
            <a:ext cx="5074920" cy="15163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838200"/>
            <a:ext cx="7086600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9410" marR="5080">
              <a:lnSpc>
                <a:spcPct val="100000"/>
              </a:lnSpc>
              <a:spcBef>
                <a:spcPts val="105"/>
              </a:spcBef>
            </a:pPr>
            <a:r>
              <a:rPr b="1" spc="-40" dirty="0"/>
              <a:t>Another</a:t>
            </a:r>
            <a:r>
              <a:rPr b="1" spc="-200" dirty="0"/>
              <a:t> </a:t>
            </a:r>
            <a:r>
              <a:rPr b="1" spc="-65" dirty="0"/>
              <a:t>more</a:t>
            </a:r>
            <a:r>
              <a:rPr b="1" spc="-195" dirty="0"/>
              <a:t> </a:t>
            </a:r>
            <a:r>
              <a:rPr b="1" dirty="0"/>
              <a:t>generic</a:t>
            </a:r>
            <a:r>
              <a:rPr b="1" spc="-220" dirty="0"/>
              <a:t> </a:t>
            </a:r>
            <a:r>
              <a:rPr b="1" dirty="0"/>
              <a:t>way</a:t>
            </a:r>
            <a:r>
              <a:rPr b="1" spc="-175" dirty="0"/>
              <a:t> </a:t>
            </a:r>
            <a:r>
              <a:rPr b="1" spc="-25" dirty="0"/>
              <a:t>to </a:t>
            </a:r>
            <a:r>
              <a:rPr b="1" spc="-254" dirty="0"/>
              <a:t>fix</a:t>
            </a:r>
            <a:r>
              <a:rPr b="1" spc="-220" dirty="0"/>
              <a:t> </a:t>
            </a:r>
            <a:r>
              <a:rPr b="1" spc="-25" dirty="0"/>
              <a:t>it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7769" y="2743200"/>
            <a:ext cx="6728459" cy="12237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9801" y="4343400"/>
            <a:ext cx="7924394" cy="1003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es-CO"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If</a:t>
            </a:r>
            <a:r>
              <a:rPr sz="23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we</a:t>
            </a:r>
            <a:r>
              <a:rPr sz="23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comma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separate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statements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in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</a:t>
            </a:r>
            <a:r>
              <a:rPr sz="23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print</a:t>
            </a:r>
            <a:r>
              <a:rPr lang="es-CO" sz="23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function</a:t>
            </a:r>
            <a:r>
              <a:rPr sz="2300" spc="-4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we</a:t>
            </a:r>
            <a:r>
              <a:rPr lang="es-CO" sz="23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can</a:t>
            </a:r>
            <a:r>
              <a:rPr sz="2300" spc="-6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have</a:t>
            </a:r>
            <a:r>
              <a:rPr sz="2300" spc="-4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different</a:t>
            </a:r>
            <a:r>
              <a:rPr sz="2300" spc="-5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variables</a:t>
            </a:r>
            <a:r>
              <a:rPr sz="2300" spc="-4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printing!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0372" y="2502407"/>
            <a:ext cx="6502908" cy="204063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10" dirty="0"/>
              <a:t>Placeholders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4098" y="1863601"/>
            <a:ext cx="7707072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spc="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</a:t>
            </a:r>
            <a:r>
              <a:rPr sz="23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way</a:t>
            </a:r>
            <a:r>
              <a:rPr sz="23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to</a:t>
            </a:r>
            <a:r>
              <a:rPr sz="23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interleave</a:t>
            </a:r>
            <a:r>
              <a:rPr sz="23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numbers</a:t>
            </a:r>
            <a:r>
              <a:rPr sz="23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is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6388" y="4632705"/>
            <a:ext cx="4945784" cy="1210524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880"/>
              </a:spcBef>
              <a:tabLst>
                <a:tab pos="354965" algn="l"/>
              </a:tabLst>
            </a:pP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Elegant</a:t>
            </a:r>
            <a:r>
              <a:rPr sz="23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and</a:t>
            </a:r>
            <a:r>
              <a:rPr sz="23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easy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50000"/>
              </a:lnSpc>
              <a:spcBef>
                <a:spcPts val="780"/>
              </a:spcBef>
              <a:tabLst>
                <a:tab pos="354965" algn="l"/>
              </a:tabLst>
            </a:pP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spc="-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more</a:t>
            </a:r>
            <a:r>
              <a:rPr sz="23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</a:t>
            </a:r>
            <a:r>
              <a:rPr sz="2300" spc="-1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your</a:t>
            </a:r>
            <a:r>
              <a:rPr sz="23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notes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430392" y="3732529"/>
            <a:ext cx="1614805" cy="383540"/>
            <a:chOff x="5430392" y="3732529"/>
            <a:chExt cx="1614805" cy="383540"/>
          </a:xfrm>
        </p:grpSpPr>
        <p:sp>
          <p:nvSpPr>
            <p:cNvPr id="7" name="object 7"/>
            <p:cNvSpPr/>
            <p:nvPr/>
          </p:nvSpPr>
          <p:spPr>
            <a:xfrm>
              <a:off x="5458967" y="3822191"/>
              <a:ext cx="1557655" cy="265430"/>
            </a:xfrm>
            <a:custGeom>
              <a:avLst/>
              <a:gdLst/>
              <a:ahLst/>
              <a:cxnLst/>
              <a:rect l="l" t="t" r="r" b="b"/>
              <a:pathLst>
                <a:path w="1557654" h="265429">
                  <a:moveTo>
                    <a:pt x="0" y="43687"/>
                  </a:moveTo>
                  <a:lnTo>
                    <a:pt x="3432" y="26681"/>
                  </a:lnTo>
                  <a:lnTo>
                    <a:pt x="12795" y="12795"/>
                  </a:lnTo>
                  <a:lnTo>
                    <a:pt x="26681" y="3432"/>
                  </a:lnTo>
                  <a:lnTo>
                    <a:pt x="43687" y="0"/>
                  </a:lnTo>
                  <a:lnTo>
                    <a:pt x="351028" y="0"/>
                  </a:lnTo>
                  <a:lnTo>
                    <a:pt x="368034" y="3432"/>
                  </a:lnTo>
                  <a:lnTo>
                    <a:pt x="381920" y="12795"/>
                  </a:lnTo>
                  <a:lnTo>
                    <a:pt x="391283" y="26681"/>
                  </a:lnTo>
                  <a:lnTo>
                    <a:pt x="394716" y="43687"/>
                  </a:lnTo>
                  <a:lnTo>
                    <a:pt x="394716" y="218439"/>
                  </a:lnTo>
                  <a:lnTo>
                    <a:pt x="391283" y="235446"/>
                  </a:lnTo>
                  <a:lnTo>
                    <a:pt x="381920" y="249332"/>
                  </a:lnTo>
                  <a:lnTo>
                    <a:pt x="368034" y="258695"/>
                  </a:lnTo>
                  <a:lnTo>
                    <a:pt x="351028" y="262127"/>
                  </a:lnTo>
                  <a:lnTo>
                    <a:pt x="43687" y="262127"/>
                  </a:lnTo>
                  <a:lnTo>
                    <a:pt x="26681" y="258695"/>
                  </a:lnTo>
                  <a:lnTo>
                    <a:pt x="12795" y="249332"/>
                  </a:lnTo>
                  <a:lnTo>
                    <a:pt x="3432" y="235446"/>
                  </a:lnTo>
                  <a:lnTo>
                    <a:pt x="0" y="218439"/>
                  </a:lnTo>
                  <a:lnTo>
                    <a:pt x="0" y="43687"/>
                  </a:lnTo>
                  <a:close/>
                </a:path>
                <a:path w="1557654" h="265429">
                  <a:moveTo>
                    <a:pt x="1399032" y="26415"/>
                  </a:moveTo>
                  <a:lnTo>
                    <a:pt x="1401105" y="16127"/>
                  </a:lnTo>
                  <a:lnTo>
                    <a:pt x="1406763" y="7731"/>
                  </a:lnTo>
                  <a:lnTo>
                    <a:pt x="1415159" y="2073"/>
                  </a:lnTo>
                  <a:lnTo>
                    <a:pt x="1425448" y="0"/>
                  </a:lnTo>
                  <a:lnTo>
                    <a:pt x="1531112" y="0"/>
                  </a:lnTo>
                  <a:lnTo>
                    <a:pt x="1541400" y="2073"/>
                  </a:lnTo>
                  <a:lnTo>
                    <a:pt x="1549796" y="7731"/>
                  </a:lnTo>
                  <a:lnTo>
                    <a:pt x="1555454" y="16127"/>
                  </a:lnTo>
                  <a:lnTo>
                    <a:pt x="1557528" y="26415"/>
                  </a:lnTo>
                  <a:lnTo>
                    <a:pt x="1557528" y="238759"/>
                  </a:lnTo>
                  <a:lnTo>
                    <a:pt x="1555454" y="249048"/>
                  </a:lnTo>
                  <a:lnTo>
                    <a:pt x="1549796" y="257444"/>
                  </a:lnTo>
                  <a:lnTo>
                    <a:pt x="1541400" y="263102"/>
                  </a:lnTo>
                  <a:lnTo>
                    <a:pt x="1531112" y="265175"/>
                  </a:lnTo>
                  <a:lnTo>
                    <a:pt x="1425448" y="265175"/>
                  </a:lnTo>
                  <a:lnTo>
                    <a:pt x="1415159" y="263102"/>
                  </a:lnTo>
                  <a:lnTo>
                    <a:pt x="1406763" y="257444"/>
                  </a:lnTo>
                  <a:lnTo>
                    <a:pt x="1401105" y="249048"/>
                  </a:lnTo>
                  <a:lnTo>
                    <a:pt x="1399032" y="238759"/>
                  </a:lnTo>
                  <a:lnTo>
                    <a:pt x="1399032" y="26415"/>
                  </a:lnTo>
                  <a:close/>
                </a:path>
              </a:pathLst>
            </a:custGeom>
            <a:ln w="57150">
              <a:solidFill>
                <a:srgbClr val="E23C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53683" y="3732529"/>
              <a:ext cx="935355" cy="171450"/>
            </a:xfrm>
            <a:custGeom>
              <a:avLst/>
              <a:gdLst/>
              <a:ahLst/>
              <a:cxnLst/>
              <a:rect l="l" t="t" r="r" b="b"/>
              <a:pathLst>
                <a:path w="935354" h="171450">
                  <a:moveTo>
                    <a:pt x="168782" y="0"/>
                  </a:moveTo>
                  <a:lnTo>
                    <a:pt x="0" y="90678"/>
                  </a:lnTo>
                  <a:lnTo>
                    <a:pt x="173862" y="171323"/>
                  </a:lnTo>
                  <a:lnTo>
                    <a:pt x="172194" y="115062"/>
                  </a:lnTo>
                  <a:lnTo>
                    <a:pt x="143637" y="115062"/>
                  </a:lnTo>
                  <a:lnTo>
                    <a:pt x="132462" y="113164"/>
                  </a:lnTo>
                  <a:lnTo>
                    <a:pt x="123205" y="107315"/>
                  </a:lnTo>
                  <a:lnTo>
                    <a:pt x="116830" y="98417"/>
                  </a:lnTo>
                  <a:lnTo>
                    <a:pt x="114300" y="87376"/>
                  </a:lnTo>
                  <a:lnTo>
                    <a:pt x="116197" y="76146"/>
                  </a:lnTo>
                  <a:lnTo>
                    <a:pt x="122047" y="66881"/>
                  </a:lnTo>
                  <a:lnTo>
                    <a:pt x="130944" y="60497"/>
                  </a:lnTo>
                  <a:lnTo>
                    <a:pt x="141986" y="57912"/>
                  </a:lnTo>
                  <a:lnTo>
                    <a:pt x="170475" y="57063"/>
                  </a:lnTo>
                  <a:lnTo>
                    <a:pt x="168782" y="0"/>
                  </a:lnTo>
                  <a:close/>
                </a:path>
                <a:path w="935354" h="171450">
                  <a:moveTo>
                    <a:pt x="170475" y="57063"/>
                  </a:moveTo>
                  <a:lnTo>
                    <a:pt x="130944" y="60497"/>
                  </a:lnTo>
                  <a:lnTo>
                    <a:pt x="114300" y="87376"/>
                  </a:lnTo>
                  <a:lnTo>
                    <a:pt x="116830" y="98417"/>
                  </a:lnTo>
                  <a:lnTo>
                    <a:pt x="123205" y="107315"/>
                  </a:lnTo>
                  <a:lnTo>
                    <a:pt x="132462" y="113164"/>
                  </a:lnTo>
                  <a:lnTo>
                    <a:pt x="143637" y="115062"/>
                  </a:lnTo>
                  <a:lnTo>
                    <a:pt x="172169" y="114212"/>
                  </a:lnTo>
                  <a:lnTo>
                    <a:pt x="170766" y="66881"/>
                  </a:lnTo>
                  <a:lnTo>
                    <a:pt x="170647" y="62865"/>
                  </a:lnTo>
                  <a:lnTo>
                    <a:pt x="170576" y="60497"/>
                  </a:lnTo>
                  <a:lnTo>
                    <a:pt x="170475" y="57063"/>
                  </a:lnTo>
                  <a:close/>
                </a:path>
                <a:path w="935354" h="171450">
                  <a:moveTo>
                    <a:pt x="172169" y="114212"/>
                  </a:moveTo>
                  <a:lnTo>
                    <a:pt x="143637" y="115062"/>
                  </a:lnTo>
                  <a:lnTo>
                    <a:pt x="172194" y="115062"/>
                  </a:lnTo>
                  <a:lnTo>
                    <a:pt x="172169" y="114212"/>
                  </a:lnTo>
                  <a:close/>
                </a:path>
                <a:path w="935354" h="171450">
                  <a:moveTo>
                    <a:pt x="905637" y="35179"/>
                  </a:moveTo>
                  <a:lnTo>
                    <a:pt x="170475" y="57063"/>
                  </a:lnTo>
                  <a:lnTo>
                    <a:pt x="172138" y="113164"/>
                  </a:lnTo>
                  <a:lnTo>
                    <a:pt x="172169" y="114212"/>
                  </a:lnTo>
                  <a:lnTo>
                    <a:pt x="907288" y="92329"/>
                  </a:lnTo>
                  <a:lnTo>
                    <a:pt x="934973" y="62865"/>
                  </a:lnTo>
                  <a:lnTo>
                    <a:pt x="932443" y="51823"/>
                  </a:lnTo>
                  <a:lnTo>
                    <a:pt x="926068" y="42926"/>
                  </a:lnTo>
                  <a:lnTo>
                    <a:pt x="916811" y="37076"/>
                  </a:lnTo>
                  <a:lnTo>
                    <a:pt x="905637" y="35179"/>
                  </a:lnTo>
                  <a:close/>
                </a:path>
              </a:pathLst>
            </a:custGeom>
            <a:solidFill>
              <a:srgbClr val="9B6B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838200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10" dirty="0"/>
              <a:t>Commenting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7612" y="1955809"/>
            <a:ext cx="7628776" cy="2857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Useful</a:t>
            </a:r>
            <a:r>
              <a:rPr sz="23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when</a:t>
            </a:r>
            <a:r>
              <a:rPr sz="23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your</a:t>
            </a:r>
            <a:r>
              <a:rPr sz="23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code</a:t>
            </a:r>
            <a:r>
              <a:rPr sz="23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needs</a:t>
            </a:r>
            <a:r>
              <a:rPr sz="23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further</a:t>
            </a:r>
            <a:r>
              <a:rPr sz="23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explanation.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355600">
              <a:lnSpc>
                <a:spcPct val="150000"/>
              </a:lnSpc>
              <a:spcBef>
                <a:spcPts val="5"/>
              </a:spcBef>
            </a:pPr>
            <a:r>
              <a:rPr sz="23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Either </a:t>
            </a:r>
            <a:r>
              <a:rPr sz="23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for</a:t>
            </a:r>
            <a:r>
              <a:rPr sz="23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your</a:t>
            </a:r>
            <a:r>
              <a:rPr sz="23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future</a:t>
            </a:r>
            <a:r>
              <a:rPr sz="23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self</a:t>
            </a:r>
            <a:r>
              <a:rPr sz="23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and</a:t>
            </a:r>
            <a:r>
              <a:rPr sz="23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anybody</a:t>
            </a:r>
            <a:r>
              <a:rPr sz="23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else.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355600" marR="212090" indent="-343535">
              <a:lnSpc>
                <a:spcPct val="15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Useful</a:t>
            </a:r>
            <a:r>
              <a:rPr sz="23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when</a:t>
            </a:r>
            <a:r>
              <a:rPr sz="23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you</a:t>
            </a:r>
            <a:r>
              <a:rPr sz="23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want</a:t>
            </a:r>
            <a:r>
              <a:rPr sz="23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to</a:t>
            </a:r>
            <a:r>
              <a:rPr sz="23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remove</a:t>
            </a:r>
            <a:r>
              <a:rPr sz="2300" spc="-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the</a:t>
            </a:r>
            <a:r>
              <a:rPr sz="23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code</a:t>
            </a:r>
            <a:r>
              <a:rPr sz="2300" spc="-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from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execution</a:t>
            </a:r>
            <a:r>
              <a:rPr sz="23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but</a:t>
            </a:r>
            <a:r>
              <a:rPr sz="23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not</a:t>
            </a:r>
            <a:r>
              <a:rPr sz="23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permanently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5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Comments</a:t>
            </a:r>
            <a:r>
              <a:rPr sz="23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</a:t>
            </a:r>
            <a:r>
              <a:rPr sz="2300" spc="-1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Python</a:t>
            </a:r>
            <a:r>
              <a:rPr sz="23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are</a:t>
            </a:r>
            <a:r>
              <a:rPr sz="23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done</a:t>
            </a:r>
            <a:r>
              <a:rPr sz="23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with</a:t>
            </a:r>
            <a:r>
              <a:rPr sz="23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#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144" y="5257800"/>
            <a:ext cx="7555992" cy="65531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762000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Lists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641" y="1881863"/>
            <a:ext cx="7541159" cy="179049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1100"/>
              </a:spcBef>
              <a:tabLst>
                <a:tab pos="354965" algn="l"/>
              </a:tabLst>
            </a:pP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spc="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One</a:t>
            </a:r>
            <a:r>
              <a:rPr sz="23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of</a:t>
            </a:r>
            <a:r>
              <a:rPr sz="23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the</a:t>
            </a:r>
            <a:r>
              <a:rPr sz="23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most</a:t>
            </a:r>
            <a:r>
              <a:rPr sz="23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useful</a:t>
            </a:r>
            <a:r>
              <a:rPr sz="23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concepts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ct val="15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Group</a:t>
            </a:r>
            <a:r>
              <a:rPr sz="23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multiple</a:t>
            </a:r>
            <a:r>
              <a:rPr sz="23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variables</a:t>
            </a:r>
            <a:r>
              <a:rPr sz="2300" spc="-1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together</a:t>
            </a:r>
            <a:r>
              <a:rPr sz="2300" spc="-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(a</a:t>
            </a:r>
            <a:r>
              <a:rPr sz="23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kind</a:t>
            </a:r>
            <a:r>
              <a:rPr sz="2300" spc="-1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</a:t>
            </a:r>
            <a:r>
              <a:rPr lang="es-CO" sz="23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 </a:t>
            </a:r>
            <a:r>
              <a:rPr sz="2300" b="1" spc="-1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container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!)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613" y="4191000"/>
            <a:ext cx="6938772" cy="126339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8696" y="5003948"/>
            <a:ext cx="5626608" cy="8260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8811" y="788714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110" dirty="0"/>
              <a:t>Indexing</a:t>
            </a:r>
            <a:r>
              <a:rPr b="1" spc="-265" dirty="0"/>
              <a:t> </a:t>
            </a:r>
            <a:r>
              <a:rPr b="1" spc="250" dirty="0"/>
              <a:t>a</a:t>
            </a:r>
            <a:r>
              <a:rPr b="1" spc="-220" dirty="0"/>
              <a:t> </a:t>
            </a:r>
            <a:r>
              <a:rPr b="1" dirty="0"/>
              <a:t>list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4682" y="2011121"/>
            <a:ext cx="7849718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lang="es-CO"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Indexing</a:t>
            </a:r>
            <a:r>
              <a:rPr sz="2300" spc="-4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–</a:t>
            </a:r>
            <a:r>
              <a:rPr sz="23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accessing</a:t>
            </a:r>
            <a:r>
              <a:rPr sz="2300" spc="-5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items</a:t>
            </a:r>
            <a:r>
              <a:rPr sz="23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within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data</a:t>
            </a:r>
            <a:r>
              <a:rPr sz="23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structure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4682" y="3612260"/>
            <a:ext cx="7849718" cy="1007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lang="es-CO"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Indexing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</a:t>
            </a:r>
            <a:r>
              <a:rPr sz="23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list</a:t>
            </a:r>
            <a:r>
              <a:rPr sz="23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is</a:t>
            </a:r>
            <a:r>
              <a:rPr sz="23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not</a:t>
            </a:r>
            <a:r>
              <a:rPr sz="23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very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intuitive...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  <a:p>
            <a:pPr marL="12700">
              <a:lnSpc>
                <a:spcPct val="150000"/>
              </a:lnSpc>
              <a:tabLst>
                <a:tab pos="354965" algn="l"/>
              </a:tabLst>
            </a:pPr>
            <a:r>
              <a:rPr lang="es-CO"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The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first</a:t>
            </a:r>
            <a:r>
              <a:rPr sz="23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element</a:t>
            </a:r>
            <a:r>
              <a:rPr sz="23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of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list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has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an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b="1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index</a:t>
            </a:r>
            <a:r>
              <a:rPr sz="2300" b="1" spc="-15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300" b="1" spc="-50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0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4672" y="2688335"/>
            <a:ext cx="6423659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4067" y="1016634"/>
            <a:ext cx="3018333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200" b="1" dirty="0">
                <a:solidFill>
                  <a:schemeClr val="tx2"/>
                </a:solidFill>
                <a:latin typeface="+mj-lt"/>
                <a:cs typeface="Verdana"/>
              </a:rPr>
              <a:t>Quick</a:t>
            </a:r>
            <a:r>
              <a:rPr sz="4200" b="1" spc="-250" dirty="0">
                <a:solidFill>
                  <a:schemeClr val="tx2"/>
                </a:solidFill>
                <a:latin typeface="+mj-lt"/>
                <a:cs typeface="Verdana"/>
              </a:rPr>
              <a:t> </a:t>
            </a:r>
            <a:r>
              <a:rPr sz="4200" b="1" spc="-90" dirty="0">
                <a:solidFill>
                  <a:schemeClr val="tx2"/>
                </a:solidFill>
                <a:latin typeface="+mj-lt"/>
                <a:cs typeface="Verdana"/>
              </a:rPr>
              <a:t>quiz</a:t>
            </a:r>
            <a:endParaRPr sz="4200" b="1" dirty="0">
              <a:solidFill>
                <a:schemeClr val="tx2"/>
              </a:solidFill>
              <a:latin typeface="+mj-lt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4067" y="2362200"/>
            <a:ext cx="6014517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What will </a:t>
            </a:r>
            <a:r>
              <a:rPr sz="2300" b="1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fruits[3]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return?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3376" y="3429000"/>
            <a:ext cx="6937248" cy="126339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4067" y="1016634"/>
            <a:ext cx="3551733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200" b="1" dirty="0">
                <a:solidFill>
                  <a:schemeClr val="tx2"/>
                </a:solidFill>
                <a:latin typeface="+mj-lt"/>
                <a:cs typeface="Verdana"/>
              </a:rPr>
              <a:t>Quick</a:t>
            </a:r>
            <a:r>
              <a:rPr sz="4200" b="1" spc="-250" dirty="0">
                <a:solidFill>
                  <a:schemeClr val="tx2"/>
                </a:solidFill>
                <a:latin typeface="+mj-lt"/>
                <a:cs typeface="Verdana"/>
              </a:rPr>
              <a:t> </a:t>
            </a:r>
            <a:r>
              <a:rPr sz="4200" b="1" spc="-90" dirty="0">
                <a:solidFill>
                  <a:schemeClr val="tx2"/>
                </a:solidFill>
                <a:latin typeface="+mj-lt"/>
                <a:cs typeface="Verdana"/>
              </a:rPr>
              <a:t>quiz</a:t>
            </a:r>
            <a:endParaRPr sz="4200" b="1" dirty="0">
              <a:solidFill>
                <a:schemeClr val="tx2"/>
              </a:solidFill>
              <a:latin typeface="+mj-lt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8648" y="2101626"/>
            <a:ext cx="4402126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300" spc="-20" dirty="0">
                <a:latin typeface="Verdana"/>
                <a:cs typeface="Verdana"/>
              </a:rPr>
              <a:t>What</a:t>
            </a:r>
            <a:r>
              <a:rPr sz="2300" spc="-90" dirty="0">
                <a:latin typeface="Verdana"/>
                <a:cs typeface="Verdana"/>
              </a:rPr>
              <a:t> </a:t>
            </a:r>
            <a:r>
              <a:rPr sz="2300" spc="-105" dirty="0">
                <a:latin typeface="Verdana"/>
                <a:cs typeface="Verdana"/>
              </a:rPr>
              <a:t>will</a:t>
            </a:r>
            <a:r>
              <a:rPr sz="2300" spc="-130" dirty="0">
                <a:latin typeface="Verdana"/>
                <a:cs typeface="Verdana"/>
              </a:rPr>
              <a:t> </a:t>
            </a:r>
            <a:r>
              <a:rPr sz="2300" spc="-145" dirty="0">
                <a:latin typeface="Verdana"/>
                <a:cs typeface="Verdana"/>
              </a:rPr>
              <a:t>this</a:t>
            </a:r>
            <a:r>
              <a:rPr sz="2300" spc="-130" dirty="0">
                <a:latin typeface="Verdana"/>
                <a:cs typeface="Verdana"/>
              </a:rPr>
              <a:t> </a:t>
            </a:r>
            <a:r>
              <a:rPr sz="2300" spc="-60" dirty="0">
                <a:latin typeface="Verdana"/>
                <a:cs typeface="Verdana"/>
              </a:rPr>
              <a:t>return?</a:t>
            </a:r>
            <a:endParaRPr sz="2300" dirty="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4457" y="2893589"/>
            <a:ext cx="6242685" cy="2447925"/>
            <a:chOff x="608076" y="2895600"/>
            <a:chExt cx="6242685" cy="24479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8076" y="2895600"/>
              <a:ext cx="6178296" cy="457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2084" y="3777996"/>
              <a:ext cx="6178295" cy="15651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682189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Data structure sizes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641" y="1954034"/>
            <a:ext cx="7614717" cy="2202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Make sure you are always aware of the sizes of each</a:t>
            </a: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variable!</a:t>
            </a:r>
          </a:p>
          <a:p>
            <a:pPr marL="12700" marR="592455" algn="just">
              <a:lnSpc>
                <a:spcPct val="146100"/>
              </a:lnSpc>
            </a:pP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This can easily be done using the </a:t>
            </a:r>
            <a:r>
              <a:rPr sz="2300" b="1" dirty="0" err="1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len</a:t>
            </a:r>
            <a:r>
              <a:rPr sz="2300" b="1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()</a:t>
            </a:r>
            <a:r>
              <a:rPr lang="es-CO" sz="2300" b="1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function. It returns the length/size of any data</a:t>
            </a: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structure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6078" y="4572000"/>
            <a:ext cx="6371844" cy="72237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4067" y="1016634"/>
            <a:ext cx="6675933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Is a tomato really a fruit?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741" y="3299947"/>
            <a:ext cx="7538518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Furthermore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, we can modify lists in various ways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49908" y="2133600"/>
            <a:ext cx="6064250" cy="3251200"/>
            <a:chOff x="658368" y="1970532"/>
            <a:chExt cx="6064250" cy="32512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6384" y="1970532"/>
              <a:ext cx="5935979" cy="923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368" y="3692652"/>
              <a:ext cx="5993891" cy="15285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4950" y="3522405"/>
            <a:ext cx="6134100" cy="18379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950975" y="1134179"/>
            <a:ext cx="5737859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200" b="1" dirty="0">
                <a:solidFill>
                  <a:schemeClr val="tx2"/>
                </a:solidFill>
                <a:latin typeface="+mj-lt"/>
              </a:rPr>
              <a:t>Lists with integers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5800" y="2178187"/>
            <a:ext cx="7467194" cy="9600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es-CO"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200" b="1" i="1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range()</a:t>
            </a:r>
            <a:r>
              <a:rPr sz="2200" b="1" i="1" spc="-40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-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function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that</a:t>
            </a:r>
            <a:r>
              <a:rPr sz="22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generates</a:t>
            </a:r>
            <a:r>
              <a:rPr sz="22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sequence</a:t>
            </a:r>
            <a:r>
              <a:rPr sz="2200" spc="-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of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numbers</a:t>
            </a:r>
            <a:r>
              <a:rPr sz="22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as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list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Slicing lists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8571" y="1760307"/>
            <a:ext cx="7826858" cy="1538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Slicing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–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obtain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</a:t>
            </a:r>
            <a:r>
              <a:rPr sz="23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particular</a:t>
            </a:r>
            <a:r>
              <a:rPr sz="2300" spc="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set</a:t>
            </a:r>
            <a:r>
              <a:rPr sz="23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of</a:t>
            </a:r>
            <a:r>
              <a:rPr sz="23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sub-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elements</a:t>
            </a:r>
            <a:r>
              <a:rPr sz="2300" spc="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from</a:t>
            </a:r>
            <a:r>
              <a:rPr sz="23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</a:t>
            </a:r>
            <a:r>
              <a:rPr sz="23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data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structure.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  <a:p>
            <a:pPr marL="12700">
              <a:lnSpc>
                <a:spcPct val="150000"/>
              </a:lnSpc>
              <a:tabLst>
                <a:tab pos="354965" algn="l"/>
              </a:tabLst>
            </a:pP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Very</a:t>
            </a:r>
            <a:r>
              <a:rPr sz="2300" spc="-5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useful</a:t>
            </a:r>
            <a:r>
              <a:rPr sz="2300" spc="-5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and</a:t>
            </a:r>
            <a:r>
              <a:rPr sz="2300" spc="-4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flexible.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6542" y="3700699"/>
            <a:ext cx="8090916" cy="215036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44067" y="1016634"/>
            <a:ext cx="6599733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200" b="1" dirty="0">
                <a:solidFill>
                  <a:schemeClr val="tx2"/>
                </a:solidFill>
                <a:latin typeface="+mj-lt"/>
              </a:rPr>
              <a:t>Lists – helpful 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028" y="2209800"/>
            <a:ext cx="6852717" cy="47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Makes</a:t>
            </a:r>
            <a:r>
              <a:rPr sz="23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them</a:t>
            </a:r>
            <a:r>
              <a:rPr sz="23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extremely</a:t>
            </a:r>
            <a:r>
              <a:rPr sz="23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useful</a:t>
            </a:r>
            <a:r>
              <a:rPr sz="23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and</a:t>
            </a:r>
            <a:r>
              <a:rPr sz="23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versatile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779" y="3352800"/>
            <a:ext cx="6274308" cy="144322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38200" y="996437"/>
            <a:ext cx="6828333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200" b="1" dirty="0">
                <a:solidFill>
                  <a:schemeClr val="tx2"/>
                </a:solidFill>
                <a:latin typeface="+mj-lt"/>
              </a:rPr>
              <a:t>Lists can be of different 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2880028"/>
            <a:ext cx="6166917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Not</a:t>
            </a:r>
            <a:r>
              <a:rPr sz="23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very</a:t>
            </a:r>
            <a:r>
              <a:rPr sz="2300" spc="-1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useful,</a:t>
            </a:r>
            <a:r>
              <a:rPr sz="23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but</a:t>
            </a:r>
            <a:r>
              <a:rPr sz="23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possible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7968" y="3644085"/>
            <a:ext cx="6368795" cy="91135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838200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Mutability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2133600"/>
            <a:ext cx="7055379" cy="31493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200000"/>
              </a:lnSpc>
              <a:spcBef>
                <a:spcPts val="100"/>
              </a:spcBef>
            </a:pPr>
            <a:r>
              <a:rPr lang="es-CO" sz="28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5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Mutable</a:t>
            </a:r>
            <a:r>
              <a:rPr sz="25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object</a:t>
            </a:r>
            <a:r>
              <a:rPr sz="25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25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–</a:t>
            </a:r>
            <a:r>
              <a:rPr sz="25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can</a:t>
            </a:r>
            <a:r>
              <a:rPr sz="25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be</a:t>
            </a:r>
            <a:r>
              <a:rPr sz="25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changed</a:t>
            </a:r>
            <a:r>
              <a:rPr sz="250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after</a:t>
            </a:r>
            <a:r>
              <a:rPr sz="25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creation.</a:t>
            </a:r>
            <a:endParaRPr sz="25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marR="308610" algn="just">
              <a:lnSpc>
                <a:spcPct val="200000"/>
              </a:lnSpc>
            </a:pPr>
            <a:r>
              <a:rPr lang="es-CO" sz="28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500" spc="-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Immutable</a:t>
            </a:r>
            <a:r>
              <a:rPr sz="25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object</a:t>
            </a:r>
            <a:r>
              <a:rPr sz="25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2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-</a:t>
            </a:r>
            <a:r>
              <a:rPr sz="25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can</a:t>
            </a:r>
            <a:r>
              <a:rPr sz="25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b="1" spc="-10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NOT</a:t>
            </a:r>
            <a:r>
              <a:rPr sz="2500" b="1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500" spc="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be</a:t>
            </a:r>
            <a:r>
              <a:rPr sz="25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changed</a:t>
            </a:r>
            <a:r>
              <a:rPr sz="25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after creation.</a:t>
            </a:r>
            <a:endParaRPr sz="25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4067" y="1016634"/>
            <a:ext cx="3018333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200" b="1" dirty="0">
                <a:solidFill>
                  <a:schemeClr val="tx2"/>
                </a:solidFill>
                <a:latin typeface="+mj-lt"/>
                <a:cs typeface="Verdana"/>
              </a:rPr>
              <a:t>Quick</a:t>
            </a:r>
            <a:r>
              <a:rPr sz="4200" b="1" spc="-250" dirty="0">
                <a:solidFill>
                  <a:schemeClr val="tx2"/>
                </a:solidFill>
                <a:latin typeface="+mj-lt"/>
                <a:cs typeface="Verdana"/>
              </a:rPr>
              <a:t> </a:t>
            </a:r>
            <a:r>
              <a:rPr sz="4200" b="1" spc="-90" dirty="0">
                <a:solidFill>
                  <a:schemeClr val="tx2"/>
                </a:solidFill>
                <a:latin typeface="+mj-lt"/>
                <a:cs typeface="Verdana"/>
              </a:rPr>
              <a:t>quiz</a:t>
            </a:r>
            <a:endParaRPr sz="4200" b="1" dirty="0">
              <a:solidFill>
                <a:schemeClr val="tx2"/>
              </a:solidFill>
              <a:latin typeface="+mj-lt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4067" y="2895600"/>
            <a:ext cx="5456733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35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	</a:t>
            </a:r>
            <a:r>
              <a:rPr sz="35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Are lists mutable?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7752" y="762000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165" dirty="0"/>
              <a:t>Tuples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2136343"/>
            <a:ext cx="7157517" cy="1003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spc="-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Effectively</a:t>
            </a:r>
            <a:r>
              <a:rPr sz="23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lists</a:t>
            </a:r>
            <a:r>
              <a:rPr sz="23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that</a:t>
            </a:r>
            <a:r>
              <a:rPr sz="2300" spc="-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are</a:t>
            </a:r>
            <a:r>
              <a:rPr sz="23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immutable</a:t>
            </a:r>
            <a:r>
              <a:rPr sz="23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(I.e.</a:t>
            </a:r>
            <a:r>
              <a:rPr sz="2300" spc="-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can't</a:t>
            </a:r>
            <a:r>
              <a:rPr sz="23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be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355600">
              <a:lnSpc>
                <a:spcPct val="150000"/>
              </a:lnSpc>
              <a:spcBef>
                <a:spcPts val="5"/>
              </a:spcBef>
            </a:pP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changed)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531" y="3718562"/>
            <a:ext cx="6669024" cy="111556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48015" y="1698523"/>
            <a:ext cx="3904488" cy="372465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75" dirty="0"/>
              <a:t>Dictionaries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000" y="1676400"/>
            <a:ext cx="3164205" cy="4075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  <a:tabLst>
                <a:tab pos="269875" algn="l"/>
              </a:tabLst>
            </a:pPr>
            <a:r>
              <a:rPr lang="es-CO" sz="20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Similar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to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actual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dictionaries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  <a:p>
            <a:pPr marL="12065" marR="5080" algn="just">
              <a:lnSpc>
                <a:spcPct val="100000"/>
              </a:lnSpc>
              <a:tabLst>
                <a:tab pos="269875" algn="l"/>
              </a:tabLst>
            </a:pPr>
            <a:r>
              <a:rPr lang="es-CO" sz="20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They</a:t>
            </a:r>
            <a:r>
              <a:rPr sz="2200" spc="-4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are</a:t>
            </a:r>
            <a:r>
              <a:rPr sz="2200" spc="-4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effectively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2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lists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combined</a:t>
            </a:r>
            <a:r>
              <a:rPr sz="2200" spc="-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–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keys and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values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  <a:p>
            <a:pPr marL="12065" marR="173355" algn="just">
              <a:lnSpc>
                <a:spcPct val="100000"/>
              </a:lnSpc>
              <a:tabLst>
                <a:tab pos="269875" algn="l"/>
              </a:tabLst>
            </a:pPr>
            <a:r>
              <a:rPr lang="es-CO" sz="20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We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use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the</a:t>
            </a:r>
            <a:r>
              <a:rPr sz="2200" spc="-3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keys</a:t>
            </a:r>
            <a:r>
              <a:rPr sz="2200" spc="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to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access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the</a:t>
            </a:r>
            <a:r>
              <a:rPr sz="2200" spc="-3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values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instead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of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indexing them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like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list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  <a:p>
            <a:pPr marL="12700" algn="just">
              <a:lnSpc>
                <a:spcPct val="100000"/>
              </a:lnSpc>
              <a:tabLst>
                <a:tab pos="269875" algn="l"/>
              </a:tabLst>
            </a:pPr>
            <a:r>
              <a:rPr lang="es-CO" sz="20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Each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value</a:t>
            </a:r>
            <a:r>
              <a:rPr sz="22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is</a:t>
            </a:r>
            <a:r>
              <a:rPr sz="22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mapped to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spc="-5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</a:t>
            </a:r>
            <a:r>
              <a:rPr lang="es-CO" sz="2200" spc="-5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unique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key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8363" y="3346703"/>
            <a:ext cx="1764792" cy="6949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3400" y="814124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Dictionary definition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4400" y="2447043"/>
            <a:ext cx="7538517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Defined</a:t>
            </a:r>
            <a:r>
              <a:rPr sz="23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as</a:t>
            </a:r>
            <a:r>
              <a:rPr sz="23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comma</a:t>
            </a:r>
            <a:r>
              <a:rPr sz="2300" spc="-1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separated</a:t>
            </a:r>
            <a:r>
              <a:rPr sz="23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b="1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key</a:t>
            </a:r>
            <a:r>
              <a:rPr sz="2300" b="1" spc="-2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300" b="1" spc="-15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:</a:t>
            </a:r>
            <a:r>
              <a:rPr sz="2300" b="1" spc="-2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300" b="1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value</a:t>
            </a:r>
            <a:r>
              <a:rPr sz="2300" b="1" spc="-3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30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pairs: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03629" y="3506723"/>
            <a:ext cx="1412240" cy="1052830"/>
          </a:xfrm>
          <a:custGeom>
            <a:avLst/>
            <a:gdLst/>
            <a:ahLst/>
            <a:cxnLst/>
            <a:rect l="l" t="t" r="r" b="b"/>
            <a:pathLst>
              <a:path w="1412239" h="1052829">
                <a:moveTo>
                  <a:pt x="432181" y="191262"/>
                </a:moveTo>
                <a:lnTo>
                  <a:pt x="426161" y="103314"/>
                </a:lnTo>
                <a:lnTo>
                  <a:pt x="419100" y="0"/>
                </a:lnTo>
                <a:lnTo>
                  <a:pt x="273939" y="125222"/>
                </a:lnTo>
                <a:lnTo>
                  <a:pt x="326707" y="147256"/>
                </a:lnTo>
                <a:lnTo>
                  <a:pt x="2159" y="925576"/>
                </a:lnTo>
                <a:lnTo>
                  <a:pt x="0" y="936739"/>
                </a:lnTo>
                <a:lnTo>
                  <a:pt x="2171" y="947508"/>
                </a:lnTo>
                <a:lnTo>
                  <a:pt x="8166" y="956678"/>
                </a:lnTo>
                <a:lnTo>
                  <a:pt x="17526" y="963041"/>
                </a:lnTo>
                <a:lnTo>
                  <a:pt x="28676" y="965200"/>
                </a:lnTo>
                <a:lnTo>
                  <a:pt x="39370" y="963041"/>
                </a:lnTo>
                <a:lnTo>
                  <a:pt x="48615" y="957033"/>
                </a:lnTo>
                <a:lnTo>
                  <a:pt x="54991" y="947674"/>
                </a:lnTo>
                <a:lnTo>
                  <a:pt x="379514" y="169291"/>
                </a:lnTo>
                <a:lnTo>
                  <a:pt x="432181" y="191262"/>
                </a:lnTo>
                <a:close/>
              </a:path>
              <a:path w="1412239" h="1052829">
                <a:moveTo>
                  <a:pt x="1411732" y="495300"/>
                </a:moveTo>
                <a:lnTo>
                  <a:pt x="1220089" y="490474"/>
                </a:lnTo>
                <a:lnTo>
                  <a:pt x="1244358" y="542251"/>
                </a:lnTo>
                <a:lnTo>
                  <a:pt x="272415" y="998093"/>
                </a:lnTo>
                <a:lnTo>
                  <a:pt x="263334" y="1004874"/>
                </a:lnTo>
                <a:lnTo>
                  <a:pt x="257746" y="1014272"/>
                </a:lnTo>
                <a:lnTo>
                  <a:pt x="256044" y="1025080"/>
                </a:lnTo>
                <a:lnTo>
                  <a:pt x="258699" y="1036066"/>
                </a:lnTo>
                <a:lnTo>
                  <a:pt x="265468" y="1045210"/>
                </a:lnTo>
                <a:lnTo>
                  <a:pt x="274891" y="1050836"/>
                </a:lnTo>
                <a:lnTo>
                  <a:pt x="285737" y="1052499"/>
                </a:lnTo>
                <a:lnTo>
                  <a:pt x="296799" y="1049782"/>
                </a:lnTo>
                <a:lnTo>
                  <a:pt x="1268603" y="593940"/>
                </a:lnTo>
                <a:lnTo>
                  <a:pt x="1292860" y="645668"/>
                </a:lnTo>
                <a:lnTo>
                  <a:pt x="1386344" y="527405"/>
                </a:lnTo>
                <a:lnTo>
                  <a:pt x="1411732" y="495300"/>
                </a:lnTo>
                <a:close/>
              </a:path>
            </a:pathLst>
          </a:custGeom>
          <a:solidFill>
            <a:srgbClr val="9B6B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21181" y="4574540"/>
            <a:ext cx="3008057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Curly</a:t>
            </a:r>
            <a:r>
              <a:rPr sz="2200" b="1" spc="-25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200" b="1" spc="-10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brackets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53155" y="3473322"/>
            <a:ext cx="1217930" cy="441959"/>
          </a:xfrm>
          <a:custGeom>
            <a:avLst/>
            <a:gdLst/>
            <a:ahLst/>
            <a:cxnLst/>
            <a:rect l="l" t="t" r="r" b="b"/>
            <a:pathLst>
              <a:path w="1217929" h="441960">
                <a:moveTo>
                  <a:pt x="171914" y="54359"/>
                </a:moveTo>
                <a:lnTo>
                  <a:pt x="154338" y="108740"/>
                </a:lnTo>
                <a:lnTo>
                  <a:pt x="1180210" y="440181"/>
                </a:lnTo>
                <a:lnTo>
                  <a:pt x="1191525" y="441448"/>
                </a:lnTo>
                <a:lnTo>
                  <a:pt x="1202055" y="438403"/>
                </a:lnTo>
                <a:lnTo>
                  <a:pt x="1210679" y="431645"/>
                </a:lnTo>
                <a:lnTo>
                  <a:pt x="1216279" y="421766"/>
                </a:lnTo>
                <a:lnTo>
                  <a:pt x="1217545" y="410507"/>
                </a:lnTo>
                <a:lnTo>
                  <a:pt x="1214501" y="399986"/>
                </a:lnTo>
                <a:lnTo>
                  <a:pt x="1207742" y="391370"/>
                </a:lnTo>
                <a:lnTo>
                  <a:pt x="1197864" y="385825"/>
                </a:lnTo>
                <a:lnTo>
                  <a:pt x="171914" y="54359"/>
                </a:lnTo>
                <a:close/>
              </a:path>
              <a:path w="1217929" h="441960">
                <a:moveTo>
                  <a:pt x="189483" y="0"/>
                </a:moveTo>
                <a:lnTo>
                  <a:pt x="0" y="28828"/>
                </a:lnTo>
                <a:lnTo>
                  <a:pt x="136779" y="163068"/>
                </a:lnTo>
                <a:lnTo>
                  <a:pt x="154338" y="108740"/>
                </a:lnTo>
                <a:lnTo>
                  <a:pt x="127127" y="99949"/>
                </a:lnTo>
                <a:lnTo>
                  <a:pt x="117248" y="94404"/>
                </a:lnTo>
                <a:lnTo>
                  <a:pt x="110490" y="85788"/>
                </a:lnTo>
                <a:lnTo>
                  <a:pt x="107445" y="75267"/>
                </a:lnTo>
                <a:lnTo>
                  <a:pt x="108711" y="64007"/>
                </a:lnTo>
                <a:lnTo>
                  <a:pt x="114311" y="54076"/>
                </a:lnTo>
                <a:lnTo>
                  <a:pt x="122935" y="47323"/>
                </a:lnTo>
                <a:lnTo>
                  <a:pt x="133465" y="44309"/>
                </a:lnTo>
                <a:lnTo>
                  <a:pt x="175162" y="44309"/>
                </a:lnTo>
                <a:lnTo>
                  <a:pt x="189483" y="0"/>
                </a:lnTo>
                <a:close/>
              </a:path>
              <a:path w="1217929" h="441960">
                <a:moveTo>
                  <a:pt x="133465" y="44309"/>
                </a:moveTo>
                <a:lnTo>
                  <a:pt x="122935" y="47323"/>
                </a:lnTo>
                <a:lnTo>
                  <a:pt x="114311" y="54076"/>
                </a:lnTo>
                <a:lnTo>
                  <a:pt x="108711" y="64007"/>
                </a:lnTo>
                <a:lnTo>
                  <a:pt x="107445" y="75267"/>
                </a:lnTo>
                <a:lnTo>
                  <a:pt x="110490" y="85788"/>
                </a:lnTo>
                <a:lnTo>
                  <a:pt x="117248" y="94404"/>
                </a:lnTo>
                <a:lnTo>
                  <a:pt x="127127" y="99949"/>
                </a:lnTo>
                <a:lnTo>
                  <a:pt x="154338" y="108740"/>
                </a:lnTo>
                <a:lnTo>
                  <a:pt x="171914" y="54359"/>
                </a:lnTo>
                <a:lnTo>
                  <a:pt x="144780" y="45592"/>
                </a:lnTo>
                <a:lnTo>
                  <a:pt x="133465" y="44309"/>
                </a:lnTo>
                <a:close/>
              </a:path>
              <a:path w="1217929" h="441960">
                <a:moveTo>
                  <a:pt x="175162" y="44309"/>
                </a:moveTo>
                <a:lnTo>
                  <a:pt x="133465" y="44309"/>
                </a:lnTo>
                <a:lnTo>
                  <a:pt x="144780" y="45592"/>
                </a:lnTo>
                <a:lnTo>
                  <a:pt x="171914" y="54359"/>
                </a:lnTo>
                <a:lnTo>
                  <a:pt x="175162" y="44309"/>
                </a:lnTo>
                <a:close/>
              </a:path>
            </a:pathLst>
          </a:custGeom>
          <a:solidFill>
            <a:srgbClr val="9B6B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568696" y="3842384"/>
            <a:ext cx="2060703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0014">
              <a:lnSpc>
                <a:spcPct val="100000"/>
              </a:lnSpc>
              <a:spcBef>
                <a:spcPts val="100"/>
              </a:spcBef>
            </a:pPr>
            <a:r>
              <a:rPr sz="2200" b="1" spc="-20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Comma </a:t>
            </a:r>
            <a:r>
              <a:rPr sz="2200" b="1" spc="-10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separated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838200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65" dirty="0"/>
              <a:t>Dictionary</a:t>
            </a:r>
            <a:r>
              <a:rPr b="1" spc="-229" dirty="0"/>
              <a:t> </a:t>
            </a:r>
            <a:r>
              <a:rPr b="1" spc="-70" dirty="0"/>
              <a:t>properties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9180" y="2209800"/>
            <a:ext cx="6745297" cy="276152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100"/>
              </a:spcBef>
              <a:tabLst>
                <a:tab pos="354965" algn="l"/>
              </a:tabLst>
            </a:pPr>
            <a:r>
              <a:rPr sz="25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5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5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Values</a:t>
            </a:r>
            <a:r>
              <a:rPr sz="25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are</a:t>
            </a:r>
            <a:r>
              <a:rPr sz="25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mapped</a:t>
            </a:r>
            <a:r>
              <a:rPr sz="25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to</a:t>
            </a:r>
            <a:r>
              <a:rPr sz="25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</a:t>
            </a:r>
            <a:r>
              <a:rPr sz="2500" spc="-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key</a:t>
            </a:r>
            <a:endParaRPr sz="25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5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25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5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5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Values</a:t>
            </a:r>
            <a:r>
              <a:rPr sz="25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are</a:t>
            </a:r>
            <a:r>
              <a:rPr sz="25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accessed</a:t>
            </a:r>
            <a:r>
              <a:rPr sz="25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by</a:t>
            </a:r>
            <a:r>
              <a:rPr sz="2500" spc="-1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their</a:t>
            </a:r>
            <a:r>
              <a:rPr sz="25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key</a:t>
            </a:r>
            <a:endParaRPr sz="25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5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25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5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5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Key</a:t>
            </a:r>
            <a:r>
              <a:rPr sz="2500" spc="-1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are</a:t>
            </a:r>
            <a:r>
              <a:rPr sz="25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unique</a:t>
            </a:r>
            <a:r>
              <a:rPr sz="25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and</a:t>
            </a:r>
            <a:r>
              <a:rPr sz="25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are</a:t>
            </a:r>
            <a:r>
              <a:rPr sz="25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immutable</a:t>
            </a:r>
            <a:endParaRPr sz="25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5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25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5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5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Values</a:t>
            </a:r>
            <a:r>
              <a:rPr sz="2500" spc="-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cannot</a:t>
            </a:r>
            <a:r>
              <a:rPr sz="25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exist</a:t>
            </a:r>
            <a:r>
              <a:rPr sz="25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without</a:t>
            </a:r>
            <a:r>
              <a:rPr sz="25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</a:t>
            </a:r>
            <a:r>
              <a:rPr sz="25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5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key</a:t>
            </a:r>
            <a:endParaRPr sz="25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92056" y="1016468"/>
            <a:ext cx="5737859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200" b="1" dirty="0">
                <a:solidFill>
                  <a:schemeClr val="tx2"/>
                </a:solidFill>
                <a:latin typeface="+mj-lt"/>
              </a:rPr>
              <a:t>Dictionaries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4682" y="2111197"/>
            <a:ext cx="7925918" cy="4971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es-CO" sz="24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Let</a:t>
            </a:r>
            <a:r>
              <a:rPr sz="24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us</a:t>
            </a:r>
            <a:r>
              <a:rPr sz="24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define</a:t>
            </a:r>
            <a:r>
              <a:rPr sz="24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the</a:t>
            </a:r>
            <a:r>
              <a:rPr sz="24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one</a:t>
            </a:r>
            <a:r>
              <a:rPr sz="24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from</a:t>
            </a:r>
            <a:r>
              <a:rPr sz="24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the</a:t>
            </a:r>
            <a:r>
              <a:rPr sz="24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previous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image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8448" y="3261366"/>
            <a:ext cx="6547104" cy="1976627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3945" y="3462493"/>
            <a:ext cx="6795516" cy="92811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9088" y="838200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Accessing</a:t>
            </a:r>
            <a:r>
              <a:rPr b="1" spc="-210" dirty="0"/>
              <a:t> </a:t>
            </a:r>
            <a:r>
              <a:rPr b="1" spc="250" dirty="0"/>
              <a:t>a</a:t>
            </a:r>
            <a:r>
              <a:rPr b="1" spc="-165" dirty="0"/>
              <a:t> </a:t>
            </a:r>
            <a:r>
              <a:rPr b="1" spc="-25" dirty="0"/>
              <a:t>dictionary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6206" y="2141982"/>
            <a:ext cx="7390994" cy="9600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es-CO"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Values</a:t>
            </a:r>
            <a:r>
              <a:rPr sz="2200" spc="-3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are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accessed</a:t>
            </a:r>
            <a:r>
              <a:rPr sz="2200" spc="-4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by</a:t>
            </a:r>
            <a:r>
              <a:rPr sz="2200" spc="-3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their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keys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(just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like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</a:t>
            </a:r>
            <a:r>
              <a:rPr sz="2200" spc="-4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dictionary)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6206" y="4800600"/>
            <a:ext cx="7009994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Note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that</a:t>
            </a:r>
            <a:r>
              <a:rPr sz="22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they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can't</a:t>
            </a:r>
            <a:r>
              <a:rPr sz="22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be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indexed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like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list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0724" y="3201691"/>
            <a:ext cx="6702552" cy="195986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838200" y="990600"/>
            <a:ext cx="5737859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200" b="1" dirty="0">
                <a:solidFill>
                  <a:schemeClr val="tx2"/>
                </a:solidFill>
                <a:latin typeface="+mj-lt"/>
              </a:rPr>
              <a:t>Altering a dictionary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5800" y="2309611"/>
            <a:ext cx="6702552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Can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be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done</a:t>
            </a:r>
            <a:r>
              <a:rPr sz="23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via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the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dictionary</a:t>
            </a:r>
            <a:r>
              <a:rPr sz="2300" spc="-3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methods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4066" y="1016634"/>
            <a:ext cx="5075733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200" dirty="0"/>
              <a:t>Keys</a:t>
            </a:r>
            <a:r>
              <a:rPr b="1" spc="-260" dirty="0"/>
              <a:t> </a:t>
            </a:r>
            <a:r>
              <a:rPr b="1" spc="114" dirty="0"/>
              <a:t>and</a:t>
            </a:r>
            <a:r>
              <a:rPr b="1" spc="-245" dirty="0"/>
              <a:t> </a:t>
            </a:r>
            <a:r>
              <a:rPr b="1" spc="-25" dirty="0"/>
              <a:t>Values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2917" y="2057400"/>
            <a:ext cx="7378165" cy="1003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300" dirty="0">
                <a:latin typeface="Verdana"/>
                <a:cs typeface="Verdana"/>
              </a:rPr>
              <a:t>It is possible to obtain only the keys or values of a</a:t>
            </a:r>
            <a:r>
              <a:rPr lang="es-CO" sz="230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dictionary.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4066" y="4740961"/>
            <a:ext cx="7317015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300" dirty="0">
                <a:latin typeface="Verdana"/>
                <a:cs typeface="Verdana"/>
              </a:rPr>
              <a:t>This is useful for iteration.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7537" y="3352800"/>
            <a:ext cx="5868924" cy="1018032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2727" y="609600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2727" y="1752600"/>
            <a:ext cx="7544918" cy="211339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880"/>
              </a:spcBef>
              <a:tabLst>
                <a:tab pos="354965" algn="l"/>
              </a:tabLst>
            </a:pPr>
            <a:r>
              <a:rPr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Effectively</a:t>
            </a:r>
            <a:r>
              <a:rPr sz="22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lists</a:t>
            </a:r>
            <a:r>
              <a:rPr sz="2200" spc="-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that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can't</a:t>
            </a:r>
            <a:r>
              <a:rPr sz="2200" spc="-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contain</a:t>
            </a:r>
            <a:r>
              <a:rPr sz="2200" spc="-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duplicate</a:t>
            </a:r>
            <a:r>
              <a:rPr sz="220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items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780"/>
              </a:spcBef>
              <a:tabLst>
                <a:tab pos="354965" algn="l"/>
              </a:tabLst>
            </a:pPr>
            <a:r>
              <a:rPr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Similar</a:t>
            </a:r>
            <a:r>
              <a:rPr sz="2200" spc="-1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functionality</a:t>
            </a:r>
            <a:r>
              <a:rPr sz="22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to</a:t>
            </a:r>
            <a:r>
              <a:rPr sz="22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lists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780"/>
              </a:spcBef>
              <a:tabLst>
                <a:tab pos="354965" algn="l"/>
              </a:tabLst>
            </a:pPr>
            <a:r>
              <a:rPr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Can't</a:t>
            </a:r>
            <a:r>
              <a:rPr sz="22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be</a:t>
            </a:r>
            <a:r>
              <a:rPr sz="22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indexed</a:t>
            </a:r>
            <a:r>
              <a:rPr sz="22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or</a:t>
            </a:r>
            <a:r>
              <a:rPr sz="22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sliced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795"/>
              </a:spcBef>
              <a:tabLst>
                <a:tab pos="354965" algn="l"/>
              </a:tabLst>
            </a:pPr>
            <a:r>
              <a:rPr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Can</a:t>
            </a:r>
            <a:r>
              <a:rPr sz="22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be</a:t>
            </a:r>
            <a:r>
              <a:rPr sz="22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created</a:t>
            </a:r>
            <a:r>
              <a:rPr sz="22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with</a:t>
            </a:r>
            <a:r>
              <a:rPr sz="220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b="1" spc="-52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{}</a:t>
            </a:r>
            <a:r>
              <a:rPr sz="2200" b="1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2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or</a:t>
            </a:r>
            <a:r>
              <a:rPr sz="22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you</a:t>
            </a:r>
            <a:r>
              <a:rPr sz="22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can</a:t>
            </a:r>
            <a:r>
              <a:rPr sz="22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convert</a:t>
            </a:r>
            <a:r>
              <a:rPr sz="22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</a:t>
            </a:r>
            <a:r>
              <a:rPr sz="22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list</a:t>
            </a:r>
            <a:r>
              <a:rPr sz="2200" spc="-1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to</a:t>
            </a:r>
            <a:r>
              <a:rPr sz="22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</a:t>
            </a:r>
            <a:r>
              <a:rPr sz="22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set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3446" y="4191000"/>
            <a:ext cx="5817108" cy="179679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6195" y="2828544"/>
              <a:ext cx="4681728" cy="115366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95983" y="2897123"/>
              <a:ext cx="749935" cy="266700"/>
            </a:xfrm>
            <a:custGeom>
              <a:avLst/>
              <a:gdLst/>
              <a:ahLst/>
              <a:cxnLst/>
              <a:rect l="l" t="t" r="r" b="b"/>
              <a:pathLst>
                <a:path w="749935" h="266700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705358" y="0"/>
                  </a:lnTo>
                  <a:lnTo>
                    <a:pt x="722643" y="3498"/>
                  </a:lnTo>
                  <a:lnTo>
                    <a:pt x="736774" y="13033"/>
                  </a:lnTo>
                  <a:lnTo>
                    <a:pt x="746309" y="27164"/>
                  </a:lnTo>
                  <a:lnTo>
                    <a:pt x="749808" y="44450"/>
                  </a:lnTo>
                  <a:lnTo>
                    <a:pt x="749808" y="222250"/>
                  </a:lnTo>
                  <a:lnTo>
                    <a:pt x="746309" y="239535"/>
                  </a:lnTo>
                  <a:lnTo>
                    <a:pt x="736774" y="253666"/>
                  </a:lnTo>
                  <a:lnTo>
                    <a:pt x="722643" y="263201"/>
                  </a:lnTo>
                  <a:lnTo>
                    <a:pt x="705358" y="266700"/>
                  </a:lnTo>
                  <a:lnTo>
                    <a:pt x="44450" y="266700"/>
                  </a:lnTo>
                  <a:lnTo>
                    <a:pt x="27164" y="263201"/>
                  </a:lnTo>
                  <a:lnTo>
                    <a:pt x="13033" y="253666"/>
                  </a:lnTo>
                  <a:lnTo>
                    <a:pt x="3498" y="239535"/>
                  </a:lnTo>
                  <a:lnTo>
                    <a:pt x="0" y="222250"/>
                  </a:lnTo>
                  <a:lnTo>
                    <a:pt x="0" y="44450"/>
                  </a:lnTo>
                  <a:close/>
                </a:path>
              </a:pathLst>
            </a:custGeom>
            <a:ln w="57150">
              <a:solidFill>
                <a:srgbClr val="E23C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43327" y="2911855"/>
              <a:ext cx="1757680" cy="171450"/>
            </a:xfrm>
            <a:custGeom>
              <a:avLst/>
              <a:gdLst/>
              <a:ahLst/>
              <a:cxnLst/>
              <a:rect l="l" t="t" r="r" b="b"/>
              <a:pathLst>
                <a:path w="1757679" h="171450">
                  <a:moveTo>
                    <a:pt x="172212" y="0"/>
                  </a:moveTo>
                  <a:lnTo>
                    <a:pt x="0" y="84328"/>
                  </a:lnTo>
                  <a:lnTo>
                    <a:pt x="170688" y="171450"/>
                  </a:lnTo>
                  <a:lnTo>
                    <a:pt x="171081" y="127127"/>
                  </a:lnTo>
                  <a:lnTo>
                    <a:pt x="171196" y="114281"/>
                  </a:lnTo>
                  <a:lnTo>
                    <a:pt x="142621" y="114046"/>
                  </a:lnTo>
                  <a:lnTo>
                    <a:pt x="131534" y="111720"/>
                  </a:lnTo>
                  <a:lnTo>
                    <a:pt x="122507" y="105537"/>
                  </a:lnTo>
                  <a:lnTo>
                    <a:pt x="116457" y="96400"/>
                  </a:lnTo>
                  <a:lnTo>
                    <a:pt x="114300" y="85217"/>
                  </a:lnTo>
                  <a:lnTo>
                    <a:pt x="116643" y="74130"/>
                  </a:lnTo>
                  <a:lnTo>
                    <a:pt x="122856" y="65103"/>
                  </a:lnTo>
                  <a:lnTo>
                    <a:pt x="131998" y="59053"/>
                  </a:lnTo>
                  <a:lnTo>
                    <a:pt x="143129" y="56896"/>
                  </a:lnTo>
                  <a:lnTo>
                    <a:pt x="171706" y="56896"/>
                  </a:lnTo>
                  <a:lnTo>
                    <a:pt x="172212" y="0"/>
                  </a:lnTo>
                  <a:close/>
                </a:path>
                <a:path w="1757679" h="171450">
                  <a:moveTo>
                    <a:pt x="171704" y="57133"/>
                  </a:moveTo>
                  <a:lnTo>
                    <a:pt x="171588" y="70104"/>
                  </a:lnTo>
                  <a:lnTo>
                    <a:pt x="171462" y="84328"/>
                  </a:lnTo>
                  <a:lnTo>
                    <a:pt x="171355" y="96400"/>
                  </a:lnTo>
                  <a:lnTo>
                    <a:pt x="171273" y="105537"/>
                  </a:lnTo>
                  <a:lnTo>
                    <a:pt x="171196" y="114281"/>
                  </a:lnTo>
                  <a:lnTo>
                    <a:pt x="1728597" y="127127"/>
                  </a:lnTo>
                  <a:lnTo>
                    <a:pt x="1739707" y="125041"/>
                  </a:lnTo>
                  <a:lnTo>
                    <a:pt x="1748805" y="119014"/>
                  </a:lnTo>
                  <a:lnTo>
                    <a:pt x="1754975" y="109964"/>
                  </a:lnTo>
                  <a:lnTo>
                    <a:pt x="1757299" y="98806"/>
                  </a:lnTo>
                  <a:lnTo>
                    <a:pt x="1755213" y="87695"/>
                  </a:lnTo>
                  <a:lnTo>
                    <a:pt x="1749186" y="78597"/>
                  </a:lnTo>
                  <a:lnTo>
                    <a:pt x="1740136" y="72427"/>
                  </a:lnTo>
                  <a:lnTo>
                    <a:pt x="1728977" y="70104"/>
                  </a:lnTo>
                  <a:lnTo>
                    <a:pt x="171704" y="57133"/>
                  </a:lnTo>
                  <a:close/>
                </a:path>
                <a:path w="1757679" h="171450">
                  <a:moveTo>
                    <a:pt x="143129" y="56896"/>
                  </a:moveTo>
                  <a:lnTo>
                    <a:pt x="131998" y="59053"/>
                  </a:lnTo>
                  <a:lnTo>
                    <a:pt x="122856" y="65103"/>
                  </a:lnTo>
                  <a:lnTo>
                    <a:pt x="116643" y="74130"/>
                  </a:lnTo>
                  <a:lnTo>
                    <a:pt x="114300" y="85217"/>
                  </a:lnTo>
                  <a:lnTo>
                    <a:pt x="116457" y="96400"/>
                  </a:lnTo>
                  <a:lnTo>
                    <a:pt x="122507" y="105537"/>
                  </a:lnTo>
                  <a:lnTo>
                    <a:pt x="131534" y="111720"/>
                  </a:lnTo>
                  <a:lnTo>
                    <a:pt x="142621" y="114046"/>
                  </a:lnTo>
                  <a:lnTo>
                    <a:pt x="171196" y="114281"/>
                  </a:lnTo>
                  <a:lnTo>
                    <a:pt x="171273" y="105537"/>
                  </a:lnTo>
                  <a:lnTo>
                    <a:pt x="171355" y="96400"/>
                  </a:lnTo>
                  <a:lnTo>
                    <a:pt x="171462" y="84328"/>
                  </a:lnTo>
                  <a:lnTo>
                    <a:pt x="171588" y="70104"/>
                  </a:lnTo>
                  <a:lnTo>
                    <a:pt x="171704" y="57133"/>
                  </a:lnTo>
                  <a:lnTo>
                    <a:pt x="143129" y="56896"/>
                  </a:lnTo>
                  <a:close/>
                </a:path>
                <a:path w="1757679" h="171450">
                  <a:moveTo>
                    <a:pt x="171706" y="56896"/>
                  </a:moveTo>
                  <a:lnTo>
                    <a:pt x="143129" y="56896"/>
                  </a:lnTo>
                  <a:lnTo>
                    <a:pt x="171704" y="57133"/>
                  </a:lnTo>
                  <a:lnTo>
                    <a:pt x="171706" y="56896"/>
                  </a:lnTo>
                  <a:close/>
                </a:path>
              </a:pathLst>
            </a:custGeom>
            <a:solidFill>
              <a:srgbClr val="E23C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26463" y="3137916"/>
              <a:ext cx="2611120" cy="768350"/>
            </a:xfrm>
            <a:custGeom>
              <a:avLst/>
              <a:gdLst/>
              <a:ahLst/>
              <a:cxnLst/>
              <a:rect l="l" t="t" r="r" b="b"/>
              <a:pathLst>
                <a:path w="2611120" h="768350">
                  <a:moveTo>
                    <a:pt x="0" y="48768"/>
                  </a:moveTo>
                  <a:lnTo>
                    <a:pt x="3833" y="29789"/>
                  </a:lnTo>
                  <a:lnTo>
                    <a:pt x="14287" y="14287"/>
                  </a:lnTo>
                  <a:lnTo>
                    <a:pt x="29789" y="3833"/>
                  </a:lnTo>
                  <a:lnTo>
                    <a:pt x="48768" y="0"/>
                  </a:lnTo>
                  <a:lnTo>
                    <a:pt x="1499616" y="0"/>
                  </a:lnTo>
                  <a:lnTo>
                    <a:pt x="1518594" y="3833"/>
                  </a:lnTo>
                  <a:lnTo>
                    <a:pt x="1534096" y="14287"/>
                  </a:lnTo>
                  <a:lnTo>
                    <a:pt x="1544550" y="29789"/>
                  </a:lnTo>
                  <a:lnTo>
                    <a:pt x="1548384" y="48768"/>
                  </a:lnTo>
                  <a:lnTo>
                    <a:pt x="1548384" y="243839"/>
                  </a:lnTo>
                  <a:lnTo>
                    <a:pt x="1544550" y="262818"/>
                  </a:lnTo>
                  <a:lnTo>
                    <a:pt x="1534096" y="278320"/>
                  </a:lnTo>
                  <a:lnTo>
                    <a:pt x="1518594" y="288774"/>
                  </a:lnTo>
                  <a:lnTo>
                    <a:pt x="1499616" y="292608"/>
                  </a:lnTo>
                  <a:lnTo>
                    <a:pt x="48768" y="292608"/>
                  </a:lnTo>
                  <a:lnTo>
                    <a:pt x="29789" y="288774"/>
                  </a:lnTo>
                  <a:lnTo>
                    <a:pt x="14287" y="278320"/>
                  </a:lnTo>
                  <a:lnTo>
                    <a:pt x="3833" y="262818"/>
                  </a:lnTo>
                  <a:lnTo>
                    <a:pt x="0" y="243839"/>
                  </a:lnTo>
                  <a:lnTo>
                    <a:pt x="0" y="48768"/>
                  </a:lnTo>
                  <a:close/>
                </a:path>
                <a:path w="2611120" h="768350">
                  <a:moveTo>
                    <a:pt x="65532" y="524256"/>
                  </a:moveTo>
                  <a:lnTo>
                    <a:pt x="69365" y="505277"/>
                  </a:lnTo>
                  <a:lnTo>
                    <a:pt x="79819" y="489775"/>
                  </a:lnTo>
                  <a:lnTo>
                    <a:pt x="95321" y="479321"/>
                  </a:lnTo>
                  <a:lnTo>
                    <a:pt x="114300" y="475488"/>
                  </a:lnTo>
                  <a:lnTo>
                    <a:pt x="2561844" y="475488"/>
                  </a:lnTo>
                  <a:lnTo>
                    <a:pt x="2580822" y="479321"/>
                  </a:lnTo>
                  <a:lnTo>
                    <a:pt x="2596324" y="489775"/>
                  </a:lnTo>
                  <a:lnTo>
                    <a:pt x="2606778" y="505277"/>
                  </a:lnTo>
                  <a:lnTo>
                    <a:pt x="2610612" y="524256"/>
                  </a:lnTo>
                  <a:lnTo>
                    <a:pt x="2610612" y="719328"/>
                  </a:lnTo>
                  <a:lnTo>
                    <a:pt x="2606778" y="738306"/>
                  </a:lnTo>
                  <a:lnTo>
                    <a:pt x="2596324" y="753808"/>
                  </a:lnTo>
                  <a:lnTo>
                    <a:pt x="2580822" y="764262"/>
                  </a:lnTo>
                  <a:lnTo>
                    <a:pt x="2561844" y="768096"/>
                  </a:lnTo>
                  <a:lnTo>
                    <a:pt x="114300" y="768096"/>
                  </a:lnTo>
                  <a:lnTo>
                    <a:pt x="95321" y="764262"/>
                  </a:lnTo>
                  <a:lnTo>
                    <a:pt x="79819" y="753808"/>
                  </a:lnTo>
                  <a:lnTo>
                    <a:pt x="69365" y="738306"/>
                  </a:lnTo>
                  <a:lnTo>
                    <a:pt x="65532" y="719328"/>
                  </a:lnTo>
                  <a:lnTo>
                    <a:pt x="65532" y="524256"/>
                  </a:lnTo>
                  <a:close/>
                </a:path>
              </a:pathLst>
            </a:custGeom>
            <a:ln w="57150">
              <a:solidFill>
                <a:srgbClr val="E23C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22092" y="3199891"/>
              <a:ext cx="2845435" cy="647065"/>
            </a:xfrm>
            <a:custGeom>
              <a:avLst/>
              <a:gdLst/>
              <a:ahLst/>
              <a:cxnLst/>
              <a:rect l="l" t="t" r="r" b="b"/>
              <a:pathLst>
                <a:path w="2845435" h="647064">
                  <a:moveTo>
                    <a:pt x="1758950" y="98806"/>
                  </a:moveTo>
                  <a:lnTo>
                    <a:pt x="1730629" y="69977"/>
                  </a:lnTo>
                  <a:lnTo>
                    <a:pt x="171704" y="57137"/>
                  </a:lnTo>
                  <a:lnTo>
                    <a:pt x="171704" y="56896"/>
                  </a:lnTo>
                  <a:lnTo>
                    <a:pt x="172212" y="0"/>
                  </a:lnTo>
                  <a:lnTo>
                    <a:pt x="0" y="84328"/>
                  </a:lnTo>
                  <a:lnTo>
                    <a:pt x="170688" y="171450"/>
                  </a:lnTo>
                  <a:lnTo>
                    <a:pt x="171081" y="127127"/>
                  </a:lnTo>
                  <a:lnTo>
                    <a:pt x="171196" y="114287"/>
                  </a:lnTo>
                  <a:lnTo>
                    <a:pt x="1730121" y="127127"/>
                  </a:lnTo>
                  <a:lnTo>
                    <a:pt x="1741246" y="125044"/>
                  </a:lnTo>
                  <a:lnTo>
                    <a:pt x="1750390" y="119024"/>
                  </a:lnTo>
                  <a:lnTo>
                    <a:pt x="1756600" y="109969"/>
                  </a:lnTo>
                  <a:lnTo>
                    <a:pt x="1758950" y="98806"/>
                  </a:lnTo>
                  <a:close/>
                </a:path>
                <a:path w="2845435" h="647064">
                  <a:moveTo>
                    <a:pt x="2845435" y="575945"/>
                  </a:moveTo>
                  <a:lnTo>
                    <a:pt x="2817241" y="547116"/>
                  </a:lnTo>
                  <a:lnTo>
                    <a:pt x="1259827" y="532777"/>
                  </a:lnTo>
                  <a:lnTo>
                    <a:pt x="1259840" y="532511"/>
                  </a:lnTo>
                  <a:lnTo>
                    <a:pt x="1260348" y="475615"/>
                  </a:lnTo>
                  <a:lnTo>
                    <a:pt x="1088136" y="559816"/>
                  </a:lnTo>
                  <a:lnTo>
                    <a:pt x="1258824" y="647065"/>
                  </a:lnTo>
                  <a:lnTo>
                    <a:pt x="1259192" y="604266"/>
                  </a:lnTo>
                  <a:lnTo>
                    <a:pt x="1259268" y="596061"/>
                  </a:lnTo>
                  <a:lnTo>
                    <a:pt x="1259319" y="589927"/>
                  </a:lnTo>
                  <a:lnTo>
                    <a:pt x="2816606" y="604266"/>
                  </a:lnTo>
                  <a:lnTo>
                    <a:pt x="2827782" y="602119"/>
                  </a:lnTo>
                  <a:lnTo>
                    <a:pt x="2836926" y="596061"/>
                  </a:lnTo>
                  <a:lnTo>
                    <a:pt x="2843098" y="587032"/>
                  </a:lnTo>
                  <a:lnTo>
                    <a:pt x="2845435" y="575945"/>
                  </a:lnTo>
                  <a:close/>
                </a:path>
              </a:pathLst>
            </a:custGeom>
            <a:solidFill>
              <a:srgbClr val="E23C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44067" y="1016634"/>
            <a:ext cx="2789733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If Else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idx="1"/>
          </p:nvPr>
        </p:nvSpPr>
        <p:spPr>
          <a:xfrm>
            <a:off x="806195" y="1726210"/>
            <a:ext cx="6711654" cy="2762697"/>
          </a:xfrm>
          <a:prstGeom prst="rect">
            <a:avLst/>
          </a:prstGeom>
        </p:spPr>
        <p:txBody>
          <a:bodyPr vert="horz" wrap="square" lIns="0" tIns="632858" rIns="0" bIns="0" rtlCol="0">
            <a:spAutoFit/>
          </a:bodyPr>
          <a:lstStyle/>
          <a:p>
            <a:pPr marL="250819" indent="0">
              <a:lnSpc>
                <a:spcPct val="100000"/>
              </a:lnSpc>
              <a:spcBef>
                <a:spcPts val="805"/>
              </a:spcBef>
              <a:buNone/>
              <a:tabLst>
                <a:tab pos="936625" algn="l"/>
              </a:tabLst>
            </a:pPr>
            <a:r>
              <a:rPr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</a:rPr>
              <a:t>Fundamental</a:t>
            </a:r>
            <a:r>
              <a:rPr sz="2200" spc="-4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200" spc="-35" dirty="0">
                <a:latin typeface="Verdana" panose="020B0604030504040204" pitchFamily="34" charset="0"/>
                <a:ea typeface="Verdana" panose="020B0604030504040204" pitchFamily="34" charset="0"/>
              </a:rPr>
              <a:t>building</a:t>
            </a:r>
            <a:r>
              <a:rPr sz="2200" spc="-11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</a:rPr>
              <a:t>block</a:t>
            </a:r>
            <a:r>
              <a:rPr sz="2200" spc="-114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</a:rPr>
              <a:t>of</a:t>
            </a:r>
            <a:r>
              <a:rPr sz="2200" spc="-1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</a:rPr>
              <a:t>software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Lucida Sans Unicode"/>
            </a:endParaRPr>
          </a:p>
          <a:p>
            <a:pPr marL="3698875">
              <a:lnSpc>
                <a:spcPct val="100000"/>
              </a:lnSpc>
              <a:spcBef>
                <a:spcPts val="710"/>
              </a:spcBef>
            </a:pPr>
            <a:r>
              <a:rPr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Conditional</a:t>
            </a:r>
            <a:r>
              <a:rPr sz="1600" b="1" spc="-95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1600" b="1" spc="-1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statement</a:t>
            </a:r>
            <a:endParaRPr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Arial"/>
            </a:endParaRPr>
          </a:p>
          <a:p>
            <a:pPr marL="4527550">
              <a:lnSpc>
                <a:spcPct val="100000"/>
              </a:lnSpc>
              <a:spcBef>
                <a:spcPts val="375"/>
              </a:spcBef>
            </a:pPr>
            <a:r>
              <a:rPr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Executed</a:t>
            </a:r>
            <a:r>
              <a:rPr sz="1600" b="1" spc="-15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if</a:t>
            </a:r>
            <a:r>
              <a:rPr sz="1600" b="1" spc="-15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answer</a:t>
            </a:r>
            <a:r>
              <a:rPr sz="1600" b="1" spc="-6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is</a:t>
            </a:r>
            <a:r>
              <a:rPr sz="1600" b="1" spc="-1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1600" b="1" spc="-2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True</a:t>
            </a:r>
            <a:endParaRPr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Arial"/>
            </a:endParaRPr>
          </a:p>
          <a:p>
            <a:pPr marL="5480685">
              <a:lnSpc>
                <a:spcPct val="100000"/>
              </a:lnSpc>
              <a:spcBef>
                <a:spcPts val="1280"/>
              </a:spcBef>
            </a:pPr>
            <a:r>
              <a:rPr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Executed</a:t>
            </a:r>
            <a:r>
              <a:rPr sz="1600" b="1" spc="-15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if</a:t>
            </a:r>
            <a:r>
              <a:rPr sz="1600" b="1" spc="-15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answer</a:t>
            </a:r>
            <a:r>
              <a:rPr sz="1600" b="1" spc="-6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is</a:t>
            </a:r>
            <a:r>
              <a:rPr sz="1600" b="1" spc="-1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False</a:t>
            </a:r>
            <a:endParaRPr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4067" y="3289065"/>
            <a:ext cx="6989064" cy="14097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944067" y="1016634"/>
            <a:ext cx="5737859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200" b="1" dirty="0">
                <a:solidFill>
                  <a:schemeClr val="tx2"/>
                </a:solidFill>
                <a:latin typeface="+mj-lt"/>
              </a:rPr>
              <a:t>If Else 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5131" y="1981200"/>
            <a:ext cx="7619594" cy="1003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Try</a:t>
            </a:r>
            <a:r>
              <a:rPr sz="2300" spc="-4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running</a:t>
            </a:r>
            <a:r>
              <a:rPr sz="2300" spc="-6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the</a:t>
            </a:r>
            <a:r>
              <a:rPr sz="2300" spc="-6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example</a:t>
            </a:r>
            <a:r>
              <a:rPr sz="2300" spc="-5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below.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What</a:t>
            </a:r>
            <a:r>
              <a:rPr sz="23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do</a:t>
            </a:r>
            <a:r>
              <a:rPr sz="23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you</a:t>
            </a:r>
            <a:r>
              <a:rPr sz="23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get?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7116" y="4761250"/>
            <a:ext cx="6982968" cy="414527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8266" y="1554362"/>
            <a:ext cx="4887468" cy="235153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398346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70" dirty="0"/>
              <a:t>Indentation</a:t>
            </a:r>
            <a:r>
              <a:rPr b="1" spc="-190" dirty="0"/>
              <a:t> </a:t>
            </a:r>
            <a:r>
              <a:rPr b="1" spc="-140" dirty="0"/>
              <a:t>matters!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000" y="4150978"/>
            <a:ext cx="7620000" cy="2090957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05"/>
              </a:spcBef>
              <a:tabLst>
                <a:tab pos="354965" algn="l"/>
              </a:tabLst>
            </a:pPr>
            <a:r>
              <a:rPr sz="2200" spc="5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Code</a:t>
            </a:r>
            <a:r>
              <a:rPr sz="22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is</a:t>
            </a:r>
            <a:r>
              <a:rPr sz="22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grouped</a:t>
            </a:r>
            <a:r>
              <a:rPr sz="22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by</a:t>
            </a:r>
            <a:r>
              <a:rPr sz="22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its</a:t>
            </a:r>
            <a:r>
              <a:rPr sz="22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indentation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2200" spc="5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Indentation</a:t>
            </a:r>
            <a:r>
              <a:rPr sz="22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is</a:t>
            </a:r>
            <a:r>
              <a:rPr sz="2200" spc="-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the</a:t>
            </a:r>
            <a:r>
              <a:rPr sz="22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number</a:t>
            </a:r>
            <a:r>
              <a:rPr sz="2200" spc="-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of</a:t>
            </a:r>
            <a:r>
              <a:rPr sz="2200" spc="-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whitespace</a:t>
            </a:r>
            <a:r>
              <a:rPr sz="2200" spc="-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or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tab</a:t>
            </a:r>
            <a:r>
              <a:rPr sz="2200" spc="-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characters</a:t>
            </a:r>
            <a:r>
              <a:rPr sz="2200" spc="-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before</a:t>
            </a:r>
            <a:r>
              <a:rPr sz="2200" spc="-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the</a:t>
            </a:r>
            <a:r>
              <a:rPr sz="22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code.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2200" spc="5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1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If</a:t>
            </a:r>
            <a:r>
              <a:rPr sz="22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you</a:t>
            </a:r>
            <a:r>
              <a:rPr sz="22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put</a:t>
            </a:r>
            <a:r>
              <a:rPr sz="2200" spc="-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code</a:t>
            </a:r>
            <a:r>
              <a:rPr sz="22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</a:t>
            </a:r>
            <a:r>
              <a:rPr sz="22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the</a:t>
            </a:r>
            <a:r>
              <a:rPr sz="22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wrong</a:t>
            </a:r>
            <a:r>
              <a:rPr sz="22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block</a:t>
            </a:r>
            <a:r>
              <a:rPr sz="22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then</a:t>
            </a:r>
            <a:r>
              <a:rPr sz="22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you</a:t>
            </a:r>
            <a:r>
              <a:rPr sz="2200" spc="-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will</a:t>
            </a:r>
            <a:r>
              <a:rPr sz="22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get</a:t>
            </a:r>
            <a:r>
              <a:rPr sz="2200" spc="-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unexpected</a:t>
            </a:r>
            <a:r>
              <a:rPr sz="2200" spc="-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behavior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28266" y="1760102"/>
            <a:ext cx="4887595" cy="1356360"/>
          </a:xfrm>
          <a:custGeom>
            <a:avLst/>
            <a:gdLst/>
            <a:ahLst/>
            <a:cxnLst/>
            <a:rect l="l" t="t" r="r" b="b"/>
            <a:pathLst>
              <a:path w="4887595" h="1356360">
                <a:moveTo>
                  <a:pt x="475488" y="675132"/>
                </a:moveTo>
                <a:lnTo>
                  <a:pt x="4090416" y="675132"/>
                </a:lnTo>
                <a:lnTo>
                  <a:pt x="4090416" y="394715"/>
                </a:lnTo>
                <a:lnTo>
                  <a:pt x="475488" y="394715"/>
                </a:lnTo>
                <a:lnTo>
                  <a:pt x="475488" y="675132"/>
                </a:lnTo>
                <a:close/>
              </a:path>
              <a:path w="4887595" h="1356360">
                <a:moveTo>
                  <a:pt x="257556" y="1100327"/>
                </a:moveTo>
                <a:lnTo>
                  <a:pt x="4879848" y="1100327"/>
                </a:lnTo>
                <a:lnTo>
                  <a:pt x="4879848" y="126491"/>
                </a:lnTo>
                <a:lnTo>
                  <a:pt x="257556" y="126491"/>
                </a:lnTo>
                <a:lnTo>
                  <a:pt x="257556" y="1100327"/>
                </a:lnTo>
                <a:close/>
              </a:path>
              <a:path w="4887595" h="1356360">
                <a:moveTo>
                  <a:pt x="0" y="1356359"/>
                </a:moveTo>
                <a:lnTo>
                  <a:pt x="4887468" y="1356359"/>
                </a:lnTo>
                <a:lnTo>
                  <a:pt x="4887468" y="0"/>
                </a:lnTo>
                <a:lnTo>
                  <a:pt x="0" y="0"/>
                </a:lnTo>
                <a:lnTo>
                  <a:pt x="0" y="1356359"/>
                </a:lnTo>
                <a:close/>
              </a:path>
              <a:path w="4887595" h="1356360">
                <a:moveTo>
                  <a:pt x="475488" y="1100327"/>
                </a:moveTo>
                <a:lnTo>
                  <a:pt x="4794504" y="1100327"/>
                </a:lnTo>
                <a:lnTo>
                  <a:pt x="4794504" y="819912"/>
                </a:lnTo>
                <a:lnTo>
                  <a:pt x="475488" y="819912"/>
                </a:lnTo>
                <a:lnTo>
                  <a:pt x="475488" y="1100327"/>
                </a:lnTo>
                <a:close/>
              </a:path>
              <a:path w="4887595" h="1356360">
                <a:moveTo>
                  <a:pt x="257556" y="1356359"/>
                </a:moveTo>
                <a:lnTo>
                  <a:pt x="4879848" y="1356359"/>
                </a:lnTo>
                <a:lnTo>
                  <a:pt x="4879848" y="1228343"/>
                </a:lnTo>
                <a:lnTo>
                  <a:pt x="257556" y="1228343"/>
                </a:lnTo>
                <a:lnTo>
                  <a:pt x="257556" y="1356359"/>
                </a:lnTo>
                <a:close/>
              </a:path>
            </a:pathLst>
          </a:custGeom>
          <a:ln w="57150">
            <a:solidFill>
              <a:srgbClr val="E23C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609600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95" dirty="0"/>
              <a:t>Extending</a:t>
            </a:r>
            <a:r>
              <a:rPr b="1" spc="-240" dirty="0"/>
              <a:t> </a:t>
            </a:r>
            <a:r>
              <a:rPr b="1" spc="-254" dirty="0"/>
              <a:t>if-</a:t>
            </a:r>
            <a:r>
              <a:rPr b="1" spc="-85" dirty="0"/>
              <a:t>else</a:t>
            </a:r>
            <a:r>
              <a:rPr b="1" spc="-235" dirty="0"/>
              <a:t> </a:t>
            </a:r>
            <a:r>
              <a:rPr b="1" spc="-10" dirty="0"/>
              <a:t>blocks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0936" y="1773593"/>
            <a:ext cx="7690917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spcBef>
                <a:spcPts val="100"/>
              </a:spcBef>
              <a:tabLst>
                <a:tab pos="354965" algn="l"/>
              </a:tabLst>
            </a:pP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	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We can add infinitely more if statements using </a:t>
            </a:r>
            <a:r>
              <a:rPr sz="2300" b="1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elif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0936" y="4798037"/>
            <a:ext cx="7884059" cy="1106072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55600" marR="5080" indent="-343535" algn="just">
              <a:spcBef>
                <a:spcPts val="345"/>
              </a:spcBef>
              <a:tabLst>
                <a:tab pos="354965" algn="l"/>
              </a:tabLst>
            </a:pP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	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elif = else + if which means that the previous statements must be false for the current one to evaluate to true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2016" y="2817876"/>
            <a:ext cx="5839968" cy="1656588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268" y="2360676"/>
            <a:ext cx="8904732" cy="23317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533400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80" dirty="0"/>
              <a:t>Bitcoin</a:t>
            </a:r>
            <a:r>
              <a:rPr b="1" spc="-229" dirty="0"/>
              <a:t> </a:t>
            </a:r>
            <a:r>
              <a:rPr b="1" spc="-105" dirty="0"/>
              <a:t>broker</a:t>
            </a:r>
            <a:r>
              <a:rPr b="1" spc="-225" dirty="0"/>
              <a:t> </a:t>
            </a:r>
            <a:r>
              <a:rPr b="1" spc="-10" dirty="0"/>
              <a:t>example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4067" y="1016634"/>
            <a:ext cx="3399333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200" b="1" dirty="0">
                <a:solidFill>
                  <a:schemeClr val="tx2"/>
                </a:solidFill>
                <a:latin typeface="+mj-lt"/>
                <a:cs typeface="Verdana"/>
              </a:rPr>
              <a:t>Quick quiz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4066" y="1973960"/>
            <a:ext cx="7437933" cy="4567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What</a:t>
            </a:r>
            <a:r>
              <a:rPr sz="2200" spc="-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would</a:t>
            </a:r>
            <a:r>
              <a:rPr sz="22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happen</a:t>
            </a:r>
            <a:r>
              <a:rPr sz="2200" spc="-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if</a:t>
            </a:r>
            <a:r>
              <a:rPr sz="22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both</a:t>
            </a:r>
            <a:r>
              <a:rPr sz="22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conditions</a:t>
            </a:r>
            <a:r>
              <a:rPr sz="22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are</a:t>
            </a:r>
            <a:r>
              <a:rPr sz="22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True?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1476" y="2971800"/>
            <a:ext cx="6403847" cy="18790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2060" y="3270884"/>
            <a:ext cx="252221" cy="244601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195" dirty="0"/>
              <a:t>For</a:t>
            </a:r>
            <a:r>
              <a:rPr b="1" spc="-225" dirty="0"/>
              <a:t> </a:t>
            </a:r>
            <a:r>
              <a:rPr b="1" spc="3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1105" y="1623770"/>
            <a:ext cx="7760896" cy="1534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5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Allows</a:t>
            </a:r>
            <a:r>
              <a:rPr sz="23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us</a:t>
            </a:r>
            <a:r>
              <a:rPr sz="23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to</a:t>
            </a:r>
            <a:r>
              <a:rPr sz="23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iterate</a:t>
            </a:r>
            <a:r>
              <a:rPr sz="23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over</a:t>
            </a:r>
            <a:r>
              <a:rPr sz="2300" spc="-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</a:t>
            </a:r>
            <a:r>
              <a:rPr sz="23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set</a:t>
            </a:r>
            <a:r>
              <a:rPr sz="23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amount</a:t>
            </a:r>
            <a:r>
              <a:rPr sz="23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of</a:t>
            </a:r>
            <a:r>
              <a:rPr sz="2300" spc="-1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variables </a:t>
            </a:r>
            <a:r>
              <a:rPr sz="23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within</a:t>
            </a:r>
            <a:r>
              <a:rPr sz="23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</a:t>
            </a:r>
            <a:r>
              <a:rPr sz="23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data</a:t>
            </a:r>
            <a:r>
              <a:rPr sz="23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structure.</a:t>
            </a:r>
            <a:r>
              <a:rPr sz="230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During</a:t>
            </a:r>
            <a:r>
              <a:rPr sz="23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that</a:t>
            </a:r>
            <a:r>
              <a:rPr sz="23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we</a:t>
            </a:r>
            <a:r>
              <a:rPr sz="2300" spc="-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can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manipulate</a:t>
            </a:r>
            <a:r>
              <a:rPr sz="23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each</a:t>
            </a:r>
            <a:r>
              <a:rPr sz="23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item</a:t>
            </a:r>
            <a:r>
              <a:rPr sz="23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however</a:t>
            </a:r>
            <a:r>
              <a:rPr sz="23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we</a:t>
            </a:r>
            <a:r>
              <a:rPr sz="23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want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105" y="4757240"/>
            <a:ext cx="6471717" cy="47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Again,</a:t>
            </a:r>
            <a:r>
              <a:rPr sz="23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indentation</a:t>
            </a:r>
            <a:r>
              <a:rPr sz="23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is</a:t>
            </a:r>
            <a:r>
              <a:rPr sz="23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important</a:t>
            </a:r>
            <a:r>
              <a:rPr sz="23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here!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4137" y="3542901"/>
            <a:ext cx="5894832" cy="693419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8762" y="782675"/>
            <a:ext cx="2942133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5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3524" y="1619865"/>
            <a:ext cx="7616952" cy="9600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Say</a:t>
            </a:r>
            <a:r>
              <a:rPr sz="2200" spc="-1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we</a:t>
            </a:r>
            <a:r>
              <a:rPr sz="22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want</a:t>
            </a:r>
            <a:r>
              <a:rPr sz="22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to</a:t>
            </a:r>
            <a:r>
              <a:rPr sz="22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go</a:t>
            </a:r>
            <a:r>
              <a:rPr sz="2200" spc="-1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over</a:t>
            </a:r>
            <a:r>
              <a:rPr sz="22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</a:t>
            </a:r>
            <a:r>
              <a:rPr sz="22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list</a:t>
            </a:r>
            <a:r>
              <a:rPr sz="2200" spc="-1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and</a:t>
            </a:r>
            <a:r>
              <a:rPr sz="22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print</a:t>
            </a:r>
            <a:r>
              <a:rPr sz="2200" spc="-1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each</a:t>
            </a:r>
            <a:r>
              <a:rPr sz="22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item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355600">
              <a:lnSpc>
                <a:spcPct val="150000"/>
              </a:lnSpc>
            </a:pP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along</a:t>
            </a:r>
            <a:r>
              <a:rPr sz="22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with</a:t>
            </a:r>
            <a:r>
              <a:rPr sz="2200" spc="-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its</a:t>
            </a:r>
            <a:r>
              <a:rPr sz="22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index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8762" y="5206180"/>
            <a:ext cx="7162800" cy="99142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55600" marR="5080" indent="-343535">
              <a:lnSpc>
                <a:spcPct val="150000"/>
              </a:lnSpc>
              <a:spcBef>
                <a:spcPts val="345"/>
              </a:spcBef>
              <a:tabLst>
                <a:tab pos="354965" algn="l"/>
              </a:tabLst>
            </a:pPr>
            <a:r>
              <a:rPr sz="22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What</a:t>
            </a:r>
            <a:r>
              <a:rPr sz="22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if</a:t>
            </a:r>
            <a:r>
              <a:rPr sz="22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we</a:t>
            </a:r>
            <a:r>
              <a:rPr sz="2200" spc="-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have</a:t>
            </a:r>
            <a:r>
              <a:rPr sz="22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much</a:t>
            </a:r>
            <a:r>
              <a:rPr sz="22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more</a:t>
            </a:r>
            <a:r>
              <a:rPr sz="22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than</a:t>
            </a:r>
            <a:r>
              <a:rPr sz="22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4</a:t>
            </a:r>
            <a:r>
              <a:rPr sz="22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items</a:t>
            </a:r>
            <a:r>
              <a:rPr sz="22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</a:t>
            </a:r>
            <a:r>
              <a:rPr sz="2200" spc="-1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the</a:t>
            </a:r>
            <a:r>
              <a:rPr sz="22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list, </a:t>
            </a:r>
            <a:r>
              <a:rPr sz="22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say,</a:t>
            </a:r>
            <a:r>
              <a:rPr sz="22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1000?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3692" y="2800354"/>
            <a:ext cx="7533132" cy="2299716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0936" y="1584840"/>
            <a:ext cx="5693664" cy="47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100"/>
              </a:spcBef>
              <a:tabLst>
                <a:tab pos="240665" algn="l"/>
              </a:tabLst>
            </a:pP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300" dirty="0">
                <a:latin typeface="Verdana"/>
                <a:cs typeface="Verdana"/>
              </a:rPr>
              <a:t>Now</a:t>
            </a:r>
            <a:r>
              <a:rPr sz="2300" spc="-125" dirty="0">
                <a:latin typeface="Verdana"/>
                <a:cs typeface="Verdana"/>
              </a:rPr>
              <a:t> </a:t>
            </a:r>
            <a:r>
              <a:rPr sz="2300" spc="-80" dirty="0">
                <a:latin typeface="Verdana"/>
                <a:cs typeface="Verdana"/>
              </a:rPr>
              <a:t>with</a:t>
            </a:r>
            <a:r>
              <a:rPr sz="2300" spc="-130" dirty="0">
                <a:latin typeface="Verdana"/>
                <a:cs typeface="Verdana"/>
              </a:rPr>
              <a:t> </a:t>
            </a:r>
            <a:r>
              <a:rPr sz="2300" spc="160" dirty="0">
                <a:latin typeface="Verdana"/>
                <a:cs typeface="Verdana"/>
              </a:rPr>
              <a:t>a</a:t>
            </a:r>
            <a:r>
              <a:rPr sz="2300" spc="-120" dirty="0">
                <a:latin typeface="Verdana"/>
                <a:cs typeface="Verdana"/>
              </a:rPr>
              <a:t> </a:t>
            </a:r>
            <a:r>
              <a:rPr sz="2300" spc="-95" dirty="0">
                <a:latin typeface="Verdana"/>
                <a:cs typeface="Verdana"/>
              </a:rPr>
              <a:t>for</a:t>
            </a:r>
            <a:r>
              <a:rPr sz="2300" spc="-120" dirty="0">
                <a:latin typeface="Verdana"/>
                <a:cs typeface="Verdana"/>
              </a:rPr>
              <a:t> </a:t>
            </a:r>
            <a:r>
              <a:rPr sz="2300" spc="-20" dirty="0">
                <a:latin typeface="Verdana"/>
                <a:cs typeface="Verdana"/>
              </a:rPr>
              <a:t>loop</a:t>
            </a:r>
            <a:endParaRPr sz="23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0936" y="4342883"/>
            <a:ext cx="7163918" cy="1201867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850"/>
              </a:spcBef>
              <a:tabLst>
                <a:tab pos="240665" algn="l"/>
              </a:tabLst>
            </a:pP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300" spc="-105" dirty="0">
                <a:latin typeface="Verdana"/>
                <a:cs typeface="Verdana"/>
              </a:rPr>
              <a:t>Saves</a:t>
            </a:r>
            <a:r>
              <a:rPr sz="2300" spc="-150" dirty="0">
                <a:latin typeface="Verdana"/>
                <a:cs typeface="Verdana"/>
              </a:rPr>
              <a:t> </a:t>
            </a:r>
            <a:r>
              <a:rPr sz="2300" spc="-180" dirty="0">
                <a:latin typeface="Verdana"/>
                <a:cs typeface="Verdana"/>
              </a:rPr>
              <a:t>us</a:t>
            </a:r>
            <a:r>
              <a:rPr sz="2300" spc="-135" dirty="0">
                <a:latin typeface="Verdana"/>
                <a:cs typeface="Verdana"/>
              </a:rPr>
              <a:t> </a:t>
            </a:r>
            <a:r>
              <a:rPr sz="2300" spc="-95" dirty="0">
                <a:latin typeface="Verdana"/>
                <a:cs typeface="Verdana"/>
              </a:rPr>
              <a:t>writing</a:t>
            </a:r>
            <a:r>
              <a:rPr sz="2300" spc="-130" dirty="0">
                <a:latin typeface="Verdana"/>
                <a:cs typeface="Verdana"/>
              </a:rPr>
              <a:t> </a:t>
            </a:r>
            <a:r>
              <a:rPr sz="2300" spc="-45" dirty="0">
                <a:latin typeface="Verdana"/>
                <a:cs typeface="Verdana"/>
              </a:rPr>
              <a:t>more</a:t>
            </a:r>
            <a:r>
              <a:rPr sz="2300" spc="-130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lines</a:t>
            </a:r>
            <a:endParaRPr sz="2300" dirty="0">
              <a:latin typeface="Verdana"/>
              <a:cs typeface="Verdana"/>
            </a:endParaRPr>
          </a:p>
          <a:p>
            <a:pPr marL="12700" algn="just">
              <a:lnSpc>
                <a:spcPct val="150000"/>
              </a:lnSpc>
              <a:spcBef>
                <a:spcPts val="755"/>
              </a:spcBef>
              <a:tabLst>
                <a:tab pos="240665" algn="l"/>
              </a:tabLst>
            </a:pP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300" spc="-75" dirty="0">
                <a:latin typeface="Verdana"/>
                <a:cs typeface="Verdana"/>
              </a:rPr>
              <a:t>Doesn't</a:t>
            </a:r>
            <a:r>
              <a:rPr sz="2300" spc="-160" dirty="0">
                <a:latin typeface="Verdana"/>
                <a:cs typeface="Verdana"/>
              </a:rPr>
              <a:t> </a:t>
            </a:r>
            <a:r>
              <a:rPr sz="2300" spc="-135" dirty="0">
                <a:latin typeface="Verdana"/>
                <a:cs typeface="Verdana"/>
              </a:rPr>
              <a:t>limit</a:t>
            </a:r>
            <a:r>
              <a:rPr sz="2300" spc="-130" dirty="0">
                <a:latin typeface="Verdana"/>
                <a:cs typeface="Verdana"/>
              </a:rPr>
              <a:t> </a:t>
            </a:r>
            <a:r>
              <a:rPr sz="2300" spc="-180" dirty="0">
                <a:latin typeface="Verdana"/>
                <a:cs typeface="Verdana"/>
              </a:rPr>
              <a:t>us</a:t>
            </a:r>
            <a:r>
              <a:rPr sz="2300" spc="-140" dirty="0">
                <a:latin typeface="Verdana"/>
                <a:cs typeface="Verdana"/>
              </a:rPr>
              <a:t> </a:t>
            </a:r>
            <a:r>
              <a:rPr sz="2300" spc="-110" dirty="0">
                <a:latin typeface="Verdana"/>
                <a:cs typeface="Verdana"/>
              </a:rPr>
              <a:t>in</a:t>
            </a:r>
            <a:r>
              <a:rPr sz="2300" spc="-140" dirty="0">
                <a:latin typeface="Verdana"/>
                <a:cs typeface="Verdana"/>
              </a:rPr>
              <a:t> </a:t>
            </a:r>
            <a:r>
              <a:rPr sz="2300" spc="-95" dirty="0">
                <a:latin typeface="Verdana"/>
                <a:cs typeface="Verdana"/>
              </a:rPr>
              <a:t>term</a:t>
            </a:r>
            <a:r>
              <a:rPr sz="2300" spc="-14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of</a:t>
            </a:r>
            <a:r>
              <a:rPr sz="2300" spc="-140" dirty="0">
                <a:latin typeface="Verdana"/>
                <a:cs typeface="Verdana"/>
              </a:rPr>
              <a:t> </a:t>
            </a:r>
            <a:r>
              <a:rPr sz="2300" spc="-75" dirty="0">
                <a:latin typeface="Verdana"/>
                <a:cs typeface="Verdana"/>
              </a:rPr>
              <a:t>size</a:t>
            </a:r>
            <a:endParaRPr sz="23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195" dirty="0"/>
              <a:t>For</a:t>
            </a:r>
            <a:r>
              <a:rPr b="1" spc="-225" dirty="0"/>
              <a:t> </a:t>
            </a:r>
            <a:r>
              <a:rPr b="1" spc="-10" dirty="0"/>
              <a:t>example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7666" y="2323744"/>
            <a:ext cx="6868668" cy="1655063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3584" y="2286000"/>
            <a:ext cx="6656832" cy="29337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990600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45" dirty="0"/>
              <a:t>Numerical</a:t>
            </a:r>
            <a:r>
              <a:rPr b="1" spc="-235" dirty="0"/>
              <a:t> </a:t>
            </a:r>
            <a:r>
              <a:rPr b="1" spc="-140" dirty="0"/>
              <a:t>for</a:t>
            </a:r>
            <a:r>
              <a:rPr b="1" spc="-220" dirty="0"/>
              <a:t> </a:t>
            </a:r>
            <a:r>
              <a:rPr b="1" spc="40" dirty="0"/>
              <a:t>loop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332" y="609600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114" dirty="0"/>
              <a:t>While</a:t>
            </a:r>
            <a:r>
              <a:rPr b="1" spc="-240" dirty="0"/>
              <a:t> </a:t>
            </a:r>
            <a:r>
              <a:rPr b="1" spc="3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8331" y="1744390"/>
            <a:ext cx="7871459" cy="168443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Another</a:t>
            </a:r>
            <a:r>
              <a:rPr sz="23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useful</a:t>
            </a:r>
            <a:r>
              <a:rPr sz="23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loop.</a:t>
            </a:r>
            <a:r>
              <a:rPr sz="23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Similar</a:t>
            </a:r>
            <a:r>
              <a:rPr sz="2300" spc="-1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to</a:t>
            </a:r>
            <a:r>
              <a:rPr sz="23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the</a:t>
            </a:r>
            <a:r>
              <a:rPr sz="23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for</a:t>
            </a:r>
            <a:r>
              <a:rPr sz="23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loop.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spc="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</a:t>
            </a:r>
            <a:r>
              <a:rPr sz="23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while</a:t>
            </a:r>
            <a:r>
              <a:rPr sz="23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loop</a:t>
            </a:r>
            <a:r>
              <a:rPr sz="23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doesn't</a:t>
            </a:r>
            <a:r>
              <a:rPr sz="23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run</a:t>
            </a:r>
            <a:r>
              <a:rPr sz="23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for</a:t>
            </a:r>
            <a:r>
              <a:rPr sz="23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</a:t>
            </a:r>
            <a:r>
              <a:rPr sz="23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predefined</a:t>
            </a:r>
            <a:r>
              <a:rPr sz="2300" spc="-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number</a:t>
            </a:r>
            <a:r>
              <a:rPr sz="23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of</a:t>
            </a:r>
            <a:r>
              <a:rPr sz="23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iterations,</a:t>
            </a:r>
            <a:r>
              <a:rPr sz="23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like</a:t>
            </a:r>
            <a:r>
              <a:rPr sz="23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 </a:t>
            </a:r>
            <a:r>
              <a:rPr sz="23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for</a:t>
            </a:r>
            <a:r>
              <a:rPr sz="2300" spc="-1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loop.</a:t>
            </a:r>
            <a:r>
              <a:rPr sz="23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Instead,</a:t>
            </a:r>
            <a:r>
              <a:rPr sz="23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it</a:t>
            </a:r>
            <a:r>
              <a:rPr sz="2300" spc="-1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stops</a:t>
            </a:r>
            <a:r>
              <a:rPr sz="23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as</a:t>
            </a:r>
            <a:r>
              <a:rPr sz="23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soon</a:t>
            </a:r>
            <a:r>
              <a:rPr sz="23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as</a:t>
            </a:r>
            <a:r>
              <a:rPr sz="23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</a:t>
            </a:r>
            <a:r>
              <a:rPr sz="2300" spc="-1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given</a:t>
            </a:r>
            <a:r>
              <a:rPr sz="2300" spc="-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condition</a:t>
            </a:r>
            <a:r>
              <a:rPr sz="2300" spc="-1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becomes true/false.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2617" y="3657599"/>
            <a:ext cx="6342888" cy="2334768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830617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140" dirty="0"/>
              <a:t>Break</a:t>
            </a:r>
            <a:r>
              <a:rPr b="1" spc="-195" dirty="0"/>
              <a:t> </a:t>
            </a:r>
            <a:r>
              <a:rPr b="1" spc="-55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100" y="2133600"/>
            <a:ext cx="7543800" cy="336457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200000"/>
              </a:lnSpc>
              <a:spcBef>
                <a:spcPts val="1100"/>
              </a:spcBef>
              <a:tabLst>
                <a:tab pos="354965" algn="l"/>
              </a:tabLst>
            </a:pPr>
            <a:r>
              <a:rPr sz="24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40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Allows</a:t>
            </a:r>
            <a:r>
              <a:rPr sz="24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us</a:t>
            </a:r>
            <a:r>
              <a:rPr sz="24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to</a:t>
            </a:r>
            <a:r>
              <a:rPr sz="24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go(break)</a:t>
            </a:r>
            <a:r>
              <a:rPr sz="2400" spc="-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out</a:t>
            </a:r>
            <a:r>
              <a:rPr sz="24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of</a:t>
            </a:r>
            <a:r>
              <a:rPr sz="24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</a:t>
            </a:r>
            <a:r>
              <a:rPr sz="24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loop</a:t>
            </a:r>
            <a:r>
              <a:rPr sz="2400" spc="-1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preliminary.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2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24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Adds</a:t>
            </a:r>
            <a:r>
              <a:rPr sz="24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</a:t>
            </a:r>
            <a:r>
              <a:rPr sz="24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bit</a:t>
            </a:r>
            <a:r>
              <a:rPr sz="24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of</a:t>
            </a:r>
            <a:r>
              <a:rPr sz="24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controllability</a:t>
            </a:r>
            <a:r>
              <a:rPr sz="24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to</a:t>
            </a:r>
            <a:r>
              <a:rPr sz="24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</a:t>
            </a:r>
            <a:r>
              <a:rPr sz="24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while</a:t>
            </a:r>
            <a:r>
              <a:rPr sz="24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loop.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2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24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4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Usually</a:t>
            </a:r>
            <a:r>
              <a:rPr sz="2400" spc="-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used</a:t>
            </a:r>
            <a:r>
              <a:rPr sz="24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with</a:t>
            </a:r>
            <a:r>
              <a:rPr sz="2400" spc="-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an</a:t>
            </a:r>
            <a:r>
              <a:rPr sz="24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if.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2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24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4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400" spc="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Can</a:t>
            </a:r>
            <a:r>
              <a:rPr sz="2400" spc="-1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also</a:t>
            </a:r>
            <a:r>
              <a:rPr sz="2400" spc="-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be</a:t>
            </a:r>
            <a:r>
              <a:rPr sz="24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used</a:t>
            </a:r>
            <a:r>
              <a:rPr sz="24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</a:t>
            </a:r>
            <a:r>
              <a:rPr sz="2400" spc="-1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</a:t>
            </a:r>
            <a:r>
              <a:rPr sz="2400" spc="-1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for</a:t>
            </a:r>
            <a:r>
              <a:rPr sz="2400" spc="-1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loop.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4067" y="1016634"/>
            <a:ext cx="3627933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Quick quiz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6319" y="1974967"/>
            <a:ext cx="7811362" cy="1003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300" spc="-10" dirty="0">
                <a:latin typeface="Verdana"/>
                <a:cs typeface="Verdana"/>
              </a:rPr>
              <a:t>How</a:t>
            </a:r>
            <a:r>
              <a:rPr sz="2300" spc="-110" dirty="0">
                <a:latin typeface="Verdana"/>
                <a:cs typeface="Verdana"/>
              </a:rPr>
              <a:t> </a:t>
            </a:r>
            <a:r>
              <a:rPr sz="2300" spc="-25" dirty="0">
                <a:latin typeface="Verdana"/>
                <a:cs typeface="Verdana"/>
              </a:rPr>
              <a:t>many</a:t>
            </a:r>
            <a:r>
              <a:rPr sz="2300" spc="-114" dirty="0">
                <a:latin typeface="Verdana"/>
                <a:cs typeface="Verdana"/>
              </a:rPr>
              <a:t> </a:t>
            </a:r>
            <a:r>
              <a:rPr sz="2300" spc="-95" dirty="0">
                <a:latin typeface="Verdana"/>
                <a:cs typeface="Verdana"/>
              </a:rPr>
              <a:t>times</a:t>
            </a:r>
            <a:r>
              <a:rPr sz="2300" spc="-11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are</a:t>
            </a:r>
            <a:r>
              <a:rPr sz="2300" spc="-114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we</a:t>
            </a:r>
            <a:r>
              <a:rPr sz="2300" spc="-7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going</a:t>
            </a:r>
            <a:r>
              <a:rPr sz="2300" spc="-130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to</a:t>
            </a:r>
            <a:r>
              <a:rPr sz="2300" spc="-9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execute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spc="-25" dirty="0">
                <a:latin typeface="Verdana"/>
                <a:cs typeface="Verdana"/>
              </a:rPr>
              <a:t>the</a:t>
            </a:r>
            <a:r>
              <a:rPr sz="2300" spc="-90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while</a:t>
            </a:r>
            <a:r>
              <a:rPr lang="es-CO" sz="2300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loop?</a:t>
            </a:r>
            <a:endParaRPr sz="2300" dirty="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93570" y="3124200"/>
            <a:ext cx="5356860" cy="2757170"/>
            <a:chOff x="955547" y="2648711"/>
            <a:chExt cx="5356860" cy="27571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5547" y="2648711"/>
              <a:ext cx="5356860" cy="165811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5547" y="4338827"/>
              <a:ext cx="5356860" cy="10668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533400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90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1" y="1752600"/>
            <a:ext cx="7315200" cy="40423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Allow</a:t>
            </a:r>
            <a:r>
              <a:rPr sz="2300" spc="-1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us</a:t>
            </a:r>
            <a:r>
              <a:rPr sz="23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to</a:t>
            </a:r>
            <a:r>
              <a:rPr sz="23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package</a:t>
            </a:r>
            <a:r>
              <a:rPr sz="23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functionality</a:t>
            </a:r>
            <a:r>
              <a:rPr sz="23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</a:t>
            </a:r>
            <a:r>
              <a:rPr sz="23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</a:t>
            </a:r>
            <a:r>
              <a:rPr sz="23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nice</a:t>
            </a:r>
            <a:r>
              <a:rPr sz="23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and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355600" algn="just">
              <a:lnSpc>
                <a:spcPct val="150000"/>
              </a:lnSpc>
              <a:spcBef>
                <a:spcPts val="5"/>
              </a:spcBef>
            </a:pP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readable</a:t>
            </a:r>
            <a:r>
              <a:rPr sz="2300" spc="1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way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ct val="15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reuse</a:t>
            </a:r>
            <a:r>
              <a:rPr sz="23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it</a:t>
            </a:r>
            <a:r>
              <a:rPr sz="2300" spc="-1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without</a:t>
            </a:r>
            <a:r>
              <a:rPr sz="23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writing</a:t>
            </a:r>
            <a:r>
              <a:rPr sz="23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it</a:t>
            </a:r>
            <a:r>
              <a:rPr sz="2300" spc="-1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again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 algn="just">
              <a:lnSpc>
                <a:spcPct val="15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spc="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Make</a:t>
            </a:r>
            <a:r>
              <a:rPr sz="2300" spc="-1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code</a:t>
            </a:r>
            <a:r>
              <a:rPr sz="23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modular</a:t>
            </a:r>
            <a:r>
              <a:rPr sz="23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and</a:t>
            </a:r>
            <a:r>
              <a:rPr sz="23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readable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355600" marR="5080" indent="-343535" algn="just">
              <a:lnSpc>
                <a:spcPct val="15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2300" spc="-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Rule</a:t>
            </a:r>
            <a:r>
              <a:rPr sz="23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of</a:t>
            </a:r>
            <a:r>
              <a:rPr sz="23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thumb</a:t>
            </a:r>
            <a:r>
              <a:rPr sz="23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2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-</a:t>
            </a:r>
            <a:r>
              <a:rPr sz="23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if</a:t>
            </a:r>
            <a:r>
              <a:rPr sz="23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you</a:t>
            </a:r>
            <a:r>
              <a:rPr sz="23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are</a:t>
            </a:r>
            <a:r>
              <a:rPr sz="23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planning</a:t>
            </a:r>
            <a:r>
              <a:rPr sz="23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on</a:t>
            </a:r>
            <a:r>
              <a:rPr sz="23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using</a:t>
            </a:r>
            <a:r>
              <a:rPr sz="23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very </a:t>
            </a:r>
            <a:r>
              <a:rPr sz="23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similar</a:t>
            </a:r>
            <a:r>
              <a:rPr sz="2300" spc="-1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code</a:t>
            </a:r>
            <a:r>
              <a:rPr sz="23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more</a:t>
            </a:r>
            <a:r>
              <a:rPr sz="23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than</a:t>
            </a:r>
            <a:r>
              <a:rPr sz="23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once,</a:t>
            </a:r>
            <a:r>
              <a:rPr sz="23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it</a:t>
            </a:r>
            <a:r>
              <a:rPr sz="2300" spc="-1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may</a:t>
            </a:r>
            <a:r>
              <a:rPr sz="23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be</a:t>
            </a:r>
            <a:r>
              <a:rPr sz="23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worthwhile </a:t>
            </a:r>
            <a:r>
              <a:rPr sz="23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writing</a:t>
            </a:r>
            <a:r>
              <a:rPr sz="23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it</a:t>
            </a:r>
            <a:r>
              <a:rPr sz="2300" spc="-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as</a:t>
            </a:r>
            <a:r>
              <a:rPr sz="2300" spc="-1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1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</a:t>
            </a:r>
            <a:r>
              <a:rPr sz="2300" spc="-1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reusable</a:t>
            </a:r>
            <a:r>
              <a:rPr sz="23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function.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6636" y="2403348"/>
              <a:ext cx="7043928" cy="14310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34568" y="2401823"/>
              <a:ext cx="448309" cy="260985"/>
            </a:xfrm>
            <a:custGeom>
              <a:avLst/>
              <a:gdLst/>
              <a:ahLst/>
              <a:cxnLst/>
              <a:rect l="l" t="t" r="r" b="b"/>
              <a:pathLst>
                <a:path w="448309" h="260985">
                  <a:moveTo>
                    <a:pt x="0" y="43434"/>
                  </a:moveTo>
                  <a:lnTo>
                    <a:pt x="3412" y="26521"/>
                  </a:lnTo>
                  <a:lnTo>
                    <a:pt x="12720" y="12715"/>
                  </a:lnTo>
                  <a:lnTo>
                    <a:pt x="26526" y="3411"/>
                  </a:lnTo>
                  <a:lnTo>
                    <a:pt x="43433" y="0"/>
                  </a:lnTo>
                  <a:lnTo>
                    <a:pt x="404622" y="0"/>
                  </a:lnTo>
                  <a:lnTo>
                    <a:pt x="421529" y="3411"/>
                  </a:lnTo>
                  <a:lnTo>
                    <a:pt x="435335" y="12715"/>
                  </a:lnTo>
                  <a:lnTo>
                    <a:pt x="444643" y="26521"/>
                  </a:lnTo>
                  <a:lnTo>
                    <a:pt x="448056" y="43434"/>
                  </a:lnTo>
                  <a:lnTo>
                    <a:pt x="448056" y="217170"/>
                  </a:lnTo>
                  <a:lnTo>
                    <a:pt x="444643" y="234082"/>
                  </a:lnTo>
                  <a:lnTo>
                    <a:pt x="435335" y="247888"/>
                  </a:lnTo>
                  <a:lnTo>
                    <a:pt x="421529" y="257192"/>
                  </a:lnTo>
                  <a:lnTo>
                    <a:pt x="404622" y="260603"/>
                  </a:lnTo>
                  <a:lnTo>
                    <a:pt x="43433" y="260603"/>
                  </a:lnTo>
                  <a:lnTo>
                    <a:pt x="26526" y="257192"/>
                  </a:lnTo>
                  <a:lnTo>
                    <a:pt x="12720" y="247888"/>
                  </a:lnTo>
                  <a:lnTo>
                    <a:pt x="3412" y="234082"/>
                  </a:lnTo>
                  <a:lnTo>
                    <a:pt x="0" y="217170"/>
                  </a:lnTo>
                  <a:lnTo>
                    <a:pt x="0" y="43434"/>
                  </a:lnTo>
                  <a:close/>
                </a:path>
              </a:pathLst>
            </a:custGeom>
            <a:ln w="57150">
              <a:solidFill>
                <a:srgbClr val="E23C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9619" y="2120312"/>
              <a:ext cx="250810" cy="23642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50" dirty="0"/>
              <a:t>Function</a:t>
            </a:r>
            <a:r>
              <a:rPr b="1" spc="-240" dirty="0"/>
              <a:t> </a:t>
            </a:r>
            <a:r>
              <a:rPr b="1" spc="-10" dirty="0"/>
              <a:t>declaration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92733" y="1738414"/>
            <a:ext cx="1580287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keyword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04669" y="2111674"/>
            <a:ext cx="4556125" cy="608330"/>
            <a:chOff x="2304669" y="2111674"/>
            <a:chExt cx="4556125" cy="608330"/>
          </a:xfrm>
        </p:grpSpPr>
        <p:sp>
          <p:nvSpPr>
            <p:cNvPr id="9" name="object 9"/>
            <p:cNvSpPr/>
            <p:nvPr/>
          </p:nvSpPr>
          <p:spPr>
            <a:xfrm>
              <a:off x="2333244" y="2382011"/>
              <a:ext cx="4498975" cy="309880"/>
            </a:xfrm>
            <a:custGeom>
              <a:avLst/>
              <a:gdLst/>
              <a:ahLst/>
              <a:cxnLst/>
              <a:rect l="l" t="t" r="r" b="b"/>
              <a:pathLst>
                <a:path w="4498975" h="309880">
                  <a:moveTo>
                    <a:pt x="0" y="51562"/>
                  </a:moveTo>
                  <a:lnTo>
                    <a:pt x="4056" y="31503"/>
                  </a:lnTo>
                  <a:lnTo>
                    <a:pt x="15112" y="15112"/>
                  </a:lnTo>
                  <a:lnTo>
                    <a:pt x="31503" y="4056"/>
                  </a:lnTo>
                  <a:lnTo>
                    <a:pt x="51562" y="0"/>
                  </a:lnTo>
                  <a:lnTo>
                    <a:pt x="4447285" y="0"/>
                  </a:lnTo>
                  <a:lnTo>
                    <a:pt x="4467344" y="4056"/>
                  </a:lnTo>
                  <a:lnTo>
                    <a:pt x="4483734" y="15112"/>
                  </a:lnTo>
                  <a:lnTo>
                    <a:pt x="4494791" y="31503"/>
                  </a:lnTo>
                  <a:lnTo>
                    <a:pt x="4498848" y="51562"/>
                  </a:lnTo>
                  <a:lnTo>
                    <a:pt x="4498848" y="257810"/>
                  </a:lnTo>
                  <a:lnTo>
                    <a:pt x="4494791" y="277868"/>
                  </a:lnTo>
                  <a:lnTo>
                    <a:pt x="4483734" y="294259"/>
                  </a:lnTo>
                  <a:lnTo>
                    <a:pt x="4467344" y="305315"/>
                  </a:lnTo>
                  <a:lnTo>
                    <a:pt x="4447285" y="309372"/>
                  </a:lnTo>
                  <a:lnTo>
                    <a:pt x="51562" y="309372"/>
                  </a:lnTo>
                  <a:lnTo>
                    <a:pt x="31503" y="305315"/>
                  </a:lnTo>
                  <a:lnTo>
                    <a:pt x="15112" y="294259"/>
                  </a:lnTo>
                  <a:lnTo>
                    <a:pt x="4056" y="277868"/>
                  </a:lnTo>
                  <a:lnTo>
                    <a:pt x="0" y="257810"/>
                  </a:lnTo>
                  <a:lnTo>
                    <a:pt x="0" y="51562"/>
                  </a:lnTo>
                  <a:close/>
                </a:path>
              </a:pathLst>
            </a:custGeom>
            <a:ln w="57150">
              <a:solidFill>
                <a:srgbClr val="E23C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52772" y="2111674"/>
              <a:ext cx="174101" cy="24392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572000" y="1703382"/>
            <a:ext cx="4086532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0" marR="5080" indent="-222885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Any</a:t>
            </a:r>
            <a:r>
              <a:rPr sz="2200" b="1" spc="-20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200" b="1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number</a:t>
            </a:r>
            <a:r>
              <a:rPr sz="2200" b="1" spc="-50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200" b="1" spc="-25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of </a:t>
            </a:r>
            <a:r>
              <a:rPr sz="2200" b="1" spc="-10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arguments</a:t>
            </a:r>
            <a:endParaRPr sz="2200" b="1" dirty="0">
              <a:latin typeface="Verdana" panose="020B0604030504040204" pitchFamily="34" charset="0"/>
              <a:ea typeface="Verdana" panose="020B0604030504040204" pitchFamily="34" charset="0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907792" y="3621532"/>
            <a:ext cx="673100" cy="310515"/>
          </a:xfrm>
          <a:custGeom>
            <a:avLst/>
            <a:gdLst/>
            <a:ahLst/>
            <a:cxnLst/>
            <a:rect l="l" t="t" r="r" b="b"/>
            <a:pathLst>
              <a:path w="673100" h="310514">
                <a:moveTo>
                  <a:pt x="169279" y="52774"/>
                </a:moveTo>
                <a:lnTo>
                  <a:pt x="147324" y="105483"/>
                </a:lnTo>
                <a:lnTo>
                  <a:pt x="633793" y="307927"/>
                </a:lnTo>
                <a:lnTo>
                  <a:pt x="633998" y="307927"/>
                </a:lnTo>
                <a:lnTo>
                  <a:pt x="644687" y="310072"/>
                </a:lnTo>
                <a:lnTo>
                  <a:pt x="655415" y="307927"/>
                </a:lnTo>
                <a:lnTo>
                  <a:pt x="664571" y="301900"/>
                </a:lnTo>
                <a:lnTo>
                  <a:pt x="670941" y="292481"/>
                </a:lnTo>
                <a:lnTo>
                  <a:pt x="673092" y="281342"/>
                </a:lnTo>
                <a:lnTo>
                  <a:pt x="670909" y="270621"/>
                </a:lnTo>
                <a:lnTo>
                  <a:pt x="664868" y="261494"/>
                </a:lnTo>
                <a:lnTo>
                  <a:pt x="655446" y="255143"/>
                </a:lnTo>
                <a:lnTo>
                  <a:pt x="169279" y="52774"/>
                </a:lnTo>
                <a:close/>
              </a:path>
              <a:path w="673100" h="310514">
                <a:moveTo>
                  <a:pt x="191262" y="0"/>
                </a:moveTo>
                <a:lnTo>
                  <a:pt x="0" y="13208"/>
                </a:lnTo>
                <a:lnTo>
                  <a:pt x="125349" y="158242"/>
                </a:lnTo>
                <a:lnTo>
                  <a:pt x="147324" y="105483"/>
                </a:lnTo>
                <a:lnTo>
                  <a:pt x="120903" y="94488"/>
                </a:lnTo>
                <a:lnTo>
                  <a:pt x="111484" y="88136"/>
                </a:lnTo>
                <a:lnTo>
                  <a:pt x="105457" y="79009"/>
                </a:lnTo>
                <a:lnTo>
                  <a:pt x="103312" y="68288"/>
                </a:lnTo>
                <a:lnTo>
                  <a:pt x="105537" y="57150"/>
                </a:lnTo>
                <a:lnTo>
                  <a:pt x="111888" y="47730"/>
                </a:lnTo>
                <a:lnTo>
                  <a:pt x="120894" y="41783"/>
                </a:lnTo>
                <a:lnTo>
                  <a:pt x="120618" y="41783"/>
                </a:lnTo>
                <a:lnTo>
                  <a:pt x="131736" y="39558"/>
                </a:lnTo>
                <a:lnTo>
                  <a:pt x="174784" y="39558"/>
                </a:lnTo>
                <a:lnTo>
                  <a:pt x="191262" y="0"/>
                </a:lnTo>
                <a:close/>
              </a:path>
              <a:path w="673100" h="310514">
                <a:moveTo>
                  <a:pt x="131736" y="39558"/>
                </a:moveTo>
                <a:lnTo>
                  <a:pt x="120618" y="41783"/>
                </a:lnTo>
                <a:lnTo>
                  <a:pt x="120894" y="41783"/>
                </a:lnTo>
                <a:lnTo>
                  <a:pt x="111888" y="47730"/>
                </a:lnTo>
                <a:lnTo>
                  <a:pt x="105537" y="57150"/>
                </a:lnTo>
                <a:lnTo>
                  <a:pt x="103312" y="68288"/>
                </a:lnTo>
                <a:lnTo>
                  <a:pt x="105457" y="79009"/>
                </a:lnTo>
                <a:lnTo>
                  <a:pt x="111484" y="88136"/>
                </a:lnTo>
                <a:lnTo>
                  <a:pt x="120903" y="94488"/>
                </a:lnTo>
                <a:lnTo>
                  <a:pt x="147324" y="105483"/>
                </a:lnTo>
                <a:lnTo>
                  <a:pt x="169279" y="52774"/>
                </a:lnTo>
                <a:lnTo>
                  <a:pt x="142875" y="41783"/>
                </a:lnTo>
                <a:lnTo>
                  <a:pt x="131736" y="39558"/>
                </a:lnTo>
                <a:close/>
              </a:path>
              <a:path w="673100" h="310514">
                <a:moveTo>
                  <a:pt x="174784" y="39558"/>
                </a:moveTo>
                <a:lnTo>
                  <a:pt x="131736" y="39558"/>
                </a:lnTo>
                <a:lnTo>
                  <a:pt x="142875" y="41783"/>
                </a:lnTo>
                <a:lnTo>
                  <a:pt x="169279" y="52774"/>
                </a:lnTo>
                <a:lnTo>
                  <a:pt x="174784" y="39558"/>
                </a:lnTo>
                <a:close/>
              </a:path>
            </a:pathLst>
          </a:custGeom>
          <a:solidFill>
            <a:srgbClr val="E23C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89532" y="3788409"/>
            <a:ext cx="7516267" cy="2233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19400" marR="508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[Optional]</a:t>
            </a:r>
            <a:r>
              <a:rPr sz="2200" b="1" spc="-45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200" b="1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Exits</a:t>
            </a:r>
            <a:r>
              <a:rPr sz="2200" b="1" spc="-25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200" b="1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the</a:t>
            </a:r>
            <a:r>
              <a:rPr sz="2200" b="1" spc="-25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200" b="1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function</a:t>
            </a:r>
            <a:r>
              <a:rPr sz="2200" b="1" spc="-35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200" b="1" spc="-25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and </a:t>
            </a:r>
            <a:r>
              <a:rPr sz="2200" b="1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returns</a:t>
            </a:r>
            <a:r>
              <a:rPr sz="2200" b="1" spc="-20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200" b="1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some</a:t>
            </a:r>
            <a:r>
              <a:rPr sz="2200" b="1" spc="-15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200" b="1" spc="-10" dirty="0"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value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  <a:tabLst>
                <a:tab pos="269875" algn="l"/>
              </a:tabLst>
            </a:pPr>
            <a:r>
              <a:rPr lang="es-CO"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Functions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accept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arguments</a:t>
            </a:r>
            <a:r>
              <a:rPr sz="22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and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execute</a:t>
            </a:r>
            <a:r>
              <a:rPr sz="22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piece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of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code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590"/>
              </a:spcBef>
              <a:tabLst>
                <a:tab pos="269875" algn="l"/>
              </a:tabLst>
            </a:pPr>
            <a:r>
              <a:rPr lang="es-CO"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Often</a:t>
            </a:r>
            <a:r>
              <a:rPr sz="2200" spc="-4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they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also</a:t>
            </a:r>
            <a:r>
              <a:rPr sz="2200" spc="-2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return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values</a:t>
            </a:r>
            <a:r>
              <a:rPr sz="22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(the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result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of</a:t>
            </a:r>
            <a:r>
              <a:rPr sz="2200" spc="-2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their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code)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023" y="2212848"/>
            <a:ext cx="7991856" cy="241401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50" dirty="0"/>
              <a:t>Function</a:t>
            </a:r>
            <a:r>
              <a:rPr b="1" spc="-240" dirty="0"/>
              <a:t> </a:t>
            </a:r>
            <a:r>
              <a:rPr b="1" spc="-10" dirty="0"/>
              <a:t>example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4069" y="3200400"/>
            <a:ext cx="6521196" cy="24444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50" dirty="0"/>
              <a:t>Function</a:t>
            </a:r>
            <a:r>
              <a:rPr b="1" spc="-240" dirty="0"/>
              <a:t> </a:t>
            </a:r>
            <a:r>
              <a:rPr b="1" dirty="0"/>
              <a:t>example</a:t>
            </a:r>
            <a:r>
              <a:rPr b="1" spc="-254" dirty="0"/>
              <a:t> </a:t>
            </a:r>
            <a:r>
              <a:rPr b="1" spc="-315" dirty="0"/>
              <a:t>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5800" y="1744805"/>
            <a:ext cx="7277734" cy="10695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2395"/>
              </a:lnSpc>
              <a:spcBef>
                <a:spcPts val="100"/>
              </a:spcBef>
            </a:pPr>
            <a:r>
              <a:rPr lang="es-CO"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200" dirty="0">
                <a:latin typeface="Verdana"/>
                <a:cs typeface="Verdana"/>
              </a:rPr>
              <a:t>We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want</a:t>
            </a:r>
            <a:r>
              <a:rPr sz="2200" spc="-1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to</a:t>
            </a:r>
            <a:r>
              <a:rPr sz="2200" spc="-1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make</a:t>
            </a:r>
            <a:r>
              <a:rPr sz="2200" spc="-140" dirty="0">
                <a:latin typeface="Verdana"/>
                <a:cs typeface="Verdana"/>
              </a:rPr>
              <a:t> </a:t>
            </a:r>
            <a:r>
              <a:rPr sz="2200" spc="160" dirty="0">
                <a:latin typeface="Verdana"/>
                <a:cs typeface="Verdana"/>
              </a:rPr>
              <a:t>a</a:t>
            </a:r>
            <a:r>
              <a:rPr sz="2200" spc="-15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program</a:t>
            </a:r>
            <a:r>
              <a:rPr sz="2200" spc="-140" dirty="0">
                <a:latin typeface="Verdana"/>
                <a:cs typeface="Verdana"/>
              </a:rPr>
              <a:t> </a:t>
            </a:r>
            <a:r>
              <a:rPr sz="2200" spc="-30" dirty="0">
                <a:latin typeface="Verdana"/>
                <a:cs typeface="Verdana"/>
              </a:rPr>
              <a:t>that</a:t>
            </a:r>
            <a:r>
              <a:rPr sz="2200" spc="-150" dirty="0">
                <a:latin typeface="Verdana"/>
                <a:cs typeface="Verdana"/>
              </a:rPr>
              <a:t> </a:t>
            </a:r>
            <a:r>
              <a:rPr sz="2200" spc="-80" dirty="0">
                <a:latin typeface="Verdana"/>
                <a:cs typeface="Verdana"/>
              </a:rPr>
              <a:t>rounds</a:t>
            </a:r>
            <a:r>
              <a:rPr sz="2200" spc="-150" dirty="0">
                <a:latin typeface="Verdana"/>
                <a:cs typeface="Verdana"/>
              </a:rPr>
              <a:t> </a:t>
            </a:r>
            <a:r>
              <a:rPr sz="2200" spc="-85" dirty="0">
                <a:latin typeface="Verdana"/>
                <a:cs typeface="Verdana"/>
              </a:rPr>
              <a:t>numbers</a:t>
            </a:r>
            <a:r>
              <a:rPr sz="2200" spc="-1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up</a:t>
            </a:r>
            <a:r>
              <a:rPr sz="2200" spc="-14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or</a:t>
            </a:r>
            <a:r>
              <a:rPr lang="es-CO" sz="22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down.</a:t>
            </a:r>
            <a:endParaRPr sz="2200" dirty="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755"/>
              </a:spcBef>
            </a:pPr>
            <a:r>
              <a:rPr lang="es-CO"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200" spc="-270" dirty="0">
                <a:latin typeface="Verdana"/>
                <a:cs typeface="Verdana"/>
              </a:rPr>
              <a:t>Try</a:t>
            </a:r>
            <a:r>
              <a:rPr sz="2200" spc="-1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150" dirty="0">
                <a:latin typeface="Verdana"/>
                <a:cs typeface="Verdana"/>
              </a:rPr>
              <a:t> </a:t>
            </a:r>
            <a:r>
              <a:rPr sz="2200" spc="85" dirty="0">
                <a:latin typeface="Verdana"/>
                <a:cs typeface="Verdana"/>
              </a:rPr>
              <a:t>pack</a:t>
            </a:r>
            <a:r>
              <a:rPr sz="2200" spc="-15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the</a:t>
            </a:r>
            <a:r>
              <a:rPr sz="2200" spc="-160" dirty="0">
                <a:latin typeface="Verdana"/>
                <a:cs typeface="Verdana"/>
              </a:rPr>
              <a:t> </a:t>
            </a:r>
            <a:r>
              <a:rPr sz="2200" spc="-40" dirty="0">
                <a:latin typeface="Verdana"/>
                <a:cs typeface="Verdana"/>
              </a:rPr>
              <a:t>following</a:t>
            </a:r>
            <a:r>
              <a:rPr sz="2200" spc="-150" dirty="0">
                <a:latin typeface="Verdana"/>
                <a:cs typeface="Verdana"/>
              </a:rPr>
              <a:t> </a:t>
            </a:r>
            <a:r>
              <a:rPr sz="2200" spc="-60" dirty="0">
                <a:latin typeface="Verdana"/>
                <a:cs typeface="Verdana"/>
              </a:rPr>
              <a:t>into</a:t>
            </a:r>
            <a:r>
              <a:rPr sz="2200" spc="-160" dirty="0">
                <a:latin typeface="Verdana"/>
                <a:cs typeface="Verdana"/>
              </a:rPr>
              <a:t> </a:t>
            </a:r>
            <a:r>
              <a:rPr sz="2200" spc="160" dirty="0">
                <a:latin typeface="Verdana"/>
                <a:cs typeface="Verdana"/>
              </a:rPr>
              <a:t>a</a:t>
            </a:r>
            <a:r>
              <a:rPr sz="2200" spc="-1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function.</a:t>
            </a:r>
            <a:endParaRPr sz="22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124" y="1944623"/>
            <a:ext cx="5716524" cy="32263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50" dirty="0"/>
              <a:t>Function</a:t>
            </a:r>
            <a:r>
              <a:rPr b="1" spc="-240" dirty="0"/>
              <a:t> </a:t>
            </a:r>
            <a:r>
              <a:rPr b="1" dirty="0"/>
              <a:t>example</a:t>
            </a:r>
            <a:r>
              <a:rPr b="1" spc="-254" dirty="0"/>
              <a:t> </a:t>
            </a:r>
            <a:r>
              <a:rPr b="1" spc="-315" dirty="0"/>
              <a:t>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7240" y="3125723"/>
              <a:ext cx="6819900" cy="174955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1951" y="1821179"/>
              <a:ext cx="4335780" cy="130759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b="1" spc="-50" dirty="0"/>
              <a:t>Function</a:t>
            </a:r>
            <a:r>
              <a:rPr b="1" spc="-240" dirty="0"/>
              <a:t> </a:t>
            </a:r>
            <a:r>
              <a:rPr b="1" dirty="0"/>
              <a:t>example</a:t>
            </a:r>
            <a:r>
              <a:rPr b="1" spc="-254" dirty="0"/>
              <a:t> </a:t>
            </a:r>
            <a:r>
              <a:rPr b="1" spc="-315" dirty="0"/>
              <a:t>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5483" y="1779403"/>
            <a:ext cx="5535168" cy="30083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4067" y="685800"/>
            <a:ext cx="6371133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75" dirty="0"/>
              <a:t>Python</a:t>
            </a:r>
            <a:r>
              <a:rPr b="1" spc="-210" dirty="0"/>
              <a:t> </a:t>
            </a:r>
            <a:r>
              <a:rPr b="1" spc="-175" dirty="0"/>
              <a:t>built-</a:t>
            </a:r>
            <a:r>
              <a:rPr b="1" spc="-165" dirty="0"/>
              <a:t>in</a:t>
            </a:r>
            <a:r>
              <a:rPr b="1" spc="-204" dirty="0"/>
              <a:t> </a:t>
            </a:r>
            <a:r>
              <a:rPr b="1" spc="-50" dirty="0"/>
              <a:t>functions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8400" y="5029200"/>
            <a:ext cx="720933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s-CO" sz="22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200" spc="-9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To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find</a:t>
            </a:r>
            <a:r>
              <a:rPr sz="2200" spc="-3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out</a:t>
            </a:r>
            <a:r>
              <a:rPr sz="22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how</a:t>
            </a:r>
            <a:r>
              <a:rPr sz="22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they</a:t>
            </a:r>
            <a:r>
              <a:rPr sz="2200" spc="-15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 </a:t>
            </a:r>
            <a:r>
              <a:rPr sz="2200" spc="-10" dirty="0">
                <a:latin typeface="Verdana" panose="020B0604030504040204" pitchFamily="34" charset="0"/>
                <a:ea typeface="Verdana" panose="020B0604030504040204" pitchFamily="34" charset="0"/>
                <a:cs typeface="Arial MT"/>
              </a:rPr>
              <a:t>work: </a:t>
            </a:r>
            <a:r>
              <a:rPr sz="2200" u="sng" spc="-10" dirty="0">
                <a:solidFill>
                  <a:srgbClr val="8F8F8F"/>
                </a:solidFill>
                <a:uFill>
                  <a:solidFill>
                    <a:srgbClr val="8F8F8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Arial MT"/>
                <a:hlinkClick r:id="rId3"/>
              </a:rPr>
              <a:t>https://docs.python.org/3.3/library/functions.html</a:t>
            </a:r>
            <a:endParaRPr sz="2200" dirty="0">
              <a:latin typeface="Verdana" panose="020B0604030504040204" pitchFamily="34" charset="0"/>
              <a:ea typeface="Verdana" panose="020B0604030504040204" pitchFamily="34" charset="0"/>
              <a:cs typeface="Arial MT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0823" y="672766"/>
            <a:ext cx="6664707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b="1" spc="-100" dirty="0"/>
              <a:t>Running</a:t>
            </a:r>
            <a:r>
              <a:rPr b="1" spc="-245" dirty="0"/>
              <a:t> </a:t>
            </a:r>
            <a:r>
              <a:rPr b="1" spc="-75" dirty="0"/>
              <a:t>Python</a:t>
            </a:r>
            <a:r>
              <a:rPr b="1" spc="-229" dirty="0"/>
              <a:t> </a:t>
            </a:r>
            <a:r>
              <a:rPr b="1" spc="-100" dirty="0"/>
              <a:t>Programs </a:t>
            </a:r>
            <a:r>
              <a:rPr b="1" spc="-30" dirty="0"/>
              <a:t>Interactively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0822" y="2160788"/>
            <a:ext cx="8105977" cy="383823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600" spc="-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Suppose</a:t>
            </a:r>
            <a:r>
              <a:rPr sz="1600" spc="-7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the</a:t>
            </a:r>
            <a:r>
              <a:rPr sz="16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file</a:t>
            </a:r>
            <a:r>
              <a:rPr sz="16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script.py</a:t>
            </a:r>
            <a:r>
              <a:rPr sz="1600" spc="-459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 </a:t>
            </a:r>
            <a:r>
              <a:rPr sz="16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contains</a:t>
            </a:r>
            <a:r>
              <a:rPr sz="16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the</a:t>
            </a:r>
            <a:r>
              <a:rPr sz="16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3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following</a:t>
            </a:r>
            <a:r>
              <a:rPr sz="16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lines: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354965" marR="4708525">
              <a:lnSpc>
                <a:spcPts val="2500"/>
              </a:lnSpc>
              <a:spcBef>
                <a:spcPts val="150"/>
              </a:spcBef>
            </a:pPr>
            <a:r>
              <a:rPr sz="16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print</a:t>
            </a:r>
            <a:r>
              <a:rPr sz="1600" spc="-3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 </a:t>
            </a:r>
            <a:r>
              <a:rPr sz="16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'Hello</a:t>
            </a:r>
            <a:r>
              <a:rPr sz="1600" spc="-25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 </a:t>
            </a:r>
            <a:r>
              <a:rPr sz="1600" spc="-1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world' </a:t>
            </a:r>
            <a:r>
              <a:rPr sz="16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x</a:t>
            </a:r>
            <a:r>
              <a:rPr sz="1600" spc="-5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 </a:t>
            </a:r>
            <a:r>
              <a:rPr sz="16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=</a:t>
            </a:r>
            <a:r>
              <a:rPr sz="1600" spc="-5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 </a:t>
            </a:r>
            <a:r>
              <a:rPr sz="1600" spc="-1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[0,1,2]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6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Let's run </a:t>
            </a:r>
            <a:r>
              <a:rPr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this</a:t>
            </a:r>
            <a:r>
              <a:rPr sz="16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script</a:t>
            </a:r>
            <a:r>
              <a:rPr sz="16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</a:t>
            </a:r>
            <a:r>
              <a:rPr sz="16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each</a:t>
            </a:r>
            <a:r>
              <a:rPr sz="1600" spc="-7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of</a:t>
            </a:r>
            <a:r>
              <a:rPr sz="16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the</a:t>
            </a:r>
            <a:r>
              <a:rPr sz="16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ways</a:t>
            </a:r>
            <a:r>
              <a:rPr sz="16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described</a:t>
            </a:r>
            <a:r>
              <a:rPr sz="16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on</a:t>
            </a:r>
            <a:r>
              <a:rPr sz="16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the</a:t>
            </a:r>
            <a:r>
              <a:rPr sz="16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8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last</a:t>
            </a:r>
            <a:r>
              <a:rPr sz="16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slide: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354965" algn="l"/>
              </a:tabLst>
            </a:pPr>
            <a:r>
              <a:rPr sz="1600" spc="5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	</a:t>
            </a:r>
            <a:r>
              <a:rPr sz="1600" spc="-1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python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  <a:cs typeface="Courier New"/>
            </a:endParaRPr>
          </a:p>
          <a:p>
            <a:pPr marL="354965">
              <a:lnSpc>
                <a:spcPct val="100000"/>
              </a:lnSpc>
              <a:spcBef>
                <a:spcPts val="735"/>
              </a:spcBef>
            </a:pP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&gt;&gt;&gt;</a:t>
            </a:r>
            <a:r>
              <a:rPr sz="1600" spc="-65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import</a:t>
            </a:r>
            <a:r>
              <a:rPr sz="1600" spc="-2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script</a:t>
            </a:r>
            <a:r>
              <a:rPr sz="1600" spc="-15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 </a:t>
            </a:r>
            <a:r>
              <a:rPr sz="1600" spc="-155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#</a:t>
            </a:r>
            <a:r>
              <a:rPr sz="1600" spc="-12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DO</a:t>
            </a:r>
            <a:r>
              <a:rPr sz="1600" spc="-13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75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NOT</a:t>
            </a:r>
            <a:r>
              <a:rPr sz="1600" spc="-11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9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add</a:t>
            </a:r>
            <a:r>
              <a:rPr sz="1600" spc="-12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2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the</a:t>
            </a:r>
            <a:r>
              <a:rPr sz="1600" spc="-13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5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.py</a:t>
            </a:r>
            <a:r>
              <a:rPr sz="1600" spc="-11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8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suffix.</a:t>
            </a:r>
            <a:r>
              <a:rPr sz="1600" spc="275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75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Script</a:t>
            </a:r>
            <a:r>
              <a:rPr sz="1600" spc="-12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6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is</a:t>
            </a:r>
            <a:r>
              <a:rPr sz="1600" spc="-12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114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</a:t>
            </a:r>
            <a:r>
              <a:rPr sz="1600" spc="-12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i="1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module</a:t>
            </a:r>
            <a:r>
              <a:rPr sz="1600" i="1" spc="-114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2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here</a:t>
            </a:r>
            <a:endParaRPr sz="1600" dirty="0">
              <a:solidFill>
                <a:srgbClr val="92D050"/>
              </a:solidFill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354965">
              <a:lnSpc>
                <a:spcPct val="100000"/>
              </a:lnSpc>
              <a:spcBef>
                <a:spcPts val="660"/>
              </a:spcBef>
            </a:pP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&gt;&gt;&gt;</a:t>
            </a:r>
            <a:r>
              <a:rPr sz="1600" spc="-25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 </a:t>
            </a:r>
            <a:r>
              <a:rPr sz="1600" spc="-5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x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  <a:cs typeface="Courier New"/>
            </a:endParaRPr>
          </a:p>
          <a:p>
            <a:pPr marL="661670">
              <a:lnSpc>
                <a:spcPct val="100000"/>
              </a:lnSpc>
              <a:spcBef>
                <a:spcPts val="695"/>
              </a:spcBef>
            </a:pP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Traceback</a:t>
            </a:r>
            <a:r>
              <a:rPr sz="1600" spc="-3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(most</a:t>
            </a:r>
            <a:r>
              <a:rPr sz="1600" spc="-3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recent</a:t>
            </a:r>
            <a:r>
              <a:rPr sz="1600" spc="-3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call</a:t>
            </a:r>
            <a:r>
              <a:rPr sz="1600" spc="-3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 </a:t>
            </a:r>
            <a:r>
              <a:rPr sz="1600" spc="-1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last):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  <a:cs typeface="Courier New"/>
            </a:endParaRPr>
          </a:p>
          <a:p>
            <a:pPr marL="661670">
              <a:lnSpc>
                <a:spcPct val="100000"/>
              </a:lnSpc>
              <a:spcBef>
                <a:spcPts val="695"/>
              </a:spcBef>
            </a:pP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File</a:t>
            </a:r>
            <a:r>
              <a:rPr sz="1600" spc="-35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"&lt;stdin&gt;",</a:t>
            </a:r>
            <a:r>
              <a:rPr sz="1600" spc="-2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line</a:t>
            </a:r>
            <a:r>
              <a:rPr sz="1600" spc="-25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1,</a:t>
            </a:r>
            <a:r>
              <a:rPr sz="1600" spc="-2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in</a:t>
            </a:r>
            <a:r>
              <a:rPr sz="1600" spc="-2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 </a:t>
            </a:r>
            <a:r>
              <a:rPr sz="1600" spc="-5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?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  <a:cs typeface="Courier New"/>
            </a:endParaRPr>
          </a:p>
          <a:p>
            <a:pPr marL="661670">
              <a:lnSpc>
                <a:spcPct val="100000"/>
              </a:lnSpc>
              <a:spcBef>
                <a:spcPts val="700"/>
              </a:spcBef>
            </a:pP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NameError:</a:t>
            </a:r>
            <a:r>
              <a:rPr sz="1600" spc="-35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name</a:t>
            </a:r>
            <a:r>
              <a:rPr sz="1600" spc="-2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'x'</a:t>
            </a:r>
            <a:r>
              <a:rPr sz="1600" spc="-2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is</a:t>
            </a:r>
            <a:r>
              <a:rPr sz="1600" spc="-2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not</a:t>
            </a:r>
            <a:r>
              <a:rPr sz="1600" spc="-2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 </a:t>
            </a:r>
            <a:r>
              <a:rPr sz="1600" spc="-1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defined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  <a:cs typeface="Courier New"/>
            </a:endParaRPr>
          </a:p>
          <a:p>
            <a:pPr marL="977265" marR="159385" indent="-622300">
              <a:lnSpc>
                <a:spcPts val="1540"/>
              </a:lnSpc>
              <a:spcBef>
                <a:spcPts val="985"/>
              </a:spcBef>
              <a:tabLst>
                <a:tab pos="2070100" algn="l"/>
              </a:tabLst>
            </a:pP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&gt;&gt;&gt;</a:t>
            </a:r>
            <a:r>
              <a:rPr sz="1600" spc="-25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 </a:t>
            </a:r>
            <a:r>
              <a:rPr sz="1600" spc="-1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script.x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	</a:t>
            </a:r>
            <a:r>
              <a:rPr sz="1600" spc="-155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#</a:t>
            </a:r>
            <a:r>
              <a:rPr sz="1600" spc="-10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to</a:t>
            </a:r>
            <a:r>
              <a:rPr sz="1600" spc="-95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make</a:t>
            </a:r>
            <a:r>
              <a:rPr sz="1600" spc="-75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65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use</a:t>
            </a:r>
            <a:r>
              <a:rPr sz="1600" spc="-10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of</a:t>
            </a:r>
            <a:r>
              <a:rPr sz="1600" spc="-9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65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x,</a:t>
            </a:r>
            <a:r>
              <a:rPr sz="1600" spc="-8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5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we</a:t>
            </a:r>
            <a:r>
              <a:rPr sz="1600" spc="-10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need</a:t>
            </a:r>
            <a:r>
              <a:rPr sz="1600" spc="-85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to</a:t>
            </a:r>
            <a:r>
              <a:rPr sz="1600" spc="-95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4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let</a:t>
            </a:r>
            <a:r>
              <a:rPr sz="1600" spc="-105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4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Python</a:t>
            </a:r>
            <a:r>
              <a:rPr sz="1600" spc="-95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35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know</a:t>
            </a:r>
            <a:r>
              <a:rPr sz="1600" spc="-10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which </a:t>
            </a:r>
            <a:r>
              <a:rPr sz="1600" spc="-3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#module</a:t>
            </a:r>
            <a:r>
              <a:rPr sz="1600" spc="-114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0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it</a:t>
            </a:r>
            <a:r>
              <a:rPr sz="1600" spc="-11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8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came</a:t>
            </a:r>
            <a:r>
              <a:rPr sz="1600" spc="-75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from,</a:t>
            </a:r>
            <a:r>
              <a:rPr sz="1600" spc="-85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i.e.</a:t>
            </a:r>
            <a:r>
              <a:rPr sz="1600" spc="-11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give</a:t>
            </a:r>
            <a:r>
              <a:rPr sz="1600" spc="-11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4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Python</a:t>
            </a:r>
            <a:r>
              <a:rPr sz="1600" spc="-105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4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its</a:t>
            </a:r>
            <a:r>
              <a:rPr sz="1600" spc="-11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context</a:t>
            </a:r>
            <a:endParaRPr sz="1600" dirty="0">
              <a:solidFill>
                <a:srgbClr val="92D050"/>
              </a:solidFill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661670">
              <a:lnSpc>
                <a:spcPct val="100000"/>
              </a:lnSpc>
              <a:spcBef>
                <a:spcPts val="615"/>
              </a:spcBef>
            </a:pPr>
            <a:r>
              <a:rPr sz="1600" spc="-10" dirty="0"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[0,1,2]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  <a:cs typeface="Courier New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838200"/>
            <a:ext cx="7055380" cy="803552"/>
          </a:xfrm>
          <a:prstGeom prst="rect">
            <a:avLst/>
          </a:prstGeom>
        </p:spPr>
        <p:txBody>
          <a:bodyPr vert="horz" wrap="square" lIns="0" tIns="155701" rIns="0" bIns="0" rtlCol="0">
            <a:spAutoFit/>
          </a:bodyPr>
          <a:lstStyle/>
          <a:p>
            <a:pPr marL="718185">
              <a:lnSpc>
                <a:spcPct val="100000"/>
              </a:lnSpc>
              <a:spcBef>
                <a:spcPts val="105"/>
              </a:spcBef>
            </a:pPr>
            <a:r>
              <a:rPr b="1" spc="-170" dirty="0"/>
              <a:t>File</a:t>
            </a:r>
            <a:r>
              <a:rPr b="1" spc="-229" dirty="0"/>
              <a:t> </a:t>
            </a:r>
            <a:r>
              <a:rPr b="1" spc="-20" dirty="0"/>
              <a:t>naming</a:t>
            </a:r>
            <a:r>
              <a:rPr b="1" spc="-215" dirty="0"/>
              <a:t> </a:t>
            </a:r>
            <a:r>
              <a:rPr b="1" spc="-20" dirty="0"/>
              <a:t>conventions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38200" y="1752600"/>
            <a:ext cx="7772400" cy="3921778"/>
          </a:xfrm>
          <a:prstGeom prst="rect">
            <a:avLst/>
          </a:prstGeom>
        </p:spPr>
        <p:txBody>
          <a:bodyPr vert="horz" wrap="square" lIns="0" tIns="559053" rIns="0" bIns="0" rtlCol="0">
            <a:spAutoFit/>
          </a:bodyPr>
          <a:lstStyle/>
          <a:p>
            <a:pPr marL="0" indent="0">
              <a:lnSpc>
                <a:spcPct val="150000"/>
              </a:lnSpc>
              <a:spcBef>
                <a:spcPts val="95"/>
              </a:spcBef>
              <a:buNone/>
            </a:pP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300" spc="-30" dirty="0">
                <a:latin typeface="Verdana" panose="020B0604030504040204" pitchFamily="34" charset="0"/>
                <a:ea typeface="Verdana" panose="020B0604030504040204" pitchFamily="34" charset="0"/>
              </a:rPr>
              <a:t>python</a:t>
            </a:r>
            <a:r>
              <a:rPr sz="2300" spc="-17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300" spc="-150" dirty="0">
                <a:latin typeface="Verdana" panose="020B0604030504040204" pitchFamily="34" charset="0"/>
                <a:ea typeface="Verdana" panose="020B0604030504040204" pitchFamily="34" charset="0"/>
              </a:rPr>
              <a:t>files</a:t>
            </a:r>
            <a:r>
              <a:rPr sz="2300" spc="-21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300" spc="-135" dirty="0">
                <a:latin typeface="Verdana" panose="020B0604030504040204" pitchFamily="34" charset="0"/>
                <a:ea typeface="Verdana" panose="020B0604030504040204" pitchFamily="34" charset="0"/>
              </a:rPr>
              <a:t>usually</a:t>
            </a:r>
            <a:r>
              <a:rPr sz="2300" spc="-204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300" spc="65" dirty="0">
                <a:latin typeface="Verdana" panose="020B0604030504040204" pitchFamily="34" charset="0"/>
                <a:ea typeface="Verdana" panose="020B0604030504040204" pitchFamily="34" charset="0"/>
              </a:rPr>
              <a:t>end</a:t>
            </a:r>
            <a:r>
              <a:rPr sz="2300" spc="-18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300" spc="-110" dirty="0">
                <a:latin typeface="Verdana" panose="020B0604030504040204" pitchFamily="34" charset="0"/>
                <a:ea typeface="Verdana" panose="020B0604030504040204" pitchFamily="34" charset="0"/>
              </a:rPr>
              <a:t>with</a:t>
            </a:r>
            <a:r>
              <a:rPr sz="2300" spc="-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sz="2300" spc="-18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300" spc="-215" dirty="0">
                <a:latin typeface="Verdana" panose="020B0604030504040204" pitchFamily="34" charset="0"/>
                <a:ea typeface="Verdana" panose="020B0604030504040204" pitchFamily="34" charset="0"/>
              </a:rPr>
              <a:t>suffix</a:t>
            </a:r>
            <a:r>
              <a:rPr sz="2300" spc="-17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300" b="1" spc="-25" dirty="0">
                <a:solidFill>
                  <a:srgbClr val="A4A4A4"/>
                </a:solidFill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.py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Courier New"/>
            </a:endParaRPr>
          </a:p>
          <a:p>
            <a:pPr marL="0" indent="0">
              <a:lnSpc>
                <a:spcPct val="150000"/>
              </a:lnSpc>
              <a:spcBef>
                <a:spcPts val="2005"/>
              </a:spcBef>
              <a:buNone/>
            </a:pP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300" spc="-35" dirty="0">
                <a:latin typeface="Verdana" panose="020B0604030504040204" pitchFamily="34" charset="0"/>
                <a:ea typeface="Verdana" panose="020B0604030504040204" pitchFamily="34" charset="0"/>
              </a:rPr>
              <a:t>but</a:t>
            </a:r>
            <a:r>
              <a:rPr sz="2300" spc="-14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</a:rPr>
              <a:t>executable</a:t>
            </a:r>
            <a:r>
              <a:rPr sz="2300" spc="-1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300" spc="-150" dirty="0">
                <a:latin typeface="Verdana" panose="020B0604030504040204" pitchFamily="34" charset="0"/>
                <a:ea typeface="Verdana" panose="020B0604030504040204" pitchFamily="34" charset="0"/>
              </a:rPr>
              <a:t>files </a:t>
            </a:r>
            <a:r>
              <a:rPr sz="2300" spc="-135" dirty="0">
                <a:latin typeface="Verdana" panose="020B0604030504040204" pitchFamily="34" charset="0"/>
                <a:ea typeface="Verdana" panose="020B0604030504040204" pitchFamily="34" charset="0"/>
              </a:rPr>
              <a:t>usually</a:t>
            </a:r>
            <a:r>
              <a:rPr sz="2300" spc="-15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300" spc="55" dirty="0">
                <a:latin typeface="Verdana" panose="020B0604030504040204" pitchFamily="34" charset="0"/>
                <a:ea typeface="Verdana" panose="020B0604030504040204" pitchFamily="34" charset="0"/>
              </a:rPr>
              <a:t>don’t</a:t>
            </a:r>
            <a:r>
              <a:rPr sz="2300" spc="-12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</a:rPr>
              <a:t>have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Lucida Sans Unicode"/>
            </a:endParaRPr>
          </a:p>
          <a:p>
            <a:pPr marL="243834" indent="0">
              <a:lnSpc>
                <a:spcPct val="150000"/>
              </a:lnSpc>
              <a:spcBef>
                <a:spcPts val="1010"/>
              </a:spcBef>
              <a:buNone/>
            </a:pP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sz="2300" spc="-22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300" b="1" dirty="0">
                <a:solidFill>
                  <a:srgbClr val="A4A4A4"/>
                </a:solidFill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.py</a:t>
            </a:r>
            <a:r>
              <a:rPr sz="2300" b="1" spc="-925" dirty="0">
                <a:solidFill>
                  <a:srgbClr val="A4A4A4"/>
                </a:solidFill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</a:rPr>
              <a:t>extension</a:t>
            </a:r>
          </a:p>
          <a:p>
            <a:pPr marL="0" indent="0">
              <a:lnSpc>
                <a:spcPct val="150000"/>
              </a:lnSpc>
              <a:spcBef>
                <a:spcPts val="2014"/>
              </a:spcBef>
              <a:buNone/>
            </a:pP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300" spc="40" dirty="0">
                <a:solidFill>
                  <a:srgbClr val="B31166"/>
                </a:solidFill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300" spc="-55" dirty="0">
                <a:solidFill>
                  <a:srgbClr val="00AF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modules</a:t>
            </a:r>
            <a:r>
              <a:rPr sz="2300" spc="-165" dirty="0">
                <a:solidFill>
                  <a:srgbClr val="00AF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300" spc="-130" dirty="0">
                <a:latin typeface="Verdana" panose="020B0604030504040204" pitchFamily="34" charset="0"/>
                <a:ea typeface="Verdana" panose="020B0604030504040204" pitchFamily="34" charset="0"/>
              </a:rPr>
              <a:t>(later)</a:t>
            </a:r>
            <a:r>
              <a:rPr sz="2300" spc="-16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300" spc="-90" dirty="0">
                <a:latin typeface="Verdana" panose="020B0604030504040204" pitchFamily="34" charset="0"/>
                <a:ea typeface="Verdana" panose="020B0604030504040204" pitchFamily="34" charset="0"/>
              </a:rPr>
              <a:t>should</a:t>
            </a:r>
            <a:r>
              <a:rPr sz="2300" spc="-14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300" u="sng" spc="-60" dirty="0">
                <a:uFill>
                  <a:solidFill>
                    <a:srgbClr val="40404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</a:rPr>
              <a:t>always</a:t>
            </a:r>
            <a:r>
              <a:rPr sz="2300" spc="-16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300" dirty="0">
                <a:latin typeface="Verdana" panose="020B0604030504040204" pitchFamily="34" charset="0"/>
                <a:ea typeface="Verdana" panose="020B0604030504040204" pitchFamily="34" charset="0"/>
              </a:rPr>
              <a:t>have</a:t>
            </a:r>
            <a:r>
              <a:rPr sz="2300" spc="-15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300" spc="-20" dirty="0"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sz="2300" spc="-15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300" b="1" spc="-25" dirty="0">
                <a:solidFill>
                  <a:srgbClr val="A4A4A4"/>
                </a:solidFill>
                <a:latin typeface="Verdana" panose="020B0604030504040204" pitchFamily="34" charset="0"/>
                <a:ea typeface="Verdana" panose="020B0604030504040204" pitchFamily="34" charset="0"/>
                <a:cs typeface="Courier New"/>
              </a:rPr>
              <a:t>.py</a:t>
            </a:r>
            <a:endParaRPr sz="2300" dirty="0">
              <a:latin typeface="Verdana" panose="020B0604030504040204" pitchFamily="34" charset="0"/>
              <a:ea typeface="Verdana" panose="020B0604030504040204" pitchFamily="34" charset="0"/>
              <a:cs typeface="Courier New"/>
            </a:endParaRPr>
          </a:p>
          <a:p>
            <a:pPr marL="243834" indent="0">
              <a:lnSpc>
                <a:spcPct val="150000"/>
              </a:lnSpc>
              <a:spcBef>
                <a:spcPts val="1010"/>
              </a:spcBef>
              <a:buNone/>
            </a:pPr>
            <a:r>
              <a:rPr lang="es-CO" sz="23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300" spc="-10" dirty="0">
                <a:latin typeface="Verdana" panose="020B0604030504040204" pitchFamily="34" charset="0"/>
                <a:ea typeface="Verdana" panose="020B0604030504040204" pitchFamily="34" charset="0"/>
              </a:rPr>
              <a:t>extension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457200"/>
            <a:ext cx="7055380" cy="897937"/>
          </a:xfrm>
          <a:prstGeom prst="rect">
            <a:avLst/>
          </a:prstGeom>
        </p:spPr>
        <p:txBody>
          <a:bodyPr vert="horz" wrap="square" lIns="0" tIns="2491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25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524000"/>
            <a:ext cx="8077200" cy="4527521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  <a:tabLst>
                <a:tab pos="294005" algn="l"/>
              </a:tabLst>
            </a:pPr>
            <a:r>
              <a:rPr lang="es-CO" sz="21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1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Python</a:t>
            </a:r>
            <a:r>
              <a:rPr sz="21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1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Homepage</a:t>
            </a:r>
            <a:endParaRPr sz="21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294005">
              <a:lnSpc>
                <a:spcPct val="100000"/>
              </a:lnSpc>
              <a:spcBef>
                <a:spcPts val="1010"/>
              </a:spcBef>
              <a:buClr>
                <a:srgbClr val="404040"/>
              </a:buClr>
              <a:tabLst>
                <a:tab pos="473075" algn="l"/>
              </a:tabLst>
            </a:pPr>
            <a:r>
              <a:rPr lang="es-CO" sz="20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100" u="sng" spc="-10" dirty="0">
                <a:uFill>
                  <a:solidFill>
                    <a:srgbClr val="8F8F8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http://www.python.org</a:t>
            </a:r>
            <a:endParaRPr sz="21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294005" algn="l"/>
              </a:tabLst>
            </a:pPr>
            <a:r>
              <a:rPr lang="es-CO" sz="21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1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Python</a:t>
            </a:r>
            <a:r>
              <a:rPr sz="21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1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Tutorial</a:t>
            </a:r>
            <a:endParaRPr sz="21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294005">
              <a:lnSpc>
                <a:spcPct val="100000"/>
              </a:lnSpc>
              <a:spcBef>
                <a:spcPts val="1000"/>
              </a:spcBef>
              <a:buClr>
                <a:srgbClr val="404040"/>
              </a:buClr>
              <a:tabLst>
                <a:tab pos="473075" algn="l"/>
              </a:tabLst>
            </a:pPr>
            <a:r>
              <a:rPr lang="es-CO" sz="20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100" u="sng" spc="-20" dirty="0">
                <a:uFill>
                  <a:solidFill>
                    <a:srgbClr val="8F8F8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http://docs.python.org/tutorial/</a:t>
            </a:r>
            <a:endParaRPr sz="21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294005" algn="l"/>
              </a:tabLst>
            </a:pPr>
            <a:r>
              <a:rPr lang="es-CO" sz="21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1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Python</a:t>
            </a:r>
            <a:r>
              <a:rPr sz="21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1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Documentation</a:t>
            </a:r>
            <a:endParaRPr sz="21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294005">
              <a:lnSpc>
                <a:spcPct val="100000"/>
              </a:lnSpc>
              <a:spcBef>
                <a:spcPts val="994"/>
              </a:spcBef>
              <a:buClr>
                <a:srgbClr val="404040"/>
              </a:buClr>
              <a:tabLst>
                <a:tab pos="473075" algn="l"/>
              </a:tabLst>
            </a:pPr>
            <a:r>
              <a:rPr lang="es-CO" sz="20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100" u="sng" spc="-10" dirty="0">
                <a:uFill>
                  <a:solidFill>
                    <a:srgbClr val="8F8F8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http://www.python.org/doc</a:t>
            </a:r>
            <a:endParaRPr sz="21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294005" algn="l"/>
              </a:tabLst>
            </a:pPr>
            <a:r>
              <a:rPr lang="es-CO" sz="21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1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Python</a:t>
            </a:r>
            <a:r>
              <a:rPr sz="2100" spc="-9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100" spc="-9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Library</a:t>
            </a:r>
            <a:r>
              <a:rPr sz="2100" spc="-8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1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References</a:t>
            </a:r>
            <a:endParaRPr sz="21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338455">
              <a:lnSpc>
                <a:spcPct val="100000"/>
              </a:lnSpc>
              <a:spcBef>
                <a:spcPts val="1005"/>
              </a:spcBef>
            </a:pPr>
            <a:r>
              <a:rPr lang="es-CO" sz="20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100" u="sng" spc="-50" dirty="0">
                <a:uFill>
                  <a:solidFill>
                    <a:srgbClr val="8F8F8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http://docs.python.org/release/2.5.2/lib/lib.html</a:t>
            </a:r>
            <a:endParaRPr sz="21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294005" algn="l"/>
              </a:tabLst>
            </a:pPr>
            <a:r>
              <a:rPr lang="es-CO" sz="210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 </a:t>
            </a:r>
            <a:r>
              <a:rPr sz="21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Python</a:t>
            </a:r>
            <a:r>
              <a:rPr sz="2100" spc="-6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1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Add-on</a:t>
            </a:r>
            <a:r>
              <a:rPr sz="21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1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Packages:</a:t>
            </a:r>
            <a:endParaRPr sz="21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338455">
              <a:lnSpc>
                <a:spcPct val="100000"/>
              </a:lnSpc>
              <a:spcBef>
                <a:spcPts val="1005"/>
              </a:spcBef>
            </a:pPr>
            <a:r>
              <a:rPr sz="2100" spc="105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▶</a:t>
            </a:r>
            <a:r>
              <a:rPr sz="2100" spc="470" dirty="0">
                <a:latin typeface="Verdana" panose="020B0604030504040204" pitchFamily="34" charset="0"/>
                <a:ea typeface="Verdana" panose="020B0604030504040204" pitchFamily="34" charset="0"/>
                <a:cs typeface="Lucida Sans Unicode"/>
              </a:rPr>
              <a:t> </a:t>
            </a:r>
            <a:r>
              <a:rPr sz="21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http://pypi.python.org/pypi</a:t>
            </a:r>
            <a:endParaRPr sz="21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260</TotalTime>
  <Words>2275</Words>
  <Application>Microsoft Macintosh PowerPoint</Application>
  <PresentationFormat>On-screen Show (4:3)</PresentationFormat>
  <Paragraphs>322</Paragraphs>
  <Slides>83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7" baseType="lpstr">
      <vt:lpstr>Century Gothic</vt:lpstr>
      <vt:lpstr>Verdana</vt:lpstr>
      <vt:lpstr>Wingdings 3</vt:lpstr>
      <vt:lpstr>Ion</vt:lpstr>
      <vt:lpstr>Agenda</vt:lpstr>
      <vt:lpstr>What is python?</vt:lpstr>
      <vt:lpstr>Brief History of Python</vt:lpstr>
      <vt:lpstr>Python’s Benevolent Dictator For Life</vt:lpstr>
      <vt:lpstr>Language properties</vt:lpstr>
      <vt:lpstr>High-level data types</vt:lpstr>
      <vt:lpstr>Why learn python?</vt:lpstr>
      <vt:lpstr>Where to use python?</vt:lpstr>
      <vt:lpstr>Why learn python? (cont.)</vt:lpstr>
      <vt:lpstr>Course Goals</vt:lpstr>
      <vt:lpstr>Agenda</vt:lpstr>
      <vt:lpstr>PowerPoint Presentation</vt:lpstr>
      <vt:lpstr>Python as a calculator</vt:lpstr>
      <vt:lpstr>PowerPoint Presentation</vt:lpstr>
      <vt:lpstr>PowerPoint Presentation</vt:lpstr>
      <vt:lpstr>Types</vt:lpstr>
      <vt:lpstr>WHY SHOULD WE CARE?</vt:lpstr>
      <vt:lpstr>PowerPoint Presentation</vt:lpstr>
      <vt:lpstr>Casting types</vt:lpstr>
      <vt:lpstr>Quick quiz</vt:lpstr>
      <vt:lpstr>Arithmetic operations</vt:lpstr>
      <vt:lpstr>Order precedence example</vt:lpstr>
      <vt:lpstr>Quick quiz</vt:lpstr>
      <vt:lpstr>Comparison operators</vt:lpstr>
      <vt:lpstr>Comparison examples</vt:lpstr>
      <vt:lpstr>Logical operators</vt:lpstr>
      <vt:lpstr>Combining both</vt:lpstr>
      <vt:lpstr>Another example</vt:lpstr>
      <vt:lpstr>PowerPoint Presentation</vt:lpstr>
      <vt:lpstr>Strings</vt:lpstr>
      <vt:lpstr>Strings</vt:lpstr>
      <vt:lpstr>Strings</vt:lpstr>
      <vt:lpstr>Mixing up strings and numbers</vt:lpstr>
      <vt:lpstr>Multiline strings</vt:lpstr>
      <vt:lpstr>Printing</vt:lpstr>
      <vt:lpstr>PowerPoint Presentation</vt:lpstr>
      <vt:lpstr>Another more generic way to fix it</vt:lpstr>
      <vt:lpstr>Placeholders</vt:lpstr>
      <vt:lpstr>Commenting</vt:lpstr>
      <vt:lpstr>Lists</vt:lpstr>
      <vt:lpstr>Indexing a list</vt:lpstr>
      <vt:lpstr>PowerPoint Presentation</vt:lpstr>
      <vt:lpstr>PowerPoint Presentation</vt:lpstr>
      <vt:lpstr>Data structure sizes</vt:lpstr>
      <vt:lpstr>Is a tomato really a fruit?</vt:lpstr>
      <vt:lpstr>Lists with integers</vt:lpstr>
      <vt:lpstr>Slicing lists</vt:lpstr>
      <vt:lpstr>Lists – helpful functions</vt:lpstr>
      <vt:lpstr>Lists can be of different types</vt:lpstr>
      <vt:lpstr>Mutability</vt:lpstr>
      <vt:lpstr>PowerPoint Presentation</vt:lpstr>
      <vt:lpstr>Tuples</vt:lpstr>
      <vt:lpstr>Dictionaries</vt:lpstr>
      <vt:lpstr>Dictionary definition</vt:lpstr>
      <vt:lpstr>Dictionary properties</vt:lpstr>
      <vt:lpstr>Dictionaries</vt:lpstr>
      <vt:lpstr>Accessing a dictionary</vt:lpstr>
      <vt:lpstr>Altering a dictionary</vt:lpstr>
      <vt:lpstr>Keys and Values</vt:lpstr>
      <vt:lpstr>Sets</vt:lpstr>
      <vt:lpstr>If Else</vt:lpstr>
      <vt:lpstr>If Else example</vt:lpstr>
      <vt:lpstr>Indentation matters!</vt:lpstr>
      <vt:lpstr>Extending if-else blocks</vt:lpstr>
      <vt:lpstr>Bitcoin broker example</vt:lpstr>
      <vt:lpstr>PowerPoint Presentation</vt:lpstr>
      <vt:lpstr>For loop</vt:lpstr>
      <vt:lpstr>Example</vt:lpstr>
      <vt:lpstr>For example</vt:lpstr>
      <vt:lpstr>Numerical for loop</vt:lpstr>
      <vt:lpstr>While loop</vt:lpstr>
      <vt:lpstr>Break statement</vt:lpstr>
      <vt:lpstr>Quick quiz</vt:lpstr>
      <vt:lpstr>Functions</vt:lpstr>
      <vt:lpstr>Function declaration</vt:lpstr>
      <vt:lpstr>Function example</vt:lpstr>
      <vt:lpstr>Function example 2</vt:lpstr>
      <vt:lpstr>Function example 2</vt:lpstr>
      <vt:lpstr>Function example 3</vt:lpstr>
      <vt:lpstr>Python built-in functions</vt:lpstr>
      <vt:lpstr>Running Python Programs Interactively</vt:lpstr>
      <vt:lpstr>File naming conventions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UNC</dc:creator>
  <cp:lastModifiedBy>Carlos Pinilla</cp:lastModifiedBy>
  <cp:revision>3</cp:revision>
  <dcterms:created xsi:type="dcterms:W3CDTF">2026-01-31T22:52:52Z</dcterms:created>
  <dcterms:modified xsi:type="dcterms:W3CDTF">2026-02-04T17:05:02Z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2021-05-18T00:00:00Z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2026-01-31T00:00:00Z</vt:filetime>
  </property>
  <property fmtid="{D5CDD505-2E9C-101B-9397-08002B2CF9AE}" pid="5" name="Producer">
    <vt:lpwstr>Microsoft® PowerPoint® for Microsoft 365</vt:lpwstr>
  </property>
</Properties>
</file>