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41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21" d="100"/>
          <a:sy n="121" d="100"/>
        </p:scale>
        <p:origin x="1904" y="1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24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8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22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82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138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12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76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972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35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968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38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620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123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61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99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4067" y="1016634"/>
            <a:ext cx="573785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91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334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3/library/functions.html" TargetMode="Externa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python.org/tutorial/" TargetMode="External"/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ypi.python.org/pypi" TargetMode="External"/><Relationship Id="rId5" Type="http://schemas.openxmlformats.org/officeDocument/2006/relationships/hyperlink" Target="http://docs.python.org/release/2.5.2/lib/lib.html" TargetMode="External"/><Relationship Id="rId4" Type="http://schemas.openxmlformats.org/officeDocument/2006/relationships/hyperlink" Target="http://www.python.org/d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216" y="1752600"/>
            <a:ext cx="3808984" cy="3879908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-10" dirty="0">
                <a:latin typeface="Verdana"/>
                <a:cs typeface="Verdana"/>
              </a:rPr>
              <a:t>Introduction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-60" dirty="0">
                <a:latin typeface="Verdana"/>
                <a:cs typeface="Verdana"/>
              </a:rPr>
              <a:t>Running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Python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-45" dirty="0">
                <a:latin typeface="Verdana"/>
                <a:cs typeface="Verdana"/>
              </a:rPr>
              <a:t>Python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Programming</a:t>
            </a:r>
            <a:endParaRPr sz="18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spc="-10" dirty="0">
                <a:latin typeface="Verdana"/>
                <a:cs typeface="Verdana"/>
              </a:rPr>
              <a:t>Variables</a:t>
            </a:r>
            <a:endParaRPr sz="16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10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spc="-10" dirty="0">
                <a:latin typeface="Verdana"/>
                <a:cs typeface="Verdana"/>
              </a:rPr>
              <a:t>Types</a:t>
            </a:r>
            <a:endParaRPr sz="16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994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spc="-45" dirty="0">
                <a:latin typeface="Verdana"/>
                <a:cs typeface="Verdana"/>
              </a:rPr>
              <a:t>Arithmetic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operators</a:t>
            </a:r>
            <a:endParaRPr sz="16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0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dirty="0">
                <a:latin typeface="Verdana"/>
                <a:cs typeface="Verdana"/>
              </a:rPr>
              <a:t>Boolean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logic</a:t>
            </a:r>
            <a:endParaRPr sz="16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spc="-10" dirty="0">
                <a:latin typeface="Verdana"/>
                <a:cs typeface="Verdana"/>
              </a:rPr>
              <a:t>Strings</a:t>
            </a:r>
            <a:endParaRPr sz="16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0"/>
              </a:spcBef>
              <a:tabLst>
                <a:tab pos="698500" algn="l"/>
              </a:tabLst>
            </a:pPr>
            <a:r>
              <a:rPr sz="1250" spc="85" dirty="0">
                <a:latin typeface="Lucida Sans Unicode"/>
                <a:cs typeface="Lucida Sans Unicode"/>
              </a:rPr>
              <a:t>▶</a:t>
            </a:r>
            <a:r>
              <a:rPr sz="1250" dirty="0">
                <a:latin typeface="Lucida Sans Unicode"/>
                <a:cs typeface="Lucida Sans Unicode"/>
              </a:rPr>
              <a:t>	</a:t>
            </a:r>
            <a:r>
              <a:rPr sz="1600" spc="-10" dirty="0">
                <a:latin typeface="Verdana"/>
                <a:cs typeface="Verdana"/>
              </a:rPr>
              <a:t>Printing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-10" dirty="0">
                <a:latin typeface="Verdana"/>
                <a:cs typeface="Verdana"/>
              </a:rPr>
              <a:t>Exercises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What</a:t>
            </a:r>
            <a:r>
              <a:rPr spc="-245" dirty="0"/>
              <a:t> </a:t>
            </a:r>
            <a:r>
              <a:rPr spc="-335" dirty="0"/>
              <a:t>is</a:t>
            </a:r>
            <a:r>
              <a:rPr spc="-254" dirty="0"/>
              <a:t> </a:t>
            </a:r>
            <a:r>
              <a:rPr spc="-10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61131"/>
            <a:ext cx="7924800" cy="3931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95"/>
              </a:spcBef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20" dirty="0">
                <a:latin typeface="Lucida Sans Unicode"/>
                <a:cs typeface="Lucida Sans Unicode"/>
              </a:rPr>
              <a:t> </a:t>
            </a:r>
            <a:r>
              <a:rPr sz="2800" spc="50" dirty="0">
                <a:latin typeface="Verdana"/>
                <a:cs typeface="Verdana"/>
              </a:rPr>
              <a:t>Object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oriented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language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4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20" dirty="0">
                <a:latin typeface="Lucida Sans Unicode"/>
                <a:cs typeface="Lucida Sans Unicode"/>
              </a:rPr>
              <a:t> </a:t>
            </a:r>
            <a:r>
              <a:rPr sz="2800" spc="-85" dirty="0">
                <a:latin typeface="Verdana"/>
                <a:cs typeface="Verdana"/>
              </a:rPr>
              <a:t>Interpreted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language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4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50" dirty="0">
                <a:latin typeface="Lucida Sans Unicode"/>
                <a:cs typeface="Lucida Sans Unicode"/>
              </a:rPr>
              <a:t> </a:t>
            </a:r>
            <a:r>
              <a:rPr sz="2800" spc="-140" dirty="0">
                <a:latin typeface="Verdana"/>
                <a:cs typeface="Verdana"/>
              </a:rPr>
              <a:t>Supports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dynamic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data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type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0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2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Verdana"/>
                <a:cs typeface="Verdana"/>
              </a:rPr>
              <a:t>Independent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from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platforms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4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5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Verdana"/>
                <a:cs typeface="Verdana"/>
              </a:rPr>
              <a:t>Focused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development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time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4"/>
              </a:lnSpc>
              <a:spcBef>
                <a:spcPts val="5"/>
              </a:spcBef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10" dirty="0">
                <a:latin typeface="Lucida Sans Unicode"/>
                <a:cs typeface="Lucida Sans Unicode"/>
              </a:rPr>
              <a:t> </a:t>
            </a:r>
            <a:r>
              <a:rPr sz="2800" spc="-125" dirty="0">
                <a:latin typeface="Verdana"/>
                <a:cs typeface="Verdana"/>
              </a:rPr>
              <a:t>Simple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0" dirty="0">
                <a:latin typeface="Verdana"/>
                <a:cs typeface="Verdana"/>
              </a:rPr>
              <a:t>and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easy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grammar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0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60" dirty="0">
                <a:latin typeface="Lucida Sans Unicode"/>
                <a:cs typeface="Lucida Sans Unicode"/>
              </a:rPr>
              <a:t> </a:t>
            </a:r>
            <a:r>
              <a:rPr sz="2800" spc="-150" dirty="0">
                <a:latin typeface="Verdana"/>
                <a:cs typeface="Verdana"/>
              </a:rPr>
              <a:t>High-</a:t>
            </a:r>
            <a:r>
              <a:rPr sz="2800" spc="-60" dirty="0">
                <a:latin typeface="Verdana"/>
                <a:cs typeface="Verdana"/>
              </a:rPr>
              <a:t>level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internal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object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data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types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ts val="3354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60" dirty="0">
                <a:latin typeface="Lucida Sans Unicode"/>
                <a:cs typeface="Lucida Sans Unicode"/>
              </a:rPr>
              <a:t> </a:t>
            </a:r>
            <a:r>
              <a:rPr sz="2800" dirty="0">
                <a:latin typeface="Verdana"/>
                <a:cs typeface="Verdana"/>
              </a:rPr>
              <a:t>Automatic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memory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management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50" spc="175" dirty="0">
                <a:latin typeface="Lucida Sans Unicode"/>
                <a:cs typeface="Lucida Sans Unicode"/>
              </a:rPr>
              <a:t>▶</a:t>
            </a:r>
            <a:r>
              <a:rPr sz="2250" spc="45" dirty="0">
                <a:latin typeface="Lucida Sans Unicode"/>
                <a:cs typeface="Lucida Sans Unicode"/>
              </a:rPr>
              <a:t> </a:t>
            </a:r>
            <a:r>
              <a:rPr sz="2800" spc="-225" dirty="0">
                <a:latin typeface="Verdana"/>
                <a:cs typeface="Verdana"/>
              </a:rPr>
              <a:t>It’s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free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(open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source)!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Brief</a:t>
            </a:r>
            <a:r>
              <a:rPr spc="-215" dirty="0"/>
              <a:t> </a:t>
            </a:r>
            <a:r>
              <a:rPr spc="-225" dirty="0"/>
              <a:t>History</a:t>
            </a:r>
            <a:r>
              <a:rPr spc="-210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spc="-35" dirty="0"/>
              <a:t>Python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867" y="1981200"/>
            <a:ext cx="7708265" cy="41167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364490" indent="-342900">
              <a:lnSpc>
                <a:spcPts val="2590"/>
              </a:lnSpc>
              <a:spcBef>
                <a:spcPts val="425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-65" dirty="0">
                <a:latin typeface="Verdana"/>
                <a:cs typeface="Verdana"/>
              </a:rPr>
              <a:t>Invented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in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Netherlands,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early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50" dirty="0">
                <a:latin typeface="Verdana"/>
                <a:cs typeface="Verdana"/>
              </a:rPr>
              <a:t>90s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by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Guido </a:t>
            </a:r>
            <a:r>
              <a:rPr sz="2400" dirty="0">
                <a:latin typeface="Verdana"/>
                <a:cs typeface="Verdana"/>
              </a:rPr>
              <a:t>van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Rossum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60" dirty="0">
                <a:latin typeface="Verdana"/>
                <a:cs typeface="Verdana"/>
              </a:rPr>
              <a:t>Named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after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Monty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Python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95" dirty="0">
                <a:latin typeface="Verdana"/>
                <a:cs typeface="Verdana"/>
              </a:rPr>
              <a:t>Open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sourced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from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the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beginning</a:t>
            </a:r>
            <a:endParaRPr sz="2400" dirty="0">
              <a:latin typeface="Verdana"/>
              <a:cs typeface="Verdana"/>
            </a:endParaRPr>
          </a:p>
          <a:p>
            <a:pPr marL="355600" marR="612140" indent="-342900">
              <a:lnSpc>
                <a:spcPts val="2590"/>
              </a:lnSpc>
              <a:spcBef>
                <a:spcPts val="1045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Verdana"/>
                <a:cs typeface="Verdana"/>
              </a:rPr>
              <a:t>Considered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200" dirty="0">
                <a:latin typeface="Verdana"/>
                <a:cs typeface="Verdana"/>
              </a:rPr>
              <a:t>a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scripting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language,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but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250" dirty="0">
                <a:latin typeface="Verdana"/>
                <a:cs typeface="Verdana"/>
              </a:rPr>
              <a:t>is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much more</a:t>
            </a:r>
            <a:endParaRPr sz="2400" dirty="0">
              <a:latin typeface="Verdana"/>
              <a:cs typeface="Verdana"/>
            </a:endParaRPr>
          </a:p>
          <a:p>
            <a:pPr marL="355600" marR="5080" indent="-342900">
              <a:lnSpc>
                <a:spcPts val="259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Verdana"/>
                <a:cs typeface="Verdana"/>
              </a:rPr>
              <a:t>Scalable,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object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oriented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85" dirty="0">
                <a:latin typeface="Verdana"/>
                <a:cs typeface="Verdana"/>
              </a:rPr>
              <a:t>and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functional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from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beginning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-70" dirty="0">
                <a:latin typeface="Verdana"/>
                <a:cs typeface="Verdana"/>
              </a:rPr>
              <a:t>Used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by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Google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from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beginning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354965" algn="l"/>
              </a:tabLst>
            </a:pPr>
            <a:r>
              <a:rPr sz="1900" spc="114" dirty="0">
                <a:latin typeface="Lucida Sans Unicode"/>
                <a:cs typeface="Lucida Sans Unicode"/>
              </a:rPr>
              <a:t>▶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spc="-95" dirty="0">
                <a:latin typeface="Verdana"/>
                <a:cs typeface="Verdana"/>
              </a:rPr>
              <a:t>Increasingly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popular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208431"/>
            <a:ext cx="8516113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Python’s</a:t>
            </a:r>
            <a:r>
              <a:rPr spc="-195" dirty="0"/>
              <a:t> </a:t>
            </a:r>
            <a:r>
              <a:rPr spc="-60" dirty="0"/>
              <a:t>Benevolent</a:t>
            </a:r>
            <a:r>
              <a:rPr spc="-229" dirty="0"/>
              <a:t> </a:t>
            </a:r>
            <a:r>
              <a:rPr spc="-10" dirty="0"/>
              <a:t>Dictator</a:t>
            </a:r>
          </a:p>
          <a:p>
            <a:pPr marL="359410">
              <a:lnSpc>
                <a:spcPct val="100000"/>
              </a:lnSpc>
            </a:pPr>
            <a:r>
              <a:rPr spc="-195" dirty="0"/>
              <a:t>For</a:t>
            </a:r>
            <a:r>
              <a:rPr spc="-225" dirty="0"/>
              <a:t> </a:t>
            </a:r>
            <a:r>
              <a:rPr spc="-20" dirty="0"/>
              <a:t>Life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0641" y="2793873"/>
            <a:ext cx="5060315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“Python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experiment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how </a:t>
            </a:r>
            <a:r>
              <a:rPr sz="2800" dirty="0">
                <a:latin typeface="Times New Roman"/>
                <a:cs typeface="Times New Roman"/>
              </a:rPr>
              <a:t>much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freedom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programmers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need. </a:t>
            </a:r>
            <a:r>
              <a:rPr sz="2800" spc="-40" dirty="0">
                <a:latin typeface="Times New Roman"/>
                <a:cs typeface="Times New Roman"/>
              </a:rPr>
              <a:t>Too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much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freedom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nobody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can </a:t>
            </a:r>
            <a:r>
              <a:rPr sz="2800" dirty="0">
                <a:latin typeface="Times New Roman"/>
                <a:cs typeface="Times New Roman"/>
              </a:rPr>
              <a:t>read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another's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code;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little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dirty="0">
                <a:latin typeface="Times New Roman"/>
                <a:cs typeface="Times New Roman"/>
              </a:rPr>
              <a:t>expressive-ness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endangered.”</a:t>
            </a:r>
            <a:endParaRPr sz="28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Guido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Rossum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1600200"/>
            <a:ext cx="2845307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dirty="0"/>
              <a:t>Language</a:t>
            </a:r>
            <a:r>
              <a:rPr spc="135" dirty="0"/>
              <a:t> </a:t>
            </a:r>
            <a:r>
              <a:rPr spc="-65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898717"/>
            <a:ext cx="7055380" cy="3494546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80" dirty="0">
                <a:latin typeface="Verdana"/>
                <a:cs typeface="Verdana"/>
              </a:rPr>
              <a:t>Everything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90" dirty="0">
                <a:latin typeface="Verdana"/>
                <a:cs typeface="Verdana"/>
              </a:rPr>
              <a:t>is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object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30" dirty="0">
                <a:latin typeface="Verdana"/>
                <a:cs typeface="Verdana"/>
              </a:rPr>
              <a:t>Modules,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classes,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Verdana"/>
                <a:cs typeface="Verdana"/>
              </a:rPr>
              <a:t>Exception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handling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Verdana"/>
                <a:cs typeface="Verdana"/>
              </a:rPr>
              <a:t>Dynamic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typing,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polymorphism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60" dirty="0">
                <a:latin typeface="Verdana"/>
                <a:cs typeface="Verdana"/>
              </a:rPr>
              <a:t>Static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scoping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0" dirty="0">
                <a:latin typeface="Verdana"/>
                <a:cs typeface="Verdana"/>
              </a:rPr>
              <a:t>Operator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overloading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45" dirty="0">
                <a:latin typeface="Verdana"/>
                <a:cs typeface="Verdana"/>
              </a:rPr>
              <a:t>Indentation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for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block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structure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535" y="609600"/>
            <a:ext cx="6675933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High-</a:t>
            </a:r>
            <a:r>
              <a:rPr spc="-70" dirty="0"/>
              <a:t>level</a:t>
            </a:r>
            <a:r>
              <a:rPr spc="-240" dirty="0"/>
              <a:t> </a:t>
            </a:r>
            <a:r>
              <a:rPr spc="120" dirty="0"/>
              <a:t>data</a:t>
            </a:r>
            <a:r>
              <a:rPr spc="-220" dirty="0"/>
              <a:t> </a:t>
            </a:r>
            <a:r>
              <a:rPr spc="-5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138680"/>
            <a:ext cx="8229600" cy="323870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95" dirty="0">
                <a:latin typeface="Verdana"/>
                <a:cs typeface="Verdana"/>
              </a:rPr>
              <a:t>Numbers: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int,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long,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float,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complex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75" dirty="0">
                <a:latin typeface="Verdana"/>
                <a:cs typeface="Verdana"/>
              </a:rPr>
              <a:t>Strings: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immutable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185" dirty="0">
                <a:latin typeface="Verdana"/>
                <a:cs typeface="Verdana"/>
              </a:rPr>
              <a:t>Lists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spc="65" dirty="0">
                <a:latin typeface="Verdana"/>
                <a:cs typeface="Verdana"/>
              </a:rPr>
              <a:t>and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dictionaries: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containers</a:t>
            </a:r>
            <a:endParaRPr sz="24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40" dirty="0">
                <a:latin typeface="Verdana"/>
                <a:cs typeface="Verdana"/>
              </a:rPr>
              <a:t>Other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types </a:t>
            </a:r>
            <a:r>
              <a:rPr sz="2400" spc="-80" dirty="0">
                <a:latin typeface="Verdana"/>
                <a:cs typeface="Verdana"/>
              </a:rPr>
              <a:t>for</a:t>
            </a:r>
            <a:r>
              <a:rPr sz="2400" spc="-114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e.g.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binary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data,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regular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expressions, </a:t>
            </a:r>
            <a:r>
              <a:rPr sz="2400" spc="-10" dirty="0">
                <a:latin typeface="Verdana"/>
                <a:cs typeface="Verdana"/>
              </a:rPr>
              <a:t>introspection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400" spc="65" dirty="0">
                <a:latin typeface="Lucida Sans Unicode"/>
                <a:cs typeface="Lucida Sans Unicode"/>
              </a:rPr>
              <a:t>▶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95" dirty="0">
                <a:latin typeface="Verdana"/>
                <a:cs typeface="Verdana"/>
              </a:rPr>
              <a:t>Extension</a:t>
            </a:r>
            <a:r>
              <a:rPr sz="2400" spc="-11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modules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105" dirty="0">
                <a:latin typeface="Verdana"/>
                <a:cs typeface="Verdana"/>
              </a:rPr>
              <a:t>can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define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new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75" dirty="0">
                <a:latin typeface="Verdana"/>
                <a:cs typeface="Verdana"/>
              </a:rPr>
              <a:t>“built-</a:t>
            </a:r>
            <a:r>
              <a:rPr sz="2400" spc="-50" dirty="0">
                <a:latin typeface="Verdana"/>
                <a:cs typeface="Verdana"/>
              </a:rPr>
              <a:t>in”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45" dirty="0">
                <a:latin typeface="Verdana"/>
                <a:cs typeface="Verdana"/>
              </a:rPr>
              <a:t>data</a:t>
            </a:r>
            <a:endParaRPr sz="24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latin typeface="Verdana"/>
                <a:cs typeface="Verdana"/>
              </a:rPr>
              <a:t>types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Why</a:t>
            </a:r>
            <a:r>
              <a:rPr spc="-229" dirty="0"/>
              <a:t> </a:t>
            </a:r>
            <a:r>
              <a:rPr spc="-70" dirty="0"/>
              <a:t>learn</a:t>
            </a:r>
            <a:r>
              <a:rPr spc="-235" dirty="0"/>
              <a:t> </a:t>
            </a:r>
            <a:r>
              <a:rPr spc="-10" dirty="0"/>
              <a:t>python?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618" y="2036222"/>
            <a:ext cx="7752182" cy="416844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400" spc="195" dirty="0">
                <a:latin typeface="Lucida Sans Unicode"/>
                <a:cs typeface="Lucida Sans Unicode"/>
              </a:rPr>
              <a:t>▶</a:t>
            </a:r>
            <a:r>
              <a:rPr sz="2400" spc="260" dirty="0">
                <a:latin typeface="Lucida Sans Unicode"/>
                <a:cs typeface="Lucida Sans Unicode"/>
              </a:rPr>
              <a:t> </a:t>
            </a:r>
            <a:r>
              <a:rPr sz="2400" spc="-190" dirty="0">
                <a:latin typeface="Verdana"/>
                <a:cs typeface="Verdana"/>
              </a:rPr>
              <a:t>Fun-</a:t>
            </a:r>
            <a:r>
              <a:rPr sz="2400" spc="-120" dirty="0">
                <a:latin typeface="Verdana"/>
                <a:cs typeface="Verdana"/>
              </a:rPr>
              <a:t>to-</a:t>
            </a:r>
            <a:r>
              <a:rPr sz="2400" spc="-100" dirty="0">
                <a:latin typeface="Verdana"/>
                <a:cs typeface="Verdana"/>
              </a:rPr>
              <a:t>use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30" dirty="0">
                <a:latin typeface="Verdana"/>
                <a:cs typeface="Verdana"/>
              </a:rPr>
              <a:t>"Scripting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language"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00" spc="195" dirty="0">
                <a:latin typeface="Lucida Sans Unicode"/>
                <a:cs typeface="Lucida Sans Unicode"/>
              </a:rPr>
              <a:t>▶</a:t>
            </a:r>
            <a:r>
              <a:rPr sz="2400" spc="2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Verdana"/>
                <a:cs typeface="Verdana"/>
              </a:rPr>
              <a:t>Object-oriented</a:t>
            </a:r>
            <a:endParaRPr sz="2400" dirty="0">
              <a:latin typeface="Verdana"/>
              <a:cs typeface="Verdana"/>
            </a:endParaRPr>
          </a:p>
          <a:p>
            <a:pPr marR="3850004" algn="r">
              <a:lnSpc>
                <a:spcPct val="100000"/>
              </a:lnSpc>
              <a:spcBef>
                <a:spcPts val="750"/>
              </a:spcBef>
            </a:pPr>
            <a:r>
              <a:rPr sz="2400" spc="150" dirty="0">
                <a:latin typeface="Lucida Sans Unicode"/>
                <a:cs typeface="Lucida Sans Unicode"/>
              </a:rPr>
              <a:t>▶ </a:t>
            </a:r>
            <a:r>
              <a:rPr sz="2400" spc="-105" dirty="0">
                <a:latin typeface="Verdana"/>
                <a:cs typeface="Verdana"/>
              </a:rPr>
              <a:t>Highly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educational</a:t>
            </a:r>
            <a:endParaRPr sz="2400" dirty="0">
              <a:latin typeface="Verdana"/>
              <a:cs typeface="Verdana"/>
            </a:endParaRPr>
          </a:p>
          <a:p>
            <a:pPr marR="3861435" algn="r">
              <a:lnSpc>
                <a:spcPct val="100000"/>
              </a:lnSpc>
              <a:spcBef>
                <a:spcPts val="685"/>
              </a:spcBef>
            </a:pPr>
            <a:r>
              <a:rPr sz="2400" spc="195" dirty="0">
                <a:latin typeface="Lucida Sans Unicode"/>
                <a:cs typeface="Lucida Sans Unicode"/>
              </a:rPr>
              <a:t>▶</a:t>
            </a:r>
            <a:r>
              <a:rPr sz="2400" spc="240" dirty="0">
                <a:latin typeface="Lucida Sans Unicode"/>
                <a:cs typeface="Lucida Sans Unicode"/>
              </a:rPr>
              <a:t> </a:t>
            </a:r>
            <a:r>
              <a:rPr sz="2400" spc="-95" dirty="0">
                <a:latin typeface="Verdana"/>
                <a:cs typeface="Verdana"/>
              </a:rPr>
              <a:t>Very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easy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learn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195" dirty="0">
                <a:latin typeface="Lucida Sans Unicode"/>
                <a:cs typeface="Lucida Sans Unicode"/>
              </a:rPr>
              <a:t>▶</a:t>
            </a:r>
            <a:r>
              <a:rPr sz="2400" spc="220" dirty="0">
                <a:latin typeface="Lucida Sans Unicode"/>
                <a:cs typeface="Lucida Sans Unicode"/>
              </a:rPr>
              <a:t> </a:t>
            </a:r>
            <a:r>
              <a:rPr sz="2400" spc="-90" dirty="0">
                <a:latin typeface="Verdana"/>
                <a:cs typeface="Verdana"/>
              </a:rPr>
              <a:t>Powerful,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scalable,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easy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maintain</a:t>
            </a:r>
            <a:endParaRPr sz="2400" dirty="0">
              <a:latin typeface="Verdana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50"/>
              </a:spcBef>
            </a:pPr>
            <a:r>
              <a:rPr sz="2400" spc="150" dirty="0">
                <a:latin typeface="Lucida Sans Unicode"/>
                <a:cs typeface="Lucida Sans Unicode"/>
              </a:rPr>
              <a:t>▶</a:t>
            </a:r>
            <a:r>
              <a:rPr sz="2400" spc="145" dirty="0">
                <a:latin typeface="Lucida Sans Unicode"/>
                <a:cs typeface="Lucida Sans Unicode"/>
              </a:rPr>
              <a:t> </a:t>
            </a:r>
            <a:r>
              <a:rPr sz="2400" spc="-55" dirty="0">
                <a:latin typeface="Verdana"/>
                <a:cs typeface="Verdana"/>
              </a:rPr>
              <a:t>high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productivity</a:t>
            </a:r>
            <a:endParaRPr sz="2400" dirty="0">
              <a:latin typeface="Verdana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35"/>
              </a:spcBef>
            </a:pPr>
            <a:r>
              <a:rPr sz="2400" spc="150" dirty="0">
                <a:latin typeface="Lucida Sans Unicode"/>
                <a:cs typeface="Lucida Sans Unicode"/>
              </a:rPr>
              <a:t>▶</a:t>
            </a:r>
            <a:r>
              <a:rPr sz="2400" spc="130" dirty="0">
                <a:latin typeface="Lucida Sans Unicode"/>
                <a:cs typeface="Lucida Sans Unicode"/>
              </a:rPr>
              <a:t> </a:t>
            </a:r>
            <a:r>
              <a:rPr sz="2400" spc="-140" dirty="0">
                <a:latin typeface="Verdana"/>
                <a:cs typeface="Verdana"/>
              </a:rPr>
              <a:t>Lots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libraries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195" dirty="0">
                <a:latin typeface="Lucida Sans Unicode"/>
                <a:cs typeface="Lucida Sans Unicode"/>
              </a:rPr>
              <a:t>▶</a:t>
            </a:r>
            <a:r>
              <a:rPr sz="2400" spc="2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Verdana"/>
                <a:cs typeface="Verdana"/>
              </a:rPr>
              <a:t>Glue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40" dirty="0">
                <a:latin typeface="Verdana"/>
                <a:cs typeface="Verdana"/>
              </a:rPr>
              <a:t>language</a:t>
            </a:r>
            <a:endParaRPr sz="2400" dirty="0">
              <a:latin typeface="Verdana"/>
              <a:cs typeface="Verdana"/>
            </a:endParaRPr>
          </a:p>
          <a:p>
            <a:pPr marL="414655">
              <a:lnSpc>
                <a:spcPct val="100000"/>
              </a:lnSpc>
              <a:spcBef>
                <a:spcPts val="745"/>
              </a:spcBef>
            </a:pPr>
            <a:r>
              <a:rPr sz="2400" spc="150" dirty="0">
                <a:latin typeface="Lucida Sans Unicode"/>
                <a:cs typeface="Lucida Sans Unicode"/>
              </a:rPr>
              <a:t>▶</a:t>
            </a:r>
            <a:r>
              <a:rPr sz="2400" spc="155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Verdana"/>
                <a:cs typeface="Verdana"/>
              </a:rPr>
              <a:t>Interactive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25" dirty="0">
                <a:latin typeface="Verdana"/>
                <a:cs typeface="Verdana"/>
              </a:rPr>
              <a:t>front-</a:t>
            </a:r>
            <a:r>
              <a:rPr sz="2400" spc="50" dirty="0">
                <a:latin typeface="Verdana"/>
                <a:cs typeface="Verdana"/>
              </a:rPr>
              <a:t>end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for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FORTRAN/C/C++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125" dirty="0">
                <a:latin typeface="Verdana"/>
                <a:cs typeface="Verdana"/>
              </a:rPr>
              <a:t>code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Where</a:t>
            </a:r>
            <a:r>
              <a:rPr spc="-260" dirty="0"/>
              <a:t> </a:t>
            </a:r>
            <a:r>
              <a:rPr dirty="0"/>
              <a:t>to</a:t>
            </a:r>
            <a:r>
              <a:rPr spc="-240" dirty="0"/>
              <a:t> </a:t>
            </a:r>
            <a:r>
              <a:rPr spc="-120" dirty="0"/>
              <a:t>use</a:t>
            </a:r>
            <a:r>
              <a:rPr spc="-235" dirty="0"/>
              <a:t> </a:t>
            </a:r>
            <a:r>
              <a:rPr spc="-10" dirty="0"/>
              <a:t>python?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346073" rIns="0" bIns="0" rtlCol="0">
            <a:spAutoFit/>
          </a:bodyPr>
          <a:lstStyle/>
          <a:p>
            <a:pPr marL="464184">
              <a:lnSpc>
                <a:spcPct val="100000"/>
              </a:lnSpc>
              <a:spcBef>
                <a:spcPts val="440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210" dirty="0"/>
              <a:t>System</a:t>
            </a:r>
            <a:r>
              <a:rPr spc="-80" dirty="0"/>
              <a:t> </a:t>
            </a:r>
            <a:r>
              <a:rPr dirty="0"/>
              <a:t>management</a:t>
            </a:r>
            <a:r>
              <a:rPr spc="-60" dirty="0"/>
              <a:t> </a:t>
            </a:r>
            <a:r>
              <a:rPr spc="-185" dirty="0"/>
              <a:t>(i.e.,</a:t>
            </a:r>
            <a:r>
              <a:rPr spc="-75" dirty="0"/>
              <a:t> </a:t>
            </a:r>
            <a:r>
              <a:rPr spc="-80" dirty="0"/>
              <a:t>scripting)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40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45" dirty="0"/>
              <a:t>Graphic</a:t>
            </a:r>
            <a:r>
              <a:rPr spc="-190" dirty="0"/>
              <a:t> </a:t>
            </a:r>
            <a:r>
              <a:rPr spc="-215" dirty="0"/>
              <a:t>User</a:t>
            </a:r>
            <a:r>
              <a:rPr spc="-190" dirty="0"/>
              <a:t> </a:t>
            </a:r>
            <a:r>
              <a:rPr spc="-45" dirty="0"/>
              <a:t>Interface</a:t>
            </a:r>
            <a:r>
              <a:rPr spc="-165" dirty="0"/>
              <a:t> </a:t>
            </a:r>
            <a:r>
              <a:rPr spc="-10" dirty="0"/>
              <a:t>(GUI)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2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3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145" dirty="0"/>
              <a:t>Internet</a:t>
            </a:r>
            <a:r>
              <a:rPr spc="-140" dirty="0"/>
              <a:t> </a:t>
            </a:r>
            <a:r>
              <a:rPr spc="-10" dirty="0"/>
              <a:t>programming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2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1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Database</a:t>
            </a:r>
            <a:r>
              <a:rPr spc="-55" dirty="0"/>
              <a:t> </a:t>
            </a:r>
            <a:r>
              <a:rPr spc="-229" dirty="0"/>
              <a:t>(DB)</a:t>
            </a:r>
            <a:r>
              <a:rPr spc="-90" dirty="0"/>
              <a:t> </a:t>
            </a:r>
            <a:r>
              <a:rPr spc="-10" dirty="0"/>
              <a:t>programming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3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235" dirty="0"/>
              <a:t>Text</a:t>
            </a:r>
            <a:r>
              <a:rPr spc="-180" dirty="0"/>
              <a:t> </a:t>
            </a:r>
            <a:r>
              <a:rPr spc="105" dirty="0"/>
              <a:t>data</a:t>
            </a:r>
            <a:r>
              <a:rPr spc="-204" dirty="0"/>
              <a:t> </a:t>
            </a:r>
            <a:r>
              <a:rPr spc="-10" dirty="0"/>
              <a:t>processing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2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3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114" dirty="0"/>
              <a:t>Distributed</a:t>
            </a:r>
            <a:r>
              <a:rPr spc="-175" dirty="0"/>
              <a:t> </a:t>
            </a:r>
            <a:r>
              <a:rPr spc="-10" dirty="0"/>
              <a:t>processing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2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45" dirty="0"/>
              <a:t>Numerical</a:t>
            </a:r>
            <a:r>
              <a:rPr spc="-190" dirty="0"/>
              <a:t> </a:t>
            </a:r>
            <a:r>
              <a:rPr spc="-10" dirty="0"/>
              <a:t>operations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3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10" dirty="0"/>
              <a:t>Graphics</a:t>
            </a:r>
            <a:endParaRPr sz="2250">
              <a:latin typeface="Lucida Sans Unicode"/>
              <a:cs typeface="Lucida Sans Unicode"/>
            </a:endParaRPr>
          </a:p>
          <a:p>
            <a:pPr marL="464184">
              <a:lnSpc>
                <a:spcPct val="100000"/>
              </a:lnSpc>
              <a:spcBef>
                <a:spcPts val="32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70" dirty="0"/>
              <a:t>And</a:t>
            </a:r>
            <a:r>
              <a:rPr spc="-185" dirty="0"/>
              <a:t> </a:t>
            </a:r>
            <a:r>
              <a:rPr spc="-135" dirty="0"/>
              <a:t>so</a:t>
            </a:r>
            <a:r>
              <a:rPr spc="-200" dirty="0"/>
              <a:t> </a:t>
            </a:r>
            <a:r>
              <a:rPr spc="145" dirty="0"/>
              <a:t>on…</a:t>
            </a:r>
            <a:endParaRPr sz="2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Why</a:t>
            </a:r>
            <a:r>
              <a:rPr spc="-235" dirty="0"/>
              <a:t> </a:t>
            </a:r>
            <a:r>
              <a:rPr spc="-70" dirty="0"/>
              <a:t>learn</a:t>
            </a:r>
            <a:r>
              <a:rPr spc="-240" dirty="0"/>
              <a:t> </a:t>
            </a:r>
            <a:r>
              <a:rPr spc="-20" dirty="0"/>
              <a:t>python?</a:t>
            </a:r>
            <a:r>
              <a:rPr spc="-229" dirty="0"/>
              <a:t> </a:t>
            </a:r>
            <a:r>
              <a:rPr spc="-4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3094" y="2326386"/>
            <a:ext cx="7601306" cy="336694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50" dirty="0">
                <a:latin typeface="Verdana"/>
                <a:cs typeface="Verdana"/>
              </a:rPr>
              <a:t>Reduce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development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time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50" dirty="0">
                <a:latin typeface="Verdana"/>
                <a:cs typeface="Verdana"/>
              </a:rPr>
              <a:t>Reduce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125" dirty="0">
                <a:latin typeface="Verdana"/>
                <a:cs typeface="Verdana"/>
              </a:rPr>
              <a:t>code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length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00" dirty="0">
                <a:latin typeface="Verdana"/>
                <a:cs typeface="Verdana"/>
              </a:rPr>
              <a:t>Easy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learn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spc="65" dirty="0">
                <a:latin typeface="Verdana"/>
                <a:cs typeface="Verdana"/>
              </a:rPr>
              <a:t>and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use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as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developers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00" dirty="0">
                <a:latin typeface="Verdana"/>
                <a:cs typeface="Verdana"/>
              </a:rPr>
              <a:t>Easy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understand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30" dirty="0">
                <a:latin typeface="Verdana"/>
                <a:cs typeface="Verdana"/>
              </a:rPr>
              <a:t>codes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00" dirty="0">
                <a:latin typeface="Verdana"/>
                <a:cs typeface="Verdana"/>
              </a:rPr>
              <a:t>Easy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95" dirty="0">
                <a:latin typeface="Verdana"/>
                <a:cs typeface="Verdana"/>
              </a:rPr>
              <a:t>do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team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projects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00" dirty="0">
                <a:latin typeface="Verdana"/>
                <a:cs typeface="Verdana"/>
              </a:rPr>
              <a:t>Easy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extend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other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languages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Course</a:t>
            </a:r>
            <a:r>
              <a:rPr spc="-245" dirty="0"/>
              <a:t> </a:t>
            </a:r>
            <a:r>
              <a:rPr spc="-10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7744257" cy="242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7795" indent="-343535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5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understand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basic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structure </a:t>
            </a:r>
            <a:r>
              <a:rPr sz="2800" spc="60" dirty="0">
                <a:latin typeface="Verdana"/>
                <a:cs typeface="Verdana"/>
              </a:rPr>
              <a:t>and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syntax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of </a:t>
            </a:r>
            <a:r>
              <a:rPr sz="2800" spc="-45" dirty="0">
                <a:latin typeface="Verdana"/>
                <a:cs typeface="Verdana"/>
              </a:rPr>
              <a:t>Python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programming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language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50" dirty="0">
                <a:latin typeface="Verdana"/>
                <a:cs typeface="Verdana"/>
              </a:rPr>
              <a:t>To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write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your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own</a:t>
            </a:r>
            <a:r>
              <a:rPr sz="2800" spc="-75" dirty="0">
                <a:latin typeface="Verdana"/>
                <a:cs typeface="Verdana"/>
              </a:rPr>
              <a:t> simple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Python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scripts.</a:t>
            </a:r>
            <a:endParaRPr sz="28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150" dirty="0">
                <a:latin typeface="Verdana"/>
                <a:cs typeface="Verdana"/>
              </a:rPr>
              <a:t>To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serve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as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starting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point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for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more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advanced </a:t>
            </a:r>
            <a:r>
              <a:rPr sz="2800" spc="-65" dirty="0">
                <a:latin typeface="Verdana"/>
                <a:cs typeface="Verdana"/>
              </a:rPr>
              <a:t>training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Python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coding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057400"/>
            <a:ext cx="7210857" cy="39260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280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10" dirty="0">
                <a:latin typeface="Verdana"/>
                <a:cs typeface="Verdana"/>
              </a:rPr>
              <a:t>Introduction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280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60" dirty="0">
                <a:solidFill>
                  <a:srgbClr val="FF0000"/>
                </a:solidFill>
                <a:latin typeface="Verdana"/>
                <a:cs typeface="Verdana"/>
              </a:rPr>
              <a:t>Running</a:t>
            </a:r>
            <a:r>
              <a:rPr sz="2800" spc="-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Verdana"/>
                <a:cs typeface="Verdana"/>
              </a:rPr>
              <a:t>Python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280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45" dirty="0">
                <a:latin typeface="Verdana"/>
                <a:cs typeface="Verdana"/>
              </a:rPr>
              <a:t>Python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Programming</a:t>
            </a:r>
            <a:endParaRPr sz="28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7865" algn="l"/>
              </a:tabLst>
            </a:pPr>
            <a:r>
              <a:rPr sz="280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dirty="0">
                <a:latin typeface="Verdana"/>
                <a:cs typeface="Verdana"/>
              </a:rPr>
              <a:t>Data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types</a:t>
            </a:r>
            <a:endParaRPr sz="28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1005"/>
              </a:spcBef>
              <a:tabLst>
                <a:tab pos="697865" algn="l"/>
              </a:tabLst>
            </a:pPr>
            <a:r>
              <a:rPr sz="280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25" dirty="0">
                <a:latin typeface="Verdana"/>
                <a:cs typeface="Verdana"/>
              </a:rPr>
              <a:t>Control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flows</a:t>
            </a:r>
            <a:endParaRPr sz="2800" dirty="0">
              <a:latin typeface="Verdana"/>
              <a:cs typeface="Verdana"/>
            </a:endParaRPr>
          </a:p>
          <a:p>
            <a:pPr marL="416559">
              <a:lnSpc>
                <a:spcPct val="100000"/>
              </a:lnSpc>
              <a:spcBef>
                <a:spcPts val="994"/>
              </a:spcBef>
              <a:tabLst>
                <a:tab pos="697865" algn="l"/>
              </a:tabLst>
            </a:pPr>
            <a:r>
              <a:rPr sz="280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75" dirty="0">
                <a:latin typeface="Verdana"/>
                <a:cs typeface="Verdana"/>
              </a:rPr>
              <a:t>Classes,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functions,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modules</a:t>
            </a:r>
            <a:endParaRPr sz="2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280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8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800" spc="-80" dirty="0">
                <a:latin typeface="Verdana"/>
                <a:cs typeface="Verdana"/>
              </a:rPr>
              <a:t>Hands-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Exercises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FE72-22A6-9BEA-B187-9248E9C7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7E7A4-B8D7-136C-FC08-56659249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84" y="452718"/>
            <a:ext cx="4761268" cy="2885617"/>
          </a:xfrm>
          <a:prstGeom prst="rect">
            <a:avLst/>
          </a:prstGeom>
        </p:spPr>
      </p:pic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FAB05AB-36E2-ABB7-F219-2FC47D914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98" y="3594995"/>
            <a:ext cx="4561696" cy="2885618"/>
          </a:xfrm>
          <a:prstGeom prst="rect">
            <a:avLst/>
          </a:prstGeom>
        </p:spPr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D6DA369-D98B-DC70-3133-6008CF1D7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99" y="166006"/>
            <a:ext cx="3812616" cy="31723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ED0847-EC2A-341C-5C1F-CE803B3ABDC1}"/>
              </a:ext>
            </a:extLst>
          </p:cNvPr>
          <p:cNvSpPr txBox="1"/>
          <p:nvPr/>
        </p:nvSpPr>
        <p:spPr>
          <a:xfrm>
            <a:off x="1447800" y="6488668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Spyder Console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1EA96-F733-9291-08E4-3D4A5D79FEFB}"/>
              </a:ext>
            </a:extLst>
          </p:cNvPr>
          <p:cNvSpPr txBox="1"/>
          <p:nvPr/>
        </p:nvSpPr>
        <p:spPr>
          <a:xfrm>
            <a:off x="6019800" y="3279363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1026" name="Picture 2" descr="Getting started with the terminal">
            <a:extLst>
              <a:ext uri="{FF2B5EF4-FFF2-40B4-BE49-F238E27FC236}">
                <a16:creationId xmlns:a16="http://schemas.microsoft.com/office/drawing/2014/main" id="{40B23458-0361-BDB1-C94D-D6B6C5D53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682" y="3648696"/>
            <a:ext cx="4240317" cy="281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95E027-0A00-F74D-736D-6AE357987FC9}"/>
              </a:ext>
            </a:extLst>
          </p:cNvPr>
          <p:cNvSpPr txBox="1"/>
          <p:nvPr/>
        </p:nvSpPr>
        <p:spPr>
          <a:xfrm>
            <a:off x="6418516" y="645169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Visual Studio</a:t>
            </a:r>
          </a:p>
        </p:txBody>
      </p:sp>
    </p:spTree>
    <p:extLst>
      <p:ext uri="{BB962C8B-B14F-4D97-AF65-F5344CB8AC3E}">
        <p14:creationId xmlns:p14="http://schemas.microsoft.com/office/powerpoint/2010/main" val="108561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710" y="452718"/>
            <a:ext cx="7055380" cy="906016"/>
          </a:xfrm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75" dirty="0">
                <a:solidFill>
                  <a:schemeClr val="tx1"/>
                </a:solidFill>
              </a:rPr>
              <a:t>Python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spc="-100" dirty="0">
                <a:solidFill>
                  <a:schemeClr val="tx1"/>
                </a:solidFill>
              </a:rPr>
              <a:t>as</a:t>
            </a:r>
            <a:r>
              <a:rPr spc="-245" dirty="0">
                <a:solidFill>
                  <a:schemeClr val="tx1"/>
                </a:solidFill>
              </a:rPr>
              <a:t> </a:t>
            </a:r>
            <a:r>
              <a:rPr spc="250" dirty="0">
                <a:solidFill>
                  <a:schemeClr val="tx1"/>
                </a:solidFill>
              </a:rPr>
              <a:t>a</a:t>
            </a:r>
            <a:r>
              <a:rPr spc="-235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calculator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299" y="2286000"/>
            <a:ext cx="8915399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800" spc="65" dirty="0">
                <a:latin typeface="Lucida Sans Unicode"/>
                <a:cs typeface="Lucida Sans Unicode"/>
              </a:rPr>
              <a:t>▶</a:t>
            </a:r>
            <a:r>
              <a:rPr sz="2800" dirty="0">
                <a:latin typeface="Lucida Sans Unicode"/>
                <a:cs typeface="Lucida Sans Unicode"/>
              </a:rPr>
              <a:t>	</a:t>
            </a:r>
            <a:r>
              <a:rPr sz="2800" spc="-75" dirty="0">
                <a:latin typeface="Verdana"/>
                <a:cs typeface="Verdana"/>
              </a:rPr>
              <a:t>Let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us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calculate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distance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between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Edinburgh</a:t>
            </a:r>
            <a:endParaRPr sz="28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spc="60" dirty="0">
                <a:latin typeface="Verdana"/>
                <a:cs typeface="Verdana"/>
              </a:rPr>
              <a:t>and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London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in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km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3429000"/>
            <a:ext cx="7702296" cy="8107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454" y="1905000"/>
            <a:ext cx="744534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dirty="0">
                <a:latin typeface="Verdana"/>
                <a:cs typeface="Verdana"/>
              </a:rPr>
              <a:t>Great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calculator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but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how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105" dirty="0">
                <a:latin typeface="Verdana"/>
                <a:cs typeface="Verdana"/>
              </a:rPr>
              <a:t>can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make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14" dirty="0">
                <a:latin typeface="Verdana"/>
                <a:cs typeface="Verdana"/>
              </a:rPr>
              <a:t>it </a:t>
            </a:r>
            <a:r>
              <a:rPr sz="1800" spc="-40" dirty="0">
                <a:latin typeface="Verdana"/>
                <a:cs typeface="Verdana"/>
              </a:rPr>
              <a:t>store</a:t>
            </a:r>
            <a:endParaRPr sz="18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Verdana"/>
                <a:cs typeface="Verdana"/>
              </a:rPr>
              <a:t>values?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145" dirty="0">
                <a:latin typeface="Verdana"/>
                <a:cs typeface="Verdana"/>
              </a:rPr>
              <a:t>this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defining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variables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100" dirty="0">
                <a:latin typeface="Verdana"/>
                <a:cs typeface="Verdana"/>
              </a:rPr>
              <a:t>Can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later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85" dirty="0">
                <a:latin typeface="Verdana"/>
                <a:cs typeface="Verdana"/>
              </a:rPr>
              <a:t>be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called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the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variable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name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spc="-10" dirty="0">
                <a:latin typeface="Verdana"/>
                <a:cs typeface="Verdana"/>
              </a:rPr>
              <a:t>Variable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names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50" dirty="0">
                <a:latin typeface="Verdana"/>
                <a:cs typeface="Verdana"/>
              </a:rPr>
              <a:t>case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sensitive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60" dirty="0">
                <a:latin typeface="Verdana"/>
                <a:cs typeface="Verdana"/>
              </a:rPr>
              <a:t>and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unique</a:t>
            </a:r>
            <a:endParaRPr sz="18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476" y="4532376"/>
            <a:ext cx="6786372" cy="13091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683" y="3300729"/>
            <a:ext cx="7385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now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reuse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variable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mileToKm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next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block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without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having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define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again!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083" y="4786884"/>
            <a:ext cx="6611111" cy="9524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11169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623379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Variables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actually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type,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defines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way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stored.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basic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types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are: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4" y="3029711"/>
            <a:ext cx="7583424" cy="2270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523" y="0"/>
            <a:ext cx="9119870" cy="6858000"/>
            <a:chOff x="-1523" y="0"/>
            <a:chExt cx="911987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8092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95600"/>
              <a:ext cx="2362200" cy="2362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8691" y="1676400"/>
              <a:ext cx="2819400" cy="2819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9091" y="0"/>
              <a:ext cx="1600200" cy="1600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8691" y="5870447"/>
              <a:ext cx="990600" cy="9875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1523" y="2667000"/>
              <a:ext cx="4191000" cy="41910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8642350" y="0"/>
                  </a:lnTo>
                  <a:lnTo>
                    <a:pt x="8642350" y="514350"/>
                  </a:lnTo>
                  <a:lnTo>
                    <a:pt x="8642350" y="6356350"/>
                  </a:lnTo>
                  <a:lnTo>
                    <a:pt x="514350" y="6356350"/>
                  </a:lnTo>
                  <a:lnTo>
                    <a:pt x="514350" y="514350"/>
                  </a:lnTo>
                  <a:lnTo>
                    <a:pt x="8642350" y="514350"/>
                  </a:lnTo>
                  <a:lnTo>
                    <a:pt x="864235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0" y="635635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6356350"/>
                  </a:lnTo>
                  <a:lnTo>
                    <a:pt x="9144000" y="5143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5343" y="0"/>
              <a:ext cx="760488" cy="11612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44968" y="0"/>
              <a:ext cx="685800" cy="1100455"/>
            </a:xfrm>
            <a:custGeom>
              <a:avLst/>
              <a:gdLst/>
              <a:ahLst/>
              <a:cxnLst/>
              <a:rect l="l" t="t" r="r" b="b"/>
              <a:pathLst>
                <a:path w="685800" h="1100455">
                  <a:moveTo>
                    <a:pt x="685800" y="0"/>
                  </a:moveTo>
                  <a:lnTo>
                    <a:pt x="0" y="0"/>
                  </a:lnTo>
                  <a:lnTo>
                    <a:pt x="0" y="1100327"/>
                  </a:lnTo>
                  <a:lnTo>
                    <a:pt x="685800" y="1100327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2156" y="2944367"/>
              <a:ext cx="2193036" cy="228752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48308" y="3016758"/>
            <a:ext cx="3609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solidFill>
                  <a:srgbClr val="EE52A4"/>
                </a:solidFill>
              </a:rPr>
              <a:t>WHY</a:t>
            </a:r>
            <a:r>
              <a:rPr sz="2400" spc="-120" dirty="0">
                <a:solidFill>
                  <a:srgbClr val="EE52A4"/>
                </a:solidFill>
              </a:rPr>
              <a:t> </a:t>
            </a:r>
            <a:r>
              <a:rPr sz="2400" spc="-170" dirty="0">
                <a:solidFill>
                  <a:srgbClr val="EE52A4"/>
                </a:solidFill>
              </a:rPr>
              <a:t>SHOULD</a:t>
            </a:r>
            <a:r>
              <a:rPr sz="2400" spc="-125" dirty="0">
                <a:solidFill>
                  <a:srgbClr val="EE52A4"/>
                </a:solidFill>
              </a:rPr>
              <a:t> </a:t>
            </a:r>
            <a:r>
              <a:rPr sz="2400" spc="-180" dirty="0">
                <a:solidFill>
                  <a:srgbClr val="EE52A4"/>
                </a:solidFill>
              </a:rPr>
              <a:t>WE</a:t>
            </a:r>
            <a:r>
              <a:rPr sz="2400" spc="-114" dirty="0">
                <a:solidFill>
                  <a:srgbClr val="EE52A4"/>
                </a:solidFill>
              </a:rPr>
              <a:t> </a:t>
            </a:r>
            <a:r>
              <a:rPr sz="2400" spc="-10" dirty="0">
                <a:solidFill>
                  <a:srgbClr val="EE52A4"/>
                </a:solidFill>
              </a:rPr>
              <a:t>CARE?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883" y="1994916"/>
            <a:ext cx="7441692" cy="28681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5330" y="4879340"/>
            <a:ext cx="75615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Important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lesson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remember!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can't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arithmetic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types.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Therefore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always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aware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0" dirty="0">
                <a:latin typeface="Arial MT"/>
                <a:cs typeface="Arial MT"/>
              </a:rPr>
              <a:t> types!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Arial MT"/>
                <a:cs typeface="Arial MT"/>
              </a:rPr>
              <a:t>You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type()</a:t>
            </a:r>
            <a:r>
              <a:rPr sz="1800" dirty="0">
                <a:latin typeface="Arial MT"/>
                <a:cs typeface="Arial MT"/>
              </a:rPr>
              <a:t>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example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type(x)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26974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Casting</a:t>
            </a:r>
            <a:r>
              <a:rPr spc="-245" dirty="0"/>
              <a:t> </a:t>
            </a:r>
            <a:r>
              <a:rPr spc="-7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6168390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Luckily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offers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us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way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converting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variables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different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types!</a:t>
            </a:r>
            <a:endParaRPr sz="1800">
              <a:latin typeface="Verdana"/>
              <a:cs typeface="Verdana"/>
            </a:endParaRPr>
          </a:p>
          <a:p>
            <a:pPr marL="12700" marR="296545">
              <a:lnSpc>
                <a:spcPct val="100000"/>
              </a:lnSpc>
              <a:spcBef>
                <a:spcPts val="994"/>
              </a:spcBef>
            </a:pP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Casting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operation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converting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variable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different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type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08" y="3842003"/>
            <a:ext cx="7559040" cy="10942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0356" y="5109159"/>
            <a:ext cx="294195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Similar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methods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exist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for </a:t>
            </a:r>
            <a:r>
              <a:rPr sz="2100" dirty="0">
                <a:latin typeface="Arial MT"/>
                <a:cs typeface="Arial MT"/>
              </a:rPr>
              <a:t>other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types: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b="1" spc="-10" dirty="0">
                <a:latin typeface="Arial"/>
                <a:cs typeface="Arial"/>
              </a:rPr>
              <a:t>int()</a:t>
            </a:r>
            <a:r>
              <a:rPr sz="2100" spc="-10" dirty="0">
                <a:latin typeface="Arial MT"/>
                <a:cs typeface="Arial MT"/>
              </a:rPr>
              <a:t>, </a:t>
            </a:r>
            <a:r>
              <a:rPr sz="2100" b="1" dirty="0">
                <a:latin typeface="Arial"/>
                <a:cs typeface="Arial"/>
              </a:rPr>
              <a:t>float()</a:t>
            </a:r>
            <a:r>
              <a:rPr sz="2100" dirty="0">
                <a:latin typeface="Arial MT"/>
                <a:cs typeface="Arial MT"/>
              </a:rPr>
              <a:t>,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b="1" spc="-20" dirty="0">
                <a:latin typeface="Arial"/>
                <a:cs typeface="Arial"/>
              </a:rPr>
              <a:t>str()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3" y="2313432"/>
            <a:ext cx="6949440" cy="7970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Quick</a:t>
            </a:r>
            <a:r>
              <a:rPr spc="-250" dirty="0"/>
              <a:t> </a:t>
            </a:r>
            <a:r>
              <a:rPr spc="-90" dirty="0"/>
              <a:t>quiz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3261105"/>
            <a:ext cx="2387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result?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3727703"/>
            <a:ext cx="6902196" cy="2407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Arithmetic</a:t>
            </a:r>
            <a:r>
              <a:rPr spc="-215" dirty="0"/>
              <a:t> </a:t>
            </a:r>
            <a:r>
              <a:rPr spc="-2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2118486"/>
            <a:ext cx="3726179" cy="190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100"/>
              </a:lnSpc>
              <a:spcBef>
                <a:spcPts val="100"/>
              </a:spcBef>
            </a:pP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Similar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actual</a:t>
            </a:r>
            <a:r>
              <a:rPr sz="18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Mathematics.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Order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precedence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same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Mathematics.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use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parenthesis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()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4964" y="1981200"/>
            <a:ext cx="4311395" cy="32720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463" y="2851404"/>
              <a:ext cx="7824216" cy="8793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9308" y="2848355"/>
              <a:ext cx="1458595" cy="516890"/>
            </a:xfrm>
            <a:custGeom>
              <a:avLst/>
              <a:gdLst/>
              <a:ahLst/>
              <a:cxnLst/>
              <a:rect l="l" t="t" r="r" b="b"/>
              <a:pathLst>
                <a:path w="1458595" h="516889">
                  <a:moveTo>
                    <a:pt x="0" y="86106"/>
                  </a:moveTo>
                  <a:lnTo>
                    <a:pt x="6767" y="52613"/>
                  </a:lnTo>
                  <a:lnTo>
                    <a:pt x="25222" y="25241"/>
                  </a:lnTo>
                  <a:lnTo>
                    <a:pt x="52592" y="6774"/>
                  </a:lnTo>
                  <a:lnTo>
                    <a:pt x="86106" y="0"/>
                  </a:lnTo>
                  <a:lnTo>
                    <a:pt x="1372362" y="0"/>
                  </a:lnTo>
                  <a:lnTo>
                    <a:pt x="1405854" y="6774"/>
                  </a:lnTo>
                  <a:lnTo>
                    <a:pt x="1433226" y="25241"/>
                  </a:lnTo>
                  <a:lnTo>
                    <a:pt x="1451693" y="52613"/>
                  </a:lnTo>
                  <a:lnTo>
                    <a:pt x="1458468" y="86106"/>
                  </a:lnTo>
                  <a:lnTo>
                    <a:pt x="1458468" y="430530"/>
                  </a:lnTo>
                  <a:lnTo>
                    <a:pt x="1451693" y="464022"/>
                  </a:lnTo>
                  <a:lnTo>
                    <a:pt x="1433226" y="491394"/>
                  </a:lnTo>
                  <a:lnTo>
                    <a:pt x="1405854" y="509861"/>
                  </a:lnTo>
                  <a:lnTo>
                    <a:pt x="1372362" y="516636"/>
                  </a:lnTo>
                  <a:lnTo>
                    <a:pt x="86106" y="516636"/>
                  </a:lnTo>
                  <a:lnTo>
                    <a:pt x="52592" y="509861"/>
                  </a:lnTo>
                  <a:lnTo>
                    <a:pt x="25222" y="491394"/>
                  </a:lnTo>
                  <a:lnTo>
                    <a:pt x="6767" y="464022"/>
                  </a:lnTo>
                  <a:lnTo>
                    <a:pt x="0" y="430530"/>
                  </a:lnTo>
                  <a:lnTo>
                    <a:pt x="0" y="86106"/>
                  </a:lnTo>
                  <a:close/>
                </a:path>
              </a:pathLst>
            </a:custGeom>
            <a:ln w="571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2459" y="2929127"/>
              <a:ext cx="958850" cy="355600"/>
            </a:xfrm>
            <a:custGeom>
              <a:avLst/>
              <a:gdLst/>
              <a:ahLst/>
              <a:cxnLst/>
              <a:rect l="l" t="t" r="r" b="b"/>
              <a:pathLst>
                <a:path w="958850" h="355600">
                  <a:moveTo>
                    <a:pt x="0" y="59182"/>
                  </a:moveTo>
                  <a:lnTo>
                    <a:pt x="4650" y="36165"/>
                  </a:lnTo>
                  <a:lnTo>
                    <a:pt x="17332" y="17351"/>
                  </a:lnTo>
                  <a:lnTo>
                    <a:pt x="36143" y="4657"/>
                  </a:lnTo>
                  <a:lnTo>
                    <a:pt x="59182" y="0"/>
                  </a:lnTo>
                  <a:lnTo>
                    <a:pt x="899414" y="0"/>
                  </a:lnTo>
                  <a:lnTo>
                    <a:pt x="922430" y="4657"/>
                  </a:lnTo>
                  <a:lnTo>
                    <a:pt x="941244" y="17351"/>
                  </a:lnTo>
                  <a:lnTo>
                    <a:pt x="953938" y="36165"/>
                  </a:lnTo>
                  <a:lnTo>
                    <a:pt x="958596" y="59182"/>
                  </a:lnTo>
                  <a:lnTo>
                    <a:pt x="958596" y="295910"/>
                  </a:lnTo>
                  <a:lnTo>
                    <a:pt x="953938" y="318926"/>
                  </a:lnTo>
                  <a:lnTo>
                    <a:pt x="941244" y="337740"/>
                  </a:lnTo>
                  <a:lnTo>
                    <a:pt x="922430" y="350434"/>
                  </a:lnTo>
                  <a:lnTo>
                    <a:pt x="899414" y="355092"/>
                  </a:lnTo>
                  <a:lnTo>
                    <a:pt x="59182" y="355092"/>
                  </a:lnTo>
                  <a:lnTo>
                    <a:pt x="36143" y="350434"/>
                  </a:lnTo>
                  <a:lnTo>
                    <a:pt x="17332" y="337740"/>
                  </a:lnTo>
                  <a:lnTo>
                    <a:pt x="4650" y="318926"/>
                  </a:lnTo>
                  <a:lnTo>
                    <a:pt x="0" y="295910"/>
                  </a:lnTo>
                  <a:lnTo>
                    <a:pt x="0" y="59182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Order</a:t>
            </a:r>
            <a:r>
              <a:rPr spc="-225" dirty="0"/>
              <a:t> </a:t>
            </a:r>
            <a:r>
              <a:rPr spc="125" dirty="0"/>
              <a:t>precedence</a:t>
            </a:r>
            <a:r>
              <a:rPr spc="-250" dirty="0"/>
              <a:t> </a:t>
            </a:r>
            <a:r>
              <a:rPr spc="-10" dirty="0"/>
              <a:t>example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Quick</a:t>
            </a:r>
            <a:r>
              <a:rPr spc="-250" dirty="0"/>
              <a:t> </a:t>
            </a:r>
            <a:r>
              <a:rPr spc="-90" dirty="0"/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54246" y="302463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vs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075" y="2967227"/>
            <a:ext cx="8689975" cy="502920"/>
            <a:chOff x="227075" y="2967227"/>
            <a:chExt cx="8689975" cy="5029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75" y="2967227"/>
              <a:ext cx="3852672" cy="4648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455" y="2970275"/>
              <a:ext cx="4125467" cy="4998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6656" y="3011423"/>
              <a:ext cx="5006340" cy="367665"/>
            </a:xfrm>
            <a:custGeom>
              <a:avLst/>
              <a:gdLst/>
              <a:ahLst/>
              <a:cxnLst/>
              <a:rect l="l" t="t" r="r" b="b"/>
              <a:pathLst>
                <a:path w="5006340" h="367664">
                  <a:moveTo>
                    <a:pt x="0" y="57658"/>
                  </a:moveTo>
                  <a:lnTo>
                    <a:pt x="4531" y="35200"/>
                  </a:lnTo>
                  <a:lnTo>
                    <a:pt x="16889" y="16875"/>
                  </a:lnTo>
                  <a:lnTo>
                    <a:pt x="35216" y="4526"/>
                  </a:lnTo>
                  <a:lnTo>
                    <a:pt x="57657" y="0"/>
                  </a:lnTo>
                  <a:lnTo>
                    <a:pt x="710438" y="0"/>
                  </a:lnTo>
                  <a:lnTo>
                    <a:pt x="732895" y="4526"/>
                  </a:lnTo>
                  <a:lnTo>
                    <a:pt x="751220" y="16875"/>
                  </a:lnTo>
                  <a:lnTo>
                    <a:pt x="763569" y="35200"/>
                  </a:lnTo>
                  <a:lnTo>
                    <a:pt x="768096" y="57658"/>
                  </a:lnTo>
                  <a:lnTo>
                    <a:pt x="768096" y="288289"/>
                  </a:lnTo>
                  <a:lnTo>
                    <a:pt x="763569" y="310747"/>
                  </a:lnTo>
                  <a:lnTo>
                    <a:pt x="751220" y="329072"/>
                  </a:lnTo>
                  <a:lnTo>
                    <a:pt x="732895" y="341421"/>
                  </a:lnTo>
                  <a:lnTo>
                    <a:pt x="710438" y="345948"/>
                  </a:lnTo>
                  <a:lnTo>
                    <a:pt x="57657" y="345948"/>
                  </a:lnTo>
                  <a:lnTo>
                    <a:pt x="35216" y="341421"/>
                  </a:lnTo>
                  <a:lnTo>
                    <a:pt x="16889" y="329072"/>
                  </a:lnTo>
                  <a:lnTo>
                    <a:pt x="4531" y="310747"/>
                  </a:lnTo>
                  <a:lnTo>
                    <a:pt x="0" y="288289"/>
                  </a:lnTo>
                  <a:lnTo>
                    <a:pt x="0" y="57658"/>
                  </a:lnTo>
                  <a:close/>
                </a:path>
                <a:path w="5006340" h="367664">
                  <a:moveTo>
                    <a:pt x="4262628" y="71374"/>
                  </a:moveTo>
                  <a:lnTo>
                    <a:pt x="4267285" y="48357"/>
                  </a:lnTo>
                  <a:lnTo>
                    <a:pt x="4279979" y="29543"/>
                  </a:lnTo>
                  <a:lnTo>
                    <a:pt x="4298793" y="16849"/>
                  </a:lnTo>
                  <a:lnTo>
                    <a:pt x="4321809" y="12191"/>
                  </a:lnTo>
                  <a:lnTo>
                    <a:pt x="4947158" y="12191"/>
                  </a:lnTo>
                  <a:lnTo>
                    <a:pt x="4970174" y="16849"/>
                  </a:lnTo>
                  <a:lnTo>
                    <a:pt x="4988988" y="29543"/>
                  </a:lnTo>
                  <a:lnTo>
                    <a:pt x="5001682" y="48357"/>
                  </a:lnTo>
                  <a:lnTo>
                    <a:pt x="5006340" y="71374"/>
                  </a:lnTo>
                  <a:lnTo>
                    <a:pt x="5006340" y="308101"/>
                  </a:lnTo>
                  <a:lnTo>
                    <a:pt x="5001682" y="331118"/>
                  </a:lnTo>
                  <a:lnTo>
                    <a:pt x="4988988" y="349932"/>
                  </a:lnTo>
                  <a:lnTo>
                    <a:pt x="4970174" y="362626"/>
                  </a:lnTo>
                  <a:lnTo>
                    <a:pt x="4947158" y="367284"/>
                  </a:lnTo>
                  <a:lnTo>
                    <a:pt x="4321809" y="367284"/>
                  </a:lnTo>
                  <a:lnTo>
                    <a:pt x="4298793" y="362626"/>
                  </a:lnTo>
                  <a:lnTo>
                    <a:pt x="4279979" y="349932"/>
                  </a:lnTo>
                  <a:lnTo>
                    <a:pt x="4267285" y="331118"/>
                  </a:lnTo>
                  <a:lnTo>
                    <a:pt x="4262628" y="308101"/>
                  </a:lnTo>
                  <a:lnTo>
                    <a:pt x="4262628" y="7137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4479" y="349161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13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95417" y="349161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49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Comparison</a:t>
            </a:r>
            <a:r>
              <a:rPr spc="-220" dirty="0"/>
              <a:t> </a:t>
            </a:r>
            <a:r>
              <a:rPr spc="-35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2118486"/>
            <a:ext cx="3197225" cy="1905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I.e.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comparison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operators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Return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Boolean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values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(i.e.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True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False)</a:t>
            </a:r>
            <a:endParaRPr sz="1800">
              <a:latin typeface="Verdana"/>
              <a:cs typeface="Verdana"/>
            </a:endParaRPr>
          </a:p>
          <a:p>
            <a:pPr marL="355600" marR="304165" indent="-3429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Used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extensively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for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conditional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statements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900" y="2147316"/>
            <a:ext cx="4951476" cy="30952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463" y="2180844"/>
            <a:ext cx="6929628" cy="1930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Comparison</a:t>
            </a:r>
            <a:r>
              <a:rPr spc="-220" dirty="0"/>
              <a:t> </a:t>
            </a:r>
            <a:r>
              <a:rPr spc="-25" dirty="0"/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604" y="4131309"/>
            <a:ext cx="58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False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1744" y="1406652"/>
            <a:ext cx="2799588" cy="13594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dirty="0"/>
              <a:t>Logical</a:t>
            </a:r>
            <a:r>
              <a:rPr spc="-185" dirty="0"/>
              <a:t> </a:t>
            </a:r>
            <a:r>
              <a:rPr spc="-40" dirty="0"/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682" y="2051430"/>
            <a:ext cx="432689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  <a:buChar char="•"/>
              <a:tabLst>
                <a:tab pos="227329" algn="l"/>
              </a:tabLst>
            </a:pPr>
            <a:r>
              <a:rPr sz="2100" dirty="0">
                <a:latin typeface="Arial MT"/>
                <a:cs typeface="Arial MT"/>
              </a:rPr>
              <a:t>Allows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extend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conditional logic</a:t>
            </a:r>
            <a:endParaRPr sz="2100">
              <a:latin typeface="Arial MT"/>
              <a:cs typeface="Arial MT"/>
            </a:endParaRPr>
          </a:p>
          <a:p>
            <a:pPr marL="227965" indent="-215265">
              <a:lnSpc>
                <a:spcPct val="100000"/>
              </a:lnSpc>
              <a:buChar char="•"/>
              <a:tabLst>
                <a:tab pos="227965" algn="l"/>
              </a:tabLst>
            </a:pPr>
            <a:r>
              <a:rPr sz="2100" dirty="0">
                <a:latin typeface="Arial MT"/>
                <a:cs typeface="Arial MT"/>
              </a:rPr>
              <a:t>Will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become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essential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later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35" dirty="0">
                <a:latin typeface="Arial MT"/>
                <a:cs typeface="Arial MT"/>
              </a:rPr>
              <a:t>on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5416" y="3403091"/>
            <a:ext cx="4773167" cy="14569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380" y="2855976"/>
              <a:ext cx="7642859" cy="13944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6300" y="3549396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1005077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269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3"/>
                  </a:lnTo>
                  <a:lnTo>
                    <a:pt x="1005077" y="306323"/>
                  </a:lnTo>
                  <a:lnTo>
                    <a:pt x="1024949" y="302311"/>
                  </a:lnTo>
                  <a:lnTo>
                    <a:pt x="1041177" y="291369"/>
                  </a:lnTo>
                  <a:lnTo>
                    <a:pt x="1052119" y="275141"/>
                  </a:lnTo>
                  <a:lnTo>
                    <a:pt x="1056132" y="255269"/>
                  </a:lnTo>
                  <a:lnTo>
                    <a:pt x="1056132" y="51053"/>
                  </a:lnTo>
                  <a:lnTo>
                    <a:pt x="1052119" y="31182"/>
                  </a:lnTo>
                  <a:lnTo>
                    <a:pt x="1041177" y="14954"/>
                  </a:lnTo>
                  <a:lnTo>
                    <a:pt x="1024949" y="4012"/>
                  </a:lnTo>
                  <a:lnTo>
                    <a:pt x="1005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6300" y="3549396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0" y="51053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1005077" y="0"/>
                  </a:lnTo>
                  <a:lnTo>
                    <a:pt x="1024949" y="4012"/>
                  </a:lnTo>
                  <a:lnTo>
                    <a:pt x="1041177" y="14954"/>
                  </a:lnTo>
                  <a:lnTo>
                    <a:pt x="1052119" y="31182"/>
                  </a:lnTo>
                  <a:lnTo>
                    <a:pt x="1056132" y="51053"/>
                  </a:lnTo>
                  <a:lnTo>
                    <a:pt x="1056132" y="255269"/>
                  </a:lnTo>
                  <a:lnTo>
                    <a:pt x="1052119" y="275141"/>
                  </a:lnTo>
                  <a:lnTo>
                    <a:pt x="1041177" y="291369"/>
                  </a:lnTo>
                  <a:lnTo>
                    <a:pt x="1024949" y="302311"/>
                  </a:lnTo>
                  <a:lnTo>
                    <a:pt x="1005077" y="306323"/>
                  </a:lnTo>
                  <a:lnTo>
                    <a:pt x="51053" y="306323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69"/>
                  </a:lnTo>
                  <a:lnTo>
                    <a:pt x="0" y="51053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dirty="0"/>
              <a:t>Combining</a:t>
            </a:r>
            <a:r>
              <a:rPr spc="-270" dirty="0"/>
              <a:t> </a:t>
            </a:r>
            <a:r>
              <a:rPr spc="-20" dirty="0"/>
              <a:t>both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1661" y="347789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05252" y="3520821"/>
            <a:ext cx="1115060" cy="363855"/>
            <a:chOff x="2405252" y="3520821"/>
            <a:chExt cx="1115060" cy="363855"/>
          </a:xfrm>
        </p:grpSpPr>
        <p:sp>
          <p:nvSpPr>
            <p:cNvPr id="9" name="object 9"/>
            <p:cNvSpPr/>
            <p:nvPr/>
          </p:nvSpPr>
          <p:spPr>
            <a:xfrm>
              <a:off x="2433827" y="3549396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1006601" y="0"/>
                  </a:moveTo>
                  <a:lnTo>
                    <a:pt x="51054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3"/>
                  </a:lnTo>
                  <a:lnTo>
                    <a:pt x="0" y="255269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4" y="306323"/>
                  </a:lnTo>
                  <a:lnTo>
                    <a:pt x="1006601" y="306323"/>
                  </a:lnTo>
                  <a:lnTo>
                    <a:pt x="1026473" y="302311"/>
                  </a:lnTo>
                  <a:lnTo>
                    <a:pt x="1042701" y="291369"/>
                  </a:lnTo>
                  <a:lnTo>
                    <a:pt x="1053643" y="275141"/>
                  </a:lnTo>
                  <a:lnTo>
                    <a:pt x="1057656" y="255269"/>
                  </a:lnTo>
                  <a:lnTo>
                    <a:pt x="1057656" y="51053"/>
                  </a:lnTo>
                  <a:lnTo>
                    <a:pt x="1053643" y="31182"/>
                  </a:lnTo>
                  <a:lnTo>
                    <a:pt x="1042701" y="14954"/>
                  </a:lnTo>
                  <a:lnTo>
                    <a:pt x="1026473" y="4012"/>
                  </a:lnTo>
                  <a:lnTo>
                    <a:pt x="10066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3827" y="3549396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0" y="51053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4" y="0"/>
                  </a:lnTo>
                  <a:lnTo>
                    <a:pt x="1006601" y="0"/>
                  </a:lnTo>
                  <a:lnTo>
                    <a:pt x="1026473" y="4012"/>
                  </a:lnTo>
                  <a:lnTo>
                    <a:pt x="1042701" y="14954"/>
                  </a:lnTo>
                  <a:lnTo>
                    <a:pt x="1053643" y="31182"/>
                  </a:lnTo>
                  <a:lnTo>
                    <a:pt x="1057656" y="51053"/>
                  </a:lnTo>
                  <a:lnTo>
                    <a:pt x="1057656" y="255269"/>
                  </a:lnTo>
                  <a:lnTo>
                    <a:pt x="1053643" y="275141"/>
                  </a:lnTo>
                  <a:lnTo>
                    <a:pt x="1042701" y="291369"/>
                  </a:lnTo>
                  <a:lnTo>
                    <a:pt x="1026473" y="302311"/>
                  </a:lnTo>
                  <a:lnTo>
                    <a:pt x="1006601" y="306323"/>
                  </a:lnTo>
                  <a:lnTo>
                    <a:pt x="51054" y="306323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69"/>
                  </a:lnTo>
                  <a:lnTo>
                    <a:pt x="0" y="51053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609214" y="347789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40" y="2474976"/>
              <a:ext cx="7088124" cy="13426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8824" y="3115055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1005077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4"/>
                  </a:lnTo>
                  <a:lnTo>
                    <a:pt x="1005077" y="306324"/>
                  </a:lnTo>
                  <a:lnTo>
                    <a:pt x="1024949" y="302311"/>
                  </a:lnTo>
                  <a:lnTo>
                    <a:pt x="1041177" y="291369"/>
                  </a:lnTo>
                  <a:lnTo>
                    <a:pt x="1052119" y="275141"/>
                  </a:lnTo>
                  <a:lnTo>
                    <a:pt x="1056132" y="255270"/>
                  </a:lnTo>
                  <a:lnTo>
                    <a:pt x="1056132" y="51054"/>
                  </a:lnTo>
                  <a:lnTo>
                    <a:pt x="1052119" y="31182"/>
                  </a:lnTo>
                  <a:lnTo>
                    <a:pt x="1041177" y="14954"/>
                  </a:lnTo>
                  <a:lnTo>
                    <a:pt x="1024949" y="4012"/>
                  </a:lnTo>
                  <a:lnTo>
                    <a:pt x="1005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58824" y="3115055"/>
              <a:ext cx="1056640" cy="306705"/>
            </a:xfrm>
            <a:custGeom>
              <a:avLst/>
              <a:gdLst/>
              <a:ahLst/>
              <a:cxnLst/>
              <a:rect l="l" t="t" r="r" b="b"/>
              <a:pathLst>
                <a:path w="1056639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1005077" y="0"/>
                  </a:lnTo>
                  <a:lnTo>
                    <a:pt x="1024949" y="4012"/>
                  </a:lnTo>
                  <a:lnTo>
                    <a:pt x="1041177" y="14954"/>
                  </a:lnTo>
                  <a:lnTo>
                    <a:pt x="1052119" y="31182"/>
                  </a:lnTo>
                  <a:lnTo>
                    <a:pt x="1056132" y="51054"/>
                  </a:lnTo>
                  <a:lnTo>
                    <a:pt x="1056132" y="255270"/>
                  </a:lnTo>
                  <a:lnTo>
                    <a:pt x="1052119" y="275141"/>
                  </a:lnTo>
                  <a:lnTo>
                    <a:pt x="1041177" y="291369"/>
                  </a:lnTo>
                  <a:lnTo>
                    <a:pt x="1024949" y="302311"/>
                  </a:lnTo>
                  <a:lnTo>
                    <a:pt x="1005077" y="306324"/>
                  </a:lnTo>
                  <a:lnTo>
                    <a:pt x="51053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Another</a:t>
            </a:r>
            <a:r>
              <a:rPr spc="-23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34464" y="3042665"/>
            <a:ext cx="704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26261" y="3086480"/>
            <a:ext cx="2893695" cy="363855"/>
            <a:chOff x="1326261" y="3086480"/>
            <a:chExt cx="2893695" cy="363855"/>
          </a:xfrm>
        </p:grpSpPr>
        <p:sp>
          <p:nvSpPr>
            <p:cNvPr id="9" name="object 9"/>
            <p:cNvSpPr/>
            <p:nvPr/>
          </p:nvSpPr>
          <p:spPr>
            <a:xfrm>
              <a:off x="3133343" y="3115055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1006602" y="0"/>
                  </a:moveTo>
                  <a:lnTo>
                    <a:pt x="51054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4" y="306324"/>
                  </a:lnTo>
                  <a:lnTo>
                    <a:pt x="1006602" y="306324"/>
                  </a:lnTo>
                  <a:lnTo>
                    <a:pt x="1026473" y="302311"/>
                  </a:lnTo>
                  <a:lnTo>
                    <a:pt x="1042701" y="291369"/>
                  </a:lnTo>
                  <a:lnTo>
                    <a:pt x="1053643" y="275141"/>
                  </a:lnTo>
                  <a:lnTo>
                    <a:pt x="1057656" y="255270"/>
                  </a:lnTo>
                  <a:lnTo>
                    <a:pt x="1057656" y="51054"/>
                  </a:lnTo>
                  <a:lnTo>
                    <a:pt x="1053643" y="31182"/>
                  </a:lnTo>
                  <a:lnTo>
                    <a:pt x="1042701" y="14954"/>
                  </a:lnTo>
                  <a:lnTo>
                    <a:pt x="1026473" y="4012"/>
                  </a:lnTo>
                  <a:lnTo>
                    <a:pt x="1006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3343" y="3115055"/>
              <a:ext cx="1057910" cy="306705"/>
            </a:xfrm>
            <a:custGeom>
              <a:avLst/>
              <a:gdLst/>
              <a:ahLst/>
              <a:cxnLst/>
              <a:rect l="l" t="t" r="r" b="b"/>
              <a:pathLst>
                <a:path w="1057910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4" y="0"/>
                  </a:lnTo>
                  <a:lnTo>
                    <a:pt x="1006602" y="0"/>
                  </a:lnTo>
                  <a:lnTo>
                    <a:pt x="1026473" y="4012"/>
                  </a:lnTo>
                  <a:lnTo>
                    <a:pt x="1042701" y="14954"/>
                  </a:lnTo>
                  <a:lnTo>
                    <a:pt x="1053643" y="31182"/>
                  </a:lnTo>
                  <a:lnTo>
                    <a:pt x="1057656" y="51054"/>
                  </a:lnTo>
                  <a:lnTo>
                    <a:pt x="1057656" y="255270"/>
                  </a:lnTo>
                  <a:lnTo>
                    <a:pt x="1053643" y="275141"/>
                  </a:lnTo>
                  <a:lnTo>
                    <a:pt x="1042701" y="291369"/>
                  </a:lnTo>
                  <a:lnTo>
                    <a:pt x="1026473" y="302311"/>
                  </a:lnTo>
                  <a:lnTo>
                    <a:pt x="1006602" y="306324"/>
                  </a:lnTo>
                  <a:lnTo>
                    <a:pt x="51054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4836" y="3115055"/>
              <a:ext cx="2836545" cy="306705"/>
            </a:xfrm>
            <a:custGeom>
              <a:avLst/>
              <a:gdLst/>
              <a:ahLst/>
              <a:cxnLst/>
              <a:rect l="l" t="t" r="r" b="b"/>
              <a:pathLst>
                <a:path w="2836545" h="306704">
                  <a:moveTo>
                    <a:pt x="2785110" y="0"/>
                  </a:moveTo>
                  <a:lnTo>
                    <a:pt x="51053" y="0"/>
                  </a:lnTo>
                  <a:lnTo>
                    <a:pt x="31182" y="4012"/>
                  </a:lnTo>
                  <a:lnTo>
                    <a:pt x="14954" y="14954"/>
                  </a:lnTo>
                  <a:lnTo>
                    <a:pt x="4012" y="31182"/>
                  </a:lnTo>
                  <a:lnTo>
                    <a:pt x="0" y="51054"/>
                  </a:lnTo>
                  <a:lnTo>
                    <a:pt x="0" y="255270"/>
                  </a:lnTo>
                  <a:lnTo>
                    <a:pt x="4012" y="275141"/>
                  </a:lnTo>
                  <a:lnTo>
                    <a:pt x="14954" y="291369"/>
                  </a:lnTo>
                  <a:lnTo>
                    <a:pt x="31182" y="302311"/>
                  </a:lnTo>
                  <a:lnTo>
                    <a:pt x="51053" y="306324"/>
                  </a:lnTo>
                  <a:lnTo>
                    <a:pt x="2785110" y="306324"/>
                  </a:lnTo>
                  <a:lnTo>
                    <a:pt x="2804981" y="302311"/>
                  </a:lnTo>
                  <a:lnTo>
                    <a:pt x="2821209" y="291369"/>
                  </a:lnTo>
                  <a:lnTo>
                    <a:pt x="2832151" y="275141"/>
                  </a:lnTo>
                  <a:lnTo>
                    <a:pt x="2836164" y="255270"/>
                  </a:lnTo>
                  <a:lnTo>
                    <a:pt x="2836164" y="51054"/>
                  </a:lnTo>
                  <a:lnTo>
                    <a:pt x="2832151" y="31182"/>
                  </a:lnTo>
                  <a:lnTo>
                    <a:pt x="2821209" y="14954"/>
                  </a:lnTo>
                  <a:lnTo>
                    <a:pt x="2804981" y="4012"/>
                  </a:lnTo>
                  <a:lnTo>
                    <a:pt x="2785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54836" y="3115055"/>
              <a:ext cx="2836545" cy="306705"/>
            </a:xfrm>
            <a:custGeom>
              <a:avLst/>
              <a:gdLst/>
              <a:ahLst/>
              <a:cxnLst/>
              <a:rect l="l" t="t" r="r" b="b"/>
              <a:pathLst>
                <a:path w="2836545" h="306704">
                  <a:moveTo>
                    <a:pt x="0" y="51054"/>
                  </a:moveTo>
                  <a:lnTo>
                    <a:pt x="4012" y="31182"/>
                  </a:lnTo>
                  <a:lnTo>
                    <a:pt x="14954" y="14954"/>
                  </a:lnTo>
                  <a:lnTo>
                    <a:pt x="31182" y="4012"/>
                  </a:lnTo>
                  <a:lnTo>
                    <a:pt x="51053" y="0"/>
                  </a:lnTo>
                  <a:lnTo>
                    <a:pt x="2785110" y="0"/>
                  </a:lnTo>
                  <a:lnTo>
                    <a:pt x="2804981" y="4012"/>
                  </a:lnTo>
                  <a:lnTo>
                    <a:pt x="2821209" y="14954"/>
                  </a:lnTo>
                  <a:lnTo>
                    <a:pt x="2832151" y="31182"/>
                  </a:lnTo>
                  <a:lnTo>
                    <a:pt x="2836164" y="51054"/>
                  </a:lnTo>
                  <a:lnTo>
                    <a:pt x="2836164" y="255270"/>
                  </a:lnTo>
                  <a:lnTo>
                    <a:pt x="2832151" y="275141"/>
                  </a:lnTo>
                  <a:lnTo>
                    <a:pt x="2821209" y="291369"/>
                  </a:lnTo>
                  <a:lnTo>
                    <a:pt x="2804981" y="302311"/>
                  </a:lnTo>
                  <a:lnTo>
                    <a:pt x="2785110" y="306324"/>
                  </a:lnTo>
                  <a:lnTo>
                    <a:pt x="51053" y="306324"/>
                  </a:lnTo>
                  <a:lnTo>
                    <a:pt x="31182" y="302311"/>
                  </a:lnTo>
                  <a:lnTo>
                    <a:pt x="14954" y="291369"/>
                  </a:lnTo>
                  <a:lnTo>
                    <a:pt x="4012" y="275141"/>
                  </a:lnTo>
                  <a:lnTo>
                    <a:pt x="0" y="255270"/>
                  </a:lnTo>
                  <a:lnTo>
                    <a:pt x="0" y="5105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6206" y="4155185"/>
            <a:ext cx="4695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wasn't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it?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readable?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19857" y="3042665"/>
            <a:ext cx="15944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2335" algn="l"/>
              </a:tabLst>
            </a:pPr>
            <a:r>
              <a:rPr sz="2700" spc="-2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r>
              <a:rPr sz="2700" dirty="0">
                <a:solidFill>
                  <a:srgbClr val="EC7C30"/>
                </a:solidFill>
                <a:latin typeface="Verdana"/>
                <a:cs typeface="Verdana"/>
              </a:rPr>
              <a:t>	</a:t>
            </a:r>
            <a:r>
              <a:rPr sz="2700" spc="-190" dirty="0">
                <a:solidFill>
                  <a:srgbClr val="EC7C30"/>
                </a:solidFill>
                <a:latin typeface="Verdana"/>
                <a:cs typeface="Verdana"/>
              </a:rPr>
              <a:t>True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363" y="2534411"/>
            <a:ext cx="6876288" cy="18044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379440"/>
            <a:ext cx="3743325" cy="1631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Powerful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flexible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Verdana"/>
                <a:cs typeface="Verdana"/>
              </a:rPr>
              <a:t>added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multiplied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multiple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lines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627" y="2374392"/>
            <a:ext cx="6844283" cy="21854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Strings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7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006" y="4158488"/>
            <a:ext cx="7458709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1484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These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are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called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methods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add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extra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functionality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the </a:t>
            </a:r>
            <a:r>
              <a:rPr sz="2100" spc="-10" dirty="0">
                <a:latin typeface="Arial MT"/>
                <a:cs typeface="Arial MT"/>
              </a:rPr>
              <a:t>String.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want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more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methods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applied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string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simply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type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b="1" spc="-10" dirty="0">
                <a:latin typeface="Arial"/>
                <a:cs typeface="Arial"/>
              </a:rPr>
              <a:t>dir('str')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527" y="2199132"/>
            <a:ext cx="5888736" cy="15422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019" y="3453384"/>
            <a:ext cx="6912864" cy="11079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59309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Mixing</a:t>
            </a:r>
            <a:r>
              <a:rPr spc="-225" dirty="0"/>
              <a:t> </a:t>
            </a:r>
            <a:r>
              <a:rPr dirty="0"/>
              <a:t>up</a:t>
            </a:r>
            <a:r>
              <a:rPr spc="-210" dirty="0"/>
              <a:t> </a:t>
            </a:r>
            <a:r>
              <a:rPr spc="-235" dirty="0"/>
              <a:t>strings</a:t>
            </a:r>
            <a:r>
              <a:rPr spc="-245" dirty="0"/>
              <a:t> </a:t>
            </a:r>
            <a:r>
              <a:rPr spc="114" dirty="0"/>
              <a:t>and</a:t>
            </a:r>
            <a:r>
              <a:rPr spc="-225" dirty="0"/>
              <a:t> </a:t>
            </a:r>
            <a:r>
              <a:rPr spc="-70" dirty="0"/>
              <a:t>numbers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1982"/>
            <a:ext cx="720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4705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Often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would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mix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up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numbers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strings.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best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keep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numbers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numbers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(i.e.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or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float)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cast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them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strings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whenever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need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them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as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string.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272" y="2538983"/>
            <a:ext cx="6310883" cy="25587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Multiline</a:t>
            </a:r>
            <a:r>
              <a:rPr spc="-235" dirty="0"/>
              <a:t> </a:t>
            </a:r>
            <a:r>
              <a:rPr spc="-210" dirty="0"/>
              <a:t>strings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Printing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6230620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When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writing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scripts,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outcomes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aren't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printed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terminal.</a:t>
            </a:r>
            <a:endParaRPr sz="1800">
              <a:latin typeface="Verdana"/>
              <a:cs typeface="Verdana"/>
            </a:endParaRPr>
          </a:p>
          <a:p>
            <a:pPr marL="355600" marR="524510" indent="-343535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80" dirty="0">
                <a:solidFill>
                  <a:srgbClr val="404040"/>
                </a:solidFill>
                <a:latin typeface="Verdana"/>
                <a:cs typeface="Verdana"/>
              </a:rPr>
              <a:t>Thus,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must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them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yourself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with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print()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Beware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not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mix</a:t>
            </a:r>
            <a:r>
              <a:rPr sz="18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up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different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type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variables!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3482340"/>
            <a:ext cx="6483095" cy="1743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" y="2657855"/>
            <a:ext cx="7264908" cy="10744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quiz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206" y="2181605"/>
            <a:ext cx="51327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Do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anything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wrong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block?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3749040"/>
            <a:ext cx="5074920" cy="15163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9410" marR="508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Another</a:t>
            </a:r>
            <a:r>
              <a:rPr spc="-200" dirty="0"/>
              <a:t> </a:t>
            </a:r>
            <a:r>
              <a:rPr spc="-65" dirty="0"/>
              <a:t>more</a:t>
            </a:r>
            <a:r>
              <a:rPr spc="-195" dirty="0"/>
              <a:t> </a:t>
            </a:r>
            <a:r>
              <a:rPr dirty="0"/>
              <a:t>generic</a:t>
            </a:r>
            <a:r>
              <a:rPr spc="-220" dirty="0"/>
              <a:t> </a:t>
            </a:r>
            <a:r>
              <a:rPr dirty="0"/>
              <a:t>way</a:t>
            </a:r>
            <a:r>
              <a:rPr spc="-175" dirty="0"/>
              <a:t> </a:t>
            </a:r>
            <a:r>
              <a:rPr spc="-25" dirty="0"/>
              <a:t>to </a:t>
            </a:r>
            <a:r>
              <a:rPr spc="-254" dirty="0"/>
              <a:t>fix</a:t>
            </a:r>
            <a:r>
              <a:rPr spc="-220" dirty="0"/>
              <a:t> </a:t>
            </a:r>
            <a:r>
              <a:rPr spc="-25" dirty="0"/>
              <a:t>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2255520"/>
            <a:ext cx="6728459" cy="12237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6206" y="3736085"/>
            <a:ext cx="65398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If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comma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separate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statements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print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function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25" dirty="0">
                <a:latin typeface="Arial MT"/>
                <a:cs typeface="Arial MT"/>
              </a:rPr>
              <a:t>we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have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different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variables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printing!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2502407"/>
            <a:ext cx="6502908" cy="20406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Placeholders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556" y="2233421"/>
            <a:ext cx="3750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way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interleave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numbers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6556" y="4751578"/>
            <a:ext cx="2406650" cy="7721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Elegant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easy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more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notes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30392" y="3732529"/>
            <a:ext cx="1614805" cy="383540"/>
            <a:chOff x="5430392" y="3732529"/>
            <a:chExt cx="1614805" cy="383540"/>
          </a:xfrm>
        </p:grpSpPr>
        <p:sp>
          <p:nvSpPr>
            <p:cNvPr id="7" name="object 7"/>
            <p:cNvSpPr/>
            <p:nvPr/>
          </p:nvSpPr>
          <p:spPr>
            <a:xfrm>
              <a:off x="5458967" y="3822191"/>
              <a:ext cx="1557655" cy="265430"/>
            </a:xfrm>
            <a:custGeom>
              <a:avLst/>
              <a:gdLst/>
              <a:ahLst/>
              <a:cxnLst/>
              <a:rect l="l" t="t" r="r" b="b"/>
              <a:pathLst>
                <a:path w="1557654" h="265429">
                  <a:moveTo>
                    <a:pt x="0" y="43687"/>
                  </a:moveTo>
                  <a:lnTo>
                    <a:pt x="3432" y="26681"/>
                  </a:lnTo>
                  <a:lnTo>
                    <a:pt x="12795" y="12795"/>
                  </a:lnTo>
                  <a:lnTo>
                    <a:pt x="26681" y="3432"/>
                  </a:lnTo>
                  <a:lnTo>
                    <a:pt x="43687" y="0"/>
                  </a:lnTo>
                  <a:lnTo>
                    <a:pt x="351028" y="0"/>
                  </a:lnTo>
                  <a:lnTo>
                    <a:pt x="368034" y="3432"/>
                  </a:lnTo>
                  <a:lnTo>
                    <a:pt x="381920" y="12795"/>
                  </a:lnTo>
                  <a:lnTo>
                    <a:pt x="391283" y="26681"/>
                  </a:lnTo>
                  <a:lnTo>
                    <a:pt x="394716" y="43687"/>
                  </a:lnTo>
                  <a:lnTo>
                    <a:pt x="394716" y="218439"/>
                  </a:lnTo>
                  <a:lnTo>
                    <a:pt x="391283" y="235446"/>
                  </a:lnTo>
                  <a:lnTo>
                    <a:pt x="381920" y="249332"/>
                  </a:lnTo>
                  <a:lnTo>
                    <a:pt x="368034" y="258695"/>
                  </a:lnTo>
                  <a:lnTo>
                    <a:pt x="351028" y="262127"/>
                  </a:lnTo>
                  <a:lnTo>
                    <a:pt x="43687" y="262127"/>
                  </a:lnTo>
                  <a:lnTo>
                    <a:pt x="26681" y="258695"/>
                  </a:lnTo>
                  <a:lnTo>
                    <a:pt x="12795" y="249332"/>
                  </a:lnTo>
                  <a:lnTo>
                    <a:pt x="3432" y="235446"/>
                  </a:lnTo>
                  <a:lnTo>
                    <a:pt x="0" y="218439"/>
                  </a:lnTo>
                  <a:lnTo>
                    <a:pt x="0" y="43687"/>
                  </a:lnTo>
                  <a:close/>
                </a:path>
                <a:path w="1557654" h="265429">
                  <a:moveTo>
                    <a:pt x="1399032" y="26415"/>
                  </a:moveTo>
                  <a:lnTo>
                    <a:pt x="1401105" y="16127"/>
                  </a:lnTo>
                  <a:lnTo>
                    <a:pt x="1406763" y="7731"/>
                  </a:lnTo>
                  <a:lnTo>
                    <a:pt x="1415159" y="2073"/>
                  </a:lnTo>
                  <a:lnTo>
                    <a:pt x="1425448" y="0"/>
                  </a:lnTo>
                  <a:lnTo>
                    <a:pt x="1531112" y="0"/>
                  </a:lnTo>
                  <a:lnTo>
                    <a:pt x="1541400" y="2073"/>
                  </a:lnTo>
                  <a:lnTo>
                    <a:pt x="1549796" y="7731"/>
                  </a:lnTo>
                  <a:lnTo>
                    <a:pt x="1555454" y="16127"/>
                  </a:lnTo>
                  <a:lnTo>
                    <a:pt x="1557528" y="26415"/>
                  </a:lnTo>
                  <a:lnTo>
                    <a:pt x="1557528" y="238759"/>
                  </a:lnTo>
                  <a:lnTo>
                    <a:pt x="1555454" y="249048"/>
                  </a:lnTo>
                  <a:lnTo>
                    <a:pt x="1549796" y="257444"/>
                  </a:lnTo>
                  <a:lnTo>
                    <a:pt x="1541400" y="263102"/>
                  </a:lnTo>
                  <a:lnTo>
                    <a:pt x="1531112" y="265175"/>
                  </a:lnTo>
                  <a:lnTo>
                    <a:pt x="1425448" y="265175"/>
                  </a:lnTo>
                  <a:lnTo>
                    <a:pt x="1415159" y="263102"/>
                  </a:lnTo>
                  <a:lnTo>
                    <a:pt x="1406763" y="257444"/>
                  </a:lnTo>
                  <a:lnTo>
                    <a:pt x="1401105" y="249048"/>
                  </a:lnTo>
                  <a:lnTo>
                    <a:pt x="1399032" y="238759"/>
                  </a:lnTo>
                  <a:lnTo>
                    <a:pt x="1399032" y="26415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53683" y="3732529"/>
              <a:ext cx="935355" cy="171450"/>
            </a:xfrm>
            <a:custGeom>
              <a:avLst/>
              <a:gdLst/>
              <a:ahLst/>
              <a:cxnLst/>
              <a:rect l="l" t="t" r="r" b="b"/>
              <a:pathLst>
                <a:path w="935354" h="171450">
                  <a:moveTo>
                    <a:pt x="168782" y="0"/>
                  </a:moveTo>
                  <a:lnTo>
                    <a:pt x="0" y="90678"/>
                  </a:lnTo>
                  <a:lnTo>
                    <a:pt x="173862" y="171323"/>
                  </a:lnTo>
                  <a:lnTo>
                    <a:pt x="172194" y="115062"/>
                  </a:lnTo>
                  <a:lnTo>
                    <a:pt x="143637" y="115062"/>
                  </a:lnTo>
                  <a:lnTo>
                    <a:pt x="132462" y="113164"/>
                  </a:lnTo>
                  <a:lnTo>
                    <a:pt x="123205" y="107315"/>
                  </a:lnTo>
                  <a:lnTo>
                    <a:pt x="116830" y="98417"/>
                  </a:lnTo>
                  <a:lnTo>
                    <a:pt x="114300" y="87376"/>
                  </a:lnTo>
                  <a:lnTo>
                    <a:pt x="116197" y="76146"/>
                  </a:lnTo>
                  <a:lnTo>
                    <a:pt x="122047" y="66881"/>
                  </a:lnTo>
                  <a:lnTo>
                    <a:pt x="130944" y="60497"/>
                  </a:lnTo>
                  <a:lnTo>
                    <a:pt x="141986" y="57912"/>
                  </a:lnTo>
                  <a:lnTo>
                    <a:pt x="170475" y="57063"/>
                  </a:lnTo>
                  <a:lnTo>
                    <a:pt x="168782" y="0"/>
                  </a:lnTo>
                  <a:close/>
                </a:path>
                <a:path w="935354" h="171450">
                  <a:moveTo>
                    <a:pt x="170475" y="57063"/>
                  </a:moveTo>
                  <a:lnTo>
                    <a:pt x="130944" y="60497"/>
                  </a:lnTo>
                  <a:lnTo>
                    <a:pt x="114300" y="87376"/>
                  </a:lnTo>
                  <a:lnTo>
                    <a:pt x="116830" y="98417"/>
                  </a:lnTo>
                  <a:lnTo>
                    <a:pt x="123205" y="107315"/>
                  </a:lnTo>
                  <a:lnTo>
                    <a:pt x="132462" y="113164"/>
                  </a:lnTo>
                  <a:lnTo>
                    <a:pt x="143637" y="115062"/>
                  </a:lnTo>
                  <a:lnTo>
                    <a:pt x="172169" y="114212"/>
                  </a:lnTo>
                  <a:lnTo>
                    <a:pt x="170766" y="66881"/>
                  </a:lnTo>
                  <a:lnTo>
                    <a:pt x="170647" y="62865"/>
                  </a:lnTo>
                  <a:lnTo>
                    <a:pt x="170576" y="60497"/>
                  </a:lnTo>
                  <a:lnTo>
                    <a:pt x="170475" y="57063"/>
                  </a:lnTo>
                  <a:close/>
                </a:path>
                <a:path w="935354" h="171450">
                  <a:moveTo>
                    <a:pt x="172169" y="114212"/>
                  </a:moveTo>
                  <a:lnTo>
                    <a:pt x="143637" y="115062"/>
                  </a:lnTo>
                  <a:lnTo>
                    <a:pt x="172194" y="115062"/>
                  </a:lnTo>
                  <a:lnTo>
                    <a:pt x="172169" y="114212"/>
                  </a:lnTo>
                  <a:close/>
                </a:path>
                <a:path w="935354" h="171450">
                  <a:moveTo>
                    <a:pt x="905637" y="35179"/>
                  </a:moveTo>
                  <a:lnTo>
                    <a:pt x="170475" y="57063"/>
                  </a:lnTo>
                  <a:lnTo>
                    <a:pt x="172138" y="113164"/>
                  </a:lnTo>
                  <a:lnTo>
                    <a:pt x="172169" y="114212"/>
                  </a:lnTo>
                  <a:lnTo>
                    <a:pt x="907288" y="92329"/>
                  </a:lnTo>
                  <a:lnTo>
                    <a:pt x="934973" y="62865"/>
                  </a:lnTo>
                  <a:lnTo>
                    <a:pt x="932443" y="51823"/>
                  </a:lnTo>
                  <a:lnTo>
                    <a:pt x="926068" y="42926"/>
                  </a:lnTo>
                  <a:lnTo>
                    <a:pt x="916811" y="37076"/>
                  </a:lnTo>
                  <a:lnTo>
                    <a:pt x="905637" y="35179"/>
                  </a:lnTo>
                  <a:close/>
                </a:path>
              </a:pathLst>
            </a:custGeom>
            <a:solidFill>
              <a:srgbClr val="9B6B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Commenting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878830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when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0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needs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further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explanation.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Either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future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self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anybody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else.</a:t>
            </a:r>
            <a:endParaRPr sz="1800">
              <a:latin typeface="Verdana"/>
              <a:cs typeface="Verdana"/>
            </a:endParaRPr>
          </a:p>
          <a:p>
            <a:pPr marL="355600" marR="212090" indent="-343535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when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want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remove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from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execution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but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not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permanently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Comments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404040"/>
                </a:solidFill>
                <a:latin typeface="Verdana"/>
                <a:cs typeface="Verdana"/>
              </a:rPr>
              <a:t>done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#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4177284"/>
            <a:ext cx="7555992" cy="6553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33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379440"/>
            <a:ext cx="5209540" cy="110299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5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most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concepts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Group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multiple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variables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together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(a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kind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b="1" spc="-10" dirty="0">
                <a:solidFill>
                  <a:srgbClr val="404040"/>
                </a:solidFill>
                <a:latin typeface="Tahoma"/>
                <a:cs typeface="Tahoma"/>
              </a:rPr>
              <a:t>container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!)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3427476"/>
            <a:ext cx="6938772" cy="126339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2411" y="4454652"/>
            <a:ext cx="5626608" cy="8260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Indexing</a:t>
            </a:r>
            <a:r>
              <a:rPr spc="-265" dirty="0"/>
              <a:t> </a:t>
            </a:r>
            <a:r>
              <a:rPr spc="250" dirty="0"/>
              <a:t>a</a:t>
            </a:r>
            <a:r>
              <a:rPr spc="-220" dirty="0"/>
              <a:t> </a:t>
            </a:r>
            <a:r>
              <a:rPr spc="-300" dirty="0"/>
              <a:t>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682" y="2011121"/>
            <a:ext cx="62458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Indexing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–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accessing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items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within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data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structure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682" y="3612260"/>
            <a:ext cx="51390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Indexing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list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not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very </a:t>
            </a:r>
            <a:r>
              <a:rPr sz="2100" spc="-10" dirty="0">
                <a:latin typeface="Arial MT"/>
                <a:cs typeface="Arial MT"/>
              </a:rPr>
              <a:t>intuitive...</a:t>
            </a:r>
            <a:endParaRPr sz="2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first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element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of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list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b="1" dirty="0">
                <a:latin typeface="Arial"/>
                <a:cs typeface="Arial"/>
              </a:rPr>
              <a:t>index</a:t>
            </a:r>
            <a:r>
              <a:rPr sz="2100" b="1" spc="-15" dirty="0">
                <a:latin typeface="Arial"/>
                <a:cs typeface="Arial"/>
              </a:rPr>
              <a:t> </a:t>
            </a:r>
            <a:r>
              <a:rPr sz="2100" b="1" spc="-50" dirty="0">
                <a:latin typeface="Arial"/>
                <a:cs typeface="Arial"/>
              </a:rPr>
              <a:t>0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72" y="2688335"/>
            <a:ext cx="6423659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quiz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268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What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spc="-180" dirty="0">
                <a:solidFill>
                  <a:srgbClr val="404040"/>
                </a:solidFill>
                <a:latin typeface="Tahoma"/>
                <a:cs typeface="Tahoma"/>
              </a:rPr>
              <a:t>fruits[3]</a:t>
            </a: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return?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9536" y="3105911"/>
            <a:ext cx="6937248" cy="12633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quiz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2261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What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return?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8076" y="2895600"/>
            <a:ext cx="6242685" cy="2447925"/>
            <a:chOff x="608076" y="2895600"/>
            <a:chExt cx="6242685" cy="2447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076" y="2895600"/>
              <a:ext cx="6178296" cy="45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084" y="3777996"/>
              <a:ext cx="6178295" cy="15651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50" dirty="0"/>
              <a:t>Data</a:t>
            </a:r>
            <a:r>
              <a:rPr spc="-229" dirty="0"/>
              <a:t> </a:t>
            </a:r>
            <a:r>
              <a:rPr spc="-135" dirty="0"/>
              <a:t>structure</a:t>
            </a:r>
            <a:r>
              <a:rPr spc="-210" dirty="0"/>
              <a:t> </a:t>
            </a:r>
            <a:r>
              <a:rPr spc="-265" dirty="0"/>
              <a:t>sizes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864860" cy="137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404040"/>
                </a:solidFill>
                <a:latin typeface="Verdana"/>
                <a:cs typeface="Verdana"/>
              </a:rPr>
              <a:t>Make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sure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always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aware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sizes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variable!</a:t>
            </a:r>
            <a:endParaRPr sz="1800">
              <a:latin typeface="Verdana"/>
              <a:cs typeface="Verdana"/>
            </a:endParaRPr>
          </a:p>
          <a:p>
            <a:pPr marL="12700" marR="592455">
              <a:lnSpc>
                <a:spcPct val="146100"/>
              </a:lnSpc>
            </a:pPr>
            <a:r>
              <a:rPr sz="1800" spc="-20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easily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404040"/>
                </a:solidFill>
                <a:latin typeface="Verdana"/>
                <a:cs typeface="Verdana"/>
              </a:rPr>
              <a:t>done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spc="-75" dirty="0">
                <a:solidFill>
                  <a:srgbClr val="404040"/>
                </a:solidFill>
                <a:latin typeface="Tahoma"/>
                <a:cs typeface="Tahoma"/>
              </a:rPr>
              <a:t>len()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function. </a:t>
            </a:r>
            <a:r>
              <a:rPr sz="1800" spc="-229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returns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length/size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any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Verdana"/>
                <a:cs typeface="Verdana"/>
              </a:rPr>
              <a:t>data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structure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808" y="4024884"/>
            <a:ext cx="6371844" cy="72237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4860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30" dirty="0"/>
              <a:t>Is</a:t>
            </a:r>
            <a:r>
              <a:rPr spc="-240" dirty="0"/>
              <a:t> </a:t>
            </a:r>
            <a:r>
              <a:rPr spc="250" dirty="0"/>
              <a:t>a</a:t>
            </a:r>
            <a:r>
              <a:rPr spc="-229" dirty="0"/>
              <a:t> </a:t>
            </a:r>
            <a:r>
              <a:rPr dirty="0"/>
              <a:t>tomato</a:t>
            </a:r>
            <a:r>
              <a:rPr spc="-220" dirty="0"/>
              <a:t> </a:t>
            </a:r>
            <a:r>
              <a:rPr spc="-120" dirty="0"/>
              <a:t>really</a:t>
            </a:r>
            <a:r>
              <a:rPr spc="-229" dirty="0"/>
              <a:t> </a:t>
            </a:r>
            <a:r>
              <a:rPr spc="250" dirty="0"/>
              <a:t>a</a:t>
            </a:r>
            <a:r>
              <a:rPr spc="-229" dirty="0"/>
              <a:t> </a:t>
            </a:r>
            <a:r>
              <a:rPr spc="-110" dirty="0"/>
              <a:t>fruit?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3308730"/>
            <a:ext cx="527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Furthermore,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modify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various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ways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8368" y="1970532"/>
            <a:ext cx="6064250" cy="3251200"/>
            <a:chOff x="658368" y="1970532"/>
            <a:chExt cx="6064250" cy="3251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384" y="1970532"/>
              <a:ext cx="5935979" cy="923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8" y="3692652"/>
              <a:ext cx="5993891" cy="15285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55" y="2770632"/>
            <a:ext cx="6134100" cy="1837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Lists</a:t>
            </a:r>
            <a:r>
              <a:rPr spc="-225" dirty="0"/>
              <a:t> </a:t>
            </a:r>
            <a:r>
              <a:rPr spc="-130" dirty="0"/>
              <a:t>with</a:t>
            </a:r>
            <a:r>
              <a:rPr spc="-220" dirty="0"/>
              <a:t> </a:t>
            </a:r>
            <a:r>
              <a:rPr spc="-90" dirty="0"/>
              <a:t>integers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3505"/>
            <a:ext cx="680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range()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generates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list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Slicing</a:t>
            </a:r>
            <a:r>
              <a:rPr spc="-229" dirty="0"/>
              <a:t> </a:t>
            </a:r>
            <a:r>
              <a:rPr spc="-33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6206" y="2143505"/>
            <a:ext cx="63887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Slicing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obtain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particular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sub-</a:t>
            </a:r>
            <a:r>
              <a:rPr sz="1800" dirty="0">
                <a:latin typeface="Arial MT"/>
                <a:cs typeface="Arial MT"/>
              </a:rPr>
              <a:t>elements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spc="-10" dirty="0">
                <a:latin typeface="Arial MT"/>
                <a:cs typeface="Arial MT"/>
              </a:rPr>
              <a:t>structure.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useful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flexible.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3177539"/>
            <a:ext cx="8090916" cy="21503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Lists</a:t>
            </a:r>
            <a:r>
              <a:rPr spc="-240" dirty="0"/>
              <a:t> </a:t>
            </a:r>
            <a:r>
              <a:rPr spc="-450" dirty="0"/>
              <a:t>–</a:t>
            </a:r>
            <a:r>
              <a:rPr spc="-229" dirty="0"/>
              <a:t> </a:t>
            </a:r>
            <a:r>
              <a:rPr spc="-70" dirty="0"/>
              <a:t>helpful</a:t>
            </a:r>
            <a:r>
              <a:rPr spc="-245" dirty="0"/>
              <a:t> </a:t>
            </a:r>
            <a:r>
              <a:rPr spc="-5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065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Makes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them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extremely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versatile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2965704"/>
            <a:ext cx="6274308" cy="144322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Lists</a:t>
            </a:r>
            <a:r>
              <a:rPr spc="-215" dirty="0"/>
              <a:t> </a:t>
            </a:r>
            <a:r>
              <a:rPr spc="185" dirty="0"/>
              <a:t>can</a:t>
            </a:r>
            <a:r>
              <a:rPr spc="-210" dirty="0"/>
              <a:t> </a:t>
            </a:r>
            <a:r>
              <a:rPr spc="175" dirty="0"/>
              <a:t>be</a:t>
            </a:r>
            <a:r>
              <a:rPr spc="-225" dirty="0"/>
              <a:t> </a:t>
            </a:r>
            <a:r>
              <a:rPr dirty="0"/>
              <a:t>of</a:t>
            </a:r>
            <a:r>
              <a:rPr spc="-210" dirty="0"/>
              <a:t> </a:t>
            </a:r>
            <a:r>
              <a:rPr spc="-90" dirty="0"/>
              <a:t>different</a:t>
            </a:r>
            <a:r>
              <a:rPr spc="-254" dirty="0"/>
              <a:t> </a:t>
            </a:r>
            <a:r>
              <a:rPr spc="-3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343725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Not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very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useful,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but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possible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9" y="2752344"/>
            <a:ext cx="6368795" cy="91135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Mutability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552440" cy="137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Mutable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object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4" dirty="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Verdana"/>
                <a:cs typeface="Verdana"/>
              </a:rPr>
              <a:t>changed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after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creation.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Verdana"/>
              <a:cs typeface="Verdana"/>
            </a:endParaRPr>
          </a:p>
          <a:p>
            <a:pPr marL="12700" marR="308610">
              <a:lnSpc>
                <a:spcPts val="2150"/>
              </a:lnSpc>
            </a:pP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Immutable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object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spc="-105" dirty="0">
                <a:solidFill>
                  <a:srgbClr val="404040"/>
                </a:solidFill>
                <a:latin typeface="Tahoma"/>
                <a:cs typeface="Tahoma"/>
              </a:rPr>
              <a:t>NOT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Verdana"/>
                <a:cs typeface="Verdana"/>
              </a:rPr>
              <a:t>changed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after creation.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quiz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2300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mutable?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5937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Effectively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immutable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404040"/>
                </a:solidFill>
                <a:latin typeface="Verdana"/>
                <a:cs typeface="Verdana"/>
              </a:rPr>
              <a:t>(I.e.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can't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changed)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" y="3139439"/>
            <a:ext cx="6669024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7115" y="1472183"/>
            <a:ext cx="3904488" cy="37246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Dictionaries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4682" y="2084578"/>
            <a:ext cx="31642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0"/>
              </a:spcBef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Similar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actual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dictionaries</a:t>
            </a:r>
            <a:endParaRPr sz="1800">
              <a:latin typeface="Arial MT"/>
              <a:cs typeface="Arial MT"/>
            </a:endParaRPr>
          </a:p>
          <a:p>
            <a:pPr marL="269875" marR="5080" indent="-257810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effectively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lists </a:t>
            </a:r>
            <a:r>
              <a:rPr sz="1800" dirty="0">
                <a:latin typeface="Arial MT"/>
                <a:cs typeface="Arial MT"/>
              </a:rPr>
              <a:t>combined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keys 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</a:t>
            </a:r>
            <a:endParaRPr sz="1800">
              <a:latin typeface="Arial MT"/>
              <a:cs typeface="Arial MT"/>
            </a:endParaRPr>
          </a:p>
          <a:p>
            <a:pPr marL="269875" marR="173355" indent="-257810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keys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instead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indexing them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list</a:t>
            </a:r>
            <a:endParaRPr sz="18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mapped 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26987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unique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key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363" y="3346703"/>
            <a:ext cx="1764792" cy="694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Dictionary</a:t>
            </a:r>
            <a:r>
              <a:rPr spc="-229" dirty="0"/>
              <a:t> </a:t>
            </a:r>
            <a:r>
              <a:rPr spc="-55" dirty="0"/>
              <a:t>definition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9683" y="2506421"/>
            <a:ext cx="5309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Defined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comma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separated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key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r>
              <a:rPr sz="1800" b="1" spc="-2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value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pairs: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3629" y="3506723"/>
            <a:ext cx="1412240" cy="1052830"/>
          </a:xfrm>
          <a:custGeom>
            <a:avLst/>
            <a:gdLst/>
            <a:ahLst/>
            <a:cxnLst/>
            <a:rect l="l" t="t" r="r" b="b"/>
            <a:pathLst>
              <a:path w="1412239" h="1052829">
                <a:moveTo>
                  <a:pt x="432181" y="191262"/>
                </a:moveTo>
                <a:lnTo>
                  <a:pt x="426161" y="103314"/>
                </a:lnTo>
                <a:lnTo>
                  <a:pt x="419100" y="0"/>
                </a:lnTo>
                <a:lnTo>
                  <a:pt x="273939" y="125222"/>
                </a:lnTo>
                <a:lnTo>
                  <a:pt x="326707" y="147256"/>
                </a:lnTo>
                <a:lnTo>
                  <a:pt x="2159" y="925576"/>
                </a:lnTo>
                <a:lnTo>
                  <a:pt x="0" y="936739"/>
                </a:lnTo>
                <a:lnTo>
                  <a:pt x="2171" y="947508"/>
                </a:lnTo>
                <a:lnTo>
                  <a:pt x="8166" y="956678"/>
                </a:lnTo>
                <a:lnTo>
                  <a:pt x="17526" y="963041"/>
                </a:lnTo>
                <a:lnTo>
                  <a:pt x="28676" y="965200"/>
                </a:lnTo>
                <a:lnTo>
                  <a:pt x="39370" y="963041"/>
                </a:lnTo>
                <a:lnTo>
                  <a:pt x="48615" y="957033"/>
                </a:lnTo>
                <a:lnTo>
                  <a:pt x="54991" y="947674"/>
                </a:lnTo>
                <a:lnTo>
                  <a:pt x="379514" y="169291"/>
                </a:lnTo>
                <a:lnTo>
                  <a:pt x="432181" y="191262"/>
                </a:lnTo>
                <a:close/>
              </a:path>
              <a:path w="1412239" h="1052829">
                <a:moveTo>
                  <a:pt x="1411732" y="495300"/>
                </a:moveTo>
                <a:lnTo>
                  <a:pt x="1220089" y="490474"/>
                </a:lnTo>
                <a:lnTo>
                  <a:pt x="1244358" y="542251"/>
                </a:lnTo>
                <a:lnTo>
                  <a:pt x="272415" y="998093"/>
                </a:lnTo>
                <a:lnTo>
                  <a:pt x="263334" y="1004874"/>
                </a:lnTo>
                <a:lnTo>
                  <a:pt x="257746" y="1014272"/>
                </a:lnTo>
                <a:lnTo>
                  <a:pt x="256044" y="1025080"/>
                </a:lnTo>
                <a:lnTo>
                  <a:pt x="258699" y="1036066"/>
                </a:lnTo>
                <a:lnTo>
                  <a:pt x="265468" y="1045210"/>
                </a:lnTo>
                <a:lnTo>
                  <a:pt x="274891" y="1050836"/>
                </a:lnTo>
                <a:lnTo>
                  <a:pt x="285737" y="1052499"/>
                </a:lnTo>
                <a:lnTo>
                  <a:pt x="296799" y="1049782"/>
                </a:lnTo>
                <a:lnTo>
                  <a:pt x="1268603" y="593940"/>
                </a:lnTo>
                <a:lnTo>
                  <a:pt x="1292860" y="645668"/>
                </a:lnTo>
                <a:lnTo>
                  <a:pt x="1386344" y="527405"/>
                </a:lnTo>
                <a:lnTo>
                  <a:pt x="1411732" y="495300"/>
                </a:lnTo>
                <a:close/>
              </a:path>
            </a:pathLst>
          </a:custGeom>
          <a:solidFill>
            <a:srgbClr val="9B6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1181" y="4574540"/>
            <a:ext cx="161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Curly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brackets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3155" y="3473322"/>
            <a:ext cx="1217930" cy="441959"/>
          </a:xfrm>
          <a:custGeom>
            <a:avLst/>
            <a:gdLst/>
            <a:ahLst/>
            <a:cxnLst/>
            <a:rect l="l" t="t" r="r" b="b"/>
            <a:pathLst>
              <a:path w="1217929" h="441960">
                <a:moveTo>
                  <a:pt x="171914" y="54359"/>
                </a:moveTo>
                <a:lnTo>
                  <a:pt x="154338" y="108740"/>
                </a:lnTo>
                <a:lnTo>
                  <a:pt x="1180210" y="440181"/>
                </a:lnTo>
                <a:lnTo>
                  <a:pt x="1191525" y="441448"/>
                </a:lnTo>
                <a:lnTo>
                  <a:pt x="1202055" y="438403"/>
                </a:lnTo>
                <a:lnTo>
                  <a:pt x="1210679" y="431645"/>
                </a:lnTo>
                <a:lnTo>
                  <a:pt x="1216279" y="421766"/>
                </a:lnTo>
                <a:lnTo>
                  <a:pt x="1217545" y="410507"/>
                </a:lnTo>
                <a:lnTo>
                  <a:pt x="1214501" y="399986"/>
                </a:lnTo>
                <a:lnTo>
                  <a:pt x="1207742" y="391370"/>
                </a:lnTo>
                <a:lnTo>
                  <a:pt x="1197864" y="385825"/>
                </a:lnTo>
                <a:lnTo>
                  <a:pt x="171914" y="54359"/>
                </a:lnTo>
                <a:close/>
              </a:path>
              <a:path w="1217929" h="441960">
                <a:moveTo>
                  <a:pt x="189483" y="0"/>
                </a:moveTo>
                <a:lnTo>
                  <a:pt x="0" y="28828"/>
                </a:lnTo>
                <a:lnTo>
                  <a:pt x="136779" y="163068"/>
                </a:lnTo>
                <a:lnTo>
                  <a:pt x="154338" y="108740"/>
                </a:lnTo>
                <a:lnTo>
                  <a:pt x="127127" y="99949"/>
                </a:lnTo>
                <a:lnTo>
                  <a:pt x="117248" y="94404"/>
                </a:lnTo>
                <a:lnTo>
                  <a:pt x="110490" y="85788"/>
                </a:lnTo>
                <a:lnTo>
                  <a:pt x="107445" y="75267"/>
                </a:lnTo>
                <a:lnTo>
                  <a:pt x="108711" y="64007"/>
                </a:lnTo>
                <a:lnTo>
                  <a:pt x="114311" y="54076"/>
                </a:lnTo>
                <a:lnTo>
                  <a:pt x="122935" y="47323"/>
                </a:lnTo>
                <a:lnTo>
                  <a:pt x="133465" y="44309"/>
                </a:lnTo>
                <a:lnTo>
                  <a:pt x="175162" y="44309"/>
                </a:lnTo>
                <a:lnTo>
                  <a:pt x="189483" y="0"/>
                </a:lnTo>
                <a:close/>
              </a:path>
              <a:path w="1217929" h="441960">
                <a:moveTo>
                  <a:pt x="133465" y="44309"/>
                </a:moveTo>
                <a:lnTo>
                  <a:pt x="122935" y="47323"/>
                </a:lnTo>
                <a:lnTo>
                  <a:pt x="114311" y="54076"/>
                </a:lnTo>
                <a:lnTo>
                  <a:pt x="108711" y="64007"/>
                </a:lnTo>
                <a:lnTo>
                  <a:pt x="107445" y="75267"/>
                </a:lnTo>
                <a:lnTo>
                  <a:pt x="110490" y="85788"/>
                </a:lnTo>
                <a:lnTo>
                  <a:pt x="117248" y="94404"/>
                </a:lnTo>
                <a:lnTo>
                  <a:pt x="127127" y="99949"/>
                </a:lnTo>
                <a:lnTo>
                  <a:pt x="154338" y="108740"/>
                </a:lnTo>
                <a:lnTo>
                  <a:pt x="171914" y="54359"/>
                </a:lnTo>
                <a:lnTo>
                  <a:pt x="144780" y="45592"/>
                </a:lnTo>
                <a:lnTo>
                  <a:pt x="133465" y="44309"/>
                </a:lnTo>
                <a:close/>
              </a:path>
              <a:path w="1217929" h="441960">
                <a:moveTo>
                  <a:pt x="175162" y="44309"/>
                </a:moveTo>
                <a:lnTo>
                  <a:pt x="133465" y="44309"/>
                </a:lnTo>
                <a:lnTo>
                  <a:pt x="144780" y="45592"/>
                </a:lnTo>
                <a:lnTo>
                  <a:pt x="171914" y="54359"/>
                </a:lnTo>
                <a:lnTo>
                  <a:pt x="175162" y="44309"/>
                </a:lnTo>
                <a:close/>
              </a:path>
            </a:pathLst>
          </a:custGeom>
          <a:solidFill>
            <a:srgbClr val="9B6B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68697" y="3842384"/>
            <a:ext cx="1103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Comma </a:t>
            </a:r>
            <a:r>
              <a:rPr sz="1800" b="1" spc="-10" dirty="0">
                <a:latin typeface="Arial"/>
                <a:cs typeface="Arial"/>
              </a:rPr>
              <a:t>separated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Dictionary</a:t>
            </a:r>
            <a:r>
              <a:rPr spc="-229" dirty="0"/>
              <a:t> </a:t>
            </a:r>
            <a:r>
              <a:rPr spc="-7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379440"/>
            <a:ext cx="4260215" cy="1631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Values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Verdana"/>
                <a:cs typeface="Verdana"/>
              </a:rPr>
              <a:t>mapped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Values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404040"/>
                </a:solidFill>
                <a:latin typeface="Verdana"/>
                <a:cs typeface="Verdana"/>
              </a:rPr>
              <a:t>accessed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their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unique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immutable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Values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cannot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exist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without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2111197"/>
            <a:ext cx="4672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Let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previous </a:t>
            </a:r>
            <a:r>
              <a:rPr sz="1800" spc="-10" dirty="0">
                <a:latin typeface="Arial MT"/>
                <a:cs typeface="Arial MT"/>
              </a:rPr>
              <a:t>image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551" y="2616707"/>
            <a:ext cx="6547104" cy="197662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2941320"/>
            <a:ext cx="6795516" cy="9281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Accessing</a:t>
            </a:r>
            <a:r>
              <a:rPr spc="-210" dirty="0"/>
              <a:t> </a:t>
            </a:r>
            <a:r>
              <a:rPr spc="250" dirty="0"/>
              <a:t>a</a:t>
            </a:r>
            <a:r>
              <a:rPr spc="-165" dirty="0"/>
              <a:t> </a:t>
            </a:r>
            <a:r>
              <a:rPr spc="-25" dirty="0"/>
              <a:t>dictionary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1982"/>
            <a:ext cx="6621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latin typeface="Arial MT"/>
                <a:cs typeface="Arial MT"/>
              </a:rPr>
              <a:t>Values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are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accessed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by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their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keys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(just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like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dictionary)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206" y="4444365"/>
            <a:ext cx="47840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Note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that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they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can't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indexed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like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list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48" y="2727960"/>
            <a:ext cx="6702552" cy="19598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Altering</a:t>
            </a:r>
            <a:r>
              <a:rPr spc="-245" dirty="0"/>
              <a:t> </a:t>
            </a:r>
            <a:r>
              <a:rPr spc="250" dirty="0"/>
              <a:t>a</a:t>
            </a:r>
            <a:r>
              <a:rPr spc="-220" dirty="0"/>
              <a:t> </a:t>
            </a:r>
            <a:r>
              <a:rPr spc="-20" dirty="0"/>
              <a:t>dictionary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1982"/>
            <a:ext cx="4716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Can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done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via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dictionary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methods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32448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0" dirty="0"/>
              <a:t>Keys</a:t>
            </a:r>
            <a:r>
              <a:rPr spc="-260" dirty="0"/>
              <a:t> </a:t>
            </a:r>
            <a:r>
              <a:rPr spc="114" dirty="0"/>
              <a:t>and</a:t>
            </a:r>
            <a:r>
              <a:rPr spc="-245" dirty="0"/>
              <a:t> </a:t>
            </a:r>
            <a:r>
              <a:rPr spc="-25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41591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possible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obtain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only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keys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values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dictionary.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683" y="5189982"/>
            <a:ext cx="2680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useful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iteration.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412" y="2764535"/>
            <a:ext cx="5868924" cy="101803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290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1961134"/>
            <a:ext cx="6535420" cy="152082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Effectively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can't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contain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duplicate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items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Similar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functionality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lists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Can't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indexed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sliced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created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spc="-520" dirty="0">
                <a:solidFill>
                  <a:srgbClr val="404040"/>
                </a:solidFill>
                <a:latin typeface="Tahoma"/>
                <a:cs typeface="Tahoma"/>
              </a:rPr>
              <a:t>{}</a:t>
            </a:r>
            <a:r>
              <a:rPr sz="1800" b="1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convert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list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set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291" y="3608832"/>
            <a:ext cx="5817108" cy="179679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95" y="2828544"/>
              <a:ext cx="4681728" cy="11536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95983" y="2897123"/>
              <a:ext cx="749935" cy="266700"/>
            </a:xfrm>
            <a:custGeom>
              <a:avLst/>
              <a:gdLst/>
              <a:ahLst/>
              <a:cxnLst/>
              <a:rect l="l" t="t" r="r" b="b"/>
              <a:pathLst>
                <a:path w="749935" h="266700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705358" y="0"/>
                  </a:lnTo>
                  <a:lnTo>
                    <a:pt x="722643" y="3498"/>
                  </a:lnTo>
                  <a:lnTo>
                    <a:pt x="736774" y="13033"/>
                  </a:lnTo>
                  <a:lnTo>
                    <a:pt x="746309" y="27164"/>
                  </a:lnTo>
                  <a:lnTo>
                    <a:pt x="749808" y="44450"/>
                  </a:lnTo>
                  <a:lnTo>
                    <a:pt x="749808" y="222250"/>
                  </a:lnTo>
                  <a:lnTo>
                    <a:pt x="746309" y="239535"/>
                  </a:lnTo>
                  <a:lnTo>
                    <a:pt x="736774" y="253666"/>
                  </a:lnTo>
                  <a:lnTo>
                    <a:pt x="722643" y="263201"/>
                  </a:lnTo>
                  <a:lnTo>
                    <a:pt x="705358" y="266700"/>
                  </a:lnTo>
                  <a:lnTo>
                    <a:pt x="44450" y="266700"/>
                  </a:lnTo>
                  <a:lnTo>
                    <a:pt x="27164" y="263201"/>
                  </a:lnTo>
                  <a:lnTo>
                    <a:pt x="13033" y="253666"/>
                  </a:lnTo>
                  <a:lnTo>
                    <a:pt x="3498" y="239535"/>
                  </a:lnTo>
                  <a:lnTo>
                    <a:pt x="0" y="222250"/>
                  </a:lnTo>
                  <a:lnTo>
                    <a:pt x="0" y="44450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43327" y="2911855"/>
              <a:ext cx="1757680" cy="171450"/>
            </a:xfrm>
            <a:custGeom>
              <a:avLst/>
              <a:gdLst/>
              <a:ahLst/>
              <a:cxnLst/>
              <a:rect l="l" t="t" r="r" b="b"/>
              <a:pathLst>
                <a:path w="1757679" h="171450">
                  <a:moveTo>
                    <a:pt x="172212" y="0"/>
                  </a:moveTo>
                  <a:lnTo>
                    <a:pt x="0" y="84328"/>
                  </a:lnTo>
                  <a:lnTo>
                    <a:pt x="170688" y="171450"/>
                  </a:lnTo>
                  <a:lnTo>
                    <a:pt x="171081" y="127127"/>
                  </a:lnTo>
                  <a:lnTo>
                    <a:pt x="171196" y="114281"/>
                  </a:lnTo>
                  <a:lnTo>
                    <a:pt x="142621" y="114046"/>
                  </a:lnTo>
                  <a:lnTo>
                    <a:pt x="131534" y="111720"/>
                  </a:lnTo>
                  <a:lnTo>
                    <a:pt x="122507" y="105537"/>
                  </a:lnTo>
                  <a:lnTo>
                    <a:pt x="116457" y="96400"/>
                  </a:lnTo>
                  <a:lnTo>
                    <a:pt x="114300" y="85217"/>
                  </a:lnTo>
                  <a:lnTo>
                    <a:pt x="116643" y="74130"/>
                  </a:lnTo>
                  <a:lnTo>
                    <a:pt x="122856" y="65103"/>
                  </a:lnTo>
                  <a:lnTo>
                    <a:pt x="131998" y="59053"/>
                  </a:lnTo>
                  <a:lnTo>
                    <a:pt x="143129" y="56896"/>
                  </a:lnTo>
                  <a:lnTo>
                    <a:pt x="171706" y="56896"/>
                  </a:lnTo>
                  <a:lnTo>
                    <a:pt x="172212" y="0"/>
                  </a:lnTo>
                  <a:close/>
                </a:path>
                <a:path w="1757679" h="171450">
                  <a:moveTo>
                    <a:pt x="171704" y="57133"/>
                  </a:moveTo>
                  <a:lnTo>
                    <a:pt x="171588" y="70104"/>
                  </a:lnTo>
                  <a:lnTo>
                    <a:pt x="171462" y="84328"/>
                  </a:lnTo>
                  <a:lnTo>
                    <a:pt x="171355" y="96400"/>
                  </a:lnTo>
                  <a:lnTo>
                    <a:pt x="171273" y="105537"/>
                  </a:lnTo>
                  <a:lnTo>
                    <a:pt x="171196" y="114281"/>
                  </a:lnTo>
                  <a:lnTo>
                    <a:pt x="1728597" y="127127"/>
                  </a:lnTo>
                  <a:lnTo>
                    <a:pt x="1739707" y="125041"/>
                  </a:lnTo>
                  <a:lnTo>
                    <a:pt x="1748805" y="119014"/>
                  </a:lnTo>
                  <a:lnTo>
                    <a:pt x="1754975" y="109964"/>
                  </a:lnTo>
                  <a:lnTo>
                    <a:pt x="1757299" y="98806"/>
                  </a:lnTo>
                  <a:lnTo>
                    <a:pt x="1755213" y="87695"/>
                  </a:lnTo>
                  <a:lnTo>
                    <a:pt x="1749186" y="78597"/>
                  </a:lnTo>
                  <a:lnTo>
                    <a:pt x="1740136" y="72427"/>
                  </a:lnTo>
                  <a:lnTo>
                    <a:pt x="1728977" y="70104"/>
                  </a:lnTo>
                  <a:lnTo>
                    <a:pt x="171704" y="57133"/>
                  </a:lnTo>
                  <a:close/>
                </a:path>
                <a:path w="1757679" h="171450">
                  <a:moveTo>
                    <a:pt x="143129" y="56896"/>
                  </a:moveTo>
                  <a:lnTo>
                    <a:pt x="131998" y="59053"/>
                  </a:lnTo>
                  <a:lnTo>
                    <a:pt x="122856" y="65103"/>
                  </a:lnTo>
                  <a:lnTo>
                    <a:pt x="116643" y="74130"/>
                  </a:lnTo>
                  <a:lnTo>
                    <a:pt x="114300" y="85217"/>
                  </a:lnTo>
                  <a:lnTo>
                    <a:pt x="116457" y="96400"/>
                  </a:lnTo>
                  <a:lnTo>
                    <a:pt x="122507" y="105537"/>
                  </a:lnTo>
                  <a:lnTo>
                    <a:pt x="131534" y="111720"/>
                  </a:lnTo>
                  <a:lnTo>
                    <a:pt x="142621" y="114046"/>
                  </a:lnTo>
                  <a:lnTo>
                    <a:pt x="171196" y="114281"/>
                  </a:lnTo>
                  <a:lnTo>
                    <a:pt x="171273" y="105537"/>
                  </a:lnTo>
                  <a:lnTo>
                    <a:pt x="171355" y="96400"/>
                  </a:lnTo>
                  <a:lnTo>
                    <a:pt x="171462" y="84328"/>
                  </a:lnTo>
                  <a:lnTo>
                    <a:pt x="171588" y="70104"/>
                  </a:lnTo>
                  <a:lnTo>
                    <a:pt x="171704" y="57133"/>
                  </a:lnTo>
                  <a:lnTo>
                    <a:pt x="143129" y="56896"/>
                  </a:lnTo>
                  <a:close/>
                </a:path>
                <a:path w="1757679" h="171450">
                  <a:moveTo>
                    <a:pt x="171706" y="56896"/>
                  </a:moveTo>
                  <a:lnTo>
                    <a:pt x="143129" y="56896"/>
                  </a:lnTo>
                  <a:lnTo>
                    <a:pt x="171704" y="57133"/>
                  </a:lnTo>
                  <a:lnTo>
                    <a:pt x="171706" y="56896"/>
                  </a:lnTo>
                  <a:close/>
                </a:path>
              </a:pathLst>
            </a:custGeom>
            <a:solidFill>
              <a:srgbClr val="E2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6463" y="3137916"/>
              <a:ext cx="2611120" cy="768350"/>
            </a:xfrm>
            <a:custGeom>
              <a:avLst/>
              <a:gdLst/>
              <a:ahLst/>
              <a:cxnLst/>
              <a:rect l="l" t="t" r="r" b="b"/>
              <a:pathLst>
                <a:path w="2611120" h="768350">
                  <a:moveTo>
                    <a:pt x="0" y="48768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1499616" y="0"/>
                  </a:lnTo>
                  <a:lnTo>
                    <a:pt x="1518594" y="3833"/>
                  </a:lnTo>
                  <a:lnTo>
                    <a:pt x="1534096" y="14287"/>
                  </a:lnTo>
                  <a:lnTo>
                    <a:pt x="1544550" y="29789"/>
                  </a:lnTo>
                  <a:lnTo>
                    <a:pt x="1548384" y="48768"/>
                  </a:lnTo>
                  <a:lnTo>
                    <a:pt x="1548384" y="243839"/>
                  </a:lnTo>
                  <a:lnTo>
                    <a:pt x="1544550" y="262818"/>
                  </a:lnTo>
                  <a:lnTo>
                    <a:pt x="1534096" y="278320"/>
                  </a:lnTo>
                  <a:lnTo>
                    <a:pt x="1518594" y="288774"/>
                  </a:lnTo>
                  <a:lnTo>
                    <a:pt x="1499616" y="292608"/>
                  </a:lnTo>
                  <a:lnTo>
                    <a:pt x="48768" y="292608"/>
                  </a:lnTo>
                  <a:lnTo>
                    <a:pt x="29789" y="288774"/>
                  </a:lnTo>
                  <a:lnTo>
                    <a:pt x="14287" y="278320"/>
                  </a:lnTo>
                  <a:lnTo>
                    <a:pt x="3833" y="262818"/>
                  </a:lnTo>
                  <a:lnTo>
                    <a:pt x="0" y="243839"/>
                  </a:lnTo>
                  <a:lnTo>
                    <a:pt x="0" y="48768"/>
                  </a:lnTo>
                  <a:close/>
                </a:path>
                <a:path w="2611120" h="768350">
                  <a:moveTo>
                    <a:pt x="65532" y="524256"/>
                  </a:moveTo>
                  <a:lnTo>
                    <a:pt x="69365" y="505277"/>
                  </a:lnTo>
                  <a:lnTo>
                    <a:pt x="79819" y="489775"/>
                  </a:lnTo>
                  <a:lnTo>
                    <a:pt x="95321" y="479321"/>
                  </a:lnTo>
                  <a:lnTo>
                    <a:pt x="114300" y="475488"/>
                  </a:lnTo>
                  <a:lnTo>
                    <a:pt x="2561844" y="475488"/>
                  </a:lnTo>
                  <a:lnTo>
                    <a:pt x="2580822" y="479321"/>
                  </a:lnTo>
                  <a:lnTo>
                    <a:pt x="2596324" y="489775"/>
                  </a:lnTo>
                  <a:lnTo>
                    <a:pt x="2606778" y="505277"/>
                  </a:lnTo>
                  <a:lnTo>
                    <a:pt x="2610612" y="524256"/>
                  </a:lnTo>
                  <a:lnTo>
                    <a:pt x="2610612" y="719328"/>
                  </a:lnTo>
                  <a:lnTo>
                    <a:pt x="2606778" y="738306"/>
                  </a:lnTo>
                  <a:lnTo>
                    <a:pt x="2596324" y="753808"/>
                  </a:lnTo>
                  <a:lnTo>
                    <a:pt x="2580822" y="764262"/>
                  </a:lnTo>
                  <a:lnTo>
                    <a:pt x="2561844" y="768096"/>
                  </a:lnTo>
                  <a:lnTo>
                    <a:pt x="114300" y="768096"/>
                  </a:lnTo>
                  <a:lnTo>
                    <a:pt x="95321" y="764262"/>
                  </a:lnTo>
                  <a:lnTo>
                    <a:pt x="79819" y="753808"/>
                  </a:lnTo>
                  <a:lnTo>
                    <a:pt x="69365" y="738306"/>
                  </a:lnTo>
                  <a:lnTo>
                    <a:pt x="65532" y="719328"/>
                  </a:lnTo>
                  <a:lnTo>
                    <a:pt x="65532" y="524256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2092" y="3199891"/>
              <a:ext cx="2845435" cy="647065"/>
            </a:xfrm>
            <a:custGeom>
              <a:avLst/>
              <a:gdLst/>
              <a:ahLst/>
              <a:cxnLst/>
              <a:rect l="l" t="t" r="r" b="b"/>
              <a:pathLst>
                <a:path w="2845435" h="647064">
                  <a:moveTo>
                    <a:pt x="1758950" y="98806"/>
                  </a:moveTo>
                  <a:lnTo>
                    <a:pt x="1730629" y="69977"/>
                  </a:lnTo>
                  <a:lnTo>
                    <a:pt x="171704" y="57137"/>
                  </a:lnTo>
                  <a:lnTo>
                    <a:pt x="171704" y="56896"/>
                  </a:lnTo>
                  <a:lnTo>
                    <a:pt x="172212" y="0"/>
                  </a:lnTo>
                  <a:lnTo>
                    <a:pt x="0" y="84328"/>
                  </a:lnTo>
                  <a:lnTo>
                    <a:pt x="170688" y="171450"/>
                  </a:lnTo>
                  <a:lnTo>
                    <a:pt x="171081" y="127127"/>
                  </a:lnTo>
                  <a:lnTo>
                    <a:pt x="171196" y="114287"/>
                  </a:lnTo>
                  <a:lnTo>
                    <a:pt x="1730121" y="127127"/>
                  </a:lnTo>
                  <a:lnTo>
                    <a:pt x="1741246" y="125044"/>
                  </a:lnTo>
                  <a:lnTo>
                    <a:pt x="1750390" y="119024"/>
                  </a:lnTo>
                  <a:lnTo>
                    <a:pt x="1756600" y="109969"/>
                  </a:lnTo>
                  <a:lnTo>
                    <a:pt x="1758950" y="98806"/>
                  </a:lnTo>
                  <a:close/>
                </a:path>
                <a:path w="2845435" h="647064">
                  <a:moveTo>
                    <a:pt x="2845435" y="575945"/>
                  </a:moveTo>
                  <a:lnTo>
                    <a:pt x="2817241" y="547116"/>
                  </a:lnTo>
                  <a:lnTo>
                    <a:pt x="1259827" y="532777"/>
                  </a:lnTo>
                  <a:lnTo>
                    <a:pt x="1259840" y="532511"/>
                  </a:lnTo>
                  <a:lnTo>
                    <a:pt x="1260348" y="475615"/>
                  </a:lnTo>
                  <a:lnTo>
                    <a:pt x="1088136" y="559816"/>
                  </a:lnTo>
                  <a:lnTo>
                    <a:pt x="1258824" y="647065"/>
                  </a:lnTo>
                  <a:lnTo>
                    <a:pt x="1259192" y="604266"/>
                  </a:lnTo>
                  <a:lnTo>
                    <a:pt x="1259268" y="596061"/>
                  </a:lnTo>
                  <a:lnTo>
                    <a:pt x="1259319" y="589927"/>
                  </a:lnTo>
                  <a:lnTo>
                    <a:pt x="2816606" y="604266"/>
                  </a:lnTo>
                  <a:lnTo>
                    <a:pt x="2827782" y="602119"/>
                  </a:lnTo>
                  <a:lnTo>
                    <a:pt x="2836926" y="596061"/>
                  </a:lnTo>
                  <a:lnTo>
                    <a:pt x="2843098" y="587032"/>
                  </a:lnTo>
                  <a:lnTo>
                    <a:pt x="2845435" y="575945"/>
                  </a:lnTo>
                  <a:close/>
                </a:path>
              </a:pathLst>
            </a:custGeom>
            <a:solidFill>
              <a:srgbClr val="E23C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1080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If</a:t>
            </a:r>
            <a:r>
              <a:rPr spc="-240" dirty="0"/>
              <a:t> </a:t>
            </a:r>
            <a:r>
              <a:rPr spc="-185" dirty="0"/>
              <a:t>Else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32858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805"/>
              </a:spcBef>
              <a:tabLst>
                <a:tab pos="93662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/>
              <a:t>Fundamental</a:t>
            </a:r>
            <a:r>
              <a:rPr sz="1800" spc="-40" dirty="0"/>
              <a:t> </a:t>
            </a:r>
            <a:r>
              <a:rPr sz="1800" spc="-35" dirty="0"/>
              <a:t>building</a:t>
            </a:r>
            <a:r>
              <a:rPr sz="1800" spc="-110" dirty="0"/>
              <a:t> </a:t>
            </a:r>
            <a:r>
              <a:rPr sz="1800" dirty="0"/>
              <a:t>block</a:t>
            </a:r>
            <a:r>
              <a:rPr sz="1800" spc="-114" dirty="0"/>
              <a:t> </a:t>
            </a:r>
            <a:r>
              <a:rPr sz="1800" dirty="0"/>
              <a:t>of</a:t>
            </a:r>
            <a:r>
              <a:rPr sz="1800" spc="-100" dirty="0"/>
              <a:t> </a:t>
            </a:r>
            <a:r>
              <a:rPr sz="1800" spc="-10" dirty="0"/>
              <a:t>software</a:t>
            </a:r>
            <a:endParaRPr sz="1800">
              <a:latin typeface="Lucida Sans Unicode"/>
              <a:cs typeface="Lucida Sans Unicode"/>
            </a:endParaRPr>
          </a:p>
          <a:p>
            <a:pPr marL="3698875">
              <a:lnSpc>
                <a:spcPct val="100000"/>
              </a:lnSpc>
              <a:spcBef>
                <a:spcPts val="710"/>
              </a:spcBef>
            </a:pP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Conditional</a:t>
            </a:r>
            <a:r>
              <a:rPr sz="1800" b="1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0000"/>
                </a:solidFill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4527550">
              <a:lnSpc>
                <a:spcPct val="100000"/>
              </a:lnSpc>
              <a:spcBef>
                <a:spcPts val="375"/>
              </a:spcBef>
            </a:pP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Executed</a:t>
            </a:r>
            <a:r>
              <a:rPr sz="18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18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answer</a:t>
            </a:r>
            <a:r>
              <a:rPr sz="18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18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6FAC46"/>
                </a:solidFill>
                <a:latin typeface="Arial"/>
                <a:cs typeface="Arial"/>
              </a:rPr>
              <a:t>True</a:t>
            </a:r>
            <a:endParaRPr sz="1800">
              <a:latin typeface="Arial"/>
              <a:cs typeface="Arial"/>
            </a:endParaRPr>
          </a:p>
          <a:p>
            <a:pPr marL="5480685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Executed</a:t>
            </a:r>
            <a:r>
              <a:rPr sz="18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sz="18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answer</a:t>
            </a:r>
            <a:r>
              <a:rPr sz="18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18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FAC46"/>
                </a:solidFill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2916935"/>
            <a:ext cx="6989064" cy="1409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/>
              <a:t>If</a:t>
            </a:r>
            <a:r>
              <a:rPr spc="-229" dirty="0"/>
              <a:t> </a:t>
            </a:r>
            <a:r>
              <a:rPr spc="-215" dirty="0"/>
              <a:t>Else</a:t>
            </a:r>
            <a:r>
              <a:rPr spc="-25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2141982"/>
            <a:ext cx="37153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Try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running</a:t>
            </a:r>
            <a:r>
              <a:rPr sz="2100" spc="-6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example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below. </a:t>
            </a:r>
            <a:r>
              <a:rPr sz="2100" dirty="0">
                <a:latin typeface="Arial MT"/>
                <a:cs typeface="Arial MT"/>
              </a:rPr>
              <a:t>What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do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you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20" dirty="0">
                <a:latin typeface="Arial MT"/>
                <a:cs typeface="Arial MT"/>
              </a:rPr>
              <a:t>get?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180" y="4389120"/>
            <a:ext cx="6982968" cy="41452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823" y="3092195"/>
            <a:ext cx="4887468" cy="23515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Indentation</a:t>
            </a:r>
            <a:r>
              <a:rPr spc="-190" dirty="0"/>
              <a:t> </a:t>
            </a:r>
            <a:r>
              <a:rPr spc="-140" dirty="0"/>
              <a:t>matters!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9383" y="5480100"/>
            <a:ext cx="7410450" cy="109410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500" spc="9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5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6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5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grouped</a:t>
            </a:r>
            <a:r>
              <a:rPr sz="15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15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40" dirty="0">
                <a:solidFill>
                  <a:srgbClr val="404040"/>
                </a:solidFill>
                <a:latin typeface="Verdana"/>
                <a:cs typeface="Verdana"/>
              </a:rPr>
              <a:t>its</a:t>
            </a:r>
            <a:r>
              <a:rPr sz="15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Verdana"/>
                <a:cs typeface="Verdana"/>
              </a:rPr>
              <a:t>indentation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500" spc="-40" dirty="0">
                <a:solidFill>
                  <a:srgbClr val="404040"/>
                </a:solidFill>
                <a:latin typeface="Verdana"/>
                <a:cs typeface="Verdana"/>
              </a:rPr>
              <a:t>Indentation</a:t>
            </a:r>
            <a:r>
              <a:rPr sz="15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6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5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404040"/>
                </a:solidFill>
                <a:latin typeface="Verdana"/>
                <a:cs typeface="Verdana"/>
              </a:rPr>
              <a:t>number</a:t>
            </a:r>
            <a:r>
              <a:rPr sz="15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5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whitespace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tab</a:t>
            </a:r>
            <a:r>
              <a:rPr sz="15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Verdana"/>
                <a:cs typeface="Verdana"/>
              </a:rPr>
              <a:t>characters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before</a:t>
            </a:r>
            <a:r>
              <a:rPr sz="15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5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404040"/>
                </a:solidFill>
                <a:latin typeface="Verdana"/>
                <a:cs typeface="Verdana"/>
              </a:rPr>
              <a:t>code.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500" spc="-170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15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5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put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100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5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5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5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wrong</a:t>
            </a:r>
            <a:r>
              <a:rPr sz="15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block</a:t>
            </a:r>
            <a:r>
              <a:rPr sz="15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404040"/>
                </a:solidFill>
                <a:latin typeface="Verdana"/>
                <a:cs typeface="Verdana"/>
              </a:rPr>
              <a:t>then</a:t>
            </a:r>
            <a:r>
              <a:rPr sz="15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15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404040"/>
                </a:solidFill>
                <a:latin typeface="Verdana"/>
                <a:cs typeface="Verdana"/>
              </a:rPr>
              <a:t>unexpected</a:t>
            </a:r>
            <a:r>
              <a:rPr sz="15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Verdana"/>
                <a:cs typeface="Verdana"/>
              </a:rPr>
              <a:t>behavior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39823" y="3297935"/>
            <a:ext cx="4887595" cy="1356360"/>
          </a:xfrm>
          <a:custGeom>
            <a:avLst/>
            <a:gdLst/>
            <a:ahLst/>
            <a:cxnLst/>
            <a:rect l="l" t="t" r="r" b="b"/>
            <a:pathLst>
              <a:path w="4887595" h="1356360">
                <a:moveTo>
                  <a:pt x="475488" y="675132"/>
                </a:moveTo>
                <a:lnTo>
                  <a:pt x="4090416" y="675132"/>
                </a:lnTo>
                <a:lnTo>
                  <a:pt x="4090416" y="394715"/>
                </a:lnTo>
                <a:lnTo>
                  <a:pt x="475488" y="394715"/>
                </a:lnTo>
                <a:lnTo>
                  <a:pt x="475488" y="675132"/>
                </a:lnTo>
                <a:close/>
              </a:path>
              <a:path w="4887595" h="1356360">
                <a:moveTo>
                  <a:pt x="257556" y="1100327"/>
                </a:moveTo>
                <a:lnTo>
                  <a:pt x="4879848" y="1100327"/>
                </a:lnTo>
                <a:lnTo>
                  <a:pt x="4879848" y="126491"/>
                </a:lnTo>
                <a:lnTo>
                  <a:pt x="257556" y="126491"/>
                </a:lnTo>
                <a:lnTo>
                  <a:pt x="257556" y="1100327"/>
                </a:lnTo>
                <a:close/>
              </a:path>
              <a:path w="4887595" h="1356360">
                <a:moveTo>
                  <a:pt x="0" y="1356359"/>
                </a:moveTo>
                <a:lnTo>
                  <a:pt x="4887468" y="1356359"/>
                </a:lnTo>
                <a:lnTo>
                  <a:pt x="4887468" y="0"/>
                </a:lnTo>
                <a:lnTo>
                  <a:pt x="0" y="0"/>
                </a:lnTo>
                <a:lnTo>
                  <a:pt x="0" y="1356359"/>
                </a:lnTo>
                <a:close/>
              </a:path>
              <a:path w="4887595" h="1356360">
                <a:moveTo>
                  <a:pt x="475488" y="1100327"/>
                </a:moveTo>
                <a:lnTo>
                  <a:pt x="4794504" y="1100327"/>
                </a:lnTo>
                <a:lnTo>
                  <a:pt x="4794504" y="819912"/>
                </a:lnTo>
                <a:lnTo>
                  <a:pt x="475488" y="819912"/>
                </a:lnTo>
                <a:lnTo>
                  <a:pt x="475488" y="1100327"/>
                </a:lnTo>
                <a:close/>
              </a:path>
              <a:path w="4887595" h="1356360">
                <a:moveTo>
                  <a:pt x="257556" y="1356359"/>
                </a:moveTo>
                <a:lnTo>
                  <a:pt x="4879848" y="1356359"/>
                </a:lnTo>
                <a:lnTo>
                  <a:pt x="4879848" y="1228343"/>
                </a:lnTo>
                <a:lnTo>
                  <a:pt x="257556" y="1228343"/>
                </a:lnTo>
                <a:lnTo>
                  <a:pt x="257556" y="1356359"/>
                </a:lnTo>
                <a:close/>
              </a:path>
            </a:pathLst>
          </a:custGeom>
          <a:ln w="57150">
            <a:solidFill>
              <a:srgbClr val="E23C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Extending</a:t>
            </a:r>
            <a:r>
              <a:rPr spc="-240" dirty="0"/>
              <a:t> </a:t>
            </a:r>
            <a:r>
              <a:rPr spc="-254" dirty="0"/>
              <a:t>if-</a:t>
            </a:r>
            <a:r>
              <a:rPr spc="-85" dirty="0"/>
              <a:t>else</a:t>
            </a:r>
            <a:r>
              <a:rPr spc="-23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478989"/>
            <a:ext cx="5848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10" dirty="0">
                <a:solidFill>
                  <a:srgbClr val="404040"/>
                </a:solidFill>
                <a:latin typeface="Verdana"/>
                <a:cs typeface="Verdana"/>
              </a:rPr>
              <a:t>add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infinitely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more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statements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ahoma"/>
                <a:cs typeface="Tahoma"/>
              </a:rPr>
              <a:t>elif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683" y="5097017"/>
            <a:ext cx="554228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3535">
              <a:lnSpc>
                <a:spcPts val="1939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elif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0" dirty="0">
                <a:solidFill>
                  <a:srgbClr val="404040"/>
                </a:solidFill>
                <a:latin typeface="Verdana"/>
                <a:cs typeface="Verdana"/>
              </a:rPr>
              <a:t>=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else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0" dirty="0">
                <a:solidFill>
                  <a:srgbClr val="404040"/>
                </a:solidFill>
                <a:latin typeface="Verdana"/>
                <a:cs typeface="Verdana"/>
              </a:rPr>
              <a:t>+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means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previous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statements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must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false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current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evaluate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true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2817876"/>
            <a:ext cx="5839968" cy="16565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268" y="2360676"/>
            <a:ext cx="8904732" cy="23317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Bitcoin</a:t>
            </a:r>
            <a:r>
              <a:rPr spc="-229" dirty="0"/>
              <a:t> </a:t>
            </a:r>
            <a:r>
              <a:rPr spc="-105" dirty="0"/>
              <a:t>broker</a:t>
            </a:r>
            <a:r>
              <a:rPr spc="-225" dirty="0"/>
              <a:t> </a:t>
            </a:r>
            <a:r>
              <a:rPr spc="-10" dirty="0"/>
              <a:t>example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Verdana"/>
                <a:cs typeface="Verdana"/>
              </a:rPr>
              <a:t>Quick</a:t>
            </a:r>
            <a:r>
              <a:rPr sz="3200" spc="-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Verdana"/>
                <a:cs typeface="Verdana"/>
              </a:rPr>
              <a:t>quiz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721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What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would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happen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both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conditions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True?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2706623"/>
            <a:ext cx="6403847" cy="1879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2060" y="3270884"/>
            <a:ext cx="252221" cy="24460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For</a:t>
            </a:r>
            <a:r>
              <a:rPr spc="-225" dirty="0"/>
              <a:t> </a:t>
            </a:r>
            <a:r>
              <a:rPr spc="3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86549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Allows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us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iterate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over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set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amount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variables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within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data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structure.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During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manipulate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item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however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want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683" y="4660772"/>
            <a:ext cx="4416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Again,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indentation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important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here!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3179064"/>
            <a:ext cx="5894832" cy="69341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17208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478989"/>
            <a:ext cx="581787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Say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want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go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over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list</a:t>
            </a:r>
            <a:r>
              <a:rPr sz="18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item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ts val="2055"/>
              </a:lnSpc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along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with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404040"/>
                </a:solidFill>
                <a:latin typeface="Verdana"/>
                <a:cs typeface="Verdana"/>
              </a:rPr>
              <a:t>its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index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683" y="5343905"/>
            <a:ext cx="599948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3535">
              <a:lnSpc>
                <a:spcPts val="1939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What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if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much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more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than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404040"/>
                </a:solidFill>
                <a:latin typeface="Verdana"/>
                <a:cs typeface="Verdana"/>
              </a:rPr>
              <a:t>4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items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list,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say,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1000?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848" y="2586227"/>
            <a:ext cx="7533132" cy="229971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682" y="2114550"/>
            <a:ext cx="27832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dirty="0">
                <a:latin typeface="Verdana"/>
                <a:cs typeface="Verdana"/>
              </a:rPr>
              <a:t>Now</a:t>
            </a:r>
            <a:r>
              <a:rPr sz="2100" spc="-125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with</a:t>
            </a:r>
            <a:r>
              <a:rPr sz="2100" spc="-130" dirty="0">
                <a:latin typeface="Verdana"/>
                <a:cs typeface="Verdana"/>
              </a:rPr>
              <a:t> </a:t>
            </a:r>
            <a:r>
              <a:rPr sz="2100" spc="160" dirty="0">
                <a:latin typeface="Verdana"/>
                <a:cs typeface="Verdana"/>
              </a:rPr>
              <a:t>a</a:t>
            </a:r>
            <a:r>
              <a:rPr sz="2100" spc="-120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for</a:t>
            </a:r>
            <a:r>
              <a:rPr sz="2100" spc="-120" dirty="0">
                <a:latin typeface="Verdana"/>
                <a:cs typeface="Verdana"/>
              </a:rPr>
              <a:t> </a:t>
            </a:r>
            <a:r>
              <a:rPr sz="2100" spc="-20" dirty="0">
                <a:latin typeface="Verdana"/>
                <a:cs typeface="Verdana"/>
              </a:rPr>
              <a:t>loop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682" y="4509675"/>
            <a:ext cx="3937000" cy="85725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spc="-105" dirty="0">
                <a:latin typeface="Verdana"/>
                <a:cs typeface="Verdana"/>
              </a:rPr>
              <a:t>Saves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180" dirty="0">
                <a:latin typeface="Verdana"/>
                <a:cs typeface="Verdana"/>
              </a:rPr>
              <a:t>us</a:t>
            </a:r>
            <a:r>
              <a:rPr sz="2100" spc="-135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writing</a:t>
            </a:r>
            <a:r>
              <a:rPr sz="2100" spc="-130" dirty="0">
                <a:latin typeface="Verdana"/>
                <a:cs typeface="Verdana"/>
              </a:rPr>
              <a:t> </a:t>
            </a:r>
            <a:r>
              <a:rPr sz="2100" spc="-45" dirty="0">
                <a:latin typeface="Verdana"/>
                <a:cs typeface="Verdana"/>
              </a:rPr>
              <a:t>more</a:t>
            </a:r>
            <a:r>
              <a:rPr sz="2100" spc="-13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lines</a:t>
            </a:r>
            <a:endParaRPr sz="2100">
              <a:latin typeface="Verdana"/>
              <a:cs typeface="Verdan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spc="-75" dirty="0">
                <a:latin typeface="Verdana"/>
                <a:cs typeface="Verdana"/>
              </a:rPr>
              <a:t>Doesn't</a:t>
            </a:r>
            <a:r>
              <a:rPr sz="2100" spc="-160" dirty="0">
                <a:latin typeface="Verdana"/>
                <a:cs typeface="Verdana"/>
              </a:rPr>
              <a:t> </a:t>
            </a:r>
            <a:r>
              <a:rPr sz="2100" spc="-135" dirty="0">
                <a:latin typeface="Verdana"/>
                <a:cs typeface="Verdana"/>
              </a:rPr>
              <a:t>limit</a:t>
            </a:r>
            <a:r>
              <a:rPr sz="2100" spc="-130" dirty="0">
                <a:latin typeface="Verdana"/>
                <a:cs typeface="Verdana"/>
              </a:rPr>
              <a:t> </a:t>
            </a:r>
            <a:r>
              <a:rPr sz="2100" spc="-180" dirty="0">
                <a:latin typeface="Verdana"/>
                <a:cs typeface="Verdana"/>
              </a:rPr>
              <a:t>us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110" dirty="0">
                <a:latin typeface="Verdana"/>
                <a:cs typeface="Verdana"/>
              </a:rPr>
              <a:t>in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95" dirty="0">
                <a:latin typeface="Verdana"/>
                <a:cs typeface="Verdana"/>
              </a:rPr>
              <a:t>term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of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75" dirty="0">
                <a:latin typeface="Verdana"/>
                <a:cs typeface="Verdana"/>
              </a:rPr>
              <a:t>size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For</a:t>
            </a:r>
            <a:r>
              <a:rPr spc="-22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2601467"/>
            <a:ext cx="6868668" cy="1655063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91" y="1967483"/>
            <a:ext cx="6656832" cy="2933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Numerical</a:t>
            </a:r>
            <a:r>
              <a:rPr spc="-235" dirty="0"/>
              <a:t> </a:t>
            </a:r>
            <a:r>
              <a:rPr spc="-140" dirty="0"/>
              <a:t>for</a:t>
            </a:r>
            <a:r>
              <a:rPr spc="-220" dirty="0"/>
              <a:t> </a:t>
            </a:r>
            <a:r>
              <a:rPr spc="40" dirty="0"/>
              <a:t>loop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While</a:t>
            </a:r>
            <a:r>
              <a:rPr spc="-240" dirty="0"/>
              <a:t> </a:t>
            </a:r>
            <a:r>
              <a:rPr spc="3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332" y="1886077"/>
            <a:ext cx="7871459" cy="13766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Another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loop.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Similar</a:t>
            </a:r>
            <a:r>
              <a:rPr sz="18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loop.</a:t>
            </a:r>
            <a:endParaRPr sz="18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while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loop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doesn't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run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predefined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number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iterations,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like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loop.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Instead,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stops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soon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given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condition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becomes true/false.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" y="3037332"/>
            <a:ext cx="6342888" cy="2334768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Break</a:t>
            </a:r>
            <a:r>
              <a:rPr spc="-195" dirty="0"/>
              <a:t> </a:t>
            </a:r>
            <a:r>
              <a:rPr spc="-5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379440"/>
            <a:ext cx="5657215" cy="1631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Allows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us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go(break)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loop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preliminary.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Adds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bit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controllability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while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loop.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Usually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used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if.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used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loop.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Quick</a:t>
            </a:r>
            <a:r>
              <a:rPr spc="-250" dirty="0"/>
              <a:t> </a:t>
            </a:r>
            <a:r>
              <a:rPr spc="-90" dirty="0"/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74040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How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many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times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going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execute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while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loop?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5547" y="2648711"/>
            <a:ext cx="5356860" cy="2757170"/>
            <a:chOff x="955547" y="2648711"/>
            <a:chExt cx="5356860" cy="2757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5547" y="2648711"/>
              <a:ext cx="5356860" cy="16581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5547" y="4338827"/>
              <a:ext cx="5356860" cy="1066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9683" y="2506421"/>
            <a:ext cx="5999480" cy="232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Allow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us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404040"/>
                </a:solidFill>
                <a:latin typeface="Verdana"/>
                <a:cs typeface="Verdana"/>
              </a:rPr>
              <a:t>package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functionality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nice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readable</a:t>
            </a:r>
            <a:r>
              <a:rPr sz="1800" spc="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way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reuse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without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writing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again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50" dirty="0">
                <a:solidFill>
                  <a:srgbClr val="404040"/>
                </a:solidFill>
                <a:latin typeface="Verdana"/>
                <a:cs typeface="Verdana"/>
              </a:rPr>
              <a:t>Make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modular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readable</a:t>
            </a:r>
            <a:endParaRPr sz="18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Rule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thumb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25" dirty="0">
                <a:solidFill>
                  <a:srgbClr val="404040"/>
                </a:solidFill>
                <a:latin typeface="Verdana"/>
                <a:cs typeface="Verdana"/>
              </a:rPr>
              <a:t>-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if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planning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using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very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similar</a:t>
            </a:r>
            <a:r>
              <a:rPr sz="18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more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than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once,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may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worthwhile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writing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reusable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function.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636" y="2403348"/>
              <a:ext cx="7043928" cy="14310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34568" y="2401823"/>
              <a:ext cx="448309" cy="260985"/>
            </a:xfrm>
            <a:custGeom>
              <a:avLst/>
              <a:gdLst/>
              <a:ahLst/>
              <a:cxnLst/>
              <a:rect l="l" t="t" r="r" b="b"/>
              <a:pathLst>
                <a:path w="448309" h="260985">
                  <a:moveTo>
                    <a:pt x="0" y="43434"/>
                  </a:moveTo>
                  <a:lnTo>
                    <a:pt x="3412" y="26521"/>
                  </a:lnTo>
                  <a:lnTo>
                    <a:pt x="12720" y="12715"/>
                  </a:lnTo>
                  <a:lnTo>
                    <a:pt x="26526" y="3411"/>
                  </a:lnTo>
                  <a:lnTo>
                    <a:pt x="43433" y="0"/>
                  </a:lnTo>
                  <a:lnTo>
                    <a:pt x="404622" y="0"/>
                  </a:lnTo>
                  <a:lnTo>
                    <a:pt x="421529" y="3411"/>
                  </a:lnTo>
                  <a:lnTo>
                    <a:pt x="435335" y="12715"/>
                  </a:lnTo>
                  <a:lnTo>
                    <a:pt x="444643" y="26521"/>
                  </a:lnTo>
                  <a:lnTo>
                    <a:pt x="448056" y="43434"/>
                  </a:lnTo>
                  <a:lnTo>
                    <a:pt x="448056" y="217170"/>
                  </a:lnTo>
                  <a:lnTo>
                    <a:pt x="444643" y="234082"/>
                  </a:lnTo>
                  <a:lnTo>
                    <a:pt x="435335" y="247888"/>
                  </a:lnTo>
                  <a:lnTo>
                    <a:pt x="421529" y="257192"/>
                  </a:lnTo>
                  <a:lnTo>
                    <a:pt x="404622" y="260603"/>
                  </a:lnTo>
                  <a:lnTo>
                    <a:pt x="43433" y="260603"/>
                  </a:lnTo>
                  <a:lnTo>
                    <a:pt x="26526" y="257192"/>
                  </a:lnTo>
                  <a:lnTo>
                    <a:pt x="12720" y="247888"/>
                  </a:lnTo>
                  <a:lnTo>
                    <a:pt x="3412" y="234082"/>
                  </a:lnTo>
                  <a:lnTo>
                    <a:pt x="0" y="217170"/>
                  </a:lnTo>
                  <a:lnTo>
                    <a:pt x="0" y="43434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619" y="2120312"/>
              <a:ext cx="250810" cy="23642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Function</a:t>
            </a:r>
            <a:r>
              <a:rPr spc="-240" dirty="0"/>
              <a:t> </a:t>
            </a:r>
            <a:r>
              <a:rPr spc="-10" dirty="0"/>
              <a:t>declaration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2313" y="1909953"/>
            <a:ext cx="956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keyword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04669" y="2111674"/>
            <a:ext cx="4556125" cy="608330"/>
            <a:chOff x="2304669" y="2111674"/>
            <a:chExt cx="4556125" cy="608330"/>
          </a:xfrm>
        </p:grpSpPr>
        <p:sp>
          <p:nvSpPr>
            <p:cNvPr id="9" name="object 9"/>
            <p:cNvSpPr/>
            <p:nvPr/>
          </p:nvSpPr>
          <p:spPr>
            <a:xfrm>
              <a:off x="2333244" y="2382011"/>
              <a:ext cx="4498975" cy="309880"/>
            </a:xfrm>
            <a:custGeom>
              <a:avLst/>
              <a:gdLst/>
              <a:ahLst/>
              <a:cxnLst/>
              <a:rect l="l" t="t" r="r" b="b"/>
              <a:pathLst>
                <a:path w="4498975" h="309880">
                  <a:moveTo>
                    <a:pt x="0" y="51562"/>
                  </a:moveTo>
                  <a:lnTo>
                    <a:pt x="4056" y="31503"/>
                  </a:lnTo>
                  <a:lnTo>
                    <a:pt x="15112" y="15112"/>
                  </a:lnTo>
                  <a:lnTo>
                    <a:pt x="31503" y="4056"/>
                  </a:lnTo>
                  <a:lnTo>
                    <a:pt x="51562" y="0"/>
                  </a:lnTo>
                  <a:lnTo>
                    <a:pt x="4447285" y="0"/>
                  </a:lnTo>
                  <a:lnTo>
                    <a:pt x="4467344" y="4056"/>
                  </a:lnTo>
                  <a:lnTo>
                    <a:pt x="4483734" y="15112"/>
                  </a:lnTo>
                  <a:lnTo>
                    <a:pt x="4494791" y="31503"/>
                  </a:lnTo>
                  <a:lnTo>
                    <a:pt x="4498848" y="51562"/>
                  </a:lnTo>
                  <a:lnTo>
                    <a:pt x="4498848" y="257810"/>
                  </a:lnTo>
                  <a:lnTo>
                    <a:pt x="4494791" y="277868"/>
                  </a:lnTo>
                  <a:lnTo>
                    <a:pt x="4483734" y="294259"/>
                  </a:lnTo>
                  <a:lnTo>
                    <a:pt x="4467344" y="305315"/>
                  </a:lnTo>
                  <a:lnTo>
                    <a:pt x="4447285" y="309372"/>
                  </a:lnTo>
                  <a:lnTo>
                    <a:pt x="51562" y="309372"/>
                  </a:lnTo>
                  <a:lnTo>
                    <a:pt x="31503" y="305315"/>
                  </a:lnTo>
                  <a:lnTo>
                    <a:pt x="15112" y="294259"/>
                  </a:lnTo>
                  <a:lnTo>
                    <a:pt x="4056" y="277868"/>
                  </a:lnTo>
                  <a:lnTo>
                    <a:pt x="0" y="257810"/>
                  </a:lnTo>
                  <a:lnTo>
                    <a:pt x="0" y="51562"/>
                  </a:lnTo>
                  <a:close/>
                </a:path>
              </a:pathLst>
            </a:custGeom>
            <a:ln w="57150">
              <a:solidFill>
                <a:srgbClr val="E23C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2772" y="2111674"/>
              <a:ext cx="174101" cy="24392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89323" y="1886203"/>
            <a:ext cx="163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88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Any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of </a:t>
            </a:r>
            <a:r>
              <a:rPr sz="1800" b="1" spc="-10" dirty="0">
                <a:latin typeface="Arial"/>
                <a:cs typeface="Arial"/>
              </a:rPr>
              <a:t>arguments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07792" y="3621532"/>
            <a:ext cx="673100" cy="310515"/>
          </a:xfrm>
          <a:custGeom>
            <a:avLst/>
            <a:gdLst/>
            <a:ahLst/>
            <a:cxnLst/>
            <a:rect l="l" t="t" r="r" b="b"/>
            <a:pathLst>
              <a:path w="673100" h="310514">
                <a:moveTo>
                  <a:pt x="169279" y="52774"/>
                </a:moveTo>
                <a:lnTo>
                  <a:pt x="147324" y="105483"/>
                </a:lnTo>
                <a:lnTo>
                  <a:pt x="633793" y="307927"/>
                </a:lnTo>
                <a:lnTo>
                  <a:pt x="633998" y="307927"/>
                </a:lnTo>
                <a:lnTo>
                  <a:pt x="644687" y="310072"/>
                </a:lnTo>
                <a:lnTo>
                  <a:pt x="655415" y="307927"/>
                </a:lnTo>
                <a:lnTo>
                  <a:pt x="664571" y="301900"/>
                </a:lnTo>
                <a:lnTo>
                  <a:pt x="670941" y="292481"/>
                </a:lnTo>
                <a:lnTo>
                  <a:pt x="673092" y="281342"/>
                </a:lnTo>
                <a:lnTo>
                  <a:pt x="670909" y="270621"/>
                </a:lnTo>
                <a:lnTo>
                  <a:pt x="664868" y="261494"/>
                </a:lnTo>
                <a:lnTo>
                  <a:pt x="655446" y="255143"/>
                </a:lnTo>
                <a:lnTo>
                  <a:pt x="169279" y="52774"/>
                </a:lnTo>
                <a:close/>
              </a:path>
              <a:path w="673100" h="310514">
                <a:moveTo>
                  <a:pt x="191262" y="0"/>
                </a:moveTo>
                <a:lnTo>
                  <a:pt x="0" y="13208"/>
                </a:lnTo>
                <a:lnTo>
                  <a:pt x="125349" y="158242"/>
                </a:lnTo>
                <a:lnTo>
                  <a:pt x="147324" y="105483"/>
                </a:lnTo>
                <a:lnTo>
                  <a:pt x="120903" y="94488"/>
                </a:lnTo>
                <a:lnTo>
                  <a:pt x="111484" y="88136"/>
                </a:lnTo>
                <a:lnTo>
                  <a:pt x="105457" y="79009"/>
                </a:lnTo>
                <a:lnTo>
                  <a:pt x="103312" y="68288"/>
                </a:lnTo>
                <a:lnTo>
                  <a:pt x="105537" y="57150"/>
                </a:lnTo>
                <a:lnTo>
                  <a:pt x="111888" y="47730"/>
                </a:lnTo>
                <a:lnTo>
                  <a:pt x="120894" y="41783"/>
                </a:lnTo>
                <a:lnTo>
                  <a:pt x="120618" y="41783"/>
                </a:lnTo>
                <a:lnTo>
                  <a:pt x="131736" y="39558"/>
                </a:lnTo>
                <a:lnTo>
                  <a:pt x="174784" y="39558"/>
                </a:lnTo>
                <a:lnTo>
                  <a:pt x="191262" y="0"/>
                </a:lnTo>
                <a:close/>
              </a:path>
              <a:path w="673100" h="310514">
                <a:moveTo>
                  <a:pt x="131736" y="39558"/>
                </a:moveTo>
                <a:lnTo>
                  <a:pt x="120618" y="41783"/>
                </a:lnTo>
                <a:lnTo>
                  <a:pt x="120894" y="41783"/>
                </a:lnTo>
                <a:lnTo>
                  <a:pt x="111888" y="47730"/>
                </a:lnTo>
                <a:lnTo>
                  <a:pt x="105537" y="57150"/>
                </a:lnTo>
                <a:lnTo>
                  <a:pt x="103312" y="68288"/>
                </a:lnTo>
                <a:lnTo>
                  <a:pt x="105457" y="79009"/>
                </a:lnTo>
                <a:lnTo>
                  <a:pt x="111484" y="88136"/>
                </a:lnTo>
                <a:lnTo>
                  <a:pt x="120903" y="94488"/>
                </a:lnTo>
                <a:lnTo>
                  <a:pt x="147324" y="105483"/>
                </a:lnTo>
                <a:lnTo>
                  <a:pt x="169279" y="52774"/>
                </a:lnTo>
                <a:lnTo>
                  <a:pt x="142875" y="41783"/>
                </a:lnTo>
                <a:lnTo>
                  <a:pt x="131736" y="39558"/>
                </a:lnTo>
                <a:close/>
              </a:path>
              <a:path w="673100" h="310514">
                <a:moveTo>
                  <a:pt x="174784" y="39558"/>
                </a:moveTo>
                <a:lnTo>
                  <a:pt x="131736" y="39558"/>
                </a:lnTo>
                <a:lnTo>
                  <a:pt x="142875" y="41783"/>
                </a:lnTo>
                <a:lnTo>
                  <a:pt x="169279" y="52774"/>
                </a:lnTo>
                <a:lnTo>
                  <a:pt x="174784" y="39558"/>
                </a:lnTo>
                <a:close/>
              </a:path>
            </a:pathLst>
          </a:custGeom>
          <a:solidFill>
            <a:srgbClr val="E23C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89533" y="3788409"/>
            <a:ext cx="636651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[Optional]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Exits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and </a:t>
            </a:r>
            <a:r>
              <a:rPr sz="1800" b="1" dirty="0">
                <a:latin typeface="Arial"/>
                <a:cs typeface="Arial"/>
              </a:rPr>
              <a:t>returns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some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value</a:t>
            </a:r>
            <a:endParaRPr sz="1800">
              <a:latin typeface="Arial"/>
              <a:cs typeface="Arial"/>
            </a:endParaRPr>
          </a:p>
          <a:p>
            <a:pPr marL="269875" indent="-257175">
              <a:lnSpc>
                <a:spcPct val="100000"/>
              </a:lnSpc>
              <a:spcBef>
                <a:spcPts val="375"/>
              </a:spcBef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Functions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accept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arguments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piece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code</a:t>
            </a:r>
            <a:endParaRPr sz="18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spcBef>
                <a:spcPts val="590"/>
              </a:spcBef>
              <a:buChar char="•"/>
              <a:tabLst>
                <a:tab pos="269875" algn="l"/>
              </a:tabLst>
            </a:pPr>
            <a:r>
              <a:rPr sz="1800" dirty="0">
                <a:latin typeface="Arial MT"/>
                <a:cs typeface="Arial MT"/>
              </a:rPr>
              <a:t>Often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return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10" dirty="0">
                <a:latin typeface="Arial MT"/>
                <a:cs typeface="Arial MT"/>
              </a:rPr>
              <a:t> code)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2212848"/>
            <a:ext cx="7991856" cy="24140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Function</a:t>
            </a:r>
            <a:r>
              <a:rPr spc="-240" dirty="0"/>
              <a:t> </a:t>
            </a:r>
            <a:r>
              <a:rPr spc="-10" dirty="0"/>
              <a:t>example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583" y="2694432"/>
            <a:ext cx="6521196" cy="24444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Function</a:t>
            </a:r>
            <a:r>
              <a:rPr spc="-240" dirty="0"/>
              <a:t> </a:t>
            </a:r>
            <a:r>
              <a:rPr dirty="0"/>
              <a:t>example</a:t>
            </a:r>
            <a:r>
              <a:rPr spc="-254" dirty="0"/>
              <a:t> </a:t>
            </a:r>
            <a:r>
              <a:rPr spc="-315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6206" y="1994991"/>
            <a:ext cx="7277734" cy="1050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</a:pPr>
            <a:r>
              <a:rPr sz="2100" dirty="0">
                <a:latin typeface="Verdana"/>
                <a:cs typeface="Verdana"/>
              </a:rPr>
              <a:t>We</a:t>
            </a:r>
            <a:r>
              <a:rPr sz="2100" spc="-1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want</a:t>
            </a:r>
            <a:r>
              <a:rPr sz="2100" spc="-14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to</a:t>
            </a:r>
            <a:r>
              <a:rPr sz="2100" spc="-14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make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160" dirty="0">
                <a:latin typeface="Verdana"/>
                <a:cs typeface="Verdana"/>
              </a:rPr>
              <a:t>a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program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30" dirty="0">
                <a:latin typeface="Verdana"/>
                <a:cs typeface="Verdana"/>
              </a:rPr>
              <a:t>that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80" dirty="0">
                <a:latin typeface="Verdana"/>
                <a:cs typeface="Verdana"/>
              </a:rPr>
              <a:t>rounds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85" dirty="0">
                <a:latin typeface="Verdana"/>
                <a:cs typeface="Verdana"/>
              </a:rPr>
              <a:t>numbers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up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or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ts val="2395"/>
              </a:lnSpc>
            </a:pPr>
            <a:r>
              <a:rPr sz="2100" spc="-10" dirty="0">
                <a:latin typeface="Verdana"/>
                <a:cs typeface="Verdana"/>
              </a:rPr>
              <a:t>down.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100" spc="-270" dirty="0">
                <a:latin typeface="Verdana"/>
                <a:cs typeface="Verdana"/>
              </a:rPr>
              <a:t>Try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to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85" dirty="0">
                <a:latin typeface="Verdana"/>
                <a:cs typeface="Verdana"/>
              </a:rPr>
              <a:t>pack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20" dirty="0">
                <a:latin typeface="Verdana"/>
                <a:cs typeface="Verdana"/>
              </a:rPr>
              <a:t>the</a:t>
            </a:r>
            <a:r>
              <a:rPr sz="2100" spc="-160" dirty="0">
                <a:latin typeface="Verdana"/>
                <a:cs typeface="Verdana"/>
              </a:rPr>
              <a:t> </a:t>
            </a:r>
            <a:r>
              <a:rPr sz="2100" spc="-40" dirty="0">
                <a:latin typeface="Verdana"/>
                <a:cs typeface="Verdana"/>
              </a:rPr>
              <a:t>following</a:t>
            </a:r>
            <a:r>
              <a:rPr sz="2100" spc="-150" dirty="0">
                <a:latin typeface="Verdana"/>
                <a:cs typeface="Verdana"/>
              </a:rPr>
              <a:t> </a:t>
            </a:r>
            <a:r>
              <a:rPr sz="2100" spc="-60" dirty="0">
                <a:latin typeface="Verdana"/>
                <a:cs typeface="Verdana"/>
              </a:rPr>
              <a:t>into</a:t>
            </a:r>
            <a:r>
              <a:rPr sz="2100" spc="-160" dirty="0">
                <a:latin typeface="Verdana"/>
                <a:cs typeface="Verdana"/>
              </a:rPr>
              <a:t> </a:t>
            </a:r>
            <a:r>
              <a:rPr sz="2100" spc="160" dirty="0">
                <a:latin typeface="Verdana"/>
                <a:cs typeface="Verdana"/>
              </a:rPr>
              <a:t>a</a:t>
            </a:r>
            <a:r>
              <a:rPr sz="2100" spc="-14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function.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124" y="1944623"/>
            <a:ext cx="5716524" cy="32263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Function</a:t>
            </a:r>
            <a:r>
              <a:rPr spc="-240" dirty="0"/>
              <a:t> </a:t>
            </a:r>
            <a:r>
              <a:rPr dirty="0"/>
              <a:t>example</a:t>
            </a:r>
            <a:r>
              <a:rPr spc="-254" dirty="0"/>
              <a:t> </a:t>
            </a:r>
            <a:r>
              <a:rPr spc="-315" dirty="0"/>
              <a:t>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40" y="3125723"/>
              <a:ext cx="6819900" cy="17495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1951" y="1821179"/>
              <a:ext cx="4335780" cy="130759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Function</a:t>
            </a:r>
            <a:r>
              <a:rPr spc="-240" dirty="0"/>
              <a:t> </a:t>
            </a:r>
            <a:r>
              <a:rPr dirty="0"/>
              <a:t>example</a:t>
            </a:r>
            <a:r>
              <a:rPr spc="-254" dirty="0"/>
              <a:t> </a:t>
            </a:r>
            <a:r>
              <a:rPr spc="-315" dirty="0"/>
              <a:t>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236" y="1920239"/>
            <a:ext cx="5535168" cy="3008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4067" y="1016634"/>
            <a:ext cx="4675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Python</a:t>
            </a:r>
            <a:r>
              <a:rPr spc="-210" dirty="0"/>
              <a:t> </a:t>
            </a:r>
            <a:r>
              <a:rPr spc="-175" dirty="0"/>
              <a:t>built-</a:t>
            </a:r>
            <a:r>
              <a:rPr spc="-165" dirty="0"/>
              <a:t>in</a:t>
            </a:r>
            <a:r>
              <a:rPr spc="-204" dirty="0"/>
              <a:t> </a:t>
            </a:r>
            <a:r>
              <a:rPr spc="-50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7460" y="5007991"/>
            <a:ext cx="4868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work: </a:t>
            </a:r>
            <a:r>
              <a:rPr sz="18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Arial MT"/>
                <a:cs typeface="Arial MT"/>
                <a:hlinkClick r:id="rId3"/>
              </a:rPr>
              <a:t>https://docs.python.org/3.3/library/functions.html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3798" y="822706"/>
            <a:ext cx="50419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Running</a:t>
            </a:r>
            <a:r>
              <a:rPr spc="-245" dirty="0"/>
              <a:t> </a:t>
            </a:r>
            <a:r>
              <a:rPr spc="-75" dirty="0"/>
              <a:t>Python</a:t>
            </a:r>
            <a:r>
              <a:rPr spc="-229" dirty="0"/>
              <a:t> </a:t>
            </a:r>
            <a:r>
              <a:rPr spc="-100" dirty="0"/>
              <a:t>Programs </a:t>
            </a:r>
            <a:r>
              <a:rPr spc="-30" dirty="0"/>
              <a:t>Interactively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0991" y="2042159"/>
            <a:ext cx="7244080" cy="39998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500" spc="-35" dirty="0">
                <a:latin typeface="Verdana"/>
                <a:cs typeface="Verdana"/>
              </a:rPr>
              <a:t>Suppose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the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55" dirty="0">
                <a:latin typeface="Verdana"/>
                <a:cs typeface="Verdana"/>
              </a:rPr>
              <a:t>file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urier New"/>
                <a:cs typeface="Courier New"/>
              </a:rPr>
              <a:t>script.py</a:t>
            </a:r>
            <a:r>
              <a:rPr sz="1500" spc="-459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500" spc="-20" dirty="0">
                <a:latin typeface="Verdana"/>
                <a:cs typeface="Verdana"/>
              </a:rPr>
              <a:t>contains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the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following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lines:</a:t>
            </a:r>
            <a:endParaRPr sz="1500">
              <a:latin typeface="Verdana"/>
              <a:cs typeface="Verdana"/>
            </a:endParaRPr>
          </a:p>
          <a:p>
            <a:pPr marL="354965" marR="4708525">
              <a:lnSpc>
                <a:spcPts val="2500"/>
              </a:lnSpc>
              <a:spcBef>
                <a:spcPts val="150"/>
              </a:spcBef>
            </a:pPr>
            <a:r>
              <a:rPr sz="1500" dirty="0">
                <a:solidFill>
                  <a:srgbClr val="C00000"/>
                </a:solidFill>
                <a:latin typeface="Courier New"/>
                <a:cs typeface="Courier New"/>
              </a:rPr>
              <a:t>print</a:t>
            </a:r>
            <a:r>
              <a:rPr sz="1500" spc="-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C00000"/>
                </a:solidFill>
                <a:latin typeface="Courier New"/>
                <a:cs typeface="Courier New"/>
              </a:rPr>
              <a:t>'Hello</a:t>
            </a:r>
            <a:r>
              <a:rPr sz="1500" spc="-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Courier New"/>
                <a:cs typeface="Courier New"/>
              </a:rPr>
              <a:t>world' </a:t>
            </a:r>
            <a:r>
              <a:rPr sz="1500" dirty="0">
                <a:solidFill>
                  <a:srgbClr val="C00000"/>
                </a:solidFill>
                <a:latin typeface="Courier New"/>
                <a:cs typeface="Courier New"/>
              </a:rPr>
              <a:t>x</a:t>
            </a:r>
            <a:r>
              <a:rPr sz="15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C00000"/>
                </a:solidFill>
                <a:latin typeface="Courier New"/>
                <a:cs typeface="Courier New"/>
              </a:rPr>
              <a:t>=</a:t>
            </a:r>
            <a:r>
              <a:rPr sz="15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C00000"/>
                </a:solidFill>
                <a:latin typeface="Courier New"/>
                <a:cs typeface="Courier New"/>
              </a:rPr>
              <a:t>[0,1,2]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500" spc="-95" dirty="0">
                <a:latin typeface="Verdana"/>
                <a:cs typeface="Verdana"/>
              </a:rPr>
              <a:t>Let's run </a:t>
            </a:r>
            <a:r>
              <a:rPr sz="1500" spc="-114" dirty="0">
                <a:latin typeface="Verdana"/>
                <a:cs typeface="Verdana"/>
              </a:rPr>
              <a:t>this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65" dirty="0">
                <a:latin typeface="Verdana"/>
                <a:cs typeface="Verdana"/>
              </a:rPr>
              <a:t>script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80" dirty="0">
                <a:latin typeface="Verdana"/>
                <a:cs typeface="Verdana"/>
              </a:rPr>
              <a:t>in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80" dirty="0">
                <a:latin typeface="Verdana"/>
                <a:cs typeface="Verdana"/>
              </a:rPr>
              <a:t>each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of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the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ways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described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on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the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80" dirty="0">
                <a:latin typeface="Verdana"/>
                <a:cs typeface="Verdana"/>
              </a:rPr>
              <a:t>last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slide: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54965" algn="l"/>
              </a:tabLst>
            </a:pPr>
            <a:r>
              <a:rPr sz="1200" spc="5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500" spc="-10" dirty="0">
                <a:latin typeface="Courier New"/>
                <a:cs typeface="Courier New"/>
              </a:rPr>
              <a:t>python</a:t>
            </a:r>
            <a:endParaRPr sz="150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  <a:spcBef>
                <a:spcPts val="735"/>
              </a:spcBef>
            </a:pPr>
            <a:r>
              <a:rPr sz="1500" dirty="0">
                <a:latin typeface="Courier New"/>
                <a:cs typeface="Courier New"/>
              </a:rPr>
              <a:t>&gt;&gt;&gt;</a:t>
            </a:r>
            <a:r>
              <a:rPr sz="1500" spc="-6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import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script</a:t>
            </a:r>
            <a:r>
              <a:rPr sz="1500" spc="-15" dirty="0">
                <a:latin typeface="Courier New"/>
                <a:cs typeface="Courier New"/>
              </a:rPr>
              <a:t> </a:t>
            </a:r>
            <a:r>
              <a:rPr sz="1500" spc="-155" dirty="0">
                <a:solidFill>
                  <a:srgbClr val="008000"/>
                </a:solidFill>
                <a:latin typeface="Verdana"/>
                <a:cs typeface="Verdana"/>
              </a:rPr>
              <a:t>#</a:t>
            </a:r>
            <a:r>
              <a:rPr sz="1500" spc="-12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8000"/>
                </a:solidFill>
                <a:latin typeface="Verdana"/>
                <a:cs typeface="Verdana"/>
              </a:rPr>
              <a:t>DO</a:t>
            </a:r>
            <a:r>
              <a:rPr sz="1500" spc="-1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75" dirty="0">
                <a:solidFill>
                  <a:srgbClr val="008000"/>
                </a:solidFill>
                <a:latin typeface="Verdana"/>
                <a:cs typeface="Verdana"/>
              </a:rPr>
              <a:t>NOT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90" dirty="0">
                <a:solidFill>
                  <a:srgbClr val="008000"/>
                </a:solidFill>
                <a:latin typeface="Verdana"/>
                <a:cs typeface="Verdana"/>
              </a:rPr>
              <a:t>add</a:t>
            </a:r>
            <a:r>
              <a:rPr sz="1500" spc="-12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8000"/>
                </a:solidFill>
                <a:latin typeface="Verdana"/>
                <a:cs typeface="Verdana"/>
              </a:rPr>
              <a:t>the</a:t>
            </a:r>
            <a:r>
              <a:rPr sz="1500" spc="-13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8000"/>
                </a:solidFill>
                <a:latin typeface="Verdana"/>
                <a:cs typeface="Verdana"/>
              </a:rPr>
              <a:t>.py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008000"/>
                </a:solidFill>
                <a:latin typeface="Verdana"/>
                <a:cs typeface="Verdana"/>
              </a:rPr>
              <a:t>suffix.</a:t>
            </a:r>
            <a:r>
              <a:rPr sz="1500" spc="27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75" dirty="0">
                <a:solidFill>
                  <a:srgbClr val="008000"/>
                </a:solidFill>
                <a:latin typeface="Verdana"/>
                <a:cs typeface="Verdana"/>
              </a:rPr>
              <a:t>Script</a:t>
            </a:r>
            <a:r>
              <a:rPr sz="1500" spc="-12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60" dirty="0">
                <a:solidFill>
                  <a:srgbClr val="008000"/>
                </a:solidFill>
                <a:latin typeface="Verdana"/>
                <a:cs typeface="Verdana"/>
              </a:rPr>
              <a:t>is</a:t>
            </a:r>
            <a:r>
              <a:rPr sz="1500" spc="-12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114" dirty="0">
                <a:solidFill>
                  <a:srgbClr val="008000"/>
                </a:solidFill>
                <a:latin typeface="Verdana"/>
                <a:cs typeface="Verdana"/>
              </a:rPr>
              <a:t>a</a:t>
            </a:r>
            <a:r>
              <a:rPr sz="1500" spc="-12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i="1" dirty="0">
                <a:solidFill>
                  <a:srgbClr val="008000"/>
                </a:solidFill>
                <a:latin typeface="Verdana"/>
                <a:cs typeface="Verdana"/>
              </a:rPr>
              <a:t>module</a:t>
            </a:r>
            <a:r>
              <a:rPr sz="1500" i="1" spc="-114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8000"/>
                </a:solidFill>
                <a:latin typeface="Verdana"/>
                <a:cs typeface="Verdana"/>
              </a:rPr>
              <a:t>here</a:t>
            </a:r>
            <a:endParaRPr sz="1500">
              <a:latin typeface="Verdana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660"/>
              </a:spcBef>
            </a:pPr>
            <a:r>
              <a:rPr sz="1500" dirty="0">
                <a:latin typeface="Courier New"/>
                <a:cs typeface="Courier New"/>
              </a:rPr>
              <a:t>&gt;&gt;&gt;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x</a:t>
            </a:r>
            <a:endParaRPr sz="1500">
              <a:latin typeface="Courier New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695"/>
              </a:spcBef>
            </a:pPr>
            <a:r>
              <a:rPr sz="1500" dirty="0">
                <a:latin typeface="Courier New"/>
                <a:cs typeface="Courier New"/>
              </a:rPr>
              <a:t>Traceback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(most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recent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call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last):</a:t>
            </a:r>
            <a:endParaRPr sz="1500">
              <a:latin typeface="Courier New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695"/>
              </a:spcBef>
            </a:pPr>
            <a:r>
              <a:rPr sz="1500" dirty="0">
                <a:latin typeface="Courier New"/>
                <a:cs typeface="Courier New"/>
              </a:rPr>
              <a:t>File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"&lt;stdin&gt;",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line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1,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in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50" dirty="0">
                <a:latin typeface="Courier New"/>
                <a:cs typeface="Courier New"/>
              </a:rPr>
              <a:t>?</a:t>
            </a:r>
            <a:endParaRPr sz="1500">
              <a:latin typeface="Courier New"/>
              <a:cs typeface="Courier New"/>
            </a:endParaRPr>
          </a:p>
          <a:p>
            <a:pPr marL="661670"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latin typeface="Courier New"/>
                <a:cs typeface="Courier New"/>
              </a:rPr>
              <a:t>NameError:</a:t>
            </a:r>
            <a:r>
              <a:rPr sz="1500" spc="-35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name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'x'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is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not</a:t>
            </a:r>
            <a:r>
              <a:rPr sz="1500" spc="-2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defined</a:t>
            </a:r>
            <a:endParaRPr sz="1500">
              <a:latin typeface="Courier New"/>
              <a:cs typeface="Courier New"/>
            </a:endParaRPr>
          </a:p>
          <a:p>
            <a:pPr marL="977265" marR="159385" indent="-622300">
              <a:lnSpc>
                <a:spcPts val="1540"/>
              </a:lnSpc>
              <a:spcBef>
                <a:spcPts val="985"/>
              </a:spcBef>
              <a:tabLst>
                <a:tab pos="2070100" algn="l"/>
              </a:tabLst>
            </a:pPr>
            <a:r>
              <a:rPr sz="1500" dirty="0">
                <a:latin typeface="Courier New"/>
                <a:cs typeface="Courier New"/>
              </a:rPr>
              <a:t>&gt;&gt;&gt;</a:t>
            </a:r>
            <a:r>
              <a:rPr sz="1500" spc="-25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script.x</a:t>
            </a:r>
            <a:r>
              <a:rPr sz="1500" dirty="0">
                <a:latin typeface="Courier New"/>
                <a:cs typeface="Courier New"/>
              </a:rPr>
              <a:t>	</a:t>
            </a:r>
            <a:r>
              <a:rPr sz="1500" spc="-155" dirty="0">
                <a:solidFill>
                  <a:srgbClr val="008000"/>
                </a:solidFill>
                <a:latin typeface="Verdana"/>
                <a:cs typeface="Verdana"/>
              </a:rPr>
              <a:t>#</a:t>
            </a:r>
            <a:r>
              <a:rPr sz="1500" spc="-10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8000"/>
                </a:solidFill>
                <a:latin typeface="Verdana"/>
                <a:cs typeface="Verdana"/>
              </a:rPr>
              <a:t>to</a:t>
            </a:r>
            <a:r>
              <a:rPr sz="1500" spc="-9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8000"/>
                </a:solidFill>
                <a:latin typeface="Verdana"/>
                <a:cs typeface="Verdana"/>
              </a:rPr>
              <a:t>make</a:t>
            </a:r>
            <a:r>
              <a:rPr sz="1500" spc="-7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008000"/>
                </a:solidFill>
                <a:latin typeface="Verdana"/>
                <a:cs typeface="Verdana"/>
              </a:rPr>
              <a:t>use</a:t>
            </a:r>
            <a:r>
              <a:rPr sz="1500" spc="-10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8000"/>
                </a:solidFill>
                <a:latin typeface="Verdana"/>
                <a:cs typeface="Verdana"/>
              </a:rPr>
              <a:t>of</a:t>
            </a:r>
            <a:r>
              <a:rPr sz="1500" spc="-9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65" dirty="0">
                <a:solidFill>
                  <a:srgbClr val="008000"/>
                </a:solidFill>
                <a:latin typeface="Verdana"/>
                <a:cs typeface="Verdana"/>
              </a:rPr>
              <a:t>x,</a:t>
            </a:r>
            <a:r>
              <a:rPr sz="1500" spc="-8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8000"/>
                </a:solidFill>
                <a:latin typeface="Verdana"/>
                <a:cs typeface="Verdana"/>
              </a:rPr>
              <a:t>we</a:t>
            </a:r>
            <a:r>
              <a:rPr sz="1500" spc="-10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8000"/>
                </a:solidFill>
                <a:latin typeface="Verdana"/>
                <a:cs typeface="Verdana"/>
              </a:rPr>
              <a:t>need</a:t>
            </a:r>
            <a:r>
              <a:rPr sz="1500" spc="-8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8000"/>
                </a:solidFill>
                <a:latin typeface="Verdana"/>
                <a:cs typeface="Verdana"/>
              </a:rPr>
              <a:t>to</a:t>
            </a:r>
            <a:r>
              <a:rPr sz="1500" spc="-9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8000"/>
                </a:solidFill>
                <a:latin typeface="Verdana"/>
                <a:cs typeface="Verdana"/>
              </a:rPr>
              <a:t>let</a:t>
            </a:r>
            <a:r>
              <a:rPr sz="1500" spc="-10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8000"/>
                </a:solidFill>
                <a:latin typeface="Verdana"/>
                <a:cs typeface="Verdana"/>
              </a:rPr>
              <a:t>Python</a:t>
            </a:r>
            <a:r>
              <a:rPr sz="1500" spc="-9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8000"/>
                </a:solidFill>
                <a:latin typeface="Verdana"/>
                <a:cs typeface="Verdana"/>
              </a:rPr>
              <a:t>know</a:t>
            </a:r>
            <a:r>
              <a:rPr sz="1500" spc="-10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8000"/>
                </a:solidFill>
                <a:latin typeface="Verdana"/>
                <a:cs typeface="Verdana"/>
              </a:rPr>
              <a:t>which </a:t>
            </a:r>
            <a:r>
              <a:rPr sz="1500" spc="-30" dirty="0">
                <a:solidFill>
                  <a:srgbClr val="008000"/>
                </a:solidFill>
                <a:latin typeface="Verdana"/>
                <a:cs typeface="Verdana"/>
              </a:rPr>
              <a:t>#module</a:t>
            </a:r>
            <a:r>
              <a:rPr sz="1500" spc="-114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0" dirty="0">
                <a:solidFill>
                  <a:srgbClr val="008000"/>
                </a:solidFill>
                <a:latin typeface="Verdana"/>
                <a:cs typeface="Verdana"/>
              </a:rPr>
              <a:t>it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008000"/>
                </a:solidFill>
                <a:latin typeface="Verdana"/>
                <a:cs typeface="Verdana"/>
              </a:rPr>
              <a:t>came</a:t>
            </a:r>
            <a:r>
              <a:rPr sz="1500" spc="-75" dirty="0">
                <a:solidFill>
                  <a:srgbClr val="008000"/>
                </a:solidFill>
                <a:latin typeface="Verdana"/>
                <a:cs typeface="Verdana"/>
              </a:rPr>
              <a:t> from,</a:t>
            </a:r>
            <a:r>
              <a:rPr sz="1500" spc="-85" dirty="0">
                <a:solidFill>
                  <a:srgbClr val="008000"/>
                </a:solidFill>
                <a:latin typeface="Verdana"/>
                <a:cs typeface="Verdana"/>
              </a:rPr>
              <a:t> i.e.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8000"/>
                </a:solidFill>
                <a:latin typeface="Verdana"/>
                <a:cs typeface="Verdana"/>
              </a:rPr>
              <a:t>give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8000"/>
                </a:solidFill>
                <a:latin typeface="Verdana"/>
                <a:cs typeface="Verdana"/>
              </a:rPr>
              <a:t>Python</a:t>
            </a:r>
            <a:r>
              <a:rPr sz="1500" spc="-105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40" dirty="0">
                <a:solidFill>
                  <a:srgbClr val="008000"/>
                </a:solidFill>
                <a:latin typeface="Verdana"/>
                <a:cs typeface="Verdana"/>
              </a:rPr>
              <a:t>its</a:t>
            </a:r>
            <a:r>
              <a:rPr sz="1500" spc="-11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8000"/>
                </a:solidFill>
                <a:latin typeface="Verdana"/>
                <a:cs typeface="Verdana"/>
              </a:rPr>
              <a:t>context</a:t>
            </a:r>
            <a:endParaRPr sz="1500">
              <a:latin typeface="Verdana"/>
              <a:cs typeface="Verdana"/>
            </a:endParaRPr>
          </a:p>
          <a:p>
            <a:pPr marL="661670">
              <a:lnSpc>
                <a:spcPct val="100000"/>
              </a:lnSpc>
              <a:spcBef>
                <a:spcPts val="615"/>
              </a:spcBef>
            </a:pPr>
            <a:r>
              <a:rPr sz="1500" spc="-10" dirty="0">
                <a:latin typeface="Courier New"/>
                <a:cs typeface="Courier New"/>
              </a:rPr>
              <a:t>[0,1,2]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01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File</a:t>
            </a:r>
            <a:r>
              <a:rPr spc="-229" dirty="0"/>
              <a:t> </a:t>
            </a:r>
            <a:r>
              <a:rPr spc="-20" dirty="0"/>
              <a:t>naming</a:t>
            </a:r>
            <a:r>
              <a:rPr spc="-215" dirty="0"/>
              <a:t> </a:t>
            </a:r>
            <a:r>
              <a:rPr spc="-20" dirty="0"/>
              <a:t>conventions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59053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9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1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30" dirty="0"/>
              <a:t>python</a:t>
            </a:r>
            <a:r>
              <a:rPr spc="-170" dirty="0"/>
              <a:t> </a:t>
            </a:r>
            <a:r>
              <a:rPr spc="-150" dirty="0"/>
              <a:t>files</a:t>
            </a:r>
            <a:r>
              <a:rPr spc="-210" dirty="0"/>
              <a:t> </a:t>
            </a:r>
            <a:r>
              <a:rPr spc="-135" dirty="0"/>
              <a:t>usually</a:t>
            </a:r>
            <a:r>
              <a:rPr spc="-204" dirty="0"/>
              <a:t> </a:t>
            </a:r>
            <a:r>
              <a:rPr spc="65" dirty="0"/>
              <a:t>end</a:t>
            </a:r>
            <a:r>
              <a:rPr spc="-185" dirty="0"/>
              <a:t> </a:t>
            </a:r>
            <a:r>
              <a:rPr spc="-110" dirty="0"/>
              <a:t>with</a:t>
            </a:r>
            <a:r>
              <a:rPr spc="-200" dirty="0"/>
              <a:t> </a:t>
            </a:r>
            <a:r>
              <a:rPr spc="-20" dirty="0"/>
              <a:t>the</a:t>
            </a:r>
            <a:r>
              <a:rPr spc="-185" dirty="0"/>
              <a:t> </a:t>
            </a:r>
            <a:r>
              <a:rPr spc="-215" dirty="0"/>
              <a:t>suffix</a:t>
            </a:r>
            <a:r>
              <a:rPr spc="-175" dirty="0"/>
              <a:t> </a:t>
            </a:r>
            <a:r>
              <a:rPr b="1" spc="-25" dirty="0">
                <a:solidFill>
                  <a:srgbClr val="A4A4A4"/>
                </a:solidFill>
                <a:latin typeface="Courier New"/>
                <a:cs typeface="Courier New"/>
              </a:rPr>
              <a:t>.py</a:t>
            </a:r>
            <a:endParaRPr sz="225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2005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35" dirty="0"/>
              <a:t>but</a:t>
            </a:r>
            <a:r>
              <a:rPr spc="-145" dirty="0"/>
              <a:t> </a:t>
            </a:r>
            <a:r>
              <a:rPr dirty="0"/>
              <a:t>executable</a:t>
            </a:r>
            <a:r>
              <a:rPr spc="-100" dirty="0"/>
              <a:t> </a:t>
            </a:r>
            <a:r>
              <a:rPr spc="-150" dirty="0"/>
              <a:t>files </a:t>
            </a:r>
            <a:r>
              <a:rPr spc="-135" dirty="0"/>
              <a:t>usually</a:t>
            </a:r>
            <a:r>
              <a:rPr spc="-155" dirty="0"/>
              <a:t> </a:t>
            </a:r>
            <a:r>
              <a:rPr spc="55" dirty="0"/>
              <a:t>don’t</a:t>
            </a:r>
            <a:r>
              <a:rPr spc="-125" dirty="0"/>
              <a:t> </a:t>
            </a:r>
            <a:r>
              <a:rPr spc="-20" dirty="0"/>
              <a:t>have</a:t>
            </a:r>
            <a:endParaRPr sz="2250">
              <a:latin typeface="Lucida Sans Unicode"/>
              <a:cs typeface="Lucida Sans Unicode"/>
            </a:endParaRPr>
          </a:p>
          <a:p>
            <a:pPr marL="586740">
              <a:lnSpc>
                <a:spcPct val="100000"/>
              </a:lnSpc>
              <a:spcBef>
                <a:spcPts val="1010"/>
              </a:spcBef>
            </a:pPr>
            <a:r>
              <a:rPr spc="-20" dirty="0"/>
              <a:t>the</a:t>
            </a:r>
            <a:r>
              <a:rPr spc="-225" dirty="0"/>
              <a:t> </a:t>
            </a:r>
            <a:r>
              <a:rPr b="1" dirty="0">
                <a:solidFill>
                  <a:srgbClr val="A4A4A4"/>
                </a:solidFill>
                <a:latin typeface="Courier New"/>
                <a:cs typeface="Courier New"/>
              </a:rPr>
              <a:t>.py</a:t>
            </a:r>
            <a:r>
              <a:rPr b="1" spc="-925" dirty="0">
                <a:solidFill>
                  <a:srgbClr val="A4A4A4"/>
                </a:solidFill>
                <a:latin typeface="Courier New"/>
                <a:cs typeface="Courier New"/>
              </a:rPr>
              <a:t> </a:t>
            </a:r>
            <a:r>
              <a:rPr spc="-10" dirty="0"/>
              <a:t>extension</a:t>
            </a:r>
          </a:p>
          <a:p>
            <a:pPr marL="243840">
              <a:lnSpc>
                <a:spcPct val="100000"/>
              </a:lnSpc>
              <a:spcBef>
                <a:spcPts val="2014"/>
              </a:spcBef>
            </a:pPr>
            <a:r>
              <a:rPr sz="2250" spc="17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2250" spc="4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pc="-55" dirty="0">
                <a:solidFill>
                  <a:srgbClr val="00AF50"/>
                </a:solidFill>
              </a:rPr>
              <a:t>modules</a:t>
            </a:r>
            <a:r>
              <a:rPr spc="-165" dirty="0">
                <a:solidFill>
                  <a:srgbClr val="00AF50"/>
                </a:solidFill>
              </a:rPr>
              <a:t> </a:t>
            </a:r>
            <a:r>
              <a:rPr spc="-130" dirty="0"/>
              <a:t>(later)</a:t>
            </a:r>
            <a:r>
              <a:rPr spc="-165" dirty="0"/>
              <a:t> </a:t>
            </a:r>
            <a:r>
              <a:rPr spc="-90" dirty="0"/>
              <a:t>should</a:t>
            </a:r>
            <a:r>
              <a:rPr spc="-140" dirty="0"/>
              <a:t> </a:t>
            </a:r>
            <a:r>
              <a:rPr u="sng" spc="-60" dirty="0">
                <a:uFill>
                  <a:solidFill>
                    <a:srgbClr val="404040"/>
                  </a:solidFill>
                </a:uFill>
              </a:rPr>
              <a:t>always</a:t>
            </a:r>
            <a:r>
              <a:rPr spc="-165" dirty="0"/>
              <a:t> </a:t>
            </a:r>
            <a:r>
              <a:rPr dirty="0"/>
              <a:t>have</a:t>
            </a:r>
            <a:r>
              <a:rPr spc="-150" dirty="0"/>
              <a:t> </a:t>
            </a:r>
            <a:r>
              <a:rPr spc="-20" dirty="0"/>
              <a:t>the</a:t>
            </a:r>
            <a:r>
              <a:rPr spc="-155" dirty="0"/>
              <a:t> </a:t>
            </a:r>
            <a:r>
              <a:rPr b="1" spc="-25" dirty="0">
                <a:solidFill>
                  <a:srgbClr val="A4A4A4"/>
                </a:solidFill>
                <a:latin typeface="Courier New"/>
                <a:cs typeface="Courier New"/>
              </a:rPr>
              <a:t>.py</a:t>
            </a:r>
            <a:endParaRPr sz="2250">
              <a:latin typeface="Courier New"/>
              <a:cs typeface="Courier New"/>
            </a:endParaRPr>
          </a:p>
          <a:p>
            <a:pPr marL="586740">
              <a:lnSpc>
                <a:spcPct val="100000"/>
              </a:lnSpc>
              <a:spcBef>
                <a:spcPts val="1010"/>
              </a:spcBef>
            </a:pPr>
            <a:r>
              <a:rPr spc="-10" dirty="0"/>
              <a:t>extension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9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516784"/>
            <a:ext cx="4685665" cy="367601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29400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6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Homepage</a:t>
            </a:r>
            <a:endParaRPr sz="1600">
              <a:latin typeface="Verdana"/>
              <a:cs typeface="Verdana"/>
            </a:endParaRPr>
          </a:p>
          <a:p>
            <a:pPr marL="473075" indent="-179070">
              <a:lnSpc>
                <a:spcPct val="100000"/>
              </a:lnSpc>
              <a:spcBef>
                <a:spcPts val="1010"/>
              </a:spcBef>
              <a:buClr>
                <a:srgbClr val="404040"/>
              </a:buClr>
              <a:buChar char="•"/>
              <a:tabLst>
                <a:tab pos="473075" algn="l"/>
              </a:tabLst>
            </a:pPr>
            <a:r>
              <a:rPr sz="16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2"/>
              </a:rPr>
              <a:t>http://www.python.org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29400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6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Tutorial</a:t>
            </a:r>
            <a:endParaRPr sz="1600">
              <a:latin typeface="Verdana"/>
              <a:cs typeface="Verdana"/>
            </a:endParaRPr>
          </a:p>
          <a:p>
            <a:pPr marL="473075" indent="-179070">
              <a:lnSpc>
                <a:spcPct val="100000"/>
              </a:lnSpc>
              <a:spcBef>
                <a:spcPts val="1000"/>
              </a:spcBef>
              <a:buClr>
                <a:srgbClr val="404040"/>
              </a:buClr>
              <a:buChar char="•"/>
              <a:tabLst>
                <a:tab pos="473075" algn="l"/>
              </a:tabLst>
            </a:pPr>
            <a:r>
              <a:rPr sz="1600" u="sng" spc="-2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3"/>
              </a:rPr>
              <a:t>http://docs.python.org/tutorial/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29400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6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Documentation</a:t>
            </a:r>
            <a:endParaRPr sz="1600">
              <a:latin typeface="Verdana"/>
              <a:cs typeface="Verdana"/>
            </a:endParaRPr>
          </a:p>
          <a:p>
            <a:pPr marL="473075" indent="-179070">
              <a:lnSpc>
                <a:spcPct val="100000"/>
              </a:lnSpc>
              <a:spcBef>
                <a:spcPts val="994"/>
              </a:spcBef>
              <a:buClr>
                <a:srgbClr val="404040"/>
              </a:buClr>
              <a:buChar char="•"/>
              <a:tabLst>
                <a:tab pos="473075" algn="l"/>
              </a:tabLst>
            </a:pPr>
            <a:r>
              <a:rPr sz="16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4"/>
              </a:rPr>
              <a:t>http://www.python.org/doc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29400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6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90" dirty="0">
                <a:solidFill>
                  <a:srgbClr val="404040"/>
                </a:solidFill>
                <a:latin typeface="Verdana"/>
                <a:cs typeface="Verdana"/>
              </a:rPr>
              <a:t>Library</a:t>
            </a:r>
            <a:r>
              <a:rPr sz="16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References</a:t>
            </a:r>
            <a:endParaRPr sz="1600">
              <a:latin typeface="Verdana"/>
              <a:cs typeface="Verdana"/>
            </a:endParaRPr>
          </a:p>
          <a:p>
            <a:pPr marL="338455">
              <a:lnSpc>
                <a:spcPct val="100000"/>
              </a:lnSpc>
              <a:spcBef>
                <a:spcPts val="1005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  <a:hlinkClick r:id="rId5"/>
              </a:rPr>
              <a:t>▶</a:t>
            </a:r>
            <a:r>
              <a:rPr sz="1100" spc="470" dirty="0">
                <a:solidFill>
                  <a:srgbClr val="B31166"/>
                </a:solidFill>
                <a:latin typeface="Lucida Sans Unicode"/>
                <a:cs typeface="Lucida Sans Unicode"/>
                <a:hlinkClick r:id="rId5"/>
              </a:rPr>
              <a:t> </a:t>
            </a:r>
            <a:r>
              <a:rPr sz="1400" u="sng" spc="-5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5"/>
              </a:rPr>
              <a:t>http://docs.python.org/release/2.5.2/lib/lib.html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29400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6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404040"/>
                </a:solidFill>
                <a:latin typeface="Verdana"/>
                <a:cs typeface="Verdana"/>
              </a:rPr>
              <a:t>Add-on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Packages:</a:t>
            </a:r>
            <a:endParaRPr sz="1600">
              <a:latin typeface="Verdana"/>
              <a:cs typeface="Verdana"/>
            </a:endParaRPr>
          </a:p>
          <a:p>
            <a:pPr marL="338455">
              <a:lnSpc>
                <a:spcPct val="100000"/>
              </a:lnSpc>
              <a:spcBef>
                <a:spcPts val="1005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spc="470" dirty="0">
                <a:solidFill>
                  <a:srgbClr val="B31166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Verdana"/>
                <a:cs typeface="Verdana"/>
                <a:hlinkClick r:id="rId6"/>
              </a:rPr>
              <a:t>http://pypi.python.org/pypi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2201</Words>
  <Application>Microsoft Macintosh PowerPoint</Application>
  <PresentationFormat>On-screen Show (4:3)</PresentationFormat>
  <Paragraphs>335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3" baseType="lpstr">
      <vt:lpstr>Arial</vt:lpstr>
      <vt:lpstr>Arial MT</vt:lpstr>
      <vt:lpstr>Century Gothic</vt:lpstr>
      <vt:lpstr>Courier New</vt:lpstr>
      <vt:lpstr>Lucida Sans Unicode</vt:lpstr>
      <vt:lpstr>Tahoma</vt:lpstr>
      <vt:lpstr>Times New Roman</vt:lpstr>
      <vt:lpstr>Verdana</vt:lpstr>
      <vt:lpstr>Wingdings 3</vt:lpstr>
      <vt:lpstr>Ion</vt:lpstr>
      <vt:lpstr>Agenda</vt:lpstr>
      <vt:lpstr>What is python?</vt:lpstr>
      <vt:lpstr>Brief History of Python</vt:lpstr>
      <vt:lpstr>Python’s Benevolent Dictator For Life</vt:lpstr>
      <vt:lpstr>Language properties</vt:lpstr>
      <vt:lpstr>High-level data types</vt:lpstr>
      <vt:lpstr>Why learn python?</vt:lpstr>
      <vt:lpstr>Where to use python?</vt:lpstr>
      <vt:lpstr>Why learn python? (cont.)</vt:lpstr>
      <vt:lpstr>Course Goals</vt:lpstr>
      <vt:lpstr>Agenda</vt:lpstr>
      <vt:lpstr>PowerPoint Presentation</vt:lpstr>
      <vt:lpstr>Python as a calculator</vt:lpstr>
      <vt:lpstr>Variables</vt:lpstr>
      <vt:lpstr>PowerPoint Presentation</vt:lpstr>
      <vt:lpstr>Types</vt:lpstr>
      <vt:lpstr>WHY SHOULD WE CARE?</vt:lpstr>
      <vt:lpstr>PowerPoint Presentation</vt:lpstr>
      <vt:lpstr>Casting types</vt:lpstr>
      <vt:lpstr>Quick quiz</vt:lpstr>
      <vt:lpstr>Arithmetic operations</vt:lpstr>
      <vt:lpstr>Order precedence example</vt:lpstr>
      <vt:lpstr>Quick quiz</vt:lpstr>
      <vt:lpstr>Comparison operators</vt:lpstr>
      <vt:lpstr>Comparison examples</vt:lpstr>
      <vt:lpstr>Logical operators</vt:lpstr>
      <vt:lpstr>Combining both</vt:lpstr>
      <vt:lpstr>Another example</vt:lpstr>
      <vt:lpstr>PowerPoint Presentation</vt:lpstr>
      <vt:lpstr>Strings</vt:lpstr>
      <vt:lpstr>Strings</vt:lpstr>
      <vt:lpstr>Strings</vt:lpstr>
      <vt:lpstr>Mixing up strings and numbers</vt:lpstr>
      <vt:lpstr>Multiline strings</vt:lpstr>
      <vt:lpstr>Printing</vt:lpstr>
      <vt:lpstr>PowerPoint Presentation</vt:lpstr>
      <vt:lpstr>Another more generic way to fix it</vt:lpstr>
      <vt:lpstr>Placeholders</vt:lpstr>
      <vt:lpstr>Commenting</vt:lpstr>
      <vt:lpstr>Lists</vt:lpstr>
      <vt:lpstr>Indexing a list</vt:lpstr>
      <vt:lpstr>PowerPoint Presentation</vt:lpstr>
      <vt:lpstr>PowerPoint Presentation</vt:lpstr>
      <vt:lpstr>Data structure sizes</vt:lpstr>
      <vt:lpstr>Is a tomato really a fruit?</vt:lpstr>
      <vt:lpstr>Lists with integers</vt:lpstr>
      <vt:lpstr>Slicing lists</vt:lpstr>
      <vt:lpstr>Lists – helpful functions</vt:lpstr>
      <vt:lpstr>Lists can be of different types</vt:lpstr>
      <vt:lpstr>Mutability</vt:lpstr>
      <vt:lpstr>PowerPoint Presentation</vt:lpstr>
      <vt:lpstr>Tuples</vt:lpstr>
      <vt:lpstr>Dictionaries</vt:lpstr>
      <vt:lpstr>Dictionary definition</vt:lpstr>
      <vt:lpstr>Dictionary properties</vt:lpstr>
      <vt:lpstr>Dictionaries</vt:lpstr>
      <vt:lpstr>Accessing a dictionary</vt:lpstr>
      <vt:lpstr>Altering a dictionary</vt:lpstr>
      <vt:lpstr>Keys and Values</vt:lpstr>
      <vt:lpstr>Sets</vt:lpstr>
      <vt:lpstr>If Else</vt:lpstr>
      <vt:lpstr>If Else example</vt:lpstr>
      <vt:lpstr>Indentation matters!</vt:lpstr>
      <vt:lpstr>Extending if-else blocks</vt:lpstr>
      <vt:lpstr>Bitcoin broker example</vt:lpstr>
      <vt:lpstr>PowerPoint Presentation</vt:lpstr>
      <vt:lpstr>For loop</vt:lpstr>
      <vt:lpstr>Example</vt:lpstr>
      <vt:lpstr>For example</vt:lpstr>
      <vt:lpstr>Numerical for loop</vt:lpstr>
      <vt:lpstr>While loop</vt:lpstr>
      <vt:lpstr>Break statement</vt:lpstr>
      <vt:lpstr>Quick quiz</vt:lpstr>
      <vt:lpstr>Functions</vt:lpstr>
      <vt:lpstr>Function declaration</vt:lpstr>
      <vt:lpstr>Function example</vt:lpstr>
      <vt:lpstr>Function example 2</vt:lpstr>
      <vt:lpstr>Function example 2</vt:lpstr>
      <vt:lpstr>Function example 3</vt:lpstr>
      <vt:lpstr>Python built-in functions</vt:lpstr>
      <vt:lpstr>Running Python Programs Interactively</vt:lpstr>
      <vt:lpstr>File naming conventions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UNC</dc:creator>
  <cp:lastModifiedBy>Carlos Pinilla</cp:lastModifiedBy>
  <cp:revision>2</cp:revision>
  <dcterms:created xsi:type="dcterms:W3CDTF">2026-01-31T22:52:52Z</dcterms:created>
  <dcterms:modified xsi:type="dcterms:W3CDTF">2026-01-31T23:04:17Z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2026-01-31T00:00:00Z</vt:filetime>
  </property>
  <property fmtid="{D5CDD505-2E9C-101B-9397-08002B2CF9AE}" pid="5" name="Producer">
    <vt:lpwstr>Microsoft® PowerPoint® for Microsoft 365</vt:lpwstr>
  </property>
</Properties>
</file>