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notesMasterIdLst>
    <p:notesMasterId r:id="rId34"/>
  </p:notesMasterIdLst>
  <p:sldIdLst>
    <p:sldId id="256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90" r:id="rId12"/>
    <p:sldId id="311" r:id="rId13"/>
    <p:sldId id="313" r:id="rId14"/>
    <p:sldId id="262" r:id="rId15"/>
    <p:sldId id="315" r:id="rId16"/>
    <p:sldId id="269" r:id="rId17"/>
    <p:sldId id="270" r:id="rId18"/>
    <p:sldId id="257" r:id="rId19"/>
    <p:sldId id="301" r:id="rId20"/>
    <p:sldId id="299" r:id="rId21"/>
    <p:sldId id="302" r:id="rId22"/>
    <p:sldId id="303" r:id="rId23"/>
    <p:sldId id="306" r:id="rId24"/>
    <p:sldId id="307" r:id="rId25"/>
    <p:sldId id="308" r:id="rId26"/>
    <p:sldId id="309" r:id="rId27"/>
    <p:sldId id="316" r:id="rId28"/>
    <p:sldId id="317" r:id="rId29"/>
    <p:sldId id="318" r:id="rId30"/>
    <p:sldId id="319" r:id="rId31"/>
    <p:sldId id="320" r:id="rId32"/>
    <p:sldId id="321" r:id="rId33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10" d="100"/>
          <a:sy n="110" d="100"/>
        </p:scale>
        <p:origin x="1688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CA006-5B63-AB4D-9E85-4C0A787706F2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6C4BE3-B3BE-1A43-B5F9-30489CCB0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88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33FDC09-15C5-4FC8-B692-05F219FD8FF5}" type="slidenum">
              <a:rPr lang="en-US" altLang="en-US" sz="1200" baseline="0"/>
              <a:pPr/>
              <a:t>10</a:t>
            </a:fld>
            <a:endParaRPr lang="en-US" altLang="en-US" sz="1200" baseline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b="1"/>
              <a:t>Science?</a:t>
            </a:r>
          </a:p>
          <a:p>
            <a:pPr eaLnBrk="1" hangingPunct="1">
              <a:buFontTx/>
              <a:buChar char="•"/>
            </a:pPr>
            <a:r>
              <a:rPr lang="en-US" altLang="en-US" b="1"/>
              <a:t>Computational Science is a multidisciplinary activity, brings together people from a variety of disciplines.</a:t>
            </a:r>
            <a:r>
              <a:rPr lang="en-US" altLang="en-US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120326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C632D78-70FA-4D26-9683-AE8BE8CFA29C}" type="slidenum">
              <a:rPr lang="en-US" altLang="en-US" sz="1200" baseline="0"/>
              <a:pPr/>
              <a:t>11</a:t>
            </a:fld>
            <a:endParaRPr lang="en-US" altLang="en-US" sz="1200" baseline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b="1"/>
              <a:t>Validation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7916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E81BB8A-FCCF-4DD1-906F-C252A548BD6E}" type="slidenum">
              <a:rPr lang="en-US" altLang="en-US" sz="1200" baseline="0"/>
              <a:pPr/>
              <a:t>12</a:t>
            </a:fld>
            <a:endParaRPr lang="en-US" altLang="en-US" sz="1200" baseline="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sz="1400" u="sng"/>
              <a:t>Seismology</a:t>
            </a:r>
            <a:r>
              <a:rPr lang="en-US" altLang="en-US" sz="1400"/>
              <a:t>: oil exploration, earthquake prediction (Parallel computation reduced compute time from weeks to hours)</a:t>
            </a:r>
          </a:p>
          <a:p>
            <a:pPr eaLnBrk="1" hangingPunct="1">
              <a:buFontTx/>
              <a:buChar char="•"/>
            </a:pPr>
            <a:r>
              <a:rPr lang="en-US" altLang="en-US" sz="1400" u="sng"/>
              <a:t>Global ocean/ climate modeling</a:t>
            </a:r>
            <a:r>
              <a:rPr lang="en-US" altLang="en-US" sz="1400"/>
              <a:t>: global warming, weather prediction </a:t>
            </a:r>
          </a:p>
          <a:p>
            <a:pPr eaLnBrk="1" hangingPunct="1">
              <a:buFontTx/>
              <a:buChar char="•"/>
            </a:pPr>
            <a:r>
              <a:rPr lang="en-US" altLang="en-US" sz="1400" u="sng"/>
              <a:t>Economics</a:t>
            </a:r>
            <a:r>
              <a:rPr lang="en-US" altLang="en-US" sz="1400"/>
              <a:t>: growth of a local or national economy (Agent-based modeling), management of resources, analysis of tax strategies</a:t>
            </a:r>
          </a:p>
          <a:p>
            <a:pPr eaLnBrk="1" hangingPunct="1">
              <a:buFontTx/>
              <a:buChar char="•"/>
            </a:pPr>
            <a:r>
              <a:rPr lang="en-US" altLang="en-US" sz="1400" u="sng"/>
              <a:t>Environmental</a:t>
            </a:r>
            <a:r>
              <a:rPr lang="en-US" altLang="en-US" sz="1400"/>
              <a:t>: utilization of resources, population modeling, insect control</a:t>
            </a:r>
            <a:endParaRPr lang="en-US" altLang="en-US" sz="1400" u="sng"/>
          </a:p>
          <a:p>
            <a:pPr eaLnBrk="1" hangingPunct="1">
              <a:buFontTx/>
              <a:buChar char="•"/>
            </a:pPr>
            <a:r>
              <a:rPr lang="en-US" altLang="en-US" sz="1400" u="sng"/>
              <a:t>Materials research:</a:t>
            </a:r>
            <a:r>
              <a:rPr lang="en-US" altLang="en-US" sz="1400"/>
              <a:t> design of new materials, smart materials; shape driven by temperature materials; materials aging issues (Stockpile stewardship)</a:t>
            </a:r>
          </a:p>
          <a:p>
            <a:pPr eaLnBrk="1" hangingPunct="1">
              <a:buFontTx/>
              <a:buChar char="•"/>
            </a:pPr>
            <a:r>
              <a:rPr lang="en-US" altLang="en-US" sz="1400" u="sng"/>
              <a:t>Drug design</a:t>
            </a:r>
            <a:r>
              <a:rPr lang="en-US" altLang="en-US" sz="1400"/>
              <a:t>: design of anti-cancer drugs, etc.</a:t>
            </a:r>
            <a:endParaRPr lang="en-US" altLang="en-US" sz="1400" u="sng"/>
          </a:p>
          <a:p>
            <a:pPr eaLnBrk="1" hangingPunct="1">
              <a:buFontTx/>
              <a:buChar char="•"/>
            </a:pPr>
            <a:r>
              <a:rPr lang="en-US" altLang="en-US" sz="1400" u="sng"/>
              <a:t>Manufacturing:</a:t>
            </a:r>
            <a:r>
              <a:rPr lang="en-US" altLang="en-US" sz="1400"/>
              <a:t> optimization of manufacturing processes,</a:t>
            </a:r>
            <a:r>
              <a:rPr lang="en-US" altLang="en-US" sz="1400" u="sng"/>
              <a:t> automation</a:t>
            </a:r>
          </a:p>
          <a:p>
            <a:pPr eaLnBrk="1" hangingPunct="1">
              <a:buFontTx/>
              <a:buChar char="•"/>
            </a:pPr>
            <a:r>
              <a:rPr lang="en-US" altLang="en-US" sz="1400" u="sng"/>
              <a:t>Medicine</a:t>
            </a:r>
            <a:r>
              <a:rPr lang="en-US" altLang="en-US" sz="1400"/>
              <a:t>:  Medical imaging, MRIs</a:t>
            </a:r>
          </a:p>
          <a:p>
            <a:pPr eaLnBrk="1" hangingPunct="1">
              <a:buFontTx/>
              <a:buChar char="•"/>
            </a:pPr>
            <a:r>
              <a:rPr lang="en-US" altLang="en-US" sz="1400" u="sng"/>
              <a:t>Human genome</a:t>
            </a:r>
            <a:r>
              <a:rPr lang="en-US" altLang="en-US" sz="1400"/>
              <a:t>: applications to understanding and treating disease</a:t>
            </a:r>
            <a:endParaRPr lang="en-US" altLang="en-US" b="1"/>
          </a:p>
          <a:p>
            <a:pPr eaLnBrk="1" hangingPunct="1"/>
            <a:endParaRPr lang="en-US" altLang="en-US" b="1"/>
          </a:p>
        </p:txBody>
      </p:sp>
    </p:spTree>
    <p:extLst>
      <p:ext uri="{BB962C8B-B14F-4D97-AF65-F5344CB8AC3E}">
        <p14:creationId xmlns:p14="http://schemas.microsoft.com/office/powerpoint/2010/main" val="2687632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D15CF0A-0CCA-40D3-AA1B-11BA8A6ABE1A}" type="slidenum">
              <a:rPr lang="en-US" altLang="en-US" sz="1200" baseline="0"/>
              <a:pPr/>
              <a:t>13</a:t>
            </a:fld>
            <a:endParaRPr lang="en-US" altLang="en-US" sz="1200" baseline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solidFill>
                  <a:srgbClr val="000000"/>
                </a:solidFill>
                <a:latin typeface="Geneva"/>
                <a:cs typeface="Times New Roman" panose="02020603050405020304" pitchFamily="18" charset="0"/>
              </a:rPr>
              <a:t>!00% digitally designed using 3D computer graphics. </a:t>
            </a:r>
          </a:p>
          <a:p>
            <a:pPr eaLnBrk="1" hangingPunct="1"/>
            <a:r>
              <a:rPr lang="en-US" altLang="en-US" b="1">
                <a:solidFill>
                  <a:srgbClr val="000000"/>
                </a:solidFill>
                <a:latin typeface="Geneva"/>
                <a:cs typeface="Times New Roman" panose="02020603050405020304" pitchFamily="18" charset="0"/>
              </a:rPr>
              <a:t>Bottom line: Reduced cost/Reduced time to market.</a:t>
            </a:r>
          </a:p>
        </p:txBody>
      </p:sp>
    </p:spTree>
    <p:extLst>
      <p:ext uri="{BB962C8B-B14F-4D97-AF65-F5344CB8AC3E}">
        <p14:creationId xmlns:p14="http://schemas.microsoft.com/office/powerpoint/2010/main" val="3484757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75280" y="2529927"/>
            <a:ext cx="6142355" cy="1356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154693" y="4174513"/>
            <a:ext cx="4384012" cy="1672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9124" y="313105"/>
            <a:ext cx="9089390" cy="6155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005" y="2099028"/>
            <a:ext cx="9089390" cy="138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2005" y="4491920"/>
            <a:ext cx="9089390" cy="138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0"/>
          <p:cNvSpPr>
            <a:spLocks noGrp="1" noChangeArrowheads="1"/>
          </p:cNvSpPr>
          <p:nvPr>
            <p:ph type="dt" sz="half" idx="10"/>
          </p:nvPr>
        </p:nvSpPr>
        <p:spPr>
          <a:xfrm>
            <a:off x="534670" y="7027545"/>
            <a:ext cx="2459482" cy="276999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1"/>
          <p:cNvSpPr>
            <a:spLocks noGrp="1" noChangeArrowheads="1"/>
          </p:cNvSpPr>
          <p:nvPr>
            <p:ph type="ftr" sz="quarter" idx="11"/>
          </p:nvPr>
        </p:nvSpPr>
        <p:spPr>
          <a:xfrm>
            <a:off x="3635756" y="7027545"/>
            <a:ext cx="3421888" cy="276999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2" descr="Large confetti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99248" y="7027545"/>
            <a:ext cx="2459482" cy="276999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3855ED-3554-45DD-A3F5-4970ADB55E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0093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005" y="2347413"/>
            <a:ext cx="9089390" cy="16197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010" y="4282016"/>
            <a:ext cx="7485380" cy="19311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83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6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705" y="4855751"/>
            <a:ext cx="9089390" cy="1500805"/>
          </a:xfrm>
        </p:spPr>
        <p:txBody>
          <a:bodyPr anchor="t"/>
          <a:lstStyle>
            <a:lvl1pPr algn="l">
              <a:defRPr sz="440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705" y="3202768"/>
            <a:ext cx="9089390" cy="1652984"/>
          </a:xfrm>
        </p:spPr>
        <p:txBody>
          <a:bodyPr anchor="b"/>
          <a:lstStyle>
            <a:lvl1pPr marL="0" indent="0">
              <a:buNone/>
              <a:defRPr sz="2204">
                <a:solidFill>
                  <a:schemeClr val="tx1">
                    <a:tint val="75000"/>
                  </a:schemeClr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86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670" y="1763184"/>
            <a:ext cx="4722918" cy="4986941"/>
          </a:xfrm>
        </p:spPr>
        <p:txBody>
          <a:bodyPr/>
          <a:lstStyle>
            <a:lvl1pPr>
              <a:defRPr sz="3085"/>
            </a:lvl1pPr>
            <a:lvl2pPr>
              <a:defRPr sz="2645"/>
            </a:lvl2pPr>
            <a:lvl3pPr>
              <a:defRPr sz="2204"/>
            </a:lvl3pPr>
            <a:lvl4pPr>
              <a:defRPr sz="1983"/>
            </a:lvl4pPr>
            <a:lvl5pPr>
              <a:defRPr sz="1983"/>
            </a:lvl5pPr>
            <a:lvl6pPr>
              <a:defRPr sz="1983"/>
            </a:lvl6pPr>
            <a:lvl7pPr>
              <a:defRPr sz="1983"/>
            </a:lvl7pPr>
            <a:lvl8pPr>
              <a:defRPr sz="1983"/>
            </a:lvl8pPr>
            <a:lvl9pPr>
              <a:defRPr sz="19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5812" y="1763184"/>
            <a:ext cx="4722918" cy="4986941"/>
          </a:xfrm>
        </p:spPr>
        <p:txBody>
          <a:bodyPr/>
          <a:lstStyle>
            <a:lvl1pPr>
              <a:defRPr sz="3085"/>
            </a:lvl1pPr>
            <a:lvl2pPr>
              <a:defRPr sz="2645"/>
            </a:lvl2pPr>
            <a:lvl3pPr>
              <a:defRPr sz="2204"/>
            </a:lvl3pPr>
            <a:lvl4pPr>
              <a:defRPr sz="1983"/>
            </a:lvl4pPr>
            <a:lvl5pPr>
              <a:defRPr sz="1983"/>
            </a:lvl5pPr>
            <a:lvl6pPr>
              <a:defRPr sz="1983"/>
            </a:lvl6pPr>
            <a:lvl7pPr>
              <a:defRPr sz="1983"/>
            </a:lvl7pPr>
            <a:lvl8pPr>
              <a:defRPr sz="1983"/>
            </a:lvl8pPr>
            <a:lvl9pPr>
              <a:defRPr sz="19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17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670" y="1691467"/>
            <a:ext cx="4724775" cy="704923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670" y="2396390"/>
            <a:ext cx="4724775" cy="4353734"/>
          </a:xfrm>
        </p:spPr>
        <p:txBody>
          <a:bodyPr/>
          <a:lstStyle>
            <a:lvl1pPr>
              <a:defRPr sz="2645"/>
            </a:lvl1pPr>
            <a:lvl2pPr>
              <a:defRPr sz="2204"/>
            </a:lvl2pPr>
            <a:lvl3pPr>
              <a:defRPr sz="1983"/>
            </a:lvl3pPr>
            <a:lvl4pPr>
              <a:defRPr sz="1763"/>
            </a:lvl4pPr>
            <a:lvl5pPr>
              <a:defRPr sz="1763"/>
            </a:lvl5pPr>
            <a:lvl6pPr>
              <a:defRPr sz="1763"/>
            </a:lvl6pPr>
            <a:lvl7pPr>
              <a:defRPr sz="1763"/>
            </a:lvl7pPr>
            <a:lvl8pPr>
              <a:defRPr sz="1763"/>
            </a:lvl8pPr>
            <a:lvl9pPr>
              <a:defRPr sz="176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2099" y="1691467"/>
            <a:ext cx="4726631" cy="704923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2099" y="2396390"/>
            <a:ext cx="4726631" cy="4353734"/>
          </a:xfrm>
        </p:spPr>
        <p:txBody>
          <a:bodyPr/>
          <a:lstStyle>
            <a:lvl1pPr>
              <a:defRPr sz="2645"/>
            </a:lvl1pPr>
            <a:lvl2pPr>
              <a:defRPr sz="2204"/>
            </a:lvl2pPr>
            <a:lvl3pPr>
              <a:defRPr sz="1983"/>
            </a:lvl3pPr>
            <a:lvl4pPr>
              <a:defRPr sz="1763"/>
            </a:lvl4pPr>
            <a:lvl5pPr>
              <a:defRPr sz="1763"/>
            </a:lvl5pPr>
            <a:lvl6pPr>
              <a:defRPr sz="1763"/>
            </a:lvl6pPr>
            <a:lvl7pPr>
              <a:defRPr sz="1763"/>
            </a:lvl7pPr>
            <a:lvl8pPr>
              <a:defRPr sz="1763"/>
            </a:lvl8pPr>
            <a:lvl9pPr>
              <a:defRPr sz="176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319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66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0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671" y="300861"/>
            <a:ext cx="3518055" cy="1280407"/>
          </a:xfrm>
        </p:spPr>
        <p:txBody>
          <a:bodyPr anchor="b"/>
          <a:lstStyle>
            <a:lvl1pPr algn="l">
              <a:defRPr sz="220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0822" y="300861"/>
            <a:ext cx="5977908" cy="6449263"/>
          </a:xfrm>
        </p:spPr>
        <p:txBody>
          <a:bodyPr/>
          <a:lstStyle>
            <a:lvl1pPr>
              <a:defRPr sz="3526"/>
            </a:lvl1pPr>
            <a:lvl2pPr>
              <a:defRPr sz="3085"/>
            </a:lvl2pPr>
            <a:lvl3pPr>
              <a:defRPr sz="2645"/>
            </a:lvl3pPr>
            <a:lvl4pPr>
              <a:defRPr sz="2204"/>
            </a:lvl4pPr>
            <a:lvl5pPr>
              <a:defRPr sz="2204"/>
            </a:lvl5pPr>
            <a:lvl6pPr>
              <a:defRPr sz="2204"/>
            </a:lvl6pPr>
            <a:lvl7pPr>
              <a:defRPr sz="2204"/>
            </a:lvl7pPr>
            <a:lvl8pPr>
              <a:defRPr sz="2204"/>
            </a:lvl8pPr>
            <a:lvl9pPr>
              <a:defRPr sz="22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671" y="1581268"/>
            <a:ext cx="3518055" cy="5168856"/>
          </a:xfrm>
        </p:spPr>
        <p:txBody>
          <a:bodyPr/>
          <a:lstStyle>
            <a:lvl1pPr marL="0" indent="0">
              <a:buNone/>
              <a:defRPr sz="154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14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981" y="5289550"/>
            <a:ext cx="6416040" cy="624461"/>
          </a:xfrm>
        </p:spPr>
        <p:txBody>
          <a:bodyPr anchor="b"/>
          <a:lstStyle>
            <a:lvl1pPr algn="l">
              <a:defRPr sz="220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981" y="675187"/>
            <a:ext cx="6416040" cy="4533900"/>
          </a:xfrm>
        </p:spPr>
        <p:txBody>
          <a:bodyPr/>
          <a:lstStyle>
            <a:lvl1pPr marL="0" indent="0">
              <a:buNone/>
              <a:defRPr sz="3526"/>
            </a:lvl1pPr>
            <a:lvl2pPr marL="503789" indent="0">
              <a:buNone/>
              <a:defRPr sz="3085"/>
            </a:lvl2pPr>
            <a:lvl3pPr marL="1007577" indent="0">
              <a:buNone/>
              <a:defRPr sz="2645"/>
            </a:lvl3pPr>
            <a:lvl4pPr marL="1511366" indent="0">
              <a:buNone/>
              <a:defRPr sz="2204"/>
            </a:lvl4pPr>
            <a:lvl5pPr marL="2015155" indent="0">
              <a:buNone/>
              <a:defRPr sz="2204"/>
            </a:lvl5pPr>
            <a:lvl6pPr marL="2518943" indent="0">
              <a:buNone/>
              <a:defRPr sz="2204"/>
            </a:lvl6pPr>
            <a:lvl7pPr marL="3022732" indent="0">
              <a:buNone/>
              <a:defRPr sz="2204"/>
            </a:lvl7pPr>
            <a:lvl8pPr marL="3526521" indent="0">
              <a:buNone/>
              <a:defRPr sz="2204"/>
            </a:lvl8pPr>
            <a:lvl9pPr marL="4030309" indent="0">
              <a:buNone/>
              <a:defRPr sz="220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981" y="5914011"/>
            <a:ext cx="6416040" cy="886839"/>
          </a:xfrm>
        </p:spPr>
        <p:txBody>
          <a:bodyPr/>
          <a:lstStyle>
            <a:lvl1pPr marL="0" indent="0">
              <a:buNone/>
              <a:defRPr sz="154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45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467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52715" y="302611"/>
            <a:ext cx="2406015" cy="64475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670" y="302611"/>
            <a:ext cx="7039822" cy="64475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30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1698" y="34775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3998" y="0"/>
                </a:moveTo>
                <a:lnTo>
                  <a:pt x="0" y="0"/>
                </a:lnTo>
                <a:lnTo>
                  <a:pt x="0" y="6857998"/>
                </a:lnTo>
                <a:lnTo>
                  <a:pt x="9143998" y="6857998"/>
                </a:lnTo>
                <a:lnTo>
                  <a:pt x="9143998" y="0"/>
                </a:lnTo>
                <a:close/>
              </a:path>
            </a:pathLst>
          </a:custGeom>
          <a:solidFill>
            <a:srgbClr val="E3EB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1698" y="347750"/>
            <a:ext cx="9150003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31438" y="1803170"/>
            <a:ext cx="8093709" cy="4135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670" y="302610"/>
            <a:ext cx="9624060" cy="1259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670" y="1763184"/>
            <a:ext cx="9624060" cy="4986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670" y="7003756"/>
            <a:ext cx="2495127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3579" y="7003756"/>
            <a:ext cx="3386243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3603" y="7003756"/>
            <a:ext cx="2495127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51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ctr" defTabSz="503789" rtl="0" eaLnBrk="1" latinLnBrk="0" hangingPunct="1">
        <a:spcBef>
          <a:spcPct val="0"/>
        </a:spcBef>
        <a:buNone/>
        <a:defRPr sz="4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842" indent="-377842" algn="l" defTabSz="503789" rtl="0" eaLnBrk="1" latinLnBrk="0" hangingPunct="1">
        <a:spcBef>
          <a:spcPct val="20000"/>
        </a:spcBef>
        <a:buFont typeface="Arial"/>
        <a:buChar char="•"/>
        <a:defRPr sz="3526" kern="1200">
          <a:solidFill>
            <a:schemeClr val="tx1"/>
          </a:solidFill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ct val="20000"/>
        </a:spcBef>
        <a:buFont typeface="Arial"/>
        <a:buChar char="–"/>
        <a:defRPr sz="3085" kern="1200">
          <a:solidFill>
            <a:schemeClr val="tx1"/>
          </a:solidFill>
          <a:latin typeface="+mn-lt"/>
          <a:ea typeface="+mn-ea"/>
          <a:cs typeface="+mn-cs"/>
        </a:defRPr>
      </a:lvl2pPr>
      <a:lvl3pPr marL="1259472" indent="-251894" algn="l" defTabSz="503789" rtl="0" eaLnBrk="1" latinLnBrk="0" hangingPunct="1">
        <a:spcBef>
          <a:spcPct val="20000"/>
        </a:spcBef>
        <a:buFont typeface="Arial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3pPr>
      <a:lvl4pPr marL="1763260" indent="-251894" algn="l" defTabSz="503789" rtl="0" eaLnBrk="1" latinLnBrk="0" hangingPunct="1">
        <a:spcBef>
          <a:spcPct val="20000"/>
        </a:spcBef>
        <a:buFont typeface="Arial"/>
        <a:buChar char="–"/>
        <a:defRPr sz="2204" kern="1200">
          <a:solidFill>
            <a:schemeClr val="tx1"/>
          </a:solidFill>
          <a:latin typeface="+mn-lt"/>
          <a:ea typeface="+mn-ea"/>
          <a:cs typeface="+mn-cs"/>
        </a:defRPr>
      </a:lvl4pPr>
      <a:lvl5pPr marL="2267049" indent="-251894" algn="l" defTabSz="503789" rtl="0" eaLnBrk="1" latinLnBrk="0" hangingPunct="1">
        <a:spcBef>
          <a:spcPct val="20000"/>
        </a:spcBef>
        <a:buFont typeface="Arial"/>
        <a:buChar char="»"/>
        <a:defRPr sz="2204" kern="1200">
          <a:solidFill>
            <a:schemeClr val="tx1"/>
          </a:solidFill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ct val="20000"/>
        </a:spcBef>
        <a:buFont typeface="Arial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ct val="20000"/>
        </a:spcBef>
        <a:buFont typeface="Arial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ct val="20000"/>
        </a:spcBef>
        <a:buFont typeface="Arial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ct val="20000"/>
        </a:spcBef>
        <a:buFont typeface="Arial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jpg"/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jp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jp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jpg"/><Relationship Id="rId9" Type="http://schemas.openxmlformats.org/officeDocument/2006/relationships/image" Target="../media/image15.png"/><Relationship Id="rId14" Type="http://schemas.openxmlformats.org/officeDocument/2006/relationships/image" Target="../media/image2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g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7" Type="http://schemas.openxmlformats.org/officeDocument/2006/relationships/image" Target="../media/image42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jpg"/><Relationship Id="rId4" Type="http://schemas.openxmlformats.org/officeDocument/2006/relationships/image" Target="../media/image3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oeing.com/commercial/777family/index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emf"/><Relationship Id="rId4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jpeg"/><Relationship Id="rId5" Type="http://schemas.openxmlformats.org/officeDocument/2006/relationships/image" Target="../media/image55.emf"/><Relationship Id="rId4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emf"/><Relationship Id="rId4" Type="http://schemas.openxmlformats.org/officeDocument/2006/relationships/oleObject" Target="../embeddings/oleObject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jpeg"/><Relationship Id="rId5" Type="http://schemas.openxmlformats.org/officeDocument/2006/relationships/image" Target="../media/image60.emf"/><Relationship Id="rId4" Type="http://schemas.openxmlformats.org/officeDocument/2006/relationships/oleObject" Target="../embeddings/oleObject9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346835" marR="5080" indent="-1334770">
              <a:lnSpc>
                <a:spcPts val="5200"/>
              </a:lnSpc>
              <a:spcBef>
                <a:spcPts val="280"/>
              </a:spcBef>
              <a:tabLst>
                <a:tab pos="5632450" algn="l"/>
              </a:tabLst>
            </a:pPr>
            <a:r>
              <a:rPr sz="4400" dirty="0"/>
              <a:t>Numerical</a:t>
            </a:r>
            <a:r>
              <a:rPr sz="4400" spc="-229" dirty="0"/>
              <a:t> </a:t>
            </a:r>
            <a:r>
              <a:rPr sz="4400" spc="-10" dirty="0"/>
              <a:t>Modelling</a:t>
            </a:r>
            <a:r>
              <a:rPr sz="4400" dirty="0"/>
              <a:t>	</a:t>
            </a:r>
            <a:r>
              <a:rPr sz="4400" spc="-25" dirty="0"/>
              <a:t>in </a:t>
            </a:r>
            <a:r>
              <a:rPr sz="4400" spc="-10" dirty="0"/>
              <a:t>Geosciences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8738" y="1574570"/>
            <a:ext cx="8173720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54965" marR="5080" indent="-342900">
              <a:lnSpc>
                <a:spcPts val="1900"/>
              </a:lnSpc>
              <a:spcBef>
                <a:spcPts val="180"/>
              </a:spcBef>
              <a:tabLst>
                <a:tab pos="354965" algn="l"/>
              </a:tabLst>
            </a:pPr>
            <a:r>
              <a:rPr sz="1600" spc="-25" dirty="0">
                <a:latin typeface="Arial MT"/>
                <a:cs typeface="Arial MT"/>
              </a:rPr>
              <a:t>1.</a:t>
            </a:r>
            <a:r>
              <a:rPr sz="1600" dirty="0">
                <a:latin typeface="Arial MT"/>
                <a:cs typeface="Arial MT"/>
              </a:rPr>
              <a:t>	Most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geological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processes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occur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timescales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depths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such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cannot </a:t>
            </a:r>
            <a:r>
              <a:rPr sz="1600" dirty="0">
                <a:latin typeface="Arial MT"/>
                <a:cs typeface="Arial MT"/>
              </a:rPr>
              <a:t>be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observed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directly.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5457" rIns="0" bIns="0" rtlCol="0">
            <a:spAutoFit/>
          </a:bodyPr>
          <a:lstStyle/>
          <a:p>
            <a:pPr marL="47561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Why</a:t>
            </a:r>
            <a:r>
              <a:rPr sz="3200" spc="-25" dirty="0"/>
              <a:t> </a:t>
            </a:r>
            <a:r>
              <a:rPr sz="3200" dirty="0"/>
              <a:t>numerical</a:t>
            </a:r>
            <a:r>
              <a:rPr sz="3200" spc="-15" dirty="0"/>
              <a:t> </a:t>
            </a:r>
            <a:r>
              <a:rPr sz="3200" dirty="0"/>
              <a:t>modelling</a:t>
            </a:r>
            <a:r>
              <a:rPr sz="3200" spc="-25" dirty="0"/>
              <a:t> </a:t>
            </a:r>
            <a:r>
              <a:rPr sz="3200" dirty="0"/>
              <a:t>in</a:t>
            </a:r>
            <a:r>
              <a:rPr sz="3200" spc="-10" dirty="0"/>
              <a:t> geosciences?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1249679" y="4665750"/>
            <a:ext cx="6555105" cy="2438400"/>
            <a:chOff x="1249679" y="4665750"/>
            <a:chExt cx="6555105" cy="24384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4190" y="4665750"/>
              <a:ext cx="4453820" cy="2438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9679" y="5073535"/>
              <a:ext cx="6554585" cy="11637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93959" y="5110250"/>
              <a:ext cx="6464300" cy="0"/>
            </a:xfrm>
            <a:custGeom>
              <a:avLst/>
              <a:gdLst/>
              <a:ahLst/>
              <a:cxnLst/>
              <a:rect l="l" t="t" r="r" b="b"/>
              <a:pathLst>
                <a:path w="6464300">
                  <a:moveTo>
                    <a:pt x="0" y="0"/>
                  </a:moveTo>
                  <a:lnTo>
                    <a:pt x="6464050" y="0"/>
                  </a:lnTo>
                </a:path>
              </a:pathLst>
            </a:custGeom>
            <a:ln w="253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219497" y="2159923"/>
            <a:ext cx="6313805" cy="2150745"/>
            <a:chOff x="2219497" y="2159923"/>
            <a:chExt cx="6313805" cy="215074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19497" y="2328950"/>
              <a:ext cx="6313425" cy="198119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43697" y="2159923"/>
              <a:ext cx="469669" cy="193270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503241" y="4682518"/>
            <a:ext cx="1592580" cy="68072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2900" marR="5080" indent="-330200">
              <a:lnSpc>
                <a:spcPts val="1400"/>
              </a:lnSpc>
              <a:spcBef>
                <a:spcPts val="180"/>
              </a:spcBef>
            </a:pPr>
            <a:r>
              <a:rPr sz="1200" b="1" dirty="0">
                <a:latin typeface="Arial"/>
                <a:cs typeface="Arial"/>
              </a:rPr>
              <a:t>Accessible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by </a:t>
            </a:r>
            <a:r>
              <a:rPr sz="1200" b="1" spc="-10" dirty="0">
                <a:latin typeface="Arial"/>
                <a:cs typeface="Arial"/>
              </a:rPr>
              <a:t>drilling </a:t>
            </a:r>
            <a:r>
              <a:rPr sz="1200" b="1" dirty="0">
                <a:latin typeface="Arial"/>
                <a:cs typeface="Arial"/>
              </a:rPr>
              <a:t>(max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10 </a:t>
            </a:r>
            <a:r>
              <a:rPr sz="1200" b="1" spc="-25" dirty="0">
                <a:latin typeface="Arial"/>
                <a:cs typeface="Arial"/>
              </a:rPr>
              <a:t>km)</a:t>
            </a:r>
            <a:endParaRPr sz="1200">
              <a:latin typeface="Arial"/>
              <a:cs typeface="Arial"/>
            </a:endParaRPr>
          </a:p>
          <a:p>
            <a:pPr marL="250190">
              <a:lnSpc>
                <a:spcPct val="100000"/>
              </a:lnSpc>
              <a:spcBef>
                <a:spcPts val="840"/>
              </a:spcBef>
            </a:pPr>
            <a:r>
              <a:rPr sz="1200" b="1" spc="-10" dirty="0">
                <a:latin typeface="Arial"/>
                <a:cs typeface="Arial"/>
              </a:rPr>
              <a:t>Unaccessible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94496" y="2187880"/>
            <a:ext cx="368300" cy="1830705"/>
          </a:xfrm>
          <a:prstGeom prst="rect">
            <a:avLst/>
          </a:prstGeom>
          <a:solidFill>
            <a:srgbClr val="FF2600">
              <a:alpha val="32939"/>
            </a:srgbClr>
          </a:solidFill>
          <a:ln w="9524">
            <a:solidFill>
              <a:srgbClr val="5B92C7"/>
            </a:solidFill>
          </a:ln>
        </p:spPr>
        <p:txBody>
          <a:bodyPr vert="vert" wrap="square" lIns="0" tIns="74295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585"/>
              </a:spcBef>
            </a:pPr>
            <a:r>
              <a:rPr sz="1200" dirty="0">
                <a:latin typeface="Arial MT"/>
                <a:cs typeface="Arial MT"/>
              </a:rPr>
              <a:t>Max.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human</a:t>
            </a:r>
            <a:r>
              <a:rPr sz="1200" spc="-10" dirty="0">
                <a:latin typeface="Arial MT"/>
                <a:cs typeface="Arial MT"/>
              </a:rPr>
              <a:t> timescale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338" y="1511070"/>
            <a:ext cx="8194675" cy="7518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54965" marR="5080" indent="-342900">
              <a:lnSpc>
                <a:spcPts val="1900"/>
              </a:lnSpc>
              <a:spcBef>
                <a:spcPts val="180"/>
              </a:spcBef>
              <a:tabLst>
                <a:tab pos="354965" algn="l"/>
              </a:tabLst>
            </a:pPr>
            <a:r>
              <a:rPr sz="1600" spc="-25" dirty="0">
                <a:latin typeface="Arial MT"/>
                <a:cs typeface="Arial MT"/>
              </a:rPr>
              <a:t>2.</a:t>
            </a:r>
            <a:r>
              <a:rPr sz="1600" dirty="0">
                <a:latin typeface="Arial MT"/>
                <a:cs typeface="Arial MT"/>
              </a:rPr>
              <a:t>	Direct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measurements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of,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example,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stress,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deformation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(strain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rate),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composition, </a:t>
            </a:r>
            <a:r>
              <a:rPr sz="1600" dirty="0">
                <a:latin typeface="Arial MT"/>
                <a:cs typeface="Arial MT"/>
              </a:rPr>
              <a:t>temperature,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pressure,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etc.,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limited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few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rock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samples.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numerical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models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we </a:t>
            </a:r>
            <a:r>
              <a:rPr sz="1600" dirty="0">
                <a:latin typeface="Arial MT"/>
                <a:cs typeface="Arial MT"/>
              </a:rPr>
              <a:t>can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know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their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distribution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everywhere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our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computational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domain.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59342" y="2741879"/>
            <a:ext cx="3486785" cy="4464050"/>
            <a:chOff x="5459342" y="2741879"/>
            <a:chExt cx="3486785" cy="4464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9342" y="2741879"/>
              <a:ext cx="3481706" cy="27558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3397" y="5516648"/>
              <a:ext cx="3462394" cy="1689100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532110" y="2468650"/>
            <a:ext cx="3635375" cy="4624705"/>
            <a:chOff x="1532110" y="2468650"/>
            <a:chExt cx="3635375" cy="462470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298" y="2468650"/>
              <a:ext cx="3395651" cy="46100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546397" y="5821450"/>
              <a:ext cx="3606800" cy="1257300"/>
            </a:xfrm>
            <a:custGeom>
              <a:avLst/>
              <a:gdLst/>
              <a:ahLst/>
              <a:cxnLst/>
              <a:rect l="l" t="t" r="r" b="b"/>
              <a:pathLst>
                <a:path w="3606800" h="1257300">
                  <a:moveTo>
                    <a:pt x="0" y="0"/>
                  </a:moveTo>
                  <a:lnTo>
                    <a:pt x="3606799" y="0"/>
                  </a:lnTo>
                  <a:lnTo>
                    <a:pt x="360679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5457" rIns="0" bIns="0" rtlCol="0">
            <a:spAutoFit/>
          </a:bodyPr>
          <a:lstStyle/>
          <a:p>
            <a:pPr marL="47561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Why</a:t>
            </a:r>
            <a:r>
              <a:rPr sz="3200" spc="-25" dirty="0"/>
              <a:t> </a:t>
            </a:r>
            <a:r>
              <a:rPr sz="3200" dirty="0"/>
              <a:t>numerical</a:t>
            </a:r>
            <a:r>
              <a:rPr sz="3200" spc="-15" dirty="0"/>
              <a:t> </a:t>
            </a:r>
            <a:r>
              <a:rPr sz="3200" dirty="0"/>
              <a:t>modelling</a:t>
            </a:r>
            <a:r>
              <a:rPr sz="3200" spc="-25" dirty="0"/>
              <a:t> </a:t>
            </a:r>
            <a:r>
              <a:rPr sz="3200" dirty="0"/>
              <a:t>in</a:t>
            </a:r>
            <a:r>
              <a:rPr sz="3200" spc="-10" dirty="0"/>
              <a:t> geosciences?</a:t>
            </a: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06031" y="2019457"/>
            <a:ext cx="3923029" cy="1891030"/>
          </a:xfrm>
          <a:prstGeom prst="rect">
            <a:avLst/>
          </a:prstGeom>
          <a:ln w="25399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1111250">
              <a:lnSpc>
                <a:spcPct val="100000"/>
              </a:lnSpc>
              <a:spcBef>
                <a:spcPts val="359"/>
              </a:spcBef>
            </a:pPr>
            <a:r>
              <a:rPr sz="1200" b="1" dirty="0">
                <a:latin typeface="Calibri"/>
                <a:cs typeface="Calibri"/>
              </a:rPr>
              <a:t>Field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geophysical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92922" y="4682466"/>
            <a:ext cx="1950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Analogue/numerical</a:t>
            </a:r>
            <a:r>
              <a:rPr sz="1200" b="1" spc="11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modeling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8644" y="2378494"/>
            <a:ext cx="1904636" cy="133630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581303" y="2296457"/>
            <a:ext cx="6047740" cy="4922520"/>
            <a:chOff x="1581303" y="2296457"/>
            <a:chExt cx="6047740" cy="49225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2356" y="4972670"/>
              <a:ext cx="2661839" cy="116253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1303" y="6242980"/>
              <a:ext cx="2682892" cy="96276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02356" y="4516859"/>
              <a:ext cx="2661920" cy="2689225"/>
            </a:xfrm>
            <a:custGeom>
              <a:avLst/>
              <a:gdLst/>
              <a:ahLst/>
              <a:cxnLst/>
              <a:rect l="l" t="t" r="r" b="b"/>
              <a:pathLst>
                <a:path w="2661920" h="2689225">
                  <a:moveTo>
                    <a:pt x="0" y="0"/>
                  </a:moveTo>
                  <a:lnTo>
                    <a:pt x="2661840" y="0"/>
                  </a:lnTo>
                  <a:lnTo>
                    <a:pt x="2661840" y="2688890"/>
                  </a:lnTo>
                  <a:lnTo>
                    <a:pt x="0" y="2688890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53601" y="2296457"/>
              <a:ext cx="1875142" cy="161380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11683" y="4479174"/>
              <a:ext cx="1525385" cy="136744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858301" y="4501163"/>
              <a:ext cx="1433830" cy="1278890"/>
            </a:xfrm>
            <a:custGeom>
              <a:avLst/>
              <a:gdLst/>
              <a:ahLst/>
              <a:cxnLst/>
              <a:rect l="l" t="t" r="r" b="b"/>
              <a:pathLst>
                <a:path w="1433829" h="1278889">
                  <a:moveTo>
                    <a:pt x="716725" y="0"/>
                  </a:moveTo>
                  <a:lnTo>
                    <a:pt x="665540" y="1605"/>
                  </a:lnTo>
                  <a:lnTo>
                    <a:pt x="615325" y="6349"/>
                  </a:lnTo>
                  <a:lnTo>
                    <a:pt x="566204" y="14123"/>
                  </a:lnTo>
                  <a:lnTo>
                    <a:pt x="518296" y="24819"/>
                  </a:lnTo>
                  <a:lnTo>
                    <a:pt x="471724" y="38329"/>
                  </a:lnTo>
                  <a:lnTo>
                    <a:pt x="426608" y="54544"/>
                  </a:lnTo>
                  <a:lnTo>
                    <a:pt x="383069" y="73357"/>
                  </a:lnTo>
                  <a:lnTo>
                    <a:pt x="341230" y="94660"/>
                  </a:lnTo>
                  <a:lnTo>
                    <a:pt x="301211" y="118343"/>
                  </a:lnTo>
                  <a:lnTo>
                    <a:pt x="263134" y="144300"/>
                  </a:lnTo>
                  <a:lnTo>
                    <a:pt x="227120" y="172421"/>
                  </a:lnTo>
                  <a:lnTo>
                    <a:pt x="193289" y="202599"/>
                  </a:lnTo>
                  <a:lnTo>
                    <a:pt x="161765" y="234725"/>
                  </a:lnTo>
                  <a:lnTo>
                    <a:pt x="132667" y="268692"/>
                  </a:lnTo>
                  <a:lnTo>
                    <a:pt x="106117" y="304390"/>
                  </a:lnTo>
                  <a:lnTo>
                    <a:pt x="82236" y="341712"/>
                  </a:lnTo>
                  <a:lnTo>
                    <a:pt x="61146" y="380550"/>
                  </a:lnTo>
                  <a:lnTo>
                    <a:pt x="42968" y="420796"/>
                  </a:lnTo>
                  <a:lnTo>
                    <a:pt x="27822" y="462340"/>
                  </a:lnTo>
                  <a:lnTo>
                    <a:pt x="15832" y="505076"/>
                  </a:lnTo>
                  <a:lnTo>
                    <a:pt x="7117" y="548894"/>
                  </a:lnTo>
                  <a:lnTo>
                    <a:pt x="1799" y="593687"/>
                  </a:lnTo>
                  <a:lnTo>
                    <a:pt x="0" y="639347"/>
                  </a:lnTo>
                  <a:lnTo>
                    <a:pt x="1799" y="685006"/>
                  </a:lnTo>
                  <a:lnTo>
                    <a:pt x="7117" y="729799"/>
                  </a:lnTo>
                  <a:lnTo>
                    <a:pt x="15832" y="773618"/>
                  </a:lnTo>
                  <a:lnTo>
                    <a:pt x="27822" y="816353"/>
                  </a:lnTo>
                  <a:lnTo>
                    <a:pt x="42968" y="857898"/>
                  </a:lnTo>
                  <a:lnTo>
                    <a:pt x="61146" y="898143"/>
                  </a:lnTo>
                  <a:lnTo>
                    <a:pt x="82236" y="936981"/>
                  </a:lnTo>
                  <a:lnTo>
                    <a:pt x="106117" y="974304"/>
                  </a:lnTo>
                  <a:lnTo>
                    <a:pt x="132667" y="1010002"/>
                  </a:lnTo>
                  <a:lnTo>
                    <a:pt x="161765" y="1043969"/>
                  </a:lnTo>
                  <a:lnTo>
                    <a:pt x="193289" y="1076095"/>
                  </a:lnTo>
                  <a:lnTo>
                    <a:pt x="227120" y="1106273"/>
                  </a:lnTo>
                  <a:lnTo>
                    <a:pt x="263134" y="1134394"/>
                  </a:lnTo>
                  <a:lnTo>
                    <a:pt x="301211" y="1160351"/>
                  </a:lnTo>
                  <a:lnTo>
                    <a:pt x="341230" y="1184035"/>
                  </a:lnTo>
                  <a:lnTo>
                    <a:pt x="383069" y="1205337"/>
                  </a:lnTo>
                  <a:lnTo>
                    <a:pt x="426608" y="1224150"/>
                  </a:lnTo>
                  <a:lnTo>
                    <a:pt x="471724" y="1240366"/>
                  </a:lnTo>
                  <a:lnTo>
                    <a:pt x="518296" y="1253876"/>
                  </a:lnTo>
                  <a:lnTo>
                    <a:pt x="566204" y="1264572"/>
                  </a:lnTo>
                  <a:lnTo>
                    <a:pt x="615325" y="1272346"/>
                  </a:lnTo>
                  <a:lnTo>
                    <a:pt x="665540" y="1277090"/>
                  </a:lnTo>
                  <a:lnTo>
                    <a:pt x="716725" y="1278695"/>
                  </a:lnTo>
                  <a:lnTo>
                    <a:pt x="767911" y="1277090"/>
                  </a:lnTo>
                  <a:lnTo>
                    <a:pt x="818125" y="1272346"/>
                  </a:lnTo>
                  <a:lnTo>
                    <a:pt x="867247" y="1264572"/>
                  </a:lnTo>
                  <a:lnTo>
                    <a:pt x="915155" y="1253876"/>
                  </a:lnTo>
                  <a:lnTo>
                    <a:pt x="961727" y="1240366"/>
                  </a:lnTo>
                  <a:lnTo>
                    <a:pt x="1006843" y="1224150"/>
                  </a:lnTo>
                  <a:lnTo>
                    <a:pt x="1050382" y="1205337"/>
                  </a:lnTo>
                  <a:lnTo>
                    <a:pt x="1092221" y="1184035"/>
                  </a:lnTo>
                  <a:lnTo>
                    <a:pt x="1132240" y="1160351"/>
                  </a:lnTo>
                  <a:lnTo>
                    <a:pt x="1170317" y="1134394"/>
                  </a:lnTo>
                  <a:lnTo>
                    <a:pt x="1206331" y="1106273"/>
                  </a:lnTo>
                  <a:lnTo>
                    <a:pt x="1240162" y="1076095"/>
                  </a:lnTo>
                  <a:lnTo>
                    <a:pt x="1271686" y="1043969"/>
                  </a:lnTo>
                  <a:lnTo>
                    <a:pt x="1300784" y="1010002"/>
                  </a:lnTo>
                  <a:lnTo>
                    <a:pt x="1327334" y="974304"/>
                  </a:lnTo>
                  <a:lnTo>
                    <a:pt x="1351215" y="936981"/>
                  </a:lnTo>
                  <a:lnTo>
                    <a:pt x="1372305" y="898143"/>
                  </a:lnTo>
                  <a:lnTo>
                    <a:pt x="1390483" y="857898"/>
                  </a:lnTo>
                  <a:lnTo>
                    <a:pt x="1405628" y="816353"/>
                  </a:lnTo>
                  <a:lnTo>
                    <a:pt x="1417619" y="773618"/>
                  </a:lnTo>
                  <a:lnTo>
                    <a:pt x="1426334" y="729799"/>
                  </a:lnTo>
                  <a:lnTo>
                    <a:pt x="1431651" y="685006"/>
                  </a:lnTo>
                  <a:lnTo>
                    <a:pt x="1433451" y="639347"/>
                  </a:lnTo>
                  <a:lnTo>
                    <a:pt x="1431651" y="593687"/>
                  </a:lnTo>
                  <a:lnTo>
                    <a:pt x="1426334" y="548894"/>
                  </a:lnTo>
                  <a:lnTo>
                    <a:pt x="1417619" y="505076"/>
                  </a:lnTo>
                  <a:lnTo>
                    <a:pt x="1405628" y="462340"/>
                  </a:lnTo>
                  <a:lnTo>
                    <a:pt x="1390483" y="420796"/>
                  </a:lnTo>
                  <a:lnTo>
                    <a:pt x="1372305" y="380550"/>
                  </a:lnTo>
                  <a:lnTo>
                    <a:pt x="1351215" y="341712"/>
                  </a:lnTo>
                  <a:lnTo>
                    <a:pt x="1327334" y="304390"/>
                  </a:lnTo>
                  <a:lnTo>
                    <a:pt x="1300784" y="268692"/>
                  </a:lnTo>
                  <a:lnTo>
                    <a:pt x="1271686" y="234725"/>
                  </a:lnTo>
                  <a:lnTo>
                    <a:pt x="1240162" y="202599"/>
                  </a:lnTo>
                  <a:lnTo>
                    <a:pt x="1206331" y="172421"/>
                  </a:lnTo>
                  <a:lnTo>
                    <a:pt x="1170317" y="144300"/>
                  </a:lnTo>
                  <a:lnTo>
                    <a:pt x="1132240" y="118343"/>
                  </a:lnTo>
                  <a:lnTo>
                    <a:pt x="1092221" y="94660"/>
                  </a:lnTo>
                  <a:lnTo>
                    <a:pt x="1050382" y="73357"/>
                  </a:lnTo>
                  <a:lnTo>
                    <a:pt x="1006843" y="54544"/>
                  </a:lnTo>
                  <a:lnTo>
                    <a:pt x="961727" y="38329"/>
                  </a:lnTo>
                  <a:lnTo>
                    <a:pt x="915155" y="24819"/>
                  </a:lnTo>
                  <a:lnTo>
                    <a:pt x="867247" y="14123"/>
                  </a:lnTo>
                  <a:lnTo>
                    <a:pt x="818125" y="6349"/>
                  </a:lnTo>
                  <a:lnTo>
                    <a:pt x="767911" y="1605"/>
                  </a:lnTo>
                  <a:lnTo>
                    <a:pt x="716725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04606" y="5393574"/>
              <a:ext cx="648392" cy="53201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358662" y="5423654"/>
              <a:ext cx="544830" cy="427355"/>
            </a:xfrm>
            <a:custGeom>
              <a:avLst/>
              <a:gdLst/>
              <a:ahLst/>
              <a:cxnLst/>
              <a:rect l="l" t="t" r="r" b="b"/>
              <a:pathLst>
                <a:path w="544829" h="427354">
                  <a:moveTo>
                    <a:pt x="305153" y="0"/>
                  </a:moveTo>
                  <a:lnTo>
                    <a:pt x="348556" y="76253"/>
                  </a:lnTo>
                  <a:lnTo>
                    <a:pt x="0" y="274659"/>
                  </a:lnTo>
                  <a:lnTo>
                    <a:pt x="86810" y="427165"/>
                  </a:lnTo>
                  <a:lnTo>
                    <a:pt x="435367" y="228758"/>
                  </a:lnTo>
                  <a:lnTo>
                    <a:pt x="478772" y="305012"/>
                  </a:lnTo>
                  <a:lnTo>
                    <a:pt x="544468" y="65697"/>
                  </a:lnTo>
                  <a:lnTo>
                    <a:pt x="305153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58663" y="5423654"/>
              <a:ext cx="544830" cy="427355"/>
            </a:xfrm>
            <a:custGeom>
              <a:avLst/>
              <a:gdLst/>
              <a:ahLst/>
              <a:cxnLst/>
              <a:rect l="l" t="t" r="r" b="b"/>
              <a:pathLst>
                <a:path w="544829" h="427354">
                  <a:moveTo>
                    <a:pt x="0" y="274659"/>
                  </a:moveTo>
                  <a:lnTo>
                    <a:pt x="348556" y="76252"/>
                  </a:lnTo>
                  <a:lnTo>
                    <a:pt x="305151" y="0"/>
                  </a:lnTo>
                  <a:lnTo>
                    <a:pt x="544467" y="65696"/>
                  </a:lnTo>
                  <a:lnTo>
                    <a:pt x="478771" y="305012"/>
                  </a:lnTo>
                  <a:lnTo>
                    <a:pt x="435366" y="228759"/>
                  </a:lnTo>
                  <a:lnTo>
                    <a:pt x="86810" y="427165"/>
                  </a:lnTo>
                  <a:lnTo>
                    <a:pt x="0" y="274659"/>
                  </a:lnTo>
                  <a:close/>
                </a:path>
              </a:pathLst>
            </a:custGeom>
            <a:ln w="9524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91596" y="5430982"/>
              <a:ext cx="648392" cy="53201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44823" y="5459322"/>
              <a:ext cx="542925" cy="429259"/>
            </a:xfrm>
            <a:custGeom>
              <a:avLst/>
              <a:gdLst/>
              <a:ahLst/>
              <a:cxnLst/>
              <a:rect l="l" t="t" r="r" b="b"/>
              <a:pathLst>
                <a:path w="542925" h="429260">
                  <a:moveTo>
                    <a:pt x="239909" y="0"/>
                  </a:moveTo>
                  <a:lnTo>
                    <a:pt x="0" y="63498"/>
                  </a:lnTo>
                  <a:lnTo>
                    <a:pt x="63497" y="303408"/>
                  </a:lnTo>
                  <a:lnTo>
                    <a:pt x="107600" y="227556"/>
                  </a:lnTo>
                  <a:lnTo>
                    <a:pt x="454322" y="429150"/>
                  </a:lnTo>
                  <a:lnTo>
                    <a:pt x="542527" y="277446"/>
                  </a:lnTo>
                  <a:lnTo>
                    <a:pt x="195806" y="75852"/>
                  </a:lnTo>
                  <a:lnTo>
                    <a:pt x="239909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44823" y="5459322"/>
              <a:ext cx="542925" cy="429259"/>
            </a:xfrm>
            <a:custGeom>
              <a:avLst/>
              <a:gdLst/>
              <a:ahLst/>
              <a:cxnLst/>
              <a:rect l="l" t="t" r="r" b="b"/>
              <a:pathLst>
                <a:path w="542925" h="429260">
                  <a:moveTo>
                    <a:pt x="454323" y="429150"/>
                  </a:moveTo>
                  <a:lnTo>
                    <a:pt x="107601" y="227555"/>
                  </a:lnTo>
                  <a:lnTo>
                    <a:pt x="63498" y="303408"/>
                  </a:lnTo>
                  <a:lnTo>
                    <a:pt x="0" y="63498"/>
                  </a:lnTo>
                  <a:lnTo>
                    <a:pt x="239909" y="0"/>
                  </a:lnTo>
                  <a:lnTo>
                    <a:pt x="195807" y="75851"/>
                  </a:lnTo>
                  <a:lnTo>
                    <a:pt x="542528" y="277446"/>
                  </a:lnTo>
                  <a:lnTo>
                    <a:pt x="454323" y="429150"/>
                  </a:lnTo>
                  <a:close/>
                </a:path>
              </a:pathLst>
            </a:custGeom>
            <a:ln w="9524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47854" y="3930534"/>
              <a:ext cx="498763" cy="62761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404200" y="3958644"/>
              <a:ext cx="385445" cy="525780"/>
            </a:xfrm>
            <a:custGeom>
              <a:avLst/>
              <a:gdLst/>
              <a:ahLst/>
              <a:cxnLst/>
              <a:rect l="l" t="t" r="r" b="b"/>
              <a:pathLst>
                <a:path w="385445" h="525779">
                  <a:moveTo>
                    <a:pt x="288950" y="0"/>
                  </a:moveTo>
                  <a:lnTo>
                    <a:pt x="96318" y="0"/>
                  </a:lnTo>
                  <a:lnTo>
                    <a:pt x="96318" y="332586"/>
                  </a:lnTo>
                  <a:lnTo>
                    <a:pt x="0" y="332586"/>
                  </a:lnTo>
                  <a:lnTo>
                    <a:pt x="192633" y="525218"/>
                  </a:lnTo>
                  <a:lnTo>
                    <a:pt x="385267" y="332586"/>
                  </a:lnTo>
                  <a:lnTo>
                    <a:pt x="288950" y="332586"/>
                  </a:lnTo>
                  <a:lnTo>
                    <a:pt x="28895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04200" y="3958644"/>
              <a:ext cx="385445" cy="525780"/>
            </a:xfrm>
            <a:custGeom>
              <a:avLst/>
              <a:gdLst/>
              <a:ahLst/>
              <a:cxnLst/>
              <a:rect l="l" t="t" r="r" b="b"/>
              <a:pathLst>
                <a:path w="385445" h="525779">
                  <a:moveTo>
                    <a:pt x="288949" y="0"/>
                  </a:moveTo>
                  <a:lnTo>
                    <a:pt x="288949" y="332585"/>
                  </a:lnTo>
                  <a:lnTo>
                    <a:pt x="385266" y="332585"/>
                  </a:lnTo>
                  <a:lnTo>
                    <a:pt x="192632" y="525217"/>
                  </a:lnTo>
                  <a:lnTo>
                    <a:pt x="0" y="332585"/>
                  </a:lnTo>
                  <a:lnTo>
                    <a:pt x="96316" y="332585"/>
                  </a:lnTo>
                  <a:lnTo>
                    <a:pt x="96316" y="0"/>
                  </a:lnTo>
                  <a:lnTo>
                    <a:pt x="288949" y="0"/>
                  </a:lnTo>
                  <a:close/>
                </a:path>
              </a:pathLst>
            </a:custGeom>
            <a:ln w="9524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057865" y="4884263"/>
            <a:ext cx="1101090" cy="5638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72720" marR="5080" indent="-160655">
              <a:lnSpc>
                <a:spcPts val="1400"/>
              </a:lnSpc>
              <a:spcBef>
                <a:spcPts val="18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Understanding geological processes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668683" y="3918065"/>
            <a:ext cx="4069079" cy="2880360"/>
            <a:chOff x="3668683" y="3918065"/>
            <a:chExt cx="4069079" cy="2880360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68683" y="3918065"/>
              <a:ext cx="382385" cy="65670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713783" y="3942232"/>
              <a:ext cx="290195" cy="564515"/>
            </a:xfrm>
            <a:custGeom>
              <a:avLst/>
              <a:gdLst/>
              <a:ahLst/>
              <a:cxnLst/>
              <a:rect l="l" t="t" r="r" b="b"/>
              <a:pathLst>
                <a:path w="290195" h="564514">
                  <a:moveTo>
                    <a:pt x="217216" y="0"/>
                  </a:moveTo>
                  <a:lnTo>
                    <a:pt x="72406" y="0"/>
                  </a:lnTo>
                  <a:lnTo>
                    <a:pt x="72406" y="419679"/>
                  </a:lnTo>
                  <a:lnTo>
                    <a:pt x="0" y="419679"/>
                  </a:lnTo>
                  <a:lnTo>
                    <a:pt x="144811" y="564490"/>
                  </a:lnTo>
                  <a:lnTo>
                    <a:pt x="289623" y="419679"/>
                  </a:lnTo>
                  <a:lnTo>
                    <a:pt x="217216" y="419679"/>
                  </a:lnTo>
                  <a:lnTo>
                    <a:pt x="217216" y="0"/>
                  </a:lnTo>
                  <a:close/>
                </a:path>
              </a:pathLst>
            </a:custGeom>
            <a:solidFill>
              <a:srgbClr val="008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55377" y="3926378"/>
              <a:ext cx="382385" cy="64839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402939" y="3948366"/>
              <a:ext cx="290195" cy="558800"/>
            </a:xfrm>
            <a:custGeom>
              <a:avLst/>
              <a:gdLst/>
              <a:ahLst/>
              <a:cxnLst/>
              <a:rect l="l" t="t" r="r" b="b"/>
              <a:pathLst>
                <a:path w="290195" h="558800">
                  <a:moveTo>
                    <a:pt x="217216" y="0"/>
                  </a:moveTo>
                  <a:lnTo>
                    <a:pt x="72405" y="0"/>
                  </a:lnTo>
                  <a:lnTo>
                    <a:pt x="72405" y="413545"/>
                  </a:lnTo>
                  <a:lnTo>
                    <a:pt x="0" y="413545"/>
                  </a:lnTo>
                  <a:lnTo>
                    <a:pt x="144811" y="558355"/>
                  </a:lnTo>
                  <a:lnTo>
                    <a:pt x="289622" y="413545"/>
                  </a:lnTo>
                  <a:lnTo>
                    <a:pt x="217216" y="413545"/>
                  </a:lnTo>
                  <a:lnTo>
                    <a:pt x="217216" y="0"/>
                  </a:lnTo>
                  <a:close/>
                </a:path>
              </a:pathLst>
            </a:custGeom>
            <a:solidFill>
              <a:srgbClr val="008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8228" y="6440978"/>
              <a:ext cx="2834640" cy="35744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233978" y="6465660"/>
              <a:ext cx="2741930" cy="264160"/>
            </a:xfrm>
            <a:custGeom>
              <a:avLst/>
              <a:gdLst/>
              <a:ahLst/>
              <a:cxnLst/>
              <a:rect l="l" t="t" r="r" b="b"/>
              <a:pathLst>
                <a:path w="2741929" h="264159">
                  <a:moveTo>
                    <a:pt x="131918" y="0"/>
                  </a:moveTo>
                  <a:lnTo>
                    <a:pt x="0" y="131918"/>
                  </a:lnTo>
                  <a:lnTo>
                    <a:pt x="131918" y="263837"/>
                  </a:lnTo>
                  <a:lnTo>
                    <a:pt x="131918" y="197878"/>
                  </a:lnTo>
                  <a:lnTo>
                    <a:pt x="2741316" y="197878"/>
                  </a:lnTo>
                  <a:lnTo>
                    <a:pt x="2741316" y="65959"/>
                  </a:lnTo>
                  <a:lnTo>
                    <a:pt x="131918" y="65959"/>
                  </a:lnTo>
                  <a:lnTo>
                    <a:pt x="131918" y="0"/>
                  </a:lnTo>
                  <a:close/>
                </a:path>
              </a:pathLst>
            </a:custGeom>
            <a:solidFill>
              <a:srgbClr val="008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939136" y="6101584"/>
            <a:ext cx="1709451" cy="110416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939136" y="5076169"/>
            <a:ext cx="1731003" cy="98606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670141" y="5080210"/>
            <a:ext cx="804209" cy="2125538"/>
          </a:xfrm>
          <a:prstGeom prst="rect">
            <a:avLst/>
          </a:prstGeom>
        </p:spPr>
      </p:pic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6902302" y="4519423"/>
          <a:ext cx="2547620" cy="267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3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860">
                <a:tc gridSpan="2">
                  <a:txBody>
                    <a:bodyPr/>
                    <a:lstStyle/>
                    <a:p>
                      <a:pPr marL="1087120" marR="278765" indent="-755015">
                        <a:lnSpc>
                          <a:spcPts val="1400"/>
                        </a:lnSpc>
                        <a:spcBef>
                          <a:spcPts val="94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Lab.</a:t>
                      </a:r>
                      <a:r>
                        <a:rPr sz="12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analysis/experiments</a:t>
                      </a:r>
                      <a:r>
                        <a:rPr sz="12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theory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79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3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3" name="object 33"/>
          <p:cNvGrpSpPr/>
          <p:nvPr/>
        </p:nvGrpSpPr>
        <p:grpSpPr>
          <a:xfrm>
            <a:off x="3959628" y="3888970"/>
            <a:ext cx="3437890" cy="661035"/>
            <a:chOff x="3959628" y="3888970"/>
            <a:chExt cx="3437890" cy="661035"/>
          </a:xfrm>
        </p:grpSpPr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014555" y="3888970"/>
              <a:ext cx="382385" cy="64839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060036" y="3910265"/>
              <a:ext cx="290195" cy="558800"/>
            </a:xfrm>
            <a:custGeom>
              <a:avLst/>
              <a:gdLst/>
              <a:ahLst/>
              <a:cxnLst/>
              <a:rect l="l" t="t" r="r" b="b"/>
              <a:pathLst>
                <a:path w="290195" h="558800">
                  <a:moveTo>
                    <a:pt x="144811" y="0"/>
                  </a:moveTo>
                  <a:lnTo>
                    <a:pt x="0" y="144811"/>
                  </a:lnTo>
                  <a:lnTo>
                    <a:pt x="72406" y="144811"/>
                  </a:lnTo>
                  <a:lnTo>
                    <a:pt x="72406" y="558356"/>
                  </a:lnTo>
                  <a:lnTo>
                    <a:pt x="217216" y="558356"/>
                  </a:lnTo>
                  <a:lnTo>
                    <a:pt x="217216" y="144811"/>
                  </a:lnTo>
                  <a:lnTo>
                    <a:pt x="289623" y="144811"/>
                  </a:lnTo>
                  <a:lnTo>
                    <a:pt x="144811" y="0"/>
                  </a:lnTo>
                  <a:close/>
                </a:path>
              </a:pathLst>
            </a:custGeom>
            <a:solidFill>
              <a:srgbClr val="008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959628" y="3888970"/>
              <a:ext cx="349134" cy="66086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003407" y="3910135"/>
              <a:ext cx="260985" cy="571500"/>
            </a:xfrm>
            <a:custGeom>
              <a:avLst/>
              <a:gdLst/>
              <a:ahLst/>
              <a:cxnLst/>
              <a:rect l="l" t="t" r="r" b="b"/>
              <a:pathLst>
                <a:path w="260985" h="571500">
                  <a:moveTo>
                    <a:pt x="130394" y="0"/>
                  </a:moveTo>
                  <a:lnTo>
                    <a:pt x="0" y="130393"/>
                  </a:lnTo>
                  <a:lnTo>
                    <a:pt x="65197" y="130393"/>
                  </a:lnTo>
                  <a:lnTo>
                    <a:pt x="65197" y="570937"/>
                  </a:lnTo>
                  <a:lnTo>
                    <a:pt x="195592" y="570937"/>
                  </a:lnTo>
                  <a:lnTo>
                    <a:pt x="195592" y="130393"/>
                  </a:lnTo>
                  <a:lnTo>
                    <a:pt x="260789" y="130393"/>
                  </a:lnTo>
                  <a:lnTo>
                    <a:pt x="130394" y="0"/>
                  </a:lnTo>
                  <a:close/>
                </a:path>
              </a:pathLst>
            </a:custGeom>
            <a:solidFill>
              <a:srgbClr val="008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111760" y="1221479"/>
            <a:ext cx="8410575" cy="7518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55600" marR="5080" indent="-342900">
              <a:lnSpc>
                <a:spcPts val="1900"/>
              </a:lnSpc>
              <a:spcBef>
                <a:spcPts val="180"/>
              </a:spcBef>
              <a:tabLst>
                <a:tab pos="354965" algn="l"/>
              </a:tabLst>
            </a:pPr>
            <a:r>
              <a:rPr sz="1600" spc="-25" dirty="0">
                <a:latin typeface="Arial MT"/>
                <a:cs typeface="Arial MT"/>
              </a:rPr>
              <a:t>3.</a:t>
            </a:r>
            <a:r>
              <a:rPr sz="1600" dirty="0">
                <a:latin typeface="Arial MT"/>
                <a:cs typeface="Arial MT"/>
              </a:rPr>
              <a:t>	Numerical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modelling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indispensable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tool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understand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evolution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complex </a:t>
            </a:r>
            <a:r>
              <a:rPr sz="1600" dirty="0">
                <a:latin typeface="Arial MT"/>
                <a:cs typeface="Arial MT"/>
              </a:rPr>
              <a:t>geological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systems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together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laboratory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experiments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(input)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field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geophysical </a:t>
            </a:r>
            <a:r>
              <a:rPr sz="1600" dirty="0">
                <a:latin typeface="Arial MT"/>
                <a:cs typeface="Arial MT"/>
              </a:rPr>
              <a:t>observations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(output).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1234712" y="562387"/>
            <a:ext cx="82232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Why</a:t>
            </a:r>
            <a:r>
              <a:rPr sz="3200" spc="-25" dirty="0"/>
              <a:t> </a:t>
            </a:r>
            <a:r>
              <a:rPr sz="3200" dirty="0"/>
              <a:t>numerical</a:t>
            </a:r>
            <a:r>
              <a:rPr sz="3200" spc="-15" dirty="0"/>
              <a:t> </a:t>
            </a:r>
            <a:r>
              <a:rPr sz="3200" dirty="0"/>
              <a:t>modelling</a:t>
            </a:r>
            <a:r>
              <a:rPr sz="3200" spc="-25" dirty="0"/>
              <a:t> </a:t>
            </a:r>
            <a:r>
              <a:rPr sz="3200" dirty="0"/>
              <a:t>in</a:t>
            </a:r>
            <a:r>
              <a:rPr sz="3200" spc="-10" dirty="0"/>
              <a:t> geosciences?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9038" y="4500332"/>
            <a:ext cx="6988175" cy="223266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500" b="1" spc="-20" dirty="0">
                <a:solidFill>
                  <a:srgbClr val="FF3300"/>
                </a:solidFill>
                <a:latin typeface="Arial"/>
                <a:cs typeface="Arial"/>
              </a:rPr>
              <a:t>To</a:t>
            </a:r>
            <a:r>
              <a:rPr sz="1500" b="1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3300"/>
                </a:solidFill>
                <a:latin typeface="Arial"/>
                <a:cs typeface="Arial"/>
              </a:rPr>
              <a:t>close</a:t>
            </a:r>
            <a:r>
              <a:rPr sz="1500" b="1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3300"/>
                </a:solidFill>
                <a:latin typeface="Arial"/>
                <a:cs typeface="Arial"/>
              </a:rPr>
              <a:t>the</a:t>
            </a:r>
            <a:r>
              <a:rPr sz="1500" b="1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3300"/>
                </a:solidFill>
                <a:latin typeface="Arial"/>
                <a:cs typeface="Arial"/>
              </a:rPr>
              <a:t>system</a:t>
            </a:r>
            <a:r>
              <a:rPr sz="1500" b="1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3300"/>
                </a:solidFill>
                <a:latin typeface="Arial"/>
                <a:cs typeface="Arial"/>
              </a:rPr>
              <a:t>we</a:t>
            </a:r>
            <a:r>
              <a:rPr sz="1500" b="1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3300"/>
                </a:solidFill>
                <a:latin typeface="Arial"/>
                <a:cs typeface="Arial"/>
              </a:rPr>
              <a:t>need</a:t>
            </a:r>
            <a:r>
              <a:rPr sz="1500" b="1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3300"/>
                </a:solidFill>
                <a:latin typeface="Arial"/>
                <a:cs typeface="Arial"/>
              </a:rPr>
              <a:t>rock</a:t>
            </a:r>
            <a:r>
              <a:rPr sz="1500" b="1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3300"/>
                </a:solidFill>
                <a:latin typeface="Arial"/>
                <a:cs typeface="Arial"/>
              </a:rPr>
              <a:t>physical</a:t>
            </a:r>
            <a:r>
              <a:rPr sz="1500" b="1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3300"/>
                </a:solidFill>
                <a:latin typeface="Arial"/>
                <a:cs typeface="Arial"/>
              </a:rPr>
              <a:t>properties</a:t>
            </a:r>
            <a:r>
              <a:rPr sz="1500" b="1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3300"/>
                </a:solidFill>
                <a:latin typeface="Arial"/>
                <a:cs typeface="Arial"/>
              </a:rPr>
              <a:t>from</a:t>
            </a:r>
            <a:r>
              <a:rPr sz="1500" b="1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3300"/>
                </a:solidFill>
                <a:latin typeface="Arial"/>
                <a:cs typeface="Arial"/>
              </a:rPr>
              <a:t>lab.</a:t>
            </a:r>
            <a:r>
              <a:rPr sz="1500" b="1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F3300"/>
                </a:solidFill>
                <a:latin typeface="Arial"/>
                <a:cs typeface="Arial"/>
              </a:rPr>
              <a:t>experiments:</a:t>
            </a:r>
            <a:endParaRPr sz="150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spcBef>
                <a:spcPts val="1280"/>
              </a:spcBef>
              <a:buSzPct val="112500"/>
              <a:buChar char="•"/>
              <a:tabLst>
                <a:tab pos="156210" algn="l"/>
              </a:tabLst>
            </a:pPr>
            <a:r>
              <a:rPr sz="1600" spc="-10" dirty="0">
                <a:latin typeface="Arial MT"/>
                <a:cs typeface="Arial MT"/>
              </a:rPr>
              <a:t>density</a:t>
            </a:r>
            <a:endParaRPr sz="1600">
              <a:latin typeface="Arial MT"/>
              <a:cs typeface="Arial MT"/>
            </a:endParaRPr>
          </a:p>
          <a:p>
            <a:pPr marL="140335" indent="-127635">
              <a:lnSpc>
                <a:spcPct val="100000"/>
              </a:lnSpc>
              <a:spcBef>
                <a:spcPts val="960"/>
              </a:spcBef>
              <a:buChar char="•"/>
              <a:tabLst>
                <a:tab pos="140335" algn="l"/>
              </a:tabLst>
            </a:pPr>
            <a:r>
              <a:rPr sz="1600" dirty="0">
                <a:latin typeface="Arial MT"/>
                <a:cs typeface="Arial MT"/>
              </a:rPr>
              <a:t>thermal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conductivity,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expansivity</a:t>
            </a:r>
            <a:endParaRPr sz="1600">
              <a:latin typeface="Arial MT"/>
              <a:cs typeface="Arial MT"/>
            </a:endParaRPr>
          </a:p>
          <a:p>
            <a:pPr marL="140335" indent="-127635">
              <a:lnSpc>
                <a:spcPct val="100000"/>
              </a:lnSpc>
              <a:spcBef>
                <a:spcPts val="980"/>
              </a:spcBef>
              <a:buChar char="•"/>
              <a:tabLst>
                <a:tab pos="140335" algn="l"/>
              </a:tabLst>
            </a:pPr>
            <a:r>
              <a:rPr sz="1600" dirty="0">
                <a:latin typeface="Arial MT"/>
                <a:cs typeface="Arial MT"/>
              </a:rPr>
              <a:t>heat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capacity</a:t>
            </a:r>
            <a:endParaRPr sz="1600">
              <a:latin typeface="Arial MT"/>
              <a:cs typeface="Arial MT"/>
            </a:endParaRPr>
          </a:p>
          <a:p>
            <a:pPr marL="140335" indent="-127635">
              <a:lnSpc>
                <a:spcPct val="100000"/>
              </a:lnSpc>
              <a:spcBef>
                <a:spcPts val="880"/>
              </a:spcBef>
              <a:buChar char="•"/>
              <a:tabLst>
                <a:tab pos="140335" algn="l"/>
              </a:tabLst>
            </a:pPr>
            <a:r>
              <a:rPr sz="1600" dirty="0">
                <a:latin typeface="Arial MT"/>
                <a:cs typeface="Arial MT"/>
              </a:rPr>
              <a:t>rock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mechanical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properties</a:t>
            </a:r>
            <a:endParaRPr sz="1600">
              <a:latin typeface="Arial MT"/>
              <a:cs typeface="Arial MT"/>
            </a:endParaRPr>
          </a:p>
          <a:p>
            <a:pPr marL="140335" indent="-127635">
              <a:lnSpc>
                <a:spcPct val="100000"/>
              </a:lnSpc>
              <a:spcBef>
                <a:spcPts val="980"/>
              </a:spcBef>
              <a:buChar char="•"/>
              <a:tabLst>
                <a:tab pos="140335" algn="l"/>
              </a:tabLst>
            </a:pPr>
            <a:r>
              <a:rPr sz="1600" spc="-10" dirty="0">
                <a:latin typeface="Arial MT"/>
                <a:cs typeface="Arial MT"/>
              </a:rPr>
              <a:t>melting/metamorphic</a:t>
            </a:r>
            <a:r>
              <a:rPr sz="1600" spc="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reactions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9810" y="1168487"/>
            <a:ext cx="8966200" cy="6018530"/>
            <a:chOff x="909810" y="1168487"/>
            <a:chExt cx="8966200" cy="6018530"/>
          </a:xfrm>
        </p:grpSpPr>
        <p:sp>
          <p:nvSpPr>
            <p:cNvPr id="4" name="object 4"/>
            <p:cNvSpPr/>
            <p:nvPr/>
          </p:nvSpPr>
          <p:spPr>
            <a:xfrm>
              <a:off x="924098" y="4424450"/>
              <a:ext cx="8904605" cy="2748280"/>
            </a:xfrm>
            <a:custGeom>
              <a:avLst/>
              <a:gdLst/>
              <a:ahLst/>
              <a:cxnLst/>
              <a:rect l="l" t="t" r="r" b="b"/>
              <a:pathLst>
                <a:path w="8904605" h="2748279">
                  <a:moveTo>
                    <a:pt x="0" y="0"/>
                  </a:moveTo>
                  <a:lnTo>
                    <a:pt x="8904285" y="0"/>
                  </a:lnTo>
                  <a:lnTo>
                    <a:pt x="8904285" y="2747962"/>
                  </a:lnTo>
                  <a:lnTo>
                    <a:pt x="0" y="2747962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61546" y="4548275"/>
              <a:ext cx="1265237" cy="57626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6646" y="5124537"/>
              <a:ext cx="947737" cy="197643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3445" y="4535575"/>
              <a:ext cx="1341755" cy="2565400"/>
            </a:xfrm>
            <a:custGeom>
              <a:avLst/>
              <a:gdLst/>
              <a:ahLst/>
              <a:cxnLst/>
              <a:rect l="l" t="t" r="r" b="b"/>
              <a:pathLst>
                <a:path w="1341754" h="2565400">
                  <a:moveTo>
                    <a:pt x="0" y="0"/>
                  </a:moveTo>
                  <a:lnTo>
                    <a:pt x="1341437" y="0"/>
                  </a:lnTo>
                  <a:lnTo>
                    <a:pt x="1341437" y="2565399"/>
                  </a:lnTo>
                  <a:lnTo>
                    <a:pt x="0" y="25653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57836" y="5265825"/>
              <a:ext cx="2203448" cy="170497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6685" y="5265825"/>
              <a:ext cx="2005011" cy="170497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75585" y="1182775"/>
              <a:ext cx="3386454" cy="3138805"/>
            </a:xfrm>
            <a:custGeom>
              <a:avLst/>
              <a:gdLst/>
              <a:ahLst/>
              <a:cxnLst/>
              <a:rect l="l" t="t" r="r" b="b"/>
              <a:pathLst>
                <a:path w="3386454" h="3138804">
                  <a:moveTo>
                    <a:pt x="0" y="0"/>
                  </a:moveTo>
                  <a:lnTo>
                    <a:pt x="3386136" y="0"/>
                  </a:lnTo>
                  <a:lnTo>
                    <a:pt x="3386136" y="3138487"/>
                  </a:lnTo>
                  <a:lnTo>
                    <a:pt x="0" y="3138487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63021" y="4084725"/>
              <a:ext cx="303530" cy="479425"/>
            </a:xfrm>
            <a:custGeom>
              <a:avLst/>
              <a:gdLst/>
              <a:ahLst/>
              <a:cxnLst/>
              <a:rect l="l" t="t" r="r" b="b"/>
              <a:pathLst>
                <a:path w="303529" h="479425">
                  <a:moveTo>
                    <a:pt x="151607" y="0"/>
                  </a:moveTo>
                  <a:lnTo>
                    <a:pt x="0" y="151604"/>
                  </a:lnTo>
                  <a:lnTo>
                    <a:pt x="75803" y="151604"/>
                  </a:lnTo>
                  <a:lnTo>
                    <a:pt x="75803" y="479425"/>
                  </a:lnTo>
                  <a:lnTo>
                    <a:pt x="227411" y="479425"/>
                  </a:lnTo>
                  <a:lnTo>
                    <a:pt x="227411" y="151604"/>
                  </a:lnTo>
                  <a:lnTo>
                    <a:pt x="303213" y="151604"/>
                  </a:lnTo>
                  <a:lnTo>
                    <a:pt x="1516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63021" y="4084725"/>
              <a:ext cx="303530" cy="479425"/>
            </a:xfrm>
            <a:custGeom>
              <a:avLst/>
              <a:gdLst/>
              <a:ahLst/>
              <a:cxnLst/>
              <a:rect l="l" t="t" r="r" b="b"/>
              <a:pathLst>
                <a:path w="303529" h="479425">
                  <a:moveTo>
                    <a:pt x="75803" y="479424"/>
                  </a:moveTo>
                  <a:lnTo>
                    <a:pt x="75803" y="151605"/>
                  </a:lnTo>
                  <a:lnTo>
                    <a:pt x="0" y="151605"/>
                  </a:lnTo>
                  <a:lnTo>
                    <a:pt x="151607" y="0"/>
                  </a:lnTo>
                  <a:lnTo>
                    <a:pt x="303213" y="151605"/>
                  </a:lnTo>
                  <a:lnTo>
                    <a:pt x="227410" y="151605"/>
                  </a:lnTo>
                  <a:lnTo>
                    <a:pt x="227410" y="479424"/>
                  </a:lnTo>
                  <a:lnTo>
                    <a:pt x="75803" y="479424"/>
                  </a:lnTo>
                  <a:close/>
                </a:path>
              </a:pathLst>
            </a:custGeom>
            <a:ln w="9524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023133" y="1307023"/>
            <a:ext cx="2385695" cy="56515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600" b="1" dirty="0">
                <a:latin typeface="Arial"/>
                <a:cs typeface="Arial"/>
              </a:rPr>
              <a:t>Discretization:</a:t>
            </a:r>
            <a:r>
              <a:rPr sz="1600" b="1" spc="-10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FD,FE,FV</a:t>
            </a:r>
            <a:endParaRPr sz="16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380"/>
              </a:spcBef>
            </a:pPr>
            <a:r>
              <a:rPr sz="1200" b="1" spc="-10" dirty="0">
                <a:solidFill>
                  <a:srgbClr val="FF0000"/>
                </a:solidFill>
                <a:latin typeface="Arial"/>
                <a:cs typeface="Arial"/>
              </a:rPr>
              <a:t>Eulerian+Lagrangian</a:t>
            </a:r>
            <a:r>
              <a:rPr sz="1200" b="1" spc="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Arial"/>
                <a:cs typeface="Arial"/>
              </a:rPr>
              <a:t>meshes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21622" y="2140037"/>
            <a:ext cx="3306762" cy="193992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436350" y="2832811"/>
            <a:ext cx="2413635" cy="3860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18110">
              <a:lnSpc>
                <a:spcPts val="1400"/>
              </a:lnSpc>
              <a:spcBef>
                <a:spcPts val="180"/>
              </a:spcBef>
            </a:pPr>
            <a:r>
              <a:rPr sz="1200" b="1" dirty="0">
                <a:solidFill>
                  <a:srgbClr val="00CC00"/>
                </a:solidFill>
                <a:latin typeface="Arial"/>
                <a:cs typeface="Arial"/>
              </a:rPr>
              <a:t>Conservation</a:t>
            </a:r>
            <a:r>
              <a:rPr sz="1200" b="1" spc="-30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CC00"/>
                </a:solidFill>
                <a:latin typeface="Arial"/>
                <a:cs typeface="Arial"/>
              </a:rPr>
              <a:t>of</a:t>
            </a:r>
            <a:r>
              <a:rPr sz="1200" b="1" spc="-25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CC00"/>
                </a:solidFill>
                <a:latin typeface="Arial"/>
                <a:cs typeface="Arial"/>
              </a:rPr>
              <a:t>momentum</a:t>
            </a:r>
            <a:r>
              <a:rPr sz="1200" b="1" spc="-25" dirty="0">
                <a:solidFill>
                  <a:srgbClr val="00CC00"/>
                </a:solidFill>
                <a:latin typeface="Arial"/>
                <a:cs typeface="Arial"/>
              </a:rPr>
              <a:t> for </a:t>
            </a:r>
            <a:r>
              <a:rPr sz="1200" b="1" dirty="0">
                <a:solidFill>
                  <a:srgbClr val="00CC00"/>
                </a:solidFill>
                <a:latin typeface="Arial"/>
                <a:cs typeface="Arial"/>
              </a:rPr>
              <a:t>slowly</a:t>
            </a:r>
            <a:r>
              <a:rPr sz="1200" b="1" spc="-45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CC00"/>
                </a:solidFill>
                <a:latin typeface="Arial"/>
                <a:cs typeface="Arial"/>
              </a:rPr>
              <a:t>flowing</a:t>
            </a:r>
            <a:r>
              <a:rPr sz="1200" b="1" spc="-45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CC00"/>
                </a:solidFill>
                <a:latin typeface="Arial"/>
                <a:cs typeface="Arial"/>
              </a:rPr>
              <a:t>continuous</a:t>
            </a:r>
            <a:r>
              <a:rPr sz="1200" b="1" spc="-45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00CC00"/>
                </a:solidFill>
                <a:latin typeface="Arial"/>
                <a:cs typeface="Arial"/>
              </a:rPr>
              <a:t>media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34629" y="3736744"/>
            <a:ext cx="17151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3399"/>
                </a:solidFill>
                <a:latin typeface="Arial"/>
                <a:cs typeface="Arial"/>
              </a:rPr>
              <a:t>Conservation</a:t>
            </a:r>
            <a:r>
              <a:rPr sz="1200" b="1" spc="-3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3399"/>
                </a:solidFill>
                <a:latin typeface="Arial"/>
                <a:cs typeface="Arial"/>
              </a:rPr>
              <a:t>of</a:t>
            </a:r>
            <a:r>
              <a:rPr sz="1200" b="1" spc="-2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3399"/>
                </a:solidFill>
                <a:latin typeface="Arial"/>
                <a:cs typeface="Arial"/>
              </a:rPr>
              <a:t>energy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43135" y="1171662"/>
            <a:ext cx="5558155" cy="3167380"/>
            <a:chOff x="843135" y="1171662"/>
            <a:chExt cx="5558155" cy="3167380"/>
          </a:xfrm>
        </p:grpSpPr>
        <p:sp>
          <p:nvSpPr>
            <p:cNvPr id="18" name="object 18"/>
            <p:cNvSpPr/>
            <p:nvPr/>
          </p:nvSpPr>
          <p:spPr>
            <a:xfrm>
              <a:off x="1000298" y="3537037"/>
              <a:ext cx="5186680" cy="676275"/>
            </a:xfrm>
            <a:custGeom>
              <a:avLst/>
              <a:gdLst/>
              <a:ahLst/>
              <a:cxnLst/>
              <a:rect l="l" t="t" r="r" b="b"/>
              <a:pathLst>
                <a:path w="5186680" h="676275">
                  <a:moveTo>
                    <a:pt x="0" y="0"/>
                  </a:moveTo>
                  <a:lnTo>
                    <a:pt x="5186361" y="0"/>
                  </a:lnTo>
                  <a:lnTo>
                    <a:pt x="5186361" y="676274"/>
                  </a:lnTo>
                  <a:lnTo>
                    <a:pt x="0" y="676274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52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57423" y="1185950"/>
              <a:ext cx="5529580" cy="3138805"/>
            </a:xfrm>
            <a:custGeom>
              <a:avLst/>
              <a:gdLst/>
              <a:ahLst/>
              <a:cxnLst/>
              <a:rect l="l" t="t" r="r" b="b"/>
              <a:pathLst>
                <a:path w="5529580" h="3138804">
                  <a:moveTo>
                    <a:pt x="0" y="0"/>
                  </a:moveTo>
                  <a:lnTo>
                    <a:pt x="5529261" y="0"/>
                  </a:lnTo>
                  <a:lnTo>
                    <a:pt x="5529261" y="3138487"/>
                  </a:lnTo>
                  <a:lnTo>
                    <a:pt x="0" y="3138487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391769" y="1371370"/>
            <a:ext cx="44659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Arial"/>
                <a:cs typeface="Arial"/>
              </a:rPr>
              <a:t>Fundamental</a:t>
            </a:r>
            <a:r>
              <a:rPr sz="2200" b="1" spc="-6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PDEs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in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this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course</a:t>
            </a:r>
            <a:endParaRPr sz="2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29850" y="3868003"/>
            <a:ext cx="9461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i="1" spc="-50" dirty="0">
                <a:latin typeface="Times New Roman"/>
                <a:cs typeface="Times New Roman"/>
              </a:rPr>
              <a:t>P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25750" y="3891884"/>
            <a:ext cx="24257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800" i="1" spc="-25" dirty="0">
                <a:latin typeface="Times New Roman"/>
                <a:cs typeface="Times New Roman"/>
              </a:rPr>
              <a:t>Dt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52847" y="3710040"/>
            <a:ext cx="1970405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19734" algn="l"/>
              </a:tabLst>
            </a:pPr>
            <a:r>
              <a:rPr sz="1850" spc="-25" dirty="0">
                <a:latin typeface="Symbol"/>
                <a:cs typeface="Symbol"/>
              </a:rPr>
              <a:t></a:t>
            </a:r>
            <a:r>
              <a:rPr sz="1800" i="1" spc="-25" dirty="0">
                <a:latin typeface="Times New Roman"/>
                <a:cs typeface="Times New Roman"/>
              </a:rPr>
              <a:t>c</a:t>
            </a:r>
            <a:r>
              <a:rPr sz="1800" i="1" dirty="0">
                <a:latin typeface="Times New Roman"/>
                <a:cs typeface="Times New Roman"/>
              </a:rPr>
              <a:t>	</a:t>
            </a:r>
            <a:r>
              <a:rPr sz="2700" i="1" u="sng" spc="-457" baseline="3549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i="1" u="sng" baseline="3549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DT</a:t>
            </a:r>
            <a:r>
              <a:rPr sz="2700" i="1" spc="292" baseline="3549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Symbol"/>
                <a:cs typeface="Symbol"/>
              </a:rPr>
              <a:t>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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spc="-1575" dirty="0">
                <a:latin typeface="Times New Roman"/>
                <a:cs typeface="Times New Roman"/>
              </a:rPr>
              <a:t>q</a:t>
            </a:r>
            <a:r>
              <a:rPr sz="2700" spc="-1230" baseline="35493" dirty="0">
                <a:latin typeface="Lucida Sans Unicode"/>
                <a:cs typeface="Lucida Sans Unicode"/>
              </a:rPr>
              <a:t>→</a:t>
            </a:r>
            <a:r>
              <a:rPr sz="2700" spc="-270" baseline="35493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Symbol"/>
                <a:cs typeface="Symbol"/>
              </a:rPr>
              <a:t>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H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99121" y="2052407"/>
            <a:ext cx="1851025" cy="3860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36854" marR="5080" indent="-236854">
              <a:lnSpc>
                <a:spcPts val="1400"/>
              </a:lnSpc>
              <a:spcBef>
                <a:spcPts val="180"/>
              </a:spcBef>
            </a:pP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Conservation</a:t>
            </a:r>
            <a:r>
              <a:rPr sz="1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2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mass</a:t>
            </a:r>
            <a:r>
              <a:rPr sz="12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0000FF"/>
                </a:solidFill>
                <a:latin typeface="Arial"/>
                <a:cs typeface="Arial"/>
              </a:rPr>
              <a:t>for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incompressible</a:t>
            </a:r>
            <a:r>
              <a:rPr sz="1200" b="1" spc="-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00FF"/>
                </a:solidFill>
                <a:latin typeface="Arial"/>
                <a:cs typeface="Arial"/>
              </a:rPr>
              <a:t>media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86010" y="1893975"/>
            <a:ext cx="5215255" cy="1533525"/>
            <a:chOff x="986010" y="1893975"/>
            <a:chExt cx="5215255" cy="1533525"/>
          </a:xfrm>
        </p:grpSpPr>
        <p:sp>
          <p:nvSpPr>
            <p:cNvPr id="26" name="object 26"/>
            <p:cNvSpPr/>
            <p:nvPr/>
          </p:nvSpPr>
          <p:spPr>
            <a:xfrm>
              <a:off x="1000298" y="1908262"/>
              <a:ext cx="5186680" cy="669925"/>
            </a:xfrm>
            <a:custGeom>
              <a:avLst/>
              <a:gdLst/>
              <a:ahLst/>
              <a:cxnLst/>
              <a:rect l="l" t="t" r="r" b="b"/>
              <a:pathLst>
                <a:path w="5186680" h="669925">
                  <a:moveTo>
                    <a:pt x="0" y="0"/>
                  </a:moveTo>
                  <a:lnTo>
                    <a:pt x="5186361" y="0"/>
                  </a:lnTo>
                  <a:lnTo>
                    <a:pt x="5186361" y="669924"/>
                  </a:lnTo>
                  <a:lnTo>
                    <a:pt x="0" y="669924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00298" y="2689312"/>
              <a:ext cx="5186680" cy="723900"/>
            </a:xfrm>
            <a:custGeom>
              <a:avLst/>
              <a:gdLst/>
              <a:ahLst/>
              <a:cxnLst/>
              <a:rect l="l" t="t" r="r" b="b"/>
              <a:pathLst>
                <a:path w="5186680" h="723900">
                  <a:moveTo>
                    <a:pt x="0" y="0"/>
                  </a:moveTo>
                  <a:lnTo>
                    <a:pt x="5186361" y="0"/>
                  </a:lnTo>
                  <a:lnTo>
                    <a:pt x="5186361" y="723899"/>
                  </a:lnTo>
                  <a:lnTo>
                    <a:pt x="0" y="723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D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356787" y="2846690"/>
            <a:ext cx="160972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0" dirty="0">
                <a:latin typeface="Symbol"/>
                <a:cs typeface="Symbol"/>
              </a:rPr>
              <a:t></a:t>
            </a:r>
            <a:r>
              <a:rPr sz="1800" spc="-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</a:t>
            </a:r>
            <a:r>
              <a:rPr sz="1850" dirty="0">
                <a:latin typeface="Symbol"/>
                <a:cs typeface="Symbol"/>
              </a:rPr>
              <a:t></a:t>
            </a:r>
            <a:r>
              <a:rPr sz="1850" spc="-204" dirty="0">
                <a:latin typeface="Times New Roman"/>
                <a:cs typeface="Times New Roman"/>
              </a:rPr>
              <a:t> </a:t>
            </a:r>
            <a:r>
              <a:rPr sz="2700" spc="-209" baseline="1543" dirty="0">
                <a:latin typeface="Symbol"/>
                <a:cs typeface="Symbol"/>
              </a:rPr>
              <a:t>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spc="-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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i="1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Symbol"/>
                <a:cs typeface="Symbol"/>
              </a:rPr>
              <a:t></a:t>
            </a:r>
            <a:r>
              <a:rPr sz="1850" spc="-25" dirty="0">
                <a:latin typeface="Symbol"/>
                <a:cs typeface="Symbol"/>
              </a:rPr>
              <a:t></a:t>
            </a:r>
            <a:r>
              <a:rPr sz="1800" i="1" spc="-25" dirty="0">
                <a:latin typeface="Times New Roman"/>
                <a:cs typeface="Times New Roman"/>
              </a:rPr>
              <a:t>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98826" y="2103523"/>
            <a:ext cx="741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Symbol"/>
                <a:cs typeface="Symbol"/>
              </a:rPr>
              <a:t></a:t>
            </a:r>
            <a:r>
              <a:rPr sz="1800" spc="-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</a:t>
            </a:r>
            <a:r>
              <a:rPr sz="1800" spc="-2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v</a:t>
            </a:r>
            <a:r>
              <a:rPr sz="1800" i="1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941124" y="519209"/>
            <a:ext cx="88106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What</a:t>
            </a:r>
            <a:r>
              <a:rPr sz="3200" spc="-15" dirty="0"/>
              <a:t> </a:t>
            </a:r>
            <a:r>
              <a:rPr sz="3200" dirty="0"/>
              <a:t>is</a:t>
            </a:r>
            <a:r>
              <a:rPr sz="3200" spc="-15" dirty="0"/>
              <a:t> </a:t>
            </a:r>
            <a:r>
              <a:rPr sz="3200" dirty="0"/>
              <a:t>numerical</a:t>
            </a:r>
            <a:r>
              <a:rPr sz="3200" spc="-10" dirty="0"/>
              <a:t> </a:t>
            </a:r>
            <a:r>
              <a:rPr sz="3200" dirty="0"/>
              <a:t>modelling</a:t>
            </a:r>
            <a:r>
              <a:rPr sz="3200" spc="-25" dirty="0"/>
              <a:t> </a:t>
            </a:r>
            <a:r>
              <a:rPr sz="3200" dirty="0"/>
              <a:t>in</a:t>
            </a:r>
            <a:r>
              <a:rPr sz="3200" spc="-10" dirty="0"/>
              <a:t> geosciences?</a:t>
            </a:r>
            <a:endParaRPr sz="3200"/>
          </a:p>
        </p:txBody>
      </p:sp>
      <p:grpSp>
        <p:nvGrpSpPr>
          <p:cNvPr id="31" name="object 31"/>
          <p:cNvGrpSpPr/>
          <p:nvPr/>
        </p:nvGrpSpPr>
        <p:grpSpPr>
          <a:xfrm>
            <a:off x="5911705" y="2868055"/>
            <a:ext cx="635000" cy="311150"/>
            <a:chOff x="5911705" y="2868055"/>
            <a:chExt cx="635000" cy="311150"/>
          </a:xfrm>
        </p:grpSpPr>
        <p:sp>
          <p:nvSpPr>
            <p:cNvPr id="32" name="object 32"/>
            <p:cNvSpPr/>
            <p:nvPr/>
          </p:nvSpPr>
          <p:spPr>
            <a:xfrm>
              <a:off x="5916467" y="2872817"/>
              <a:ext cx="625475" cy="301625"/>
            </a:xfrm>
            <a:custGeom>
              <a:avLst/>
              <a:gdLst/>
              <a:ahLst/>
              <a:cxnLst/>
              <a:rect l="l" t="t" r="r" b="b"/>
              <a:pathLst>
                <a:path w="625475" h="301625">
                  <a:moveTo>
                    <a:pt x="474662" y="0"/>
                  </a:moveTo>
                  <a:lnTo>
                    <a:pt x="474662" y="75404"/>
                  </a:lnTo>
                  <a:lnTo>
                    <a:pt x="0" y="75404"/>
                  </a:lnTo>
                  <a:lnTo>
                    <a:pt x="0" y="226218"/>
                  </a:lnTo>
                  <a:lnTo>
                    <a:pt x="474662" y="226218"/>
                  </a:lnTo>
                  <a:lnTo>
                    <a:pt x="474662" y="301625"/>
                  </a:lnTo>
                  <a:lnTo>
                    <a:pt x="625473" y="150812"/>
                  </a:lnTo>
                  <a:lnTo>
                    <a:pt x="4746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916467" y="2872817"/>
              <a:ext cx="625475" cy="301625"/>
            </a:xfrm>
            <a:custGeom>
              <a:avLst/>
              <a:gdLst/>
              <a:ahLst/>
              <a:cxnLst/>
              <a:rect l="l" t="t" r="r" b="b"/>
              <a:pathLst>
                <a:path w="625475" h="301625">
                  <a:moveTo>
                    <a:pt x="0" y="75405"/>
                  </a:moveTo>
                  <a:lnTo>
                    <a:pt x="474662" y="75405"/>
                  </a:lnTo>
                  <a:lnTo>
                    <a:pt x="474662" y="0"/>
                  </a:lnTo>
                  <a:lnTo>
                    <a:pt x="625474" y="150812"/>
                  </a:lnTo>
                  <a:lnTo>
                    <a:pt x="474662" y="301624"/>
                  </a:lnTo>
                  <a:lnTo>
                    <a:pt x="474662" y="226219"/>
                  </a:lnTo>
                  <a:lnTo>
                    <a:pt x="0" y="226219"/>
                  </a:lnTo>
                  <a:lnTo>
                    <a:pt x="0" y="75405"/>
                  </a:lnTo>
                  <a:close/>
                </a:path>
              </a:pathLst>
            </a:custGeom>
            <a:ln w="9524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923" y="652550"/>
            <a:ext cx="3957637" cy="57911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5422" y="500150"/>
            <a:ext cx="4740273" cy="612298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16050" y="6597419"/>
            <a:ext cx="476821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ts val="213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Noble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dame,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1959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latin typeface="Arial MT"/>
                <a:cs typeface="Arial MT"/>
              </a:rPr>
              <a:t>©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Succession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Picasso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/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VG</a:t>
            </a:r>
            <a:r>
              <a:rPr sz="1800" spc="-10" dirty="0">
                <a:latin typeface="Arial MT"/>
                <a:cs typeface="Arial MT"/>
              </a:rPr>
              <a:t> Bild-</a:t>
            </a:r>
            <a:r>
              <a:rPr sz="1800" dirty="0">
                <a:latin typeface="Arial MT"/>
                <a:cs typeface="Arial MT"/>
              </a:rPr>
              <a:t>Kunst,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Bonn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5238" y="6597419"/>
            <a:ext cx="3406140" cy="56642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63500">
              <a:lnSpc>
                <a:spcPts val="2100"/>
              </a:lnSpc>
              <a:spcBef>
                <a:spcPts val="220"/>
              </a:spcBef>
            </a:pPr>
            <a:r>
              <a:rPr sz="1800" dirty="0">
                <a:latin typeface="Arial MT"/>
                <a:cs typeface="Arial MT"/>
              </a:rPr>
              <a:t>Sibylla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Cleve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Braut, </a:t>
            </a:r>
            <a:r>
              <a:rPr sz="1800" dirty="0">
                <a:latin typeface="Arial MT"/>
                <a:cs typeface="Arial MT"/>
              </a:rPr>
              <a:t>Lukas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Cranach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d.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Ä.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(1472-1553)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29097" y="347750"/>
            <a:ext cx="4638675" cy="544830"/>
          </a:xfrm>
          <a:prstGeom prst="rect">
            <a:avLst/>
          </a:prstGeom>
          <a:solidFill>
            <a:srgbClr val="FFFFFF"/>
          </a:solidFill>
          <a:ln w="25399">
            <a:solidFill>
              <a:srgbClr val="FF26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59"/>
              </a:spcBef>
            </a:pPr>
            <a:r>
              <a:rPr sz="2800" b="0" spc="-10" dirty="0">
                <a:latin typeface="Arial MT"/>
                <a:cs typeface="Arial MT"/>
              </a:rPr>
              <a:t>Visualization</a:t>
            </a:r>
            <a:r>
              <a:rPr sz="2800" b="0" spc="-40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is</a:t>
            </a:r>
            <a:r>
              <a:rPr sz="2800" b="0" spc="-45" dirty="0">
                <a:latin typeface="Arial MT"/>
                <a:cs typeface="Arial MT"/>
              </a:rPr>
              <a:t> </a:t>
            </a:r>
            <a:r>
              <a:rPr sz="2800" b="0" spc="-10" dirty="0">
                <a:latin typeface="Arial MT"/>
                <a:cs typeface="Arial MT"/>
              </a:rPr>
              <a:t>important!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4581" y="340228"/>
            <a:ext cx="8161020" cy="575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4"/>
              </a:lnSpc>
              <a:tabLst>
                <a:tab pos="273050" algn="l"/>
                <a:tab pos="975360" algn="l"/>
                <a:tab pos="1713230" algn="l"/>
                <a:tab pos="2380615" algn="l"/>
                <a:tab pos="3514090" algn="l"/>
                <a:tab pos="4093845" algn="l"/>
                <a:tab pos="4734560" algn="l"/>
                <a:tab pos="5191760" algn="l"/>
                <a:tab pos="5929630" algn="l"/>
                <a:tab pos="6597015" algn="l"/>
                <a:tab pos="7299959" algn="l"/>
                <a:tab pos="8002270" algn="l"/>
              </a:tabLst>
            </a:pPr>
            <a:r>
              <a:rPr sz="900" spc="-50" dirty="0">
                <a:latin typeface="Arial MT"/>
                <a:cs typeface="Arial MT"/>
              </a:rPr>
              <a:t>3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9.00E+03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0.00E+00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1.10E-</a:t>
            </a:r>
            <a:r>
              <a:rPr sz="900" spc="-25" dirty="0">
                <a:latin typeface="Arial MT"/>
                <a:cs typeface="Arial MT"/>
              </a:rPr>
              <a:t>09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5" dirty="0">
                <a:latin typeface="Arial MT"/>
                <a:cs typeface="Arial MT"/>
              </a:rPr>
              <a:t>-</a:t>
            </a:r>
            <a:r>
              <a:rPr sz="900" spc="-10" dirty="0">
                <a:latin typeface="Arial MT"/>
                <a:cs typeface="Arial MT"/>
              </a:rPr>
              <a:t>1.69E-</a:t>
            </a:r>
            <a:r>
              <a:rPr sz="900" spc="-25" dirty="0">
                <a:latin typeface="Arial MT"/>
                <a:cs typeface="Arial MT"/>
              </a:rPr>
              <a:t>09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50" dirty="0">
                <a:latin typeface="Arial MT"/>
                <a:cs typeface="Arial MT"/>
              </a:rPr>
              <a:t>0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5" dirty="0">
                <a:latin typeface="Arial MT"/>
                <a:cs typeface="Arial MT"/>
              </a:rPr>
              <a:t>196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0" dirty="0">
                <a:latin typeface="Arial MT"/>
                <a:cs typeface="Arial MT"/>
              </a:rPr>
              <a:t>1157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1.00E+19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3.00E-</a:t>
            </a:r>
            <a:r>
              <a:rPr sz="900" spc="-25" dirty="0">
                <a:latin typeface="Arial MT"/>
                <a:cs typeface="Arial MT"/>
              </a:rPr>
              <a:t>05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2.98E+02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0.00E+00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5" dirty="0">
                <a:latin typeface="Arial MT"/>
                <a:cs typeface="Arial MT"/>
              </a:rPr>
              <a:t>1.0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tabLst>
                <a:tab pos="273050" algn="l"/>
                <a:tab pos="975360" algn="l"/>
                <a:tab pos="1713230" algn="l"/>
                <a:tab pos="2380615" algn="l"/>
                <a:tab pos="3514090" algn="l"/>
                <a:tab pos="4093845" algn="l"/>
                <a:tab pos="4734560" algn="l"/>
                <a:tab pos="5191760" algn="l"/>
                <a:tab pos="5929630" algn="l"/>
                <a:tab pos="6597015" algn="l"/>
                <a:tab pos="7299959" algn="l"/>
                <a:tab pos="8002270" algn="l"/>
              </a:tabLst>
            </a:pPr>
            <a:r>
              <a:rPr sz="900" spc="-50" dirty="0">
                <a:latin typeface="Arial MT"/>
                <a:cs typeface="Arial MT"/>
              </a:rPr>
              <a:t>3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9.00E+03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0.00E+00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1.10E-</a:t>
            </a:r>
            <a:r>
              <a:rPr sz="900" spc="-25" dirty="0">
                <a:latin typeface="Arial MT"/>
                <a:cs typeface="Arial MT"/>
              </a:rPr>
              <a:t>09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5" dirty="0">
                <a:latin typeface="Arial MT"/>
                <a:cs typeface="Arial MT"/>
              </a:rPr>
              <a:t>-</a:t>
            </a:r>
            <a:r>
              <a:rPr sz="900" spc="-10" dirty="0">
                <a:latin typeface="Arial MT"/>
                <a:cs typeface="Arial MT"/>
              </a:rPr>
              <a:t>1.49E-</a:t>
            </a:r>
            <a:r>
              <a:rPr sz="900" spc="-25" dirty="0">
                <a:latin typeface="Arial MT"/>
                <a:cs typeface="Arial MT"/>
              </a:rPr>
              <a:t>09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50" dirty="0">
                <a:latin typeface="Arial MT"/>
                <a:cs typeface="Arial MT"/>
              </a:rPr>
              <a:t>0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5" dirty="0">
                <a:latin typeface="Arial MT"/>
                <a:cs typeface="Arial MT"/>
              </a:rPr>
              <a:t>227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0" dirty="0">
                <a:latin typeface="Arial MT"/>
                <a:cs typeface="Arial MT"/>
              </a:rPr>
              <a:t>1188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1.00E+19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3.00E-</a:t>
            </a:r>
            <a:r>
              <a:rPr sz="900" spc="-25" dirty="0">
                <a:latin typeface="Arial MT"/>
                <a:cs typeface="Arial MT"/>
              </a:rPr>
              <a:t>05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2.98E+02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0.00E+00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5" dirty="0">
                <a:latin typeface="Arial MT"/>
                <a:cs typeface="Arial MT"/>
              </a:rPr>
              <a:t>1.0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tabLst>
                <a:tab pos="273050" algn="l"/>
                <a:tab pos="975360" algn="l"/>
                <a:tab pos="1713230" algn="l"/>
                <a:tab pos="2380615" algn="l"/>
                <a:tab pos="3514090" algn="l"/>
                <a:tab pos="4093845" algn="l"/>
                <a:tab pos="4734560" algn="l"/>
                <a:tab pos="5191760" algn="l"/>
                <a:tab pos="5929630" algn="l"/>
                <a:tab pos="6597015" algn="l"/>
                <a:tab pos="7299959" algn="l"/>
                <a:tab pos="8002270" algn="l"/>
              </a:tabLst>
            </a:pPr>
            <a:r>
              <a:rPr sz="900" spc="-50" dirty="0">
                <a:latin typeface="Arial MT"/>
                <a:cs typeface="Arial MT"/>
              </a:rPr>
              <a:t>3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9.00E+03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0.00E+00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1.10E-</a:t>
            </a:r>
            <a:r>
              <a:rPr sz="900" spc="-25" dirty="0">
                <a:latin typeface="Arial MT"/>
                <a:cs typeface="Arial MT"/>
              </a:rPr>
              <a:t>09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5" dirty="0">
                <a:latin typeface="Arial MT"/>
                <a:cs typeface="Arial MT"/>
              </a:rPr>
              <a:t>-</a:t>
            </a:r>
            <a:r>
              <a:rPr sz="900" spc="-10" dirty="0">
                <a:latin typeface="Arial MT"/>
                <a:cs typeface="Arial MT"/>
              </a:rPr>
              <a:t>1.29E-</a:t>
            </a:r>
            <a:r>
              <a:rPr sz="900" spc="-25" dirty="0">
                <a:latin typeface="Arial MT"/>
                <a:cs typeface="Arial MT"/>
              </a:rPr>
              <a:t>09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50" dirty="0">
                <a:latin typeface="Arial MT"/>
                <a:cs typeface="Arial MT"/>
              </a:rPr>
              <a:t>0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5" dirty="0">
                <a:latin typeface="Arial MT"/>
                <a:cs typeface="Arial MT"/>
              </a:rPr>
              <a:t>258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0" dirty="0">
                <a:latin typeface="Arial MT"/>
                <a:cs typeface="Arial MT"/>
              </a:rPr>
              <a:t>1219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1.00E+19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3.00E-</a:t>
            </a:r>
            <a:r>
              <a:rPr sz="900" spc="-25" dirty="0">
                <a:latin typeface="Arial MT"/>
                <a:cs typeface="Arial MT"/>
              </a:rPr>
              <a:t>05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2.98E+02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0.00E+00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5" dirty="0">
                <a:latin typeface="Arial MT"/>
                <a:cs typeface="Arial MT"/>
              </a:rPr>
              <a:t>1.0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tabLst>
                <a:tab pos="273050" algn="l"/>
                <a:tab pos="975360" algn="l"/>
                <a:tab pos="1713230" algn="l"/>
                <a:tab pos="2380615" algn="l"/>
                <a:tab pos="3514090" algn="l"/>
                <a:tab pos="4093845" algn="l"/>
                <a:tab pos="4734560" algn="l"/>
                <a:tab pos="5191760" algn="l"/>
                <a:tab pos="5929630" algn="l"/>
                <a:tab pos="6597015" algn="l"/>
                <a:tab pos="7299959" algn="l"/>
                <a:tab pos="8002270" algn="l"/>
              </a:tabLst>
            </a:pPr>
            <a:r>
              <a:rPr sz="900" spc="-50" dirty="0">
                <a:latin typeface="Arial MT"/>
                <a:cs typeface="Arial MT"/>
              </a:rPr>
              <a:t>3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9.00E+03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0.00E+00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1.10E-</a:t>
            </a:r>
            <a:r>
              <a:rPr sz="900" spc="-25" dirty="0">
                <a:latin typeface="Arial MT"/>
                <a:cs typeface="Arial MT"/>
              </a:rPr>
              <a:t>09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5" dirty="0">
                <a:latin typeface="Arial MT"/>
                <a:cs typeface="Arial MT"/>
              </a:rPr>
              <a:t>-</a:t>
            </a:r>
            <a:r>
              <a:rPr sz="900" spc="-10" dirty="0">
                <a:latin typeface="Arial MT"/>
                <a:cs typeface="Arial MT"/>
              </a:rPr>
              <a:t>1.10E-</a:t>
            </a:r>
            <a:r>
              <a:rPr sz="900" spc="-25" dirty="0">
                <a:latin typeface="Arial MT"/>
                <a:cs typeface="Arial MT"/>
              </a:rPr>
              <a:t>09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50" dirty="0">
                <a:latin typeface="Arial MT"/>
                <a:cs typeface="Arial MT"/>
              </a:rPr>
              <a:t>0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5" dirty="0">
                <a:latin typeface="Arial MT"/>
                <a:cs typeface="Arial MT"/>
              </a:rPr>
              <a:t>289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0" dirty="0">
                <a:latin typeface="Arial MT"/>
                <a:cs typeface="Arial MT"/>
              </a:rPr>
              <a:t>1250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1.00E+19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3.00E-</a:t>
            </a:r>
            <a:r>
              <a:rPr sz="900" spc="-25" dirty="0">
                <a:latin typeface="Arial MT"/>
                <a:cs typeface="Arial MT"/>
              </a:rPr>
              <a:t>05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2.98E+02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10" dirty="0">
                <a:latin typeface="Arial MT"/>
                <a:cs typeface="Arial MT"/>
              </a:rPr>
              <a:t>0.00E+00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5" dirty="0">
                <a:latin typeface="Arial MT"/>
                <a:cs typeface="Arial MT"/>
              </a:rPr>
              <a:t>1.0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69504" y="335050"/>
          <a:ext cx="9154156" cy="72756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3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6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930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65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845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132715">
                <a:tc>
                  <a:txBody>
                    <a:bodyPr/>
                    <a:lstStyle/>
                    <a:p>
                      <a:pPr algn="r">
                        <a:lnSpc>
                          <a:spcPts val="93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6.00E+0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28575">
                      <a:solidFill>
                        <a:srgbClr val="CD665F"/>
                      </a:solidFill>
                      <a:prstDash val="solid"/>
                    </a:lnR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rowSpan="4" gridSpan="13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800" dirty="0">
                          <a:solidFill>
                            <a:srgbClr val="C0504D"/>
                          </a:solidFill>
                          <a:latin typeface="Arial MT"/>
                          <a:cs typeface="Arial MT"/>
                        </a:rPr>
                        <a:t>Numerical</a:t>
                      </a:r>
                      <a:r>
                        <a:rPr sz="1800" spc="-30" dirty="0">
                          <a:solidFill>
                            <a:srgbClr val="C0504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C0504D"/>
                          </a:solidFill>
                          <a:latin typeface="Arial MT"/>
                          <a:cs typeface="Arial MT"/>
                        </a:rPr>
                        <a:t>modeling</a:t>
                      </a:r>
                      <a:r>
                        <a:rPr sz="1800" spc="-20" dirty="0">
                          <a:solidFill>
                            <a:srgbClr val="C0504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without</a:t>
                      </a:r>
                      <a:r>
                        <a:rPr sz="1800" spc="-2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C0504D"/>
                          </a:solidFill>
                          <a:latin typeface="Arial MT"/>
                          <a:cs typeface="Arial MT"/>
                        </a:rPr>
                        <a:t>visualization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719" marB="0">
                    <a:lnL w="28575">
                      <a:solidFill>
                        <a:srgbClr val="CD665F"/>
                      </a:solidFill>
                      <a:prstDash val="solid"/>
                    </a:lnL>
                    <a:lnR w="28575">
                      <a:solidFill>
                        <a:srgbClr val="CD665F"/>
                      </a:solidFill>
                      <a:prstDash val="solid"/>
                    </a:lnR>
                    <a:lnT w="28575">
                      <a:solidFill>
                        <a:srgbClr val="CD665F"/>
                      </a:solidFill>
                      <a:prstDash val="solid"/>
                    </a:lnT>
                    <a:lnB w="28575">
                      <a:solidFill>
                        <a:srgbClr val="CD66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93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CD665F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7.00E+0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28575">
                      <a:solidFill>
                        <a:srgbClr val="CD665F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1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5719" marB="0">
                    <a:lnL w="28575">
                      <a:solidFill>
                        <a:srgbClr val="CD665F"/>
                      </a:solidFill>
                      <a:prstDash val="solid"/>
                    </a:lnL>
                    <a:lnR w="28575">
                      <a:solidFill>
                        <a:srgbClr val="CD665F"/>
                      </a:solidFill>
                      <a:prstDash val="solid"/>
                    </a:lnR>
                    <a:lnT w="28575">
                      <a:solidFill>
                        <a:srgbClr val="CD665F"/>
                      </a:solidFill>
                      <a:prstDash val="solid"/>
                    </a:lnT>
                    <a:lnB w="28575">
                      <a:solidFill>
                        <a:srgbClr val="CD66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CD665F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8.00E+0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28575">
                      <a:solidFill>
                        <a:srgbClr val="CD665F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1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5719" marB="0">
                    <a:lnL w="28575">
                      <a:solidFill>
                        <a:srgbClr val="CD665F"/>
                      </a:solidFill>
                      <a:prstDash val="solid"/>
                    </a:lnL>
                    <a:lnR w="28575">
                      <a:solidFill>
                        <a:srgbClr val="CD665F"/>
                      </a:solidFill>
                      <a:prstDash val="solid"/>
                    </a:lnR>
                    <a:lnT w="28575">
                      <a:solidFill>
                        <a:srgbClr val="CD665F"/>
                      </a:solidFill>
                      <a:prstDash val="solid"/>
                    </a:lnT>
                    <a:lnB w="28575">
                      <a:solidFill>
                        <a:srgbClr val="CD66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CD665F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720"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28575">
                      <a:solidFill>
                        <a:srgbClr val="CD665F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1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5719" marB="0">
                    <a:lnL w="28575">
                      <a:solidFill>
                        <a:srgbClr val="CD665F"/>
                      </a:solidFill>
                      <a:prstDash val="solid"/>
                    </a:lnL>
                    <a:lnR w="28575">
                      <a:solidFill>
                        <a:srgbClr val="CD665F"/>
                      </a:solidFill>
                      <a:prstDash val="solid"/>
                    </a:lnR>
                    <a:lnT w="28575">
                      <a:solidFill>
                        <a:srgbClr val="CD665F"/>
                      </a:solidFill>
                      <a:prstDash val="solid"/>
                    </a:lnT>
                    <a:lnB w="28575">
                      <a:solidFill>
                        <a:srgbClr val="CD66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CD665F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730">
                <a:tc gridSpan="2">
                  <a:txBody>
                    <a:bodyPr/>
                    <a:lstStyle/>
                    <a:p>
                      <a:pPr marL="188595">
                        <a:lnSpc>
                          <a:spcPts val="8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8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28575">
                      <a:solidFill>
                        <a:srgbClr val="CD665F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8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28575">
                      <a:solidFill>
                        <a:srgbClr val="CD665F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8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28575">
                      <a:solidFill>
                        <a:srgbClr val="CD665F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8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8.96E-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28575">
                      <a:solidFill>
                        <a:srgbClr val="CD665F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875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28575">
                      <a:solidFill>
                        <a:srgbClr val="CD665F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8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320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28575">
                      <a:solidFill>
                        <a:srgbClr val="CD665F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87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1281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28575">
                      <a:solidFill>
                        <a:srgbClr val="CD665F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8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28575">
                      <a:solidFill>
                        <a:srgbClr val="CD665F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8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28575">
                      <a:solidFill>
                        <a:srgbClr val="CD665F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8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28575">
                      <a:solidFill>
                        <a:srgbClr val="CD665F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8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28575">
                      <a:solidFill>
                        <a:srgbClr val="CD665F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8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6.97E-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351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1312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3.15E+02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1.20E+04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4.98E-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382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1343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3.01E-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3.81E+02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1.30E+04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2.99E-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413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1374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3.01E-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1.40E+04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9.96E-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444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1405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3.01E-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1.50E+04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9.96E-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475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1436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3.01E-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668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1.60E+04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506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1467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3.01E-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1.70E+04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4.98E-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75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537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1498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3.01E-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1.80E+04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6.97E-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75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568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1529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3.01E-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3.81E+02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1.90E+04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8.96E-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75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599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1560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3.15E+02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2.00E+04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75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630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1591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2.10E+04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1.29E-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8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8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661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8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1622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2.20E+04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1.49E-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75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692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1653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2.30E+04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1.69E-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75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723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1684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2.40E+04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1.89E-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75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754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1715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2.50E+04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2.09E-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75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785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1746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2.60E+04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2.29E-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75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816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1777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2.70E+04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2.49E-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75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847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1808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2.80E+04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2.69E-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8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8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878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8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1839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2.89E-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75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909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1870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541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5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5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5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5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5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5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5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940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5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1901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5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5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5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5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2.02E+03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5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4541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4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2.89E-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45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4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4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971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1.99E+03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2.69E-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75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41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1002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2.49E-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75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72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1033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8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2.29E-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8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8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103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8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1064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8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4.00E+03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2.09E-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75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134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7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1095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7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51130">
                <a:tc gridSpan="2"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5.00E+03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1.89E-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ct val="10000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165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ct val="10000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1126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6.00E+03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1.69E-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196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1157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7.00E+03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1.49E-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227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1188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8.00E+03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1.29E-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258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1219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289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1250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8.96E-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320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1281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6.97E-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351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1312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3.15E+02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1.20E+04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4.98E-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382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1343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3.01E-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3.81E+02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1.30E+04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2.99E-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413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1374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3.01E-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1.40E+04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9.96E-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444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1405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3.01E-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1.50E+04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9.96E-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475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1436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3.01E-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40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1.60E+04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2.99E-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506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1467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3.01E-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41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1.70E+04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4.98E-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537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1498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3.01E-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42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1.80E+04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6.97E-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568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1529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3.01E-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3.81E+02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43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1.90E+04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8.96E-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0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599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0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1560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3.15E+02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44"/>
                  </a:ext>
                </a:extLst>
              </a:tr>
              <a:tr h="149225">
                <a:tc gridSpan="2">
                  <a:txBody>
                    <a:bodyPr/>
                    <a:lstStyle/>
                    <a:p>
                      <a:pPr marL="188595">
                        <a:lnSpc>
                          <a:spcPts val="106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2.00E+04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06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06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1.10E-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r">
                        <a:lnSpc>
                          <a:spcPts val="1065"/>
                        </a:lnSpc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630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06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1591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106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3.00E-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C0C0C0"/>
                      </a:solidFill>
                      <a:prstDash val="solid"/>
                    </a:lnL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2.98E+02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6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0.00E+00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ts val="106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1.00E+03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C0C0C0"/>
                      </a:solidFill>
                      <a:prstDash val="solid"/>
                    </a:lnB>
                    <a:solidFill>
                      <a:srgbClr val="E3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45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852696" y="4172866"/>
            <a:ext cx="3003550" cy="3003550"/>
            <a:chOff x="852696" y="4172866"/>
            <a:chExt cx="3003550" cy="3003550"/>
          </a:xfrm>
        </p:grpSpPr>
        <p:sp>
          <p:nvSpPr>
            <p:cNvPr id="5" name="object 5"/>
            <p:cNvSpPr/>
            <p:nvPr/>
          </p:nvSpPr>
          <p:spPr>
            <a:xfrm>
              <a:off x="865396" y="4185566"/>
              <a:ext cx="2978150" cy="2978150"/>
            </a:xfrm>
            <a:custGeom>
              <a:avLst/>
              <a:gdLst/>
              <a:ahLst/>
              <a:cxnLst/>
              <a:rect l="l" t="t" r="r" b="b"/>
              <a:pathLst>
                <a:path w="2978150" h="2978150">
                  <a:moveTo>
                    <a:pt x="514119" y="0"/>
                  </a:moveTo>
                  <a:lnTo>
                    <a:pt x="0" y="514120"/>
                  </a:lnTo>
                  <a:lnTo>
                    <a:pt x="2463957" y="2978077"/>
                  </a:lnTo>
                  <a:lnTo>
                    <a:pt x="2978077" y="2463957"/>
                  </a:lnTo>
                  <a:lnTo>
                    <a:pt x="5141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5396" y="4185566"/>
              <a:ext cx="2978150" cy="2978150"/>
            </a:xfrm>
            <a:custGeom>
              <a:avLst/>
              <a:gdLst/>
              <a:ahLst/>
              <a:cxnLst/>
              <a:rect l="l" t="t" r="r" b="b"/>
              <a:pathLst>
                <a:path w="2978150" h="2978150">
                  <a:moveTo>
                    <a:pt x="514119" y="0"/>
                  </a:moveTo>
                  <a:lnTo>
                    <a:pt x="2978077" y="2463957"/>
                  </a:lnTo>
                  <a:lnTo>
                    <a:pt x="2463957" y="2978077"/>
                  </a:lnTo>
                  <a:lnTo>
                    <a:pt x="0" y="514119"/>
                  </a:lnTo>
                  <a:lnTo>
                    <a:pt x="514119" y="0"/>
                  </a:lnTo>
                  <a:close/>
                </a:path>
              </a:pathLst>
            </a:custGeom>
            <a:ln w="253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52090" y="4492508"/>
              <a:ext cx="2364740" cy="2254885"/>
            </a:xfrm>
            <a:custGeom>
              <a:avLst/>
              <a:gdLst/>
              <a:ahLst/>
              <a:cxnLst/>
              <a:rect l="l" t="t" r="r" b="b"/>
              <a:pathLst>
                <a:path w="2364740" h="2254884">
                  <a:moveTo>
                    <a:pt x="1304922" y="1104900"/>
                  </a:moveTo>
                  <a:lnTo>
                    <a:pt x="1255779" y="1104900"/>
                  </a:lnTo>
                  <a:lnTo>
                    <a:pt x="1207287" y="1130300"/>
                  </a:lnTo>
                  <a:lnTo>
                    <a:pt x="1183630" y="1155700"/>
                  </a:lnTo>
                  <a:lnTo>
                    <a:pt x="1163714" y="1181100"/>
                  </a:lnTo>
                  <a:lnTo>
                    <a:pt x="1149313" y="1206500"/>
                  </a:lnTo>
                  <a:lnTo>
                    <a:pt x="1140426" y="1219200"/>
                  </a:lnTo>
                  <a:lnTo>
                    <a:pt x="1137052" y="1244600"/>
                  </a:lnTo>
                  <a:lnTo>
                    <a:pt x="1139062" y="1270000"/>
                  </a:lnTo>
                  <a:lnTo>
                    <a:pt x="1146323" y="1295400"/>
                  </a:lnTo>
                  <a:lnTo>
                    <a:pt x="1158834" y="1320800"/>
                  </a:lnTo>
                  <a:lnTo>
                    <a:pt x="1176596" y="1333500"/>
                  </a:lnTo>
                  <a:lnTo>
                    <a:pt x="1193048" y="1358900"/>
                  </a:lnTo>
                  <a:lnTo>
                    <a:pt x="1210022" y="1358900"/>
                  </a:lnTo>
                  <a:lnTo>
                    <a:pt x="1227521" y="1371600"/>
                  </a:lnTo>
                  <a:lnTo>
                    <a:pt x="1300190" y="1371600"/>
                  </a:lnTo>
                  <a:lnTo>
                    <a:pt x="1318317" y="1358900"/>
                  </a:lnTo>
                  <a:lnTo>
                    <a:pt x="1299391" y="1333500"/>
                  </a:lnTo>
                  <a:lnTo>
                    <a:pt x="1220815" y="1333500"/>
                  </a:lnTo>
                  <a:lnTo>
                    <a:pt x="1211379" y="1320800"/>
                  </a:lnTo>
                  <a:lnTo>
                    <a:pt x="1202455" y="1308100"/>
                  </a:lnTo>
                  <a:lnTo>
                    <a:pt x="1192305" y="1295400"/>
                  </a:lnTo>
                  <a:lnTo>
                    <a:pt x="1185156" y="1282700"/>
                  </a:lnTo>
                  <a:lnTo>
                    <a:pt x="1181007" y="1270000"/>
                  </a:lnTo>
                  <a:lnTo>
                    <a:pt x="1179858" y="1257300"/>
                  </a:lnTo>
                  <a:lnTo>
                    <a:pt x="1181970" y="1244600"/>
                  </a:lnTo>
                  <a:lnTo>
                    <a:pt x="1187607" y="1231900"/>
                  </a:lnTo>
                  <a:lnTo>
                    <a:pt x="1196768" y="1206500"/>
                  </a:lnTo>
                  <a:lnTo>
                    <a:pt x="1209454" y="1193800"/>
                  </a:lnTo>
                  <a:lnTo>
                    <a:pt x="1263065" y="1193800"/>
                  </a:lnTo>
                  <a:lnTo>
                    <a:pt x="1237112" y="1168400"/>
                  </a:lnTo>
                  <a:lnTo>
                    <a:pt x="1250309" y="1155700"/>
                  </a:lnTo>
                  <a:lnTo>
                    <a:pt x="1263929" y="1155700"/>
                  </a:lnTo>
                  <a:lnTo>
                    <a:pt x="1277972" y="1143000"/>
                  </a:lnTo>
                  <a:lnTo>
                    <a:pt x="1369184" y="1143000"/>
                  </a:lnTo>
                  <a:lnTo>
                    <a:pt x="1349207" y="1130300"/>
                  </a:lnTo>
                  <a:lnTo>
                    <a:pt x="1327787" y="1117600"/>
                  </a:lnTo>
                  <a:lnTo>
                    <a:pt x="1304922" y="1104900"/>
                  </a:lnTo>
                  <a:close/>
                </a:path>
                <a:path w="2364740" h="2254884">
                  <a:moveTo>
                    <a:pt x="1289927" y="1320800"/>
                  </a:moveTo>
                  <a:lnTo>
                    <a:pt x="1276654" y="1333500"/>
                  </a:lnTo>
                  <a:lnTo>
                    <a:pt x="1299391" y="1333500"/>
                  </a:lnTo>
                  <a:lnTo>
                    <a:pt x="1289927" y="1320800"/>
                  </a:lnTo>
                  <a:close/>
                </a:path>
                <a:path w="2364740" h="2254884">
                  <a:moveTo>
                    <a:pt x="1263065" y="1193800"/>
                  </a:moveTo>
                  <a:lnTo>
                    <a:pt x="1209454" y="1193800"/>
                  </a:lnTo>
                  <a:lnTo>
                    <a:pt x="1348288" y="1333500"/>
                  </a:lnTo>
                  <a:lnTo>
                    <a:pt x="1352142" y="1333500"/>
                  </a:lnTo>
                  <a:lnTo>
                    <a:pt x="1355005" y="1320800"/>
                  </a:lnTo>
                  <a:lnTo>
                    <a:pt x="1356875" y="1320800"/>
                  </a:lnTo>
                  <a:lnTo>
                    <a:pt x="1377136" y="1295400"/>
                  </a:lnTo>
                  <a:lnTo>
                    <a:pt x="1391860" y="1282700"/>
                  </a:lnTo>
                  <a:lnTo>
                    <a:pt x="1396454" y="1270000"/>
                  </a:lnTo>
                  <a:lnTo>
                    <a:pt x="1340924" y="1270000"/>
                  </a:lnTo>
                  <a:lnTo>
                    <a:pt x="1263065" y="1193800"/>
                  </a:lnTo>
                  <a:close/>
                </a:path>
                <a:path w="2364740" h="2254884">
                  <a:moveTo>
                    <a:pt x="1369184" y="1143000"/>
                  </a:moveTo>
                  <a:lnTo>
                    <a:pt x="1306640" y="1143000"/>
                  </a:lnTo>
                  <a:lnTo>
                    <a:pt x="1319884" y="1155700"/>
                  </a:lnTo>
                  <a:lnTo>
                    <a:pt x="1332173" y="1155700"/>
                  </a:lnTo>
                  <a:lnTo>
                    <a:pt x="1343506" y="1168400"/>
                  </a:lnTo>
                  <a:lnTo>
                    <a:pt x="1353798" y="1181100"/>
                  </a:lnTo>
                  <a:lnTo>
                    <a:pt x="1360693" y="1193800"/>
                  </a:lnTo>
                  <a:lnTo>
                    <a:pt x="1364190" y="1206500"/>
                  </a:lnTo>
                  <a:lnTo>
                    <a:pt x="1364290" y="1231900"/>
                  </a:lnTo>
                  <a:lnTo>
                    <a:pt x="1362099" y="1231900"/>
                  </a:lnTo>
                  <a:lnTo>
                    <a:pt x="1357475" y="1244600"/>
                  </a:lnTo>
                  <a:lnTo>
                    <a:pt x="1350416" y="1257300"/>
                  </a:lnTo>
                  <a:lnTo>
                    <a:pt x="1340924" y="1270000"/>
                  </a:lnTo>
                  <a:lnTo>
                    <a:pt x="1396454" y="1270000"/>
                  </a:lnTo>
                  <a:lnTo>
                    <a:pt x="1401047" y="1257300"/>
                  </a:lnTo>
                  <a:lnTo>
                    <a:pt x="1404698" y="1231900"/>
                  </a:lnTo>
                  <a:lnTo>
                    <a:pt x="1403140" y="1206500"/>
                  </a:lnTo>
                  <a:lnTo>
                    <a:pt x="1396702" y="1181100"/>
                  </a:lnTo>
                  <a:lnTo>
                    <a:pt x="1385383" y="1168400"/>
                  </a:lnTo>
                  <a:lnTo>
                    <a:pt x="1369184" y="1143000"/>
                  </a:lnTo>
                  <a:close/>
                </a:path>
                <a:path w="2364740" h="2254884">
                  <a:moveTo>
                    <a:pt x="1099726" y="876300"/>
                  </a:moveTo>
                  <a:lnTo>
                    <a:pt x="1074222" y="901700"/>
                  </a:lnTo>
                  <a:lnTo>
                    <a:pt x="1149672" y="977900"/>
                  </a:lnTo>
                  <a:lnTo>
                    <a:pt x="1157703" y="990600"/>
                  </a:lnTo>
                  <a:lnTo>
                    <a:pt x="1166456" y="1003300"/>
                  </a:lnTo>
                  <a:lnTo>
                    <a:pt x="1175930" y="1003300"/>
                  </a:lnTo>
                  <a:lnTo>
                    <a:pt x="1186126" y="1016000"/>
                  </a:lnTo>
                  <a:lnTo>
                    <a:pt x="931823" y="1041400"/>
                  </a:lnTo>
                  <a:lnTo>
                    <a:pt x="906112" y="1066800"/>
                  </a:lnTo>
                  <a:lnTo>
                    <a:pt x="1070988" y="1231900"/>
                  </a:lnTo>
                  <a:lnTo>
                    <a:pt x="1098289" y="1193800"/>
                  </a:lnTo>
                  <a:lnTo>
                    <a:pt x="1012028" y="1117600"/>
                  </a:lnTo>
                  <a:lnTo>
                    <a:pt x="1002440" y="1104900"/>
                  </a:lnTo>
                  <a:lnTo>
                    <a:pt x="992298" y="1092200"/>
                  </a:lnTo>
                  <a:lnTo>
                    <a:pt x="981603" y="1079500"/>
                  </a:lnTo>
                  <a:lnTo>
                    <a:pt x="970353" y="1079500"/>
                  </a:lnTo>
                  <a:lnTo>
                    <a:pt x="1011651" y="1066800"/>
                  </a:lnTo>
                  <a:lnTo>
                    <a:pt x="1230910" y="1054100"/>
                  </a:lnTo>
                  <a:lnTo>
                    <a:pt x="1251671" y="1028700"/>
                  </a:lnTo>
                  <a:lnTo>
                    <a:pt x="1099726" y="876300"/>
                  </a:lnTo>
                  <a:close/>
                </a:path>
                <a:path w="2364740" h="2254884">
                  <a:moveTo>
                    <a:pt x="762208" y="1003300"/>
                  </a:moveTo>
                  <a:lnTo>
                    <a:pt x="711150" y="1003300"/>
                  </a:lnTo>
                  <a:lnTo>
                    <a:pt x="720043" y="1016000"/>
                  </a:lnTo>
                  <a:lnTo>
                    <a:pt x="750573" y="1016000"/>
                  </a:lnTo>
                  <a:lnTo>
                    <a:pt x="762208" y="1003300"/>
                  </a:lnTo>
                  <a:close/>
                </a:path>
                <a:path w="2364740" h="2254884">
                  <a:moveTo>
                    <a:pt x="911668" y="698500"/>
                  </a:moveTo>
                  <a:lnTo>
                    <a:pt x="795391" y="952500"/>
                  </a:lnTo>
                  <a:lnTo>
                    <a:pt x="784845" y="952500"/>
                  </a:lnTo>
                  <a:lnTo>
                    <a:pt x="773210" y="965200"/>
                  </a:lnTo>
                  <a:lnTo>
                    <a:pt x="751618" y="965200"/>
                  </a:lnTo>
                  <a:lnTo>
                    <a:pt x="744706" y="977900"/>
                  </a:lnTo>
                  <a:lnTo>
                    <a:pt x="678010" y="977900"/>
                  </a:lnTo>
                  <a:lnTo>
                    <a:pt x="682271" y="990600"/>
                  </a:lnTo>
                  <a:lnTo>
                    <a:pt x="686741" y="990600"/>
                  </a:lnTo>
                  <a:lnTo>
                    <a:pt x="694499" y="1003300"/>
                  </a:lnTo>
                  <a:lnTo>
                    <a:pt x="786118" y="1003300"/>
                  </a:lnTo>
                  <a:lnTo>
                    <a:pt x="802603" y="990600"/>
                  </a:lnTo>
                  <a:lnTo>
                    <a:pt x="822106" y="977900"/>
                  </a:lnTo>
                  <a:lnTo>
                    <a:pt x="937722" y="927100"/>
                  </a:lnTo>
                  <a:lnTo>
                    <a:pt x="847246" y="927100"/>
                  </a:lnTo>
                  <a:lnTo>
                    <a:pt x="855308" y="914400"/>
                  </a:lnTo>
                  <a:lnTo>
                    <a:pt x="862911" y="901700"/>
                  </a:lnTo>
                  <a:lnTo>
                    <a:pt x="870053" y="889000"/>
                  </a:lnTo>
                  <a:lnTo>
                    <a:pt x="876735" y="876300"/>
                  </a:lnTo>
                  <a:lnTo>
                    <a:pt x="945440" y="723900"/>
                  </a:lnTo>
                  <a:lnTo>
                    <a:pt x="911668" y="698500"/>
                  </a:lnTo>
                  <a:close/>
                </a:path>
                <a:path w="2364740" h="2254884">
                  <a:moveTo>
                    <a:pt x="699508" y="939800"/>
                  </a:moveTo>
                  <a:lnTo>
                    <a:pt x="695715" y="939800"/>
                  </a:lnTo>
                  <a:lnTo>
                    <a:pt x="670117" y="965200"/>
                  </a:lnTo>
                  <a:lnTo>
                    <a:pt x="673959" y="977900"/>
                  </a:lnTo>
                  <a:lnTo>
                    <a:pt x="737969" y="977900"/>
                  </a:lnTo>
                  <a:lnTo>
                    <a:pt x="724843" y="965200"/>
                  </a:lnTo>
                  <a:lnTo>
                    <a:pt x="718046" y="965200"/>
                  </a:lnTo>
                  <a:lnTo>
                    <a:pt x="711016" y="952500"/>
                  </a:lnTo>
                  <a:lnTo>
                    <a:pt x="703323" y="952500"/>
                  </a:lnTo>
                  <a:lnTo>
                    <a:pt x="699508" y="939800"/>
                  </a:lnTo>
                  <a:close/>
                </a:path>
                <a:path w="2364740" h="2254884">
                  <a:moveTo>
                    <a:pt x="1050682" y="838200"/>
                  </a:moveTo>
                  <a:lnTo>
                    <a:pt x="902238" y="901700"/>
                  </a:lnTo>
                  <a:lnTo>
                    <a:pt x="888206" y="914400"/>
                  </a:lnTo>
                  <a:lnTo>
                    <a:pt x="874363" y="914400"/>
                  </a:lnTo>
                  <a:lnTo>
                    <a:pt x="860710" y="927100"/>
                  </a:lnTo>
                  <a:lnTo>
                    <a:pt x="937722" y="927100"/>
                  </a:lnTo>
                  <a:lnTo>
                    <a:pt x="1082242" y="863600"/>
                  </a:lnTo>
                  <a:lnTo>
                    <a:pt x="1050682" y="838200"/>
                  </a:lnTo>
                  <a:close/>
                </a:path>
                <a:path w="2364740" h="2254884">
                  <a:moveTo>
                    <a:pt x="919870" y="558800"/>
                  </a:moveTo>
                  <a:lnTo>
                    <a:pt x="662676" y="812800"/>
                  </a:lnTo>
                  <a:lnTo>
                    <a:pt x="694286" y="850900"/>
                  </a:lnTo>
                  <a:lnTo>
                    <a:pt x="951480" y="596900"/>
                  </a:lnTo>
                  <a:lnTo>
                    <a:pt x="919870" y="558800"/>
                  </a:lnTo>
                  <a:close/>
                </a:path>
                <a:path w="2364740" h="2254884">
                  <a:moveTo>
                    <a:pt x="744442" y="635000"/>
                  </a:moveTo>
                  <a:lnTo>
                    <a:pt x="663211" y="635000"/>
                  </a:lnTo>
                  <a:lnTo>
                    <a:pt x="676270" y="647700"/>
                  </a:lnTo>
                  <a:lnTo>
                    <a:pt x="664579" y="660400"/>
                  </a:lnTo>
                  <a:lnTo>
                    <a:pt x="654513" y="660400"/>
                  </a:lnTo>
                  <a:lnTo>
                    <a:pt x="645074" y="673100"/>
                  </a:lnTo>
                  <a:lnTo>
                    <a:pt x="636263" y="673100"/>
                  </a:lnTo>
                  <a:lnTo>
                    <a:pt x="628080" y="685800"/>
                  </a:lnTo>
                  <a:lnTo>
                    <a:pt x="532254" y="685800"/>
                  </a:lnTo>
                  <a:lnTo>
                    <a:pt x="542753" y="698500"/>
                  </a:lnTo>
                  <a:lnTo>
                    <a:pt x="553726" y="698500"/>
                  </a:lnTo>
                  <a:lnTo>
                    <a:pt x="565572" y="711200"/>
                  </a:lnTo>
                  <a:lnTo>
                    <a:pt x="608739" y="711200"/>
                  </a:lnTo>
                  <a:lnTo>
                    <a:pt x="603157" y="723900"/>
                  </a:lnTo>
                  <a:lnTo>
                    <a:pt x="598422" y="736600"/>
                  </a:lnTo>
                  <a:lnTo>
                    <a:pt x="594536" y="736600"/>
                  </a:lnTo>
                  <a:lnTo>
                    <a:pt x="591497" y="749300"/>
                  </a:lnTo>
                  <a:lnTo>
                    <a:pt x="624544" y="774700"/>
                  </a:lnTo>
                  <a:lnTo>
                    <a:pt x="627336" y="774700"/>
                  </a:lnTo>
                  <a:lnTo>
                    <a:pt x="630729" y="762000"/>
                  </a:lnTo>
                  <a:lnTo>
                    <a:pt x="634723" y="762000"/>
                  </a:lnTo>
                  <a:lnTo>
                    <a:pt x="639316" y="749300"/>
                  </a:lnTo>
                  <a:lnTo>
                    <a:pt x="646339" y="736600"/>
                  </a:lnTo>
                  <a:lnTo>
                    <a:pt x="657618" y="723900"/>
                  </a:lnTo>
                  <a:lnTo>
                    <a:pt x="673153" y="711200"/>
                  </a:lnTo>
                  <a:lnTo>
                    <a:pt x="692945" y="685800"/>
                  </a:lnTo>
                  <a:lnTo>
                    <a:pt x="734866" y="647700"/>
                  </a:lnTo>
                  <a:lnTo>
                    <a:pt x="744442" y="635000"/>
                  </a:lnTo>
                  <a:close/>
                </a:path>
                <a:path w="2364740" h="2254884">
                  <a:moveTo>
                    <a:pt x="600780" y="546100"/>
                  </a:moveTo>
                  <a:lnTo>
                    <a:pt x="509148" y="546100"/>
                  </a:lnTo>
                  <a:lnTo>
                    <a:pt x="502082" y="558800"/>
                  </a:lnTo>
                  <a:lnTo>
                    <a:pt x="491998" y="571500"/>
                  </a:lnTo>
                  <a:lnTo>
                    <a:pt x="485018" y="584200"/>
                  </a:lnTo>
                  <a:lnTo>
                    <a:pt x="481142" y="596900"/>
                  </a:lnTo>
                  <a:lnTo>
                    <a:pt x="480368" y="609600"/>
                  </a:lnTo>
                  <a:lnTo>
                    <a:pt x="482972" y="635000"/>
                  </a:lnTo>
                  <a:lnTo>
                    <a:pt x="489225" y="647700"/>
                  </a:lnTo>
                  <a:lnTo>
                    <a:pt x="499127" y="660400"/>
                  </a:lnTo>
                  <a:lnTo>
                    <a:pt x="512678" y="673100"/>
                  </a:lnTo>
                  <a:lnTo>
                    <a:pt x="522229" y="685800"/>
                  </a:lnTo>
                  <a:lnTo>
                    <a:pt x="585466" y="685800"/>
                  </a:lnTo>
                  <a:lnTo>
                    <a:pt x="574628" y="673100"/>
                  </a:lnTo>
                  <a:lnTo>
                    <a:pt x="554413" y="673100"/>
                  </a:lnTo>
                  <a:lnTo>
                    <a:pt x="545035" y="660400"/>
                  </a:lnTo>
                  <a:lnTo>
                    <a:pt x="536889" y="647700"/>
                  </a:lnTo>
                  <a:lnTo>
                    <a:pt x="530898" y="635000"/>
                  </a:lnTo>
                  <a:lnTo>
                    <a:pt x="527064" y="635000"/>
                  </a:lnTo>
                  <a:lnTo>
                    <a:pt x="525385" y="622300"/>
                  </a:lnTo>
                  <a:lnTo>
                    <a:pt x="525645" y="609600"/>
                  </a:lnTo>
                  <a:lnTo>
                    <a:pt x="527624" y="609600"/>
                  </a:lnTo>
                  <a:lnTo>
                    <a:pt x="531324" y="596900"/>
                  </a:lnTo>
                  <a:lnTo>
                    <a:pt x="536745" y="596900"/>
                  </a:lnTo>
                  <a:lnTo>
                    <a:pt x="542212" y="584200"/>
                  </a:lnTo>
                  <a:lnTo>
                    <a:pt x="653895" y="584200"/>
                  </a:lnTo>
                  <a:lnTo>
                    <a:pt x="633619" y="571500"/>
                  </a:lnTo>
                  <a:lnTo>
                    <a:pt x="623666" y="571500"/>
                  </a:lnTo>
                  <a:lnTo>
                    <a:pt x="614875" y="558800"/>
                  </a:lnTo>
                  <a:lnTo>
                    <a:pt x="607246" y="558800"/>
                  </a:lnTo>
                  <a:lnTo>
                    <a:pt x="600780" y="546100"/>
                  </a:lnTo>
                  <a:close/>
                </a:path>
                <a:path w="2364740" h="2254884">
                  <a:moveTo>
                    <a:pt x="653895" y="584200"/>
                  </a:moveTo>
                  <a:lnTo>
                    <a:pt x="585223" y="584200"/>
                  </a:lnTo>
                  <a:lnTo>
                    <a:pt x="593029" y="596900"/>
                  </a:lnTo>
                  <a:lnTo>
                    <a:pt x="602178" y="596900"/>
                  </a:lnTo>
                  <a:lnTo>
                    <a:pt x="631410" y="622300"/>
                  </a:lnTo>
                  <a:lnTo>
                    <a:pt x="648257" y="635000"/>
                  </a:lnTo>
                  <a:lnTo>
                    <a:pt x="752211" y="635000"/>
                  </a:lnTo>
                  <a:lnTo>
                    <a:pt x="758173" y="622300"/>
                  </a:lnTo>
                  <a:lnTo>
                    <a:pt x="700876" y="622300"/>
                  </a:lnTo>
                  <a:lnTo>
                    <a:pt x="687523" y="609600"/>
                  </a:lnTo>
                  <a:lnTo>
                    <a:pt x="671863" y="596900"/>
                  </a:lnTo>
                  <a:lnTo>
                    <a:pt x="653895" y="584200"/>
                  </a:lnTo>
                  <a:close/>
                </a:path>
                <a:path w="2364740" h="2254884">
                  <a:moveTo>
                    <a:pt x="766881" y="609600"/>
                  </a:moveTo>
                  <a:lnTo>
                    <a:pt x="705306" y="609600"/>
                  </a:lnTo>
                  <a:lnTo>
                    <a:pt x="700876" y="622300"/>
                  </a:lnTo>
                  <a:lnTo>
                    <a:pt x="762329" y="622300"/>
                  </a:lnTo>
                  <a:lnTo>
                    <a:pt x="766881" y="609600"/>
                  </a:lnTo>
                  <a:close/>
                </a:path>
                <a:path w="2364740" h="2254884">
                  <a:moveTo>
                    <a:pt x="766165" y="546100"/>
                  </a:moveTo>
                  <a:lnTo>
                    <a:pt x="720314" y="546100"/>
                  </a:lnTo>
                  <a:lnTo>
                    <a:pt x="725260" y="558800"/>
                  </a:lnTo>
                  <a:lnTo>
                    <a:pt x="727401" y="571500"/>
                  </a:lnTo>
                  <a:lnTo>
                    <a:pt x="726681" y="584200"/>
                  </a:lnTo>
                  <a:lnTo>
                    <a:pt x="723419" y="596900"/>
                  </a:lnTo>
                  <a:lnTo>
                    <a:pt x="717617" y="596900"/>
                  </a:lnTo>
                  <a:lnTo>
                    <a:pt x="709273" y="609600"/>
                  </a:lnTo>
                  <a:lnTo>
                    <a:pt x="770345" y="609600"/>
                  </a:lnTo>
                  <a:lnTo>
                    <a:pt x="772721" y="596900"/>
                  </a:lnTo>
                  <a:lnTo>
                    <a:pt x="774009" y="584200"/>
                  </a:lnTo>
                  <a:lnTo>
                    <a:pt x="772792" y="571500"/>
                  </a:lnTo>
                  <a:lnTo>
                    <a:pt x="770155" y="558800"/>
                  </a:lnTo>
                  <a:lnTo>
                    <a:pt x="766165" y="546100"/>
                  </a:lnTo>
                  <a:close/>
                </a:path>
                <a:path w="2364740" h="2254884">
                  <a:moveTo>
                    <a:pt x="558473" y="419100"/>
                  </a:moveTo>
                  <a:lnTo>
                    <a:pt x="496740" y="419100"/>
                  </a:lnTo>
                  <a:lnTo>
                    <a:pt x="383460" y="533400"/>
                  </a:lnTo>
                  <a:lnTo>
                    <a:pt x="415070" y="571500"/>
                  </a:lnTo>
                  <a:lnTo>
                    <a:pt x="529545" y="457200"/>
                  </a:lnTo>
                  <a:lnTo>
                    <a:pt x="539570" y="444500"/>
                  </a:lnTo>
                  <a:lnTo>
                    <a:pt x="547733" y="431800"/>
                  </a:lnTo>
                  <a:lnTo>
                    <a:pt x="554034" y="431800"/>
                  </a:lnTo>
                  <a:lnTo>
                    <a:pt x="558473" y="419100"/>
                  </a:lnTo>
                  <a:close/>
                </a:path>
                <a:path w="2364740" h="2254884">
                  <a:moveTo>
                    <a:pt x="567705" y="533400"/>
                  </a:moveTo>
                  <a:lnTo>
                    <a:pt x="541978" y="533400"/>
                  </a:lnTo>
                  <a:lnTo>
                    <a:pt x="533254" y="546100"/>
                  </a:lnTo>
                  <a:lnTo>
                    <a:pt x="576120" y="546100"/>
                  </a:lnTo>
                  <a:lnTo>
                    <a:pt x="567705" y="533400"/>
                  </a:lnTo>
                  <a:close/>
                </a:path>
                <a:path w="2364740" h="2254884">
                  <a:moveTo>
                    <a:pt x="732902" y="508000"/>
                  </a:moveTo>
                  <a:lnTo>
                    <a:pt x="680631" y="508000"/>
                  </a:lnTo>
                  <a:lnTo>
                    <a:pt x="691076" y="520700"/>
                  </a:lnTo>
                  <a:lnTo>
                    <a:pt x="702004" y="533400"/>
                  </a:lnTo>
                  <a:lnTo>
                    <a:pt x="712561" y="546100"/>
                  </a:lnTo>
                  <a:lnTo>
                    <a:pt x="760587" y="546100"/>
                  </a:lnTo>
                  <a:lnTo>
                    <a:pt x="753184" y="533400"/>
                  </a:lnTo>
                  <a:lnTo>
                    <a:pt x="743955" y="520700"/>
                  </a:lnTo>
                  <a:lnTo>
                    <a:pt x="732902" y="508000"/>
                  </a:lnTo>
                  <a:close/>
                </a:path>
                <a:path w="2364740" h="2254884">
                  <a:moveTo>
                    <a:pt x="683901" y="469900"/>
                  </a:moveTo>
                  <a:lnTo>
                    <a:pt x="603042" y="469900"/>
                  </a:lnTo>
                  <a:lnTo>
                    <a:pt x="591138" y="482600"/>
                  </a:lnTo>
                  <a:lnTo>
                    <a:pt x="617719" y="520700"/>
                  </a:lnTo>
                  <a:lnTo>
                    <a:pt x="629808" y="508000"/>
                  </a:lnTo>
                  <a:lnTo>
                    <a:pt x="732902" y="508000"/>
                  </a:lnTo>
                  <a:lnTo>
                    <a:pt x="708598" y="482600"/>
                  </a:lnTo>
                  <a:lnTo>
                    <a:pt x="696299" y="482600"/>
                  </a:lnTo>
                  <a:lnTo>
                    <a:pt x="683901" y="469900"/>
                  </a:lnTo>
                  <a:close/>
                </a:path>
                <a:path w="2364740" h="2254884">
                  <a:moveTo>
                    <a:pt x="659756" y="457200"/>
                  </a:moveTo>
                  <a:lnTo>
                    <a:pt x="637113" y="457200"/>
                  </a:lnTo>
                  <a:lnTo>
                    <a:pt x="626030" y="469900"/>
                  </a:lnTo>
                  <a:lnTo>
                    <a:pt x="671641" y="469900"/>
                  </a:lnTo>
                  <a:lnTo>
                    <a:pt x="659756" y="457200"/>
                  </a:lnTo>
                  <a:close/>
                </a:path>
                <a:path w="2364740" h="2254884">
                  <a:moveTo>
                    <a:pt x="450272" y="228600"/>
                  </a:moveTo>
                  <a:lnTo>
                    <a:pt x="263842" y="419100"/>
                  </a:lnTo>
                  <a:lnTo>
                    <a:pt x="295453" y="444500"/>
                  </a:lnTo>
                  <a:lnTo>
                    <a:pt x="397159" y="342900"/>
                  </a:lnTo>
                  <a:lnTo>
                    <a:pt x="414522" y="330200"/>
                  </a:lnTo>
                  <a:lnTo>
                    <a:pt x="430840" y="317500"/>
                  </a:lnTo>
                  <a:lnTo>
                    <a:pt x="541838" y="317500"/>
                  </a:lnTo>
                  <a:lnTo>
                    <a:pt x="521708" y="304800"/>
                  </a:lnTo>
                  <a:lnTo>
                    <a:pt x="500052" y="292100"/>
                  </a:lnTo>
                  <a:lnTo>
                    <a:pt x="452164" y="292100"/>
                  </a:lnTo>
                  <a:lnTo>
                    <a:pt x="478650" y="266700"/>
                  </a:lnTo>
                  <a:lnTo>
                    <a:pt x="450272" y="228600"/>
                  </a:lnTo>
                  <a:close/>
                </a:path>
                <a:path w="2364740" h="2254884">
                  <a:moveTo>
                    <a:pt x="570076" y="393700"/>
                  </a:moveTo>
                  <a:lnTo>
                    <a:pt x="518133" y="393700"/>
                  </a:lnTo>
                  <a:lnTo>
                    <a:pt x="512678" y="406400"/>
                  </a:lnTo>
                  <a:lnTo>
                    <a:pt x="505547" y="419100"/>
                  </a:lnTo>
                  <a:lnTo>
                    <a:pt x="563326" y="419100"/>
                  </a:lnTo>
                  <a:lnTo>
                    <a:pt x="567194" y="406400"/>
                  </a:lnTo>
                  <a:lnTo>
                    <a:pt x="570076" y="393700"/>
                  </a:lnTo>
                  <a:close/>
                </a:path>
                <a:path w="2364740" h="2254884">
                  <a:moveTo>
                    <a:pt x="192149" y="139700"/>
                  </a:moveTo>
                  <a:lnTo>
                    <a:pt x="141955" y="139700"/>
                  </a:lnTo>
                  <a:lnTo>
                    <a:pt x="250279" y="254000"/>
                  </a:lnTo>
                  <a:lnTo>
                    <a:pt x="202061" y="355600"/>
                  </a:lnTo>
                  <a:lnTo>
                    <a:pt x="240822" y="393700"/>
                  </a:lnTo>
                  <a:lnTo>
                    <a:pt x="317042" y="215900"/>
                  </a:lnTo>
                  <a:lnTo>
                    <a:pt x="267280" y="215900"/>
                  </a:lnTo>
                  <a:lnTo>
                    <a:pt x="192149" y="139700"/>
                  </a:lnTo>
                  <a:close/>
                </a:path>
                <a:path w="2364740" h="2254884">
                  <a:moveTo>
                    <a:pt x="572062" y="368300"/>
                  </a:moveTo>
                  <a:lnTo>
                    <a:pt x="525367" y="368300"/>
                  </a:lnTo>
                  <a:lnTo>
                    <a:pt x="525408" y="381000"/>
                  </a:lnTo>
                  <a:lnTo>
                    <a:pt x="524257" y="381000"/>
                  </a:lnTo>
                  <a:lnTo>
                    <a:pt x="521913" y="393700"/>
                  </a:lnTo>
                  <a:lnTo>
                    <a:pt x="571972" y="393700"/>
                  </a:lnTo>
                  <a:lnTo>
                    <a:pt x="572696" y="381000"/>
                  </a:lnTo>
                  <a:lnTo>
                    <a:pt x="572062" y="368300"/>
                  </a:lnTo>
                  <a:close/>
                </a:path>
                <a:path w="2364740" h="2254884">
                  <a:moveTo>
                    <a:pt x="541838" y="317500"/>
                  </a:moveTo>
                  <a:lnTo>
                    <a:pt x="485931" y="317500"/>
                  </a:lnTo>
                  <a:lnTo>
                    <a:pt x="497359" y="330200"/>
                  </a:lnTo>
                  <a:lnTo>
                    <a:pt x="507875" y="342900"/>
                  </a:lnTo>
                  <a:lnTo>
                    <a:pt x="513614" y="342900"/>
                  </a:lnTo>
                  <a:lnTo>
                    <a:pt x="518237" y="355600"/>
                  </a:lnTo>
                  <a:lnTo>
                    <a:pt x="521743" y="355600"/>
                  </a:lnTo>
                  <a:lnTo>
                    <a:pt x="524133" y="368300"/>
                  </a:lnTo>
                  <a:lnTo>
                    <a:pt x="570069" y="368300"/>
                  </a:lnTo>
                  <a:lnTo>
                    <a:pt x="566718" y="355600"/>
                  </a:lnTo>
                  <a:lnTo>
                    <a:pt x="562141" y="342900"/>
                  </a:lnTo>
                  <a:lnTo>
                    <a:pt x="556468" y="330200"/>
                  </a:lnTo>
                  <a:lnTo>
                    <a:pt x="549701" y="330200"/>
                  </a:lnTo>
                  <a:lnTo>
                    <a:pt x="541838" y="317500"/>
                  </a:lnTo>
                  <a:close/>
                </a:path>
                <a:path w="2364740" h="2254884">
                  <a:moveTo>
                    <a:pt x="476871" y="279400"/>
                  </a:moveTo>
                  <a:lnTo>
                    <a:pt x="452164" y="292100"/>
                  </a:lnTo>
                  <a:lnTo>
                    <a:pt x="500052" y="292100"/>
                  </a:lnTo>
                  <a:lnTo>
                    <a:pt x="476871" y="279400"/>
                  </a:lnTo>
                  <a:close/>
                </a:path>
                <a:path w="2364740" h="2254884">
                  <a:moveTo>
                    <a:pt x="393262" y="38100"/>
                  </a:moveTo>
                  <a:lnTo>
                    <a:pt x="347002" y="38100"/>
                  </a:lnTo>
                  <a:lnTo>
                    <a:pt x="339222" y="50800"/>
                  </a:lnTo>
                  <a:lnTo>
                    <a:pt x="330746" y="76200"/>
                  </a:lnTo>
                  <a:lnTo>
                    <a:pt x="321574" y="88900"/>
                  </a:lnTo>
                  <a:lnTo>
                    <a:pt x="311705" y="114300"/>
                  </a:lnTo>
                  <a:lnTo>
                    <a:pt x="267280" y="215900"/>
                  </a:lnTo>
                  <a:lnTo>
                    <a:pt x="317042" y="215900"/>
                  </a:lnTo>
                  <a:lnTo>
                    <a:pt x="393262" y="38100"/>
                  </a:lnTo>
                  <a:close/>
                </a:path>
                <a:path w="2364740" h="2254884">
                  <a:moveTo>
                    <a:pt x="355870" y="0"/>
                  </a:moveTo>
                  <a:lnTo>
                    <a:pt x="0" y="152400"/>
                  </a:lnTo>
                  <a:lnTo>
                    <a:pt x="36106" y="190500"/>
                  </a:lnTo>
                  <a:lnTo>
                    <a:pt x="141955" y="139700"/>
                  </a:lnTo>
                  <a:lnTo>
                    <a:pt x="192149" y="139700"/>
                  </a:lnTo>
                  <a:lnTo>
                    <a:pt x="179627" y="127000"/>
                  </a:lnTo>
                  <a:lnTo>
                    <a:pt x="283292" y="76200"/>
                  </a:lnTo>
                  <a:lnTo>
                    <a:pt x="299756" y="63500"/>
                  </a:lnTo>
                  <a:lnTo>
                    <a:pt x="315861" y="63500"/>
                  </a:lnTo>
                  <a:lnTo>
                    <a:pt x="331610" y="50800"/>
                  </a:lnTo>
                  <a:lnTo>
                    <a:pt x="347002" y="38100"/>
                  </a:lnTo>
                  <a:lnTo>
                    <a:pt x="393262" y="38100"/>
                  </a:lnTo>
                  <a:lnTo>
                    <a:pt x="355870" y="0"/>
                  </a:lnTo>
                  <a:close/>
                </a:path>
                <a:path w="2364740" h="2254884">
                  <a:moveTo>
                    <a:pt x="1824470" y="1861826"/>
                  </a:moveTo>
                  <a:lnTo>
                    <a:pt x="1814095" y="1879189"/>
                  </a:lnTo>
                  <a:lnTo>
                    <a:pt x="1807257" y="1896459"/>
                  </a:lnTo>
                  <a:lnTo>
                    <a:pt x="1803956" y="1913639"/>
                  </a:lnTo>
                  <a:lnTo>
                    <a:pt x="1804032" y="1919148"/>
                  </a:lnTo>
                  <a:lnTo>
                    <a:pt x="1816281" y="1965376"/>
                  </a:lnTo>
                  <a:lnTo>
                    <a:pt x="1828171" y="1982804"/>
                  </a:lnTo>
                  <a:lnTo>
                    <a:pt x="1828261" y="1982936"/>
                  </a:lnTo>
                  <a:lnTo>
                    <a:pt x="1855696" y="2011358"/>
                  </a:lnTo>
                  <a:lnTo>
                    <a:pt x="1891465" y="2032853"/>
                  </a:lnTo>
                  <a:lnTo>
                    <a:pt x="1927906" y="2039362"/>
                  </a:lnTo>
                  <a:lnTo>
                    <a:pt x="1939588" y="2037915"/>
                  </a:lnTo>
                  <a:lnTo>
                    <a:pt x="1978471" y="2017465"/>
                  </a:lnTo>
                  <a:lnTo>
                    <a:pt x="1992335" y="1998680"/>
                  </a:lnTo>
                  <a:lnTo>
                    <a:pt x="1911500" y="1998680"/>
                  </a:lnTo>
                  <a:lnTo>
                    <a:pt x="1901649" y="1996576"/>
                  </a:lnTo>
                  <a:lnTo>
                    <a:pt x="1860728" y="1964368"/>
                  </a:lnTo>
                  <a:lnTo>
                    <a:pt x="1846641" y="1931519"/>
                  </a:lnTo>
                  <a:lnTo>
                    <a:pt x="1846758" y="1920535"/>
                  </a:lnTo>
                  <a:lnTo>
                    <a:pt x="1849149" y="1909628"/>
                  </a:lnTo>
                  <a:lnTo>
                    <a:pt x="1853758" y="1898927"/>
                  </a:lnTo>
                  <a:lnTo>
                    <a:pt x="1853813" y="1898799"/>
                  </a:lnTo>
                  <a:lnTo>
                    <a:pt x="1860750" y="1888049"/>
                  </a:lnTo>
                  <a:lnTo>
                    <a:pt x="1824470" y="1861826"/>
                  </a:lnTo>
                  <a:close/>
                </a:path>
                <a:path w="2364740" h="2254884">
                  <a:moveTo>
                    <a:pt x="1964792" y="1765779"/>
                  </a:moveTo>
                  <a:lnTo>
                    <a:pt x="1956128" y="1765779"/>
                  </a:lnTo>
                  <a:lnTo>
                    <a:pt x="1947887" y="1766782"/>
                  </a:lnTo>
                  <a:lnTo>
                    <a:pt x="1911001" y="1786073"/>
                  </a:lnTo>
                  <a:lnTo>
                    <a:pt x="1891516" y="1827145"/>
                  </a:lnTo>
                  <a:lnTo>
                    <a:pt x="1891469" y="1836551"/>
                  </a:lnTo>
                  <a:lnTo>
                    <a:pt x="1892793" y="1845794"/>
                  </a:lnTo>
                  <a:lnTo>
                    <a:pt x="1892845" y="1846154"/>
                  </a:lnTo>
                  <a:lnTo>
                    <a:pt x="1907383" y="1881655"/>
                  </a:lnTo>
                  <a:lnTo>
                    <a:pt x="1937120" y="1933914"/>
                  </a:lnTo>
                  <a:lnTo>
                    <a:pt x="1943579" y="1946005"/>
                  </a:lnTo>
                  <a:lnTo>
                    <a:pt x="1947935" y="1955422"/>
                  </a:lnTo>
                  <a:lnTo>
                    <a:pt x="1950188" y="1962164"/>
                  </a:lnTo>
                  <a:lnTo>
                    <a:pt x="1950975" y="1969657"/>
                  </a:lnTo>
                  <a:lnTo>
                    <a:pt x="1950010" y="1976537"/>
                  </a:lnTo>
                  <a:lnTo>
                    <a:pt x="1920718" y="1998680"/>
                  </a:lnTo>
                  <a:lnTo>
                    <a:pt x="1992335" y="1998680"/>
                  </a:lnTo>
                  <a:lnTo>
                    <a:pt x="1995410" y="1992004"/>
                  </a:lnTo>
                  <a:lnTo>
                    <a:pt x="1997801" y="1983122"/>
                  </a:lnTo>
                  <a:lnTo>
                    <a:pt x="1997864" y="1982804"/>
                  </a:lnTo>
                  <a:lnTo>
                    <a:pt x="1998809" y="1973688"/>
                  </a:lnTo>
                  <a:lnTo>
                    <a:pt x="1998450" y="1965376"/>
                  </a:lnTo>
                  <a:lnTo>
                    <a:pt x="1998406" y="1964368"/>
                  </a:lnTo>
                  <a:lnTo>
                    <a:pt x="1981686" y="1920686"/>
                  </a:lnTo>
                  <a:lnTo>
                    <a:pt x="1953888" y="1870913"/>
                  </a:lnTo>
                  <a:lnTo>
                    <a:pt x="1948089" y="1860510"/>
                  </a:lnTo>
                  <a:lnTo>
                    <a:pt x="1944016" y="1852975"/>
                  </a:lnTo>
                  <a:lnTo>
                    <a:pt x="1941668" y="1848306"/>
                  </a:lnTo>
                  <a:lnTo>
                    <a:pt x="1938406" y="1840605"/>
                  </a:lnTo>
                  <a:lnTo>
                    <a:pt x="1937300" y="1834411"/>
                  </a:lnTo>
                  <a:lnTo>
                    <a:pt x="1937187" y="1833778"/>
                  </a:lnTo>
                  <a:lnTo>
                    <a:pt x="1938015" y="1827825"/>
                  </a:lnTo>
                  <a:lnTo>
                    <a:pt x="1938722" y="1821984"/>
                  </a:lnTo>
                  <a:lnTo>
                    <a:pt x="1941120" y="1817019"/>
                  </a:lnTo>
                  <a:lnTo>
                    <a:pt x="1945209" y="1812929"/>
                  </a:lnTo>
                  <a:lnTo>
                    <a:pt x="1950457" y="1808841"/>
                  </a:lnTo>
                  <a:lnTo>
                    <a:pt x="1956557" y="1806218"/>
                  </a:lnTo>
                  <a:lnTo>
                    <a:pt x="1963510" y="1805060"/>
                  </a:lnTo>
                  <a:lnTo>
                    <a:pt x="2036820" y="1805060"/>
                  </a:lnTo>
                  <a:lnTo>
                    <a:pt x="2033059" y="1801008"/>
                  </a:lnTo>
                  <a:lnTo>
                    <a:pt x="2002054" y="1777529"/>
                  </a:lnTo>
                  <a:lnTo>
                    <a:pt x="1973366" y="1766782"/>
                  </a:lnTo>
                  <a:lnTo>
                    <a:pt x="1973880" y="1766782"/>
                  </a:lnTo>
                  <a:lnTo>
                    <a:pt x="1964792" y="1765779"/>
                  </a:lnTo>
                  <a:close/>
                </a:path>
                <a:path w="2364740" h="2254884">
                  <a:moveTo>
                    <a:pt x="2036820" y="1805060"/>
                  </a:moveTo>
                  <a:lnTo>
                    <a:pt x="1963510" y="1805060"/>
                  </a:lnTo>
                  <a:lnTo>
                    <a:pt x="1971314" y="1805369"/>
                  </a:lnTo>
                  <a:lnTo>
                    <a:pt x="1979872" y="1807636"/>
                  </a:lnTo>
                  <a:lnTo>
                    <a:pt x="2017624" y="1838320"/>
                  </a:lnTo>
                  <a:lnTo>
                    <a:pt x="2029779" y="1874753"/>
                  </a:lnTo>
                  <a:lnTo>
                    <a:pt x="2028034" y="1883571"/>
                  </a:lnTo>
                  <a:lnTo>
                    <a:pt x="2024495" y="1892194"/>
                  </a:lnTo>
                  <a:lnTo>
                    <a:pt x="2019163" y="1900621"/>
                  </a:lnTo>
                  <a:lnTo>
                    <a:pt x="2054364" y="1927203"/>
                  </a:lnTo>
                  <a:lnTo>
                    <a:pt x="2072452" y="1887389"/>
                  </a:lnTo>
                  <a:lnTo>
                    <a:pt x="2073099" y="1877776"/>
                  </a:lnTo>
                  <a:lnTo>
                    <a:pt x="2072101" y="1867638"/>
                  </a:lnTo>
                  <a:lnTo>
                    <a:pt x="2052034" y="1823152"/>
                  </a:lnTo>
                  <a:lnTo>
                    <a:pt x="2043276" y="1812017"/>
                  </a:lnTo>
                  <a:lnTo>
                    <a:pt x="2036820" y="1805060"/>
                  </a:lnTo>
                  <a:close/>
                </a:path>
                <a:path w="2364740" h="2254884">
                  <a:moveTo>
                    <a:pt x="1887989" y="1663842"/>
                  </a:moveTo>
                  <a:lnTo>
                    <a:pt x="1701560" y="1850271"/>
                  </a:lnTo>
                  <a:lnTo>
                    <a:pt x="1733170" y="1881882"/>
                  </a:lnTo>
                  <a:lnTo>
                    <a:pt x="1919601" y="1695452"/>
                  </a:lnTo>
                  <a:lnTo>
                    <a:pt x="1887989" y="1663842"/>
                  </a:lnTo>
                  <a:close/>
                </a:path>
                <a:path w="2364740" h="2254884">
                  <a:moveTo>
                    <a:pt x="1779086" y="1547075"/>
                  </a:moveTo>
                  <a:lnTo>
                    <a:pt x="1692858" y="1547075"/>
                  </a:lnTo>
                  <a:lnTo>
                    <a:pt x="1702282" y="1547290"/>
                  </a:lnTo>
                  <a:lnTo>
                    <a:pt x="1711942" y="1549034"/>
                  </a:lnTo>
                  <a:lnTo>
                    <a:pt x="1745441" y="1567990"/>
                  </a:lnTo>
                  <a:lnTo>
                    <a:pt x="1763514" y="1607610"/>
                  </a:lnTo>
                  <a:lnTo>
                    <a:pt x="1761813" y="1618078"/>
                  </a:lnTo>
                  <a:lnTo>
                    <a:pt x="1761783" y="1618261"/>
                  </a:lnTo>
                  <a:lnTo>
                    <a:pt x="1739290" y="1652225"/>
                  </a:lnTo>
                  <a:lnTo>
                    <a:pt x="1621401" y="1770113"/>
                  </a:lnTo>
                  <a:lnTo>
                    <a:pt x="1653011" y="1801723"/>
                  </a:lnTo>
                  <a:lnTo>
                    <a:pt x="1770989" y="1683745"/>
                  </a:lnTo>
                  <a:lnTo>
                    <a:pt x="1801033" y="1646336"/>
                  </a:lnTo>
                  <a:lnTo>
                    <a:pt x="1810277" y="1613946"/>
                  </a:lnTo>
                  <a:lnTo>
                    <a:pt x="1809544" y="1602728"/>
                  </a:lnTo>
                  <a:lnTo>
                    <a:pt x="1788762" y="1557730"/>
                  </a:lnTo>
                  <a:lnTo>
                    <a:pt x="1779338" y="1547290"/>
                  </a:lnTo>
                  <a:lnTo>
                    <a:pt x="1779086" y="1547075"/>
                  </a:lnTo>
                  <a:close/>
                </a:path>
                <a:path w="2364740" h="2254884">
                  <a:moveTo>
                    <a:pt x="1758979" y="1393301"/>
                  </a:moveTo>
                  <a:lnTo>
                    <a:pt x="1501784" y="1650495"/>
                  </a:lnTo>
                  <a:lnTo>
                    <a:pt x="1533395" y="1682107"/>
                  </a:lnTo>
                  <a:lnTo>
                    <a:pt x="1635163" y="1580338"/>
                  </a:lnTo>
                  <a:lnTo>
                    <a:pt x="1645846" y="1570308"/>
                  </a:lnTo>
                  <a:lnTo>
                    <a:pt x="1683671" y="1548389"/>
                  </a:lnTo>
                  <a:lnTo>
                    <a:pt x="1692858" y="1547075"/>
                  </a:lnTo>
                  <a:lnTo>
                    <a:pt x="1779086" y="1547075"/>
                  </a:lnTo>
                  <a:lnTo>
                    <a:pt x="1761656" y="1532819"/>
                  </a:lnTo>
                  <a:lnTo>
                    <a:pt x="1742232" y="1523037"/>
                  </a:lnTo>
                  <a:lnTo>
                    <a:pt x="1721035" y="1517909"/>
                  </a:lnTo>
                  <a:lnTo>
                    <a:pt x="1698065" y="1517436"/>
                  </a:lnTo>
                  <a:lnTo>
                    <a:pt x="1790589" y="1424911"/>
                  </a:lnTo>
                  <a:lnTo>
                    <a:pt x="1758979" y="1393301"/>
                  </a:lnTo>
                  <a:close/>
                </a:path>
                <a:path w="2364740" h="2254884">
                  <a:moveTo>
                    <a:pt x="1958754" y="1593077"/>
                  </a:moveTo>
                  <a:lnTo>
                    <a:pt x="1922833" y="1628998"/>
                  </a:lnTo>
                  <a:lnTo>
                    <a:pt x="1954443" y="1660608"/>
                  </a:lnTo>
                  <a:lnTo>
                    <a:pt x="1990365" y="1624688"/>
                  </a:lnTo>
                  <a:lnTo>
                    <a:pt x="1958754" y="1593077"/>
                  </a:lnTo>
                  <a:close/>
                </a:path>
                <a:path w="2364740" h="2254884">
                  <a:moveTo>
                    <a:pt x="1570454" y="1346305"/>
                  </a:moveTo>
                  <a:lnTo>
                    <a:pt x="1546028" y="1370732"/>
                  </a:lnTo>
                  <a:lnTo>
                    <a:pt x="1569376" y="1394080"/>
                  </a:lnTo>
                  <a:lnTo>
                    <a:pt x="1461983" y="1501473"/>
                  </a:lnTo>
                  <a:lnTo>
                    <a:pt x="1432463" y="1535325"/>
                  </a:lnTo>
                  <a:lnTo>
                    <a:pt x="1426577" y="1549034"/>
                  </a:lnTo>
                  <a:lnTo>
                    <a:pt x="1426535" y="1549171"/>
                  </a:lnTo>
                  <a:lnTo>
                    <a:pt x="1425737" y="1555754"/>
                  </a:lnTo>
                  <a:lnTo>
                    <a:pt x="1425792" y="1557730"/>
                  </a:lnTo>
                  <a:lnTo>
                    <a:pt x="1425959" y="1561577"/>
                  </a:lnTo>
                  <a:lnTo>
                    <a:pt x="1426020" y="1562983"/>
                  </a:lnTo>
                  <a:lnTo>
                    <a:pt x="1448597" y="1602338"/>
                  </a:lnTo>
                  <a:lnTo>
                    <a:pt x="1475196" y="1623324"/>
                  </a:lnTo>
                  <a:lnTo>
                    <a:pt x="1498715" y="1591206"/>
                  </a:lnTo>
                  <a:lnTo>
                    <a:pt x="1498886" y="1591206"/>
                  </a:lnTo>
                  <a:lnTo>
                    <a:pt x="1474321" y="1561577"/>
                  </a:lnTo>
                  <a:lnTo>
                    <a:pt x="1474546" y="1557730"/>
                  </a:lnTo>
                  <a:lnTo>
                    <a:pt x="1475236" y="1555941"/>
                  </a:lnTo>
                  <a:lnTo>
                    <a:pt x="1477496" y="1550287"/>
                  </a:lnTo>
                  <a:lnTo>
                    <a:pt x="1482746" y="1543931"/>
                  </a:lnTo>
                  <a:lnTo>
                    <a:pt x="1600986" y="1425691"/>
                  </a:lnTo>
                  <a:lnTo>
                    <a:pt x="1649840" y="1425691"/>
                  </a:lnTo>
                  <a:lnTo>
                    <a:pt x="1625413" y="1401264"/>
                  </a:lnTo>
                  <a:lnTo>
                    <a:pt x="1657023" y="1369654"/>
                  </a:lnTo>
                  <a:lnTo>
                    <a:pt x="1593803" y="1369654"/>
                  </a:lnTo>
                  <a:lnTo>
                    <a:pt x="1570454" y="1346305"/>
                  </a:lnTo>
                  <a:close/>
                </a:path>
                <a:path w="2364740" h="2254884">
                  <a:moveTo>
                    <a:pt x="1649840" y="1425691"/>
                  </a:moveTo>
                  <a:lnTo>
                    <a:pt x="1600986" y="1425691"/>
                  </a:lnTo>
                  <a:lnTo>
                    <a:pt x="1632597" y="1457302"/>
                  </a:lnTo>
                  <a:lnTo>
                    <a:pt x="1657023" y="1432874"/>
                  </a:lnTo>
                  <a:lnTo>
                    <a:pt x="1649840" y="1425691"/>
                  </a:lnTo>
                  <a:close/>
                </a:path>
                <a:path w="2364740" h="2254884">
                  <a:moveTo>
                    <a:pt x="1639928" y="1323529"/>
                  </a:moveTo>
                  <a:lnTo>
                    <a:pt x="1593803" y="1369654"/>
                  </a:lnTo>
                  <a:lnTo>
                    <a:pt x="1657023" y="1369654"/>
                  </a:lnTo>
                  <a:lnTo>
                    <a:pt x="1690480" y="1336197"/>
                  </a:lnTo>
                  <a:lnTo>
                    <a:pt x="1639928" y="1323529"/>
                  </a:lnTo>
                  <a:close/>
                </a:path>
                <a:path w="2364740" h="2254884">
                  <a:moveTo>
                    <a:pt x="2105312" y="2182182"/>
                  </a:moveTo>
                  <a:lnTo>
                    <a:pt x="2069391" y="2218103"/>
                  </a:lnTo>
                  <a:lnTo>
                    <a:pt x="2105671" y="2254383"/>
                  </a:lnTo>
                  <a:lnTo>
                    <a:pt x="2141592" y="2218462"/>
                  </a:lnTo>
                  <a:lnTo>
                    <a:pt x="2105312" y="2182182"/>
                  </a:lnTo>
                  <a:close/>
                </a:path>
                <a:path w="2364740" h="2254884">
                  <a:moveTo>
                    <a:pt x="2325149" y="1959471"/>
                  </a:moveTo>
                  <a:lnTo>
                    <a:pt x="2268152" y="2016468"/>
                  </a:lnTo>
                  <a:lnTo>
                    <a:pt x="2141592" y="2162425"/>
                  </a:lnTo>
                  <a:lnTo>
                    <a:pt x="2162067" y="2182900"/>
                  </a:lnTo>
                  <a:lnTo>
                    <a:pt x="2307307" y="2055622"/>
                  </a:lnTo>
                  <a:lnTo>
                    <a:pt x="2364303" y="1998625"/>
                  </a:lnTo>
                  <a:lnTo>
                    <a:pt x="2325149" y="1959471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162605" y="1933927"/>
            <a:ext cx="7478395" cy="4971415"/>
            <a:chOff x="2162605" y="1933927"/>
            <a:chExt cx="7478395" cy="4971415"/>
          </a:xfrm>
        </p:grpSpPr>
        <p:sp>
          <p:nvSpPr>
            <p:cNvPr id="9" name="object 9"/>
            <p:cNvSpPr/>
            <p:nvPr/>
          </p:nvSpPr>
          <p:spPr>
            <a:xfrm>
              <a:off x="7479489" y="4744140"/>
              <a:ext cx="2148840" cy="2148840"/>
            </a:xfrm>
            <a:custGeom>
              <a:avLst/>
              <a:gdLst/>
              <a:ahLst/>
              <a:cxnLst/>
              <a:rect l="l" t="t" r="r" b="b"/>
              <a:pathLst>
                <a:path w="2148840" h="2148840">
                  <a:moveTo>
                    <a:pt x="1691239" y="0"/>
                  </a:moveTo>
                  <a:lnTo>
                    <a:pt x="0" y="1691240"/>
                  </a:lnTo>
                  <a:lnTo>
                    <a:pt x="457024" y="2148265"/>
                  </a:lnTo>
                  <a:lnTo>
                    <a:pt x="2148264" y="457024"/>
                  </a:lnTo>
                  <a:lnTo>
                    <a:pt x="1691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79489" y="4744140"/>
              <a:ext cx="2148840" cy="2148840"/>
            </a:xfrm>
            <a:custGeom>
              <a:avLst/>
              <a:gdLst/>
              <a:ahLst/>
              <a:cxnLst/>
              <a:rect l="l" t="t" r="r" b="b"/>
              <a:pathLst>
                <a:path w="2148840" h="2148840">
                  <a:moveTo>
                    <a:pt x="0" y="1691240"/>
                  </a:moveTo>
                  <a:lnTo>
                    <a:pt x="1691240" y="0"/>
                  </a:lnTo>
                  <a:lnTo>
                    <a:pt x="2148265" y="457024"/>
                  </a:lnTo>
                  <a:lnTo>
                    <a:pt x="457024" y="2148265"/>
                  </a:lnTo>
                  <a:lnTo>
                    <a:pt x="0" y="1691240"/>
                  </a:lnTo>
                  <a:close/>
                </a:path>
              </a:pathLst>
            </a:custGeom>
            <a:ln w="253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92859" y="4987272"/>
              <a:ext cx="1724660" cy="1714500"/>
            </a:xfrm>
            <a:custGeom>
              <a:avLst/>
              <a:gdLst/>
              <a:ahLst/>
              <a:cxnLst/>
              <a:rect l="l" t="t" r="r" b="b"/>
              <a:pathLst>
                <a:path w="1724659" h="1714500">
                  <a:moveTo>
                    <a:pt x="31470" y="1460500"/>
                  </a:moveTo>
                  <a:lnTo>
                    <a:pt x="0" y="1485900"/>
                  </a:lnTo>
                  <a:lnTo>
                    <a:pt x="231475" y="1714500"/>
                  </a:lnTo>
                  <a:lnTo>
                    <a:pt x="260893" y="1689100"/>
                  </a:lnTo>
                  <a:lnTo>
                    <a:pt x="79165" y="1511300"/>
                  </a:lnTo>
                  <a:lnTo>
                    <a:pt x="273993" y="1511300"/>
                  </a:lnTo>
                  <a:lnTo>
                    <a:pt x="31470" y="1460500"/>
                  </a:lnTo>
                  <a:close/>
                </a:path>
                <a:path w="1724659" h="1714500">
                  <a:moveTo>
                    <a:pt x="273993" y="1511300"/>
                  </a:moveTo>
                  <a:lnTo>
                    <a:pt x="79165" y="1511300"/>
                  </a:lnTo>
                  <a:lnTo>
                    <a:pt x="382344" y="1574800"/>
                  </a:lnTo>
                  <a:lnTo>
                    <a:pt x="413809" y="1536700"/>
                  </a:lnTo>
                  <a:lnTo>
                    <a:pt x="400949" y="1524000"/>
                  </a:lnTo>
                  <a:lnTo>
                    <a:pt x="334624" y="1524000"/>
                  </a:lnTo>
                  <a:lnTo>
                    <a:pt x="273993" y="1511300"/>
                  </a:lnTo>
                  <a:close/>
                </a:path>
                <a:path w="1724659" h="1714500">
                  <a:moveTo>
                    <a:pt x="182335" y="1308100"/>
                  </a:moveTo>
                  <a:lnTo>
                    <a:pt x="152915" y="1333500"/>
                  </a:lnTo>
                  <a:lnTo>
                    <a:pt x="334624" y="1524000"/>
                  </a:lnTo>
                  <a:lnTo>
                    <a:pt x="400949" y="1524000"/>
                  </a:lnTo>
                  <a:lnTo>
                    <a:pt x="182335" y="1308100"/>
                  </a:lnTo>
                  <a:close/>
                </a:path>
                <a:path w="1724659" h="1714500">
                  <a:moveTo>
                    <a:pt x="459465" y="1219200"/>
                  </a:moveTo>
                  <a:lnTo>
                    <a:pt x="395415" y="1219200"/>
                  </a:lnTo>
                  <a:lnTo>
                    <a:pt x="376253" y="1231900"/>
                  </a:lnTo>
                  <a:lnTo>
                    <a:pt x="358339" y="1257300"/>
                  </a:lnTo>
                  <a:lnTo>
                    <a:pt x="344538" y="1270000"/>
                  </a:lnTo>
                  <a:lnTo>
                    <a:pt x="334246" y="1282700"/>
                  </a:lnTo>
                  <a:lnTo>
                    <a:pt x="327464" y="1308100"/>
                  </a:lnTo>
                  <a:lnTo>
                    <a:pt x="324191" y="1320800"/>
                  </a:lnTo>
                  <a:lnTo>
                    <a:pt x="325554" y="1346200"/>
                  </a:lnTo>
                  <a:lnTo>
                    <a:pt x="333167" y="1371600"/>
                  </a:lnTo>
                  <a:lnTo>
                    <a:pt x="347033" y="1397000"/>
                  </a:lnTo>
                  <a:lnTo>
                    <a:pt x="367149" y="1422400"/>
                  </a:lnTo>
                  <a:lnTo>
                    <a:pt x="431774" y="1460500"/>
                  </a:lnTo>
                  <a:lnTo>
                    <a:pt x="475338" y="1460500"/>
                  </a:lnTo>
                  <a:lnTo>
                    <a:pt x="495767" y="1447800"/>
                  </a:lnTo>
                  <a:lnTo>
                    <a:pt x="515067" y="1447800"/>
                  </a:lnTo>
                  <a:lnTo>
                    <a:pt x="533238" y="1422400"/>
                  </a:lnTo>
                  <a:lnTo>
                    <a:pt x="443359" y="1422400"/>
                  </a:lnTo>
                  <a:lnTo>
                    <a:pt x="427938" y="1409700"/>
                  </a:lnTo>
                  <a:lnTo>
                    <a:pt x="412260" y="1397000"/>
                  </a:lnTo>
                  <a:lnTo>
                    <a:pt x="396325" y="1384300"/>
                  </a:lnTo>
                  <a:lnTo>
                    <a:pt x="382158" y="1371600"/>
                  </a:lnTo>
                  <a:lnTo>
                    <a:pt x="371780" y="1358900"/>
                  </a:lnTo>
                  <a:lnTo>
                    <a:pt x="365190" y="1346200"/>
                  </a:lnTo>
                  <a:lnTo>
                    <a:pt x="362388" y="1320800"/>
                  </a:lnTo>
                  <a:lnTo>
                    <a:pt x="362928" y="1308100"/>
                  </a:lnTo>
                  <a:lnTo>
                    <a:pt x="366367" y="1295400"/>
                  </a:lnTo>
                  <a:lnTo>
                    <a:pt x="372704" y="1282700"/>
                  </a:lnTo>
                  <a:lnTo>
                    <a:pt x="381939" y="1270000"/>
                  </a:lnTo>
                  <a:lnTo>
                    <a:pt x="393033" y="1270000"/>
                  </a:lnTo>
                  <a:lnTo>
                    <a:pt x="405263" y="1257300"/>
                  </a:lnTo>
                  <a:lnTo>
                    <a:pt x="521902" y="1257300"/>
                  </a:lnTo>
                  <a:lnTo>
                    <a:pt x="501677" y="1244600"/>
                  </a:lnTo>
                  <a:lnTo>
                    <a:pt x="480865" y="1231900"/>
                  </a:lnTo>
                  <a:lnTo>
                    <a:pt x="459465" y="1219200"/>
                  </a:lnTo>
                  <a:close/>
                </a:path>
                <a:path w="1724659" h="1714500">
                  <a:moveTo>
                    <a:pt x="521902" y="1257300"/>
                  </a:moveTo>
                  <a:lnTo>
                    <a:pt x="448266" y="1257300"/>
                  </a:lnTo>
                  <a:lnTo>
                    <a:pt x="463505" y="1270000"/>
                  </a:lnTo>
                  <a:lnTo>
                    <a:pt x="478852" y="1270000"/>
                  </a:lnTo>
                  <a:lnTo>
                    <a:pt x="494308" y="1282700"/>
                  </a:lnTo>
                  <a:lnTo>
                    <a:pt x="508831" y="1308100"/>
                  </a:lnTo>
                  <a:lnTo>
                    <a:pt x="519486" y="1320800"/>
                  </a:lnTo>
                  <a:lnTo>
                    <a:pt x="526274" y="1333500"/>
                  </a:lnTo>
                  <a:lnTo>
                    <a:pt x="529195" y="1346200"/>
                  </a:lnTo>
                  <a:lnTo>
                    <a:pt x="528732" y="1371600"/>
                  </a:lnTo>
                  <a:lnTo>
                    <a:pt x="525373" y="1384300"/>
                  </a:lnTo>
                  <a:lnTo>
                    <a:pt x="519116" y="1397000"/>
                  </a:lnTo>
                  <a:lnTo>
                    <a:pt x="509962" y="1397000"/>
                  </a:lnTo>
                  <a:lnTo>
                    <a:pt x="498734" y="1409700"/>
                  </a:lnTo>
                  <a:lnTo>
                    <a:pt x="486418" y="1422400"/>
                  </a:lnTo>
                  <a:lnTo>
                    <a:pt x="533238" y="1422400"/>
                  </a:lnTo>
                  <a:lnTo>
                    <a:pt x="558490" y="1384300"/>
                  </a:lnTo>
                  <a:lnTo>
                    <a:pt x="567532" y="1346200"/>
                  </a:lnTo>
                  <a:lnTo>
                    <a:pt x="566340" y="1333500"/>
                  </a:lnTo>
                  <a:lnTo>
                    <a:pt x="563008" y="1320800"/>
                  </a:lnTo>
                  <a:lnTo>
                    <a:pt x="557139" y="1308100"/>
                  </a:lnTo>
                  <a:lnTo>
                    <a:pt x="548331" y="1295400"/>
                  </a:lnTo>
                  <a:lnTo>
                    <a:pt x="536586" y="1270000"/>
                  </a:lnTo>
                  <a:lnTo>
                    <a:pt x="521902" y="1257300"/>
                  </a:lnTo>
                  <a:close/>
                </a:path>
                <a:path w="1724659" h="1714500">
                  <a:moveTo>
                    <a:pt x="499262" y="1117600"/>
                  </a:moveTo>
                  <a:lnTo>
                    <a:pt x="473722" y="1143000"/>
                  </a:lnTo>
                  <a:lnTo>
                    <a:pt x="641508" y="1308100"/>
                  </a:lnTo>
                  <a:lnTo>
                    <a:pt x="669958" y="1282700"/>
                  </a:lnTo>
                  <a:lnTo>
                    <a:pt x="578421" y="1193800"/>
                  </a:lnTo>
                  <a:lnTo>
                    <a:pt x="564439" y="1181100"/>
                  </a:lnTo>
                  <a:lnTo>
                    <a:pt x="554684" y="1155700"/>
                  </a:lnTo>
                  <a:lnTo>
                    <a:pt x="549156" y="1143000"/>
                  </a:lnTo>
                  <a:lnTo>
                    <a:pt x="523099" y="1143000"/>
                  </a:lnTo>
                  <a:lnTo>
                    <a:pt x="499262" y="1117600"/>
                  </a:lnTo>
                  <a:close/>
                </a:path>
                <a:path w="1724659" h="1714500">
                  <a:moveTo>
                    <a:pt x="687463" y="1079500"/>
                  </a:moveTo>
                  <a:lnTo>
                    <a:pt x="624238" y="1079500"/>
                  </a:lnTo>
                  <a:lnTo>
                    <a:pt x="631213" y="1092200"/>
                  </a:lnTo>
                  <a:lnTo>
                    <a:pt x="638871" y="1092200"/>
                  </a:lnTo>
                  <a:lnTo>
                    <a:pt x="647211" y="1104900"/>
                  </a:lnTo>
                  <a:lnTo>
                    <a:pt x="749164" y="1206500"/>
                  </a:lnTo>
                  <a:lnTo>
                    <a:pt x="777613" y="1168400"/>
                  </a:lnTo>
                  <a:lnTo>
                    <a:pt x="687463" y="1079500"/>
                  </a:lnTo>
                  <a:close/>
                </a:path>
                <a:path w="1724659" h="1714500">
                  <a:moveTo>
                    <a:pt x="645398" y="1041400"/>
                  </a:moveTo>
                  <a:lnTo>
                    <a:pt x="564907" y="1041400"/>
                  </a:lnTo>
                  <a:lnTo>
                    <a:pt x="556774" y="1054100"/>
                  </a:lnTo>
                  <a:lnTo>
                    <a:pt x="549017" y="1066800"/>
                  </a:lnTo>
                  <a:lnTo>
                    <a:pt x="534325" y="1079500"/>
                  </a:lnTo>
                  <a:lnTo>
                    <a:pt x="525108" y="1092200"/>
                  </a:lnTo>
                  <a:lnTo>
                    <a:pt x="521366" y="1117600"/>
                  </a:lnTo>
                  <a:lnTo>
                    <a:pt x="523099" y="1143000"/>
                  </a:lnTo>
                  <a:lnTo>
                    <a:pt x="549156" y="1143000"/>
                  </a:lnTo>
                  <a:lnTo>
                    <a:pt x="547856" y="1130300"/>
                  </a:lnTo>
                  <a:lnTo>
                    <a:pt x="549699" y="1117600"/>
                  </a:lnTo>
                  <a:lnTo>
                    <a:pt x="553603" y="1104900"/>
                  </a:lnTo>
                  <a:lnTo>
                    <a:pt x="559567" y="1104900"/>
                  </a:lnTo>
                  <a:lnTo>
                    <a:pt x="567592" y="1092200"/>
                  </a:lnTo>
                  <a:lnTo>
                    <a:pt x="573398" y="1092200"/>
                  </a:lnTo>
                  <a:lnTo>
                    <a:pt x="579482" y="1079500"/>
                  </a:lnTo>
                  <a:lnTo>
                    <a:pt x="687463" y="1079500"/>
                  </a:lnTo>
                  <a:lnTo>
                    <a:pt x="674584" y="1066800"/>
                  </a:lnTo>
                  <a:lnTo>
                    <a:pt x="665365" y="1066800"/>
                  </a:lnTo>
                  <a:lnTo>
                    <a:pt x="657428" y="1054100"/>
                  </a:lnTo>
                  <a:lnTo>
                    <a:pt x="650772" y="1054100"/>
                  </a:lnTo>
                  <a:lnTo>
                    <a:pt x="645398" y="1041400"/>
                  </a:lnTo>
                  <a:close/>
                </a:path>
                <a:path w="1724659" h="1714500">
                  <a:moveTo>
                    <a:pt x="783482" y="1054100"/>
                  </a:moveTo>
                  <a:lnTo>
                    <a:pt x="759882" y="1092200"/>
                  </a:lnTo>
                  <a:lnTo>
                    <a:pt x="775508" y="1104900"/>
                  </a:lnTo>
                  <a:lnTo>
                    <a:pt x="853077" y="1104900"/>
                  </a:lnTo>
                  <a:lnTo>
                    <a:pt x="869048" y="1092200"/>
                  </a:lnTo>
                  <a:lnTo>
                    <a:pt x="885272" y="1079500"/>
                  </a:lnTo>
                  <a:lnTo>
                    <a:pt x="894460" y="1066800"/>
                  </a:lnTo>
                  <a:lnTo>
                    <a:pt x="793158" y="1066800"/>
                  </a:lnTo>
                  <a:lnTo>
                    <a:pt x="783482" y="1054100"/>
                  </a:lnTo>
                  <a:close/>
                </a:path>
                <a:path w="1724659" h="1714500">
                  <a:moveTo>
                    <a:pt x="884942" y="939800"/>
                  </a:moveTo>
                  <a:lnTo>
                    <a:pt x="825343" y="939800"/>
                  </a:lnTo>
                  <a:lnTo>
                    <a:pt x="812856" y="952500"/>
                  </a:lnTo>
                  <a:lnTo>
                    <a:pt x="797742" y="965200"/>
                  </a:lnTo>
                  <a:lnTo>
                    <a:pt x="768060" y="977900"/>
                  </a:lnTo>
                  <a:lnTo>
                    <a:pt x="868761" y="977900"/>
                  </a:lnTo>
                  <a:lnTo>
                    <a:pt x="873851" y="990600"/>
                  </a:lnTo>
                  <a:lnTo>
                    <a:pt x="878447" y="990600"/>
                  </a:lnTo>
                  <a:lnTo>
                    <a:pt x="881513" y="1003300"/>
                  </a:lnTo>
                  <a:lnTo>
                    <a:pt x="883047" y="1003300"/>
                  </a:lnTo>
                  <a:lnTo>
                    <a:pt x="883050" y="1016000"/>
                  </a:lnTo>
                  <a:lnTo>
                    <a:pt x="881156" y="1028700"/>
                  </a:lnTo>
                  <a:lnTo>
                    <a:pt x="877000" y="1028700"/>
                  </a:lnTo>
                  <a:lnTo>
                    <a:pt x="870583" y="1041400"/>
                  </a:lnTo>
                  <a:lnTo>
                    <a:pt x="861904" y="1054100"/>
                  </a:lnTo>
                  <a:lnTo>
                    <a:pt x="852151" y="1054100"/>
                  </a:lnTo>
                  <a:lnTo>
                    <a:pt x="842350" y="1066800"/>
                  </a:lnTo>
                  <a:lnTo>
                    <a:pt x="894460" y="1066800"/>
                  </a:lnTo>
                  <a:lnTo>
                    <a:pt x="902278" y="1054100"/>
                  </a:lnTo>
                  <a:lnTo>
                    <a:pt x="908726" y="1041400"/>
                  </a:lnTo>
                  <a:lnTo>
                    <a:pt x="913805" y="1028700"/>
                  </a:lnTo>
                  <a:lnTo>
                    <a:pt x="917385" y="1016000"/>
                  </a:lnTo>
                  <a:lnTo>
                    <a:pt x="919338" y="1016000"/>
                  </a:lnTo>
                  <a:lnTo>
                    <a:pt x="919664" y="1003300"/>
                  </a:lnTo>
                  <a:lnTo>
                    <a:pt x="918362" y="990600"/>
                  </a:lnTo>
                  <a:lnTo>
                    <a:pt x="915625" y="977900"/>
                  </a:lnTo>
                  <a:lnTo>
                    <a:pt x="911645" y="965200"/>
                  </a:lnTo>
                  <a:lnTo>
                    <a:pt x="906422" y="965200"/>
                  </a:lnTo>
                  <a:lnTo>
                    <a:pt x="899957" y="952500"/>
                  </a:lnTo>
                  <a:lnTo>
                    <a:pt x="892580" y="952500"/>
                  </a:lnTo>
                  <a:lnTo>
                    <a:pt x="884942" y="939800"/>
                  </a:lnTo>
                  <a:close/>
                </a:path>
                <a:path w="1724659" h="1714500">
                  <a:moveTo>
                    <a:pt x="615580" y="1028700"/>
                  </a:moveTo>
                  <a:lnTo>
                    <a:pt x="599687" y="1028700"/>
                  </a:lnTo>
                  <a:lnTo>
                    <a:pt x="591178" y="1041400"/>
                  </a:lnTo>
                  <a:lnTo>
                    <a:pt x="623123" y="1041400"/>
                  </a:lnTo>
                  <a:lnTo>
                    <a:pt x="615580" y="1028700"/>
                  </a:lnTo>
                  <a:close/>
                </a:path>
                <a:path w="1724659" h="1714500">
                  <a:moveTo>
                    <a:pt x="793272" y="1003300"/>
                  </a:moveTo>
                  <a:lnTo>
                    <a:pt x="686534" y="1003300"/>
                  </a:lnTo>
                  <a:lnTo>
                    <a:pt x="691702" y="1016000"/>
                  </a:lnTo>
                  <a:lnTo>
                    <a:pt x="698102" y="1016000"/>
                  </a:lnTo>
                  <a:lnTo>
                    <a:pt x="705015" y="1028700"/>
                  </a:lnTo>
                  <a:lnTo>
                    <a:pt x="764836" y="1028700"/>
                  </a:lnTo>
                  <a:lnTo>
                    <a:pt x="777727" y="1016000"/>
                  </a:lnTo>
                  <a:lnTo>
                    <a:pt x="793272" y="1003300"/>
                  </a:lnTo>
                  <a:close/>
                </a:path>
                <a:path w="1724659" h="1714500">
                  <a:moveTo>
                    <a:pt x="824760" y="990600"/>
                  </a:moveTo>
                  <a:lnTo>
                    <a:pt x="678739" y="990600"/>
                  </a:lnTo>
                  <a:lnTo>
                    <a:pt x="682213" y="1003300"/>
                  </a:lnTo>
                  <a:lnTo>
                    <a:pt x="811471" y="1003300"/>
                  </a:lnTo>
                  <a:lnTo>
                    <a:pt x="824760" y="990600"/>
                  </a:lnTo>
                  <a:close/>
                </a:path>
                <a:path w="1724659" h="1714500">
                  <a:moveTo>
                    <a:pt x="738726" y="914400"/>
                  </a:moveTo>
                  <a:lnTo>
                    <a:pt x="693318" y="914400"/>
                  </a:lnTo>
                  <a:lnTo>
                    <a:pt x="688351" y="927100"/>
                  </a:lnTo>
                  <a:lnTo>
                    <a:pt x="684014" y="927100"/>
                  </a:lnTo>
                  <a:lnTo>
                    <a:pt x="680387" y="939800"/>
                  </a:lnTo>
                  <a:lnTo>
                    <a:pt x="677549" y="952500"/>
                  </a:lnTo>
                  <a:lnTo>
                    <a:pt x="674235" y="952500"/>
                  </a:lnTo>
                  <a:lnTo>
                    <a:pt x="673403" y="965200"/>
                  </a:lnTo>
                  <a:lnTo>
                    <a:pt x="673439" y="977900"/>
                  </a:lnTo>
                  <a:lnTo>
                    <a:pt x="674342" y="977900"/>
                  </a:lnTo>
                  <a:lnTo>
                    <a:pt x="676112" y="990600"/>
                  </a:lnTo>
                  <a:lnTo>
                    <a:pt x="719554" y="990600"/>
                  </a:lnTo>
                  <a:lnTo>
                    <a:pt x="710088" y="977900"/>
                  </a:lnTo>
                  <a:lnTo>
                    <a:pt x="707820" y="965200"/>
                  </a:lnTo>
                  <a:lnTo>
                    <a:pt x="709070" y="965200"/>
                  </a:lnTo>
                  <a:lnTo>
                    <a:pt x="711110" y="952500"/>
                  </a:lnTo>
                  <a:lnTo>
                    <a:pt x="715356" y="939800"/>
                  </a:lnTo>
                  <a:lnTo>
                    <a:pt x="721809" y="939800"/>
                  </a:lnTo>
                  <a:lnTo>
                    <a:pt x="730468" y="927100"/>
                  </a:lnTo>
                  <a:lnTo>
                    <a:pt x="738726" y="914400"/>
                  </a:lnTo>
                  <a:close/>
                </a:path>
                <a:path w="1724659" h="1714500">
                  <a:moveTo>
                    <a:pt x="844117" y="977900"/>
                  </a:moveTo>
                  <a:lnTo>
                    <a:pt x="758697" y="977900"/>
                  </a:lnTo>
                  <a:lnTo>
                    <a:pt x="751915" y="990600"/>
                  </a:lnTo>
                  <a:lnTo>
                    <a:pt x="835642" y="990600"/>
                  </a:lnTo>
                  <a:lnTo>
                    <a:pt x="844117" y="977900"/>
                  </a:lnTo>
                  <a:close/>
                </a:path>
                <a:path w="1724659" h="1714500">
                  <a:moveTo>
                    <a:pt x="979922" y="698500"/>
                  </a:moveTo>
                  <a:lnTo>
                    <a:pt x="916555" y="698500"/>
                  </a:lnTo>
                  <a:lnTo>
                    <a:pt x="897798" y="711200"/>
                  </a:lnTo>
                  <a:lnTo>
                    <a:pt x="880362" y="723900"/>
                  </a:lnTo>
                  <a:lnTo>
                    <a:pt x="865298" y="749300"/>
                  </a:lnTo>
                  <a:lnTo>
                    <a:pt x="854765" y="762000"/>
                  </a:lnTo>
                  <a:lnTo>
                    <a:pt x="848761" y="787400"/>
                  </a:lnTo>
                  <a:lnTo>
                    <a:pt x="847288" y="812800"/>
                  </a:lnTo>
                  <a:lnTo>
                    <a:pt x="850620" y="825500"/>
                  </a:lnTo>
                  <a:lnTo>
                    <a:pt x="872527" y="876300"/>
                  </a:lnTo>
                  <a:lnTo>
                    <a:pt x="911712" y="914400"/>
                  </a:lnTo>
                  <a:lnTo>
                    <a:pt x="954173" y="939800"/>
                  </a:lnTo>
                  <a:lnTo>
                    <a:pt x="997615" y="939800"/>
                  </a:lnTo>
                  <a:lnTo>
                    <a:pt x="1018281" y="927100"/>
                  </a:lnTo>
                  <a:lnTo>
                    <a:pt x="1038020" y="914400"/>
                  </a:lnTo>
                  <a:lnTo>
                    <a:pt x="1056833" y="901700"/>
                  </a:lnTo>
                  <a:lnTo>
                    <a:pt x="969523" y="901700"/>
                  </a:lnTo>
                  <a:lnTo>
                    <a:pt x="955092" y="889000"/>
                  </a:lnTo>
                  <a:lnTo>
                    <a:pt x="940601" y="889000"/>
                  </a:lnTo>
                  <a:lnTo>
                    <a:pt x="926052" y="876300"/>
                  </a:lnTo>
                  <a:lnTo>
                    <a:pt x="951042" y="850900"/>
                  </a:lnTo>
                  <a:lnTo>
                    <a:pt x="904392" y="850900"/>
                  </a:lnTo>
                  <a:lnTo>
                    <a:pt x="895421" y="838200"/>
                  </a:lnTo>
                  <a:lnTo>
                    <a:pt x="889043" y="825500"/>
                  </a:lnTo>
                  <a:lnTo>
                    <a:pt x="885256" y="812800"/>
                  </a:lnTo>
                  <a:lnTo>
                    <a:pt x="884063" y="800100"/>
                  </a:lnTo>
                  <a:lnTo>
                    <a:pt x="885373" y="787400"/>
                  </a:lnTo>
                  <a:lnTo>
                    <a:pt x="889101" y="774700"/>
                  </a:lnTo>
                  <a:lnTo>
                    <a:pt x="895245" y="762000"/>
                  </a:lnTo>
                  <a:lnTo>
                    <a:pt x="903805" y="749300"/>
                  </a:lnTo>
                  <a:lnTo>
                    <a:pt x="915122" y="749300"/>
                  </a:lnTo>
                  <a:lnTo>
                    <a:pt x="927488" y="736600"/>
                  </a:lnTo>
                  <a:lnTo>
                    <a:pt x="1043598" y="736600"/>
                  </a:lnTo>
                  <a:lnTo>
                    <a:pt x="1001480" y="711200"/>
                  </a:lnTo>
                  <a:lnTo>
                    <a:pt x="979922" y="698500"/>
                  </a:lnTo>
                  <a:close/>
                </a:path>
                <a:path w="1724659" h="1714500">
                  <a:moveTo>
                    <a:pt x="809356" y="876300"/>
                  </a:moveTo>
                  <a:lnTo>
                    <a:pt x="735207" y="876300"/>
                  </a:lnTo>
                  <a:lnTo>
                    <a:pt x="725074" y="889000"/>
                  </a:lnTo>
                  <a:lnTo>
                    <a:pt x="715054" y="889000"/>
                  </a:lnTo>
                  <a:lnTo>
                    <a:pt x="705145" y="901700"/>
                  </a:lnTo>
                  <a:lnTo>
                    <a:pt x="698916" y="914400"/>
                  </a:lnTo>
                  <a:lnTo>
                    <a:pt x="755194" y="914400"/>
                  </a:lnTo>
                  <a:lnTo>
                    <a:pt x="763403" y="901700"/>
                  </a:lnTo>
                  <a:lnTo>
                    <a:pt x="806759" y="901700"/>
                  </a:lnTo>
                  <a:lnTo>
                    <a:pt x="818720" y="889000"/>
                  </a:lnTo>
                  <a:lnTo>
                    <a:pt x="809356" y="876300"/>
                  </a:lnTo>
                  <a:close/>
                </a:path>
                <a:path w="1724659" h="1714500">
                  <a:moveTo>
                    <a:pt x="806759" y="901700"/>
                  </a:moveTo>
                  <a:lnTo>
                    <a:pt x="771516" y="901700"/>
                  </a:lnTo>
                  <a:lnTo>
                    <a:pt x="779452" y="914400"/>
                  </a:lnTo>
                  <a:lnTo>
                    <a:pt x="794797" y="914400"/>
                  </a:lnTo>
                  <a:lnTo>
                    <a:pt x="806759" y="901700"/>
                  </a:lnTo>
                  <a:close/>
                </a:path>
                <a:path w="1724659" h="1714500">
                  <a:moveTo>
                    <a:pt x="1076402" y="774700"/>
                  </a:moveTo>
                  <a:lnTo>
                    <a:pt x="1043094" y="800100"/>
                  </a:lnTo>
                  <a:lnTo>
                    <a:pt x="1048007" y="812800"/>
                  </a:lnTo>
                  <a:lnTo>
                    <a:pt x="1051119" y="825500"/>
                  </a:lnTo>
                  <a:lnTo>
                    <a:pt x="1052429" y="838200"/>
                  </a:lnTo>
                  <a:lnTo>
                    <a:pt x="1051938" y="838200"/>
                  </a:lnTo>
                  <a:lnTo>
                    <a:pt x="1049745" y="850900"/>
                  </a:lnTo>
                  <a:lnTo>
                    <a:pt x="1045950" y="863600"/>
                  </a:lnTo>
                  <a:lnTo>
                    <a:pt x="1040552" y="876300"/>
                  </a:lnTo>
                  <a:lnTo>
                    <a:pt x="1033551" y="876300"/>
                  </a:lnTo>
                  <a:lnTo>
                    <a:pt x="1022584" y="889000"/>
                  </a:lnTo>
                  <a:lnTo>
                    <a:pt x="1010653" y="889000"/>
                  </a:lnTo>
                  <a:lnTo>
                    <a:pt x="997757" y="901700"/>
                  </a:lnTo>
                  <a:lnTo>
                    <a:pt x="1056833" y="901700"/>
                  </a:lnTo>
                  <a:lnTo>
                    <a:pt x="1069868" y="889000"/>
                  </a:lnTo>
                  <a:lnTo>
                    <a:pt x="1079833" y="876300"/>
                  </a:lnTo>
                  <a:lnTo>
                    <a:pt x="1086727" y="850900"/>
                  </a:lnTo>
                  <a:lnTo>
                    <a:pt x="1090551" y="838200"/>
                  </a:lnTo>
                  <a:lnTo>
                    <a:pt x="1091383" y="825500"/>
                  </a:lnTo>
                  <a:lnTo>
                    <a:pt x="1089302" y="812800"/>
                  </a:lnTo>
                  <a:lnTo>
                    <a:pt x="1084308" y="787400"/>
                  </a:lnTo>
                  <a:lnTo>
                    <a:pt x="1076402" y="774700"/>
                  </a:lnTo>
                  <a:close/>
                </a:path>
                <a:path w="1724659" h="1714500">
                  <a:moveTo>
                    <a:pt x="782888" y="863600"/>
                  </a:moveTo>
                  <a:lnTo>
                    <a:pt x="765113" y="863600"/>
                  </a:lnTo>
                  <a:lnTo>
                    <a:pt x="755518" y="876300"/>
                  </a:lnTo>
                  <a:lnTo>
                    <a:pt x="791440" y="876300"/>
                  </a:lnTo>
                  <a:lnTo>
                    <a:pt x="782888" y="863600"/>
                  </a:lnTo>
                  <a:close/>
                </a:path>
                <a:path w="1724659" h="1714500">
                  <a:moveTo>
                    <a:pt x="1051003" y="749300"/>
                  </a:moveTo>
                  <a:lnTo>
                    <a:pt x="997822" y="749300"/>
                  </a:lnTo>
                  <a:lnTo>
                    <a:pt x="904392" y="850900"/>
                  </a:lnTo>
                  <a:lnTo>
                    <a:pt x="951042" y="850900"/>
                  </a:lnTo>
                  <a:lnTo>
                    <a:pt x="1051003" y="749300"/>
                  </a:lnTo>
                  <a:close/>
                </a:path>
                <a:path w="1724659" h="1714500">
                  <a:moveTo>
                    <a:pt x="1020502" y="596900"/>
                  </a:moveTo>
                  <a:lnTo>
                    <a:pt x="994962" y="622300"/>
                  </a:lnTo>
                  <a:lnTo>
                    <a:pt x="1162749" y="787400"/>
                  </a:lnTo>
                  <a:lnTo>
                    <a:pt x="1191199" y="762000"/>
                  </a:lnTo>
                  <a:lnTo>
                    <a:pt x="1099662" y="673100"/>
                  </a:lnTo>
                  <a:lnTo>
                    <a:pt x="1085680" y="647700"/>
                  </a:lnTo>
                  <a:lnTo>
                    <a:pt x="1075925" y="635000"/>
                  </a:lnTo>
                  <a:lnTo>
                    <a:pt x="1070397" y="622300"/>
                  </a:lnTo>
                  <a:lnTo>
                    <a:pt x="1044340" y="622300"/>
                  </a:lnTo>
                  <a:lnTo>
                    <a:pt x="1020502" y="596900"/>
                  </a:lnTo>
                  <a:close/>
                </a:path>
                <a:path w="1724659" h="1714500">
                  <a:moveTo>
                    <a:pt x="1045282" y="736600"/>
                  </a:moveTo>
                  <a:lnTo>
                    <a:pt x="975680" y="736600"/>
                  </a:lnTo>
                  <a:lnTo>
                    <a:pt x="986523" y="749300"/>
                  </a:lnTo>
                  <a:lnTo>
                    <a:pt x="1047751" y="749300"/>
                  </a:lnTo>
                  <a:lnTo>
                    <a:pt x="1045282" y="736600"/>
                  </a:lnTo>
                  <a:close/>
                </a:path>
                <a:path w="1724659" h="1714500">
                  <a:moveTo>
                    <a:pt x="1208704" y="558800"/>
                  </a:moveTo>
                  <a:lnTo>
                    <a:pt x="1145479" y="558800"/>
                  </a:lnTo>
                  <a:lnTo>
                    <a:pt x="1152454" y="571500"/>
                  </a:lnTo>
                  <a:lnTo>
                    <a:pt x="1160112" y="571500"/>
                  </a:lnTo>
                  <a:lnTo>
                    <a:pt x="1168452" y="584200"/>
                  </a:lnTo>
                  <a:lnTo>
                    <a:pt x="1270405" y="685800"/>
                  </a:lnTo>
                  <a:lnTo>
                    <a:pt x="1298854" y="647700"/>
                  </a:lnTo>
                  <a:lnTo>
                    <a:pt x="1208704" y="558800"/>
                  </a:lnTo>
                  <a:close/>
                </a:path>
                <a:path w="1724659" h="1714500">
                  <a:moveTo>
                    <a:pt x="1178668" y="533400"/>
                  </a:moveTo>
                  <a:lnTo>
                    <a:pt x="1070258" y="533400"/>
                  </a:lnTo>
                  <a:lnTo>
                    <a:pt x="1055566" y="558800"/>
                  </a:lnTo>
                  <a:lnTo>
                    <a:pt x="1046349" y="571500"/>
                  </a:lnTo>
                  <a:lnTo>
                    <a:pt x="1042607" y="596900"/>
                  </a:lnTo>
                  <a:lnTo>
                    <a:pt x="1044340" y="622300"/>
                  </a:lnTo>
                  <a:lnTo>
                    <a:pt x="1070397" y="622300"/>
                  </a:lnTo>
                  <a:lnTo>
                    <a:pt x="1069096" y="609600"/>
                  </a:lnTo>
                  <a:lnTo>
                    <a:pt x="1070939" y="596900"/>
                  </a:lnTo>
                  <a:lnTo>
                    <a:pt x="1074843" y="584200"/>
                  </a:lnTo>
                  <a:lnTo>
                    <a:pt x="1080808" y="584200"/>
                  </a:lnTo>
                  <a:lnTo>
                    <a:pt x="1088833" y="571500"/>
                  </a:lnTo>
                  <a:lnTo>
                    <a:pt x="1094639" y="558800"/>
                  </a:lnTo>
                  <a:lnTo>
                    <a:pt x="1208704" y="558800"/>
                  </a:lnTo>
                  <a:lnTo>
                    <a:pt x="1195825" y="546100"/>
                  </a:lnTo>
                  <a:lnTo>
                    <a:pt x="1186606" y="546100"/>
                  </a:lnTo>
                  <a:lnTo>
                    <a:pt x="1178668" y="533400"/>
                  </a:lnTo>
                  <a:close/>
                </a:path>
                <a:path w="1724659" h="1714500">
                  <a:moveTo>
                    <a:pt x="1304723" y="533400"/>
                  </a:moveTo>
                  <a:lnTo>
                    <a:pt x="1281122" y="571500"/>
                  </a:lnTo>
                  <a:lnTo>
                    <a:pt x="1296748" y="584200"/>
                  </a:lnTo>
                  <a:lnTo>
                    <a:pt x="1374316" y="584200"/>
                  </a:lnTo>
                  <a:lnTo>
                    <a:pt x="1390288" y="571500"/>
                  </a:lnTo>
                  <a:lnTo>
                    <a:pt x="1406513" y="558800"/>
                  </a:lnTo>
                  <a:lnTo>
                    <a:pt x="1415701" y="546100"/>
                  </a:lnTo>
                  <a:lnTo>
                    <a:pt x="1314398" y="546100"/>
                  </a:lnTo>
                  <a:lnTo>
                    <a:pt x="1304723" y="533400"/>
                  </a:lnTo>
                  <a:close/>
                </a:path>
                <a:path w="1724659" h="1714500">
                  <a:moveTo>
                    <a:pt x="1440579" y="482600"/>
                  </a:moveTo>
                  <a:lnTo>
                    <a:pt x="1404288" y="482600"/>
                  </a:lnTo>
                  <a:lnTo>
                    <a:pt x="1404291" y="495300"/>
                  </a:lnTo>
                  <a:lnTo>
                    <a:pt x="1402397" y="495300"/>
                  </a:lnTo>
                  <a:lnTo>
                    <a:pt x="1398241" y="508000"/>
                  </a:lnTo>
                  <a:lnTo>
                    <a:pt x="1391824" y="520700"/>
                  </a:lnTo>
                  <a:lnTo>
                    <a:pt x="1383145" y="533400"/>
                  </a:lnTo>
                  <a:lnTo>
                    <a:pt x="1373392" y="533400"/>
                  </a:lnTo>
                  <a:lnTo>
                    <a:pt x="1363591" y="546100"/>
                  </a:lnTo>
                  <a:lnTo>
                    <a:pt x="1415701" y="546100"/>
                  </a:lnTo>
                  <a:lnTo>
                    <a:pt x="1423519" y="533400"/>
                  </a:lnTo>
                  <a:lnTo>
                    <a:pt x="1429967" y="520700"/>
                  </a:lnTo>
                  <a:lnTo>
                    <a:pt x="1435046" y="508000"/>
                  </a:lnTo>
                  <a:lnTo>
                    <a:pt x="1438626" y="495300"/>
                  </a:lnTo>
                  <a:lnTo>
                    <a:pt x="1440579" y="482600"/>
                  </a:lnTo>
                  <a:close/>
                </a:path>
                <a:path w="1724659" h="1714500">
                  <a:moveTo>
                    <a:pt x="1166638" y="520700"/>
                  </a:moveTo>
                  <a:lnTo>
                    <a:pt x="1086147" y="520700"/>
                  </a:lnTo>
                  <a:lnTo>
                    <a:pt x="1078015" y="533400"/>
                  </a:lnTo>
                  <a:lnTo>
                    <a:pt x="1172013" y="533400"/>
                  </a:lnTo>
                  <a:lnTo>
                    <a:pt x="1166638" y="520700"/>
                  </a:lnTo>
                  <a:close/>
                </a:path>
                <a:path w="1724659" h="1714500">
                  <a:moveTo>
                    <a:pt x="1144363" y="508000"/>
                  </a:moveTo>
                  <a:lnTo>
                    <a:pt x="1112419" y="508000"/>
                  </a:lnTo>
                  <a:lnTo>
                    <a:pt x="1103537" y="520700"/>
                  </a:lnTo>
                  <a:lnTo>
                    <a:pt x="1151847" y="520700"/>
                  </a:lnTo>
                  <a:lnTo>
                    <a:pt x="1144363" y="508000"/>
                  </a:lnTo>
                  <a:close/>
                </a:path>
                <a:path w="1724659" h="1714500">
                  <a:moveTo>
                    <a:pt x="1314513" y="482600"/>
                  </a:moveTo>
                  <a:lnTo>
                    <a:pt x="1207775" y="482600"/>
                  </a:lnTo>
                  <a:lnTo>
                    <a:pt x="1212943" y="495300"/>
                  </a:lnTo>
                  <a:lnTo>
                    <a:pt x="1219343" y="495300"/>
                  </a:lnTo>
                  <a:lnTo>
                    <a:pt x="1226256" y="508000"/>
                  </a:lnTo>
                  <a:lnTo>
                    <a:pt x="1286076" y="508000"/>
                  </a:lnTo>
                  <a:lnTo>
                    <a:pt x="1298968" y="495300"/>
                  </a:lnTo>
                  <a:lnTo>
                    <a:pt x="1314513" y="482600"/>
                  </a:lnTo>
                  <a:close/>
                </a:path>
                <a:path w="1724659" h="1714500">
                  <a:moveTo>
                    <a:pt x="1346001" y="469900"/>
                  </a:moveTo>
                  <a:lnTo>
                    <a:pt x="1199980" y="469900"/>
                  </a:lnTo>
                  <a:lnTo>
                    <a:pt x="1203454" y="482600"/>
                  </a:lnTo>
                  <a:lnTo>
                    <a:pt x="1332712" y="482600"/>
                  </a:lnTo>
                  <a:lnTo>
                    <a:pt x="1346001" y="469900"/>
                  </a:lnTo>
                  <a:close/>
                </a:path>
                <a:path w="1724659" h="1714500">
                  <a:moveTo>
                    <a:pt x="1421197" y="431800"/>
                  </a:moveTo>
                  <a:lnTo>
                    <a:pt x="1318982" y="431800"/>
                  </a:lnTo>
                  <a:lnTo>
                    <a:pt x="1289299" y="457200"/>
                  </a:lnTo>
                  <a:lnTo>
                    <a:pt x="1390002" y="457200"/>
                  </a:lnTo>
                  <a:lnTo>
                    <a:pt x="1395092" y="469900"/>
                  </a:lnTo>
                  <a:lnTo>
                    <a:pt x="1399688" y="469900"/>
                  </a:lnTo>
                  <a:lnTo>
                    <a:pt x="1402754" y="482600"/>
                  </a:lnTo>
                  <a:lnTo>
                    <a:pt x="1440905" y="482600"/>
                  </a:lnTo>
                  <a:lnTo>
                    <a:pt x="1439603" y="469900"/>
                  </a:lnTo>
                  <a:lnTo>
                    <a:pt x="1436865" y="457200"/>
                  </a:lnTo>
                  <a:lnTo>
                    <a:pt x="1432885" y="444500"/>
                  </a:lnTo>
                  <a:lnTo>
                    <a:pt x="1427663" y="444500"/>
                  </a:lnTo>
                  <a:lnTo>
                    <a:pt x="1421197" y="431800"/>
                  </a:lnTo>
                  <a:close/>
                </a:path>
                <a:path w="1724659" h="1714500">
                  <a:moveTo>
                    <a:pt x="1236596" y="419100"/>
                  </a:moveTo>
                  <a:lnTo>
                    <a:pt x="1198789" y="419100"/>
                  </a:lnTo>
                  <a:lnTo>
                    <a:pt x="1196739" y="431800"/>
                  </a:lnTo>
                  <a:lnTo>
                    <a:pt x="1195476" y="431800"/>
                  </a:lnTo>
                  <a:lnTo>
                    <a:pt x="1194644" y="444500"/>
                  </a:lnTo>
                  <a:lnTo>
                    <a:pt x="1194679" y="457200"/>
                  </a:lnTo>
                  <a:lnTo>
                    <a:pt x="1195583" y="457200"/>
                  </a:lnTo>
                  <a:lnTo>
                    <a:pt x="1197353" y="469900"/>
                  </a:lnTo>
                  <a:lnTo>
                    <a:pt x="1240795" y="469900"/>
                  </a:lnTo>
                  <a:lnTo>
                    <a:pt x="1231329" y="457200"/>
                  </a:lnTo>
                  <a:lnTo>
                    <a:pt x="1229061" y="444500"/>
                  </a:lnTo>
                  <a:lnTo>
                    <a:pt x="1230311" y="444500"/>
                  </a:lnTo>
                  <a:lnTo>
                    <a:pt x="1232350" y="431800"/>
                  </a:lnTo>
                  <a:lnTo>
                    <a:pt x="1236596" y="419100"/>
                  </a:lnTo>
                  <a:close/>
                </a:path>
                <a:path w="1724659" h="1714500">
                  <a:moveTo>
                    <a:pt x="1365358" y="457200"/>
                  </a:moveTo>
                  <a:lnTo>
                    <a:pt x="1273155" y="457200"/>
                  </a:lnTo>
                  <a:lnTo>
                    <a:pt x="1268953" y="469900"/>
                  </a:lnTo>
                  <a:lnTo>
                    <a:pt x="1356883" y="469900"/>
                  </a:lnTo>
                  <a:lnTo>
                    <a:pt x="1365358" y="457200"/>
                  </a:lnTo>
                  <a:close/>
                </a:path>
                <a:path w="1724659" h="1714500">
                  <a:moveTo>
                    <a:pt x="1406182" y="419100"/>
                  </a:moveTo>
                  <a:lnTo>
                    <a:pt x="1346583" y="419100"/>
                  </a:lnTo>
                  <a:lnTo>
                    <a:pt x="1334096" y="431800"/>
                  </a:lnTo>
                  <a:lnTo>
                    <a:pt x="1413820" y="431800"/>
                  </a:lnTo>
                  <a:lnTo>
                    <a:pt x="1406182" y="419100"/>
                  </a:lnTo>
                  <a:close/>
                </a:path>
                <a:path w="1724659" h="1714500">
                  <a:moveTo>
                    <a:pt x="1259966" y="393700"/>
                  </a:moveTo>
                  <a:lnTo>
                    <a:pt x="1214558" y="393700"/>
                  </a:lnTo>
                  <a:lnTo>
                    <a:pt x="1209591" y="406400"/>
                  </a:lnTo>
                  <a:lnTo>
                    <a:pt x="1205255" y="406400"/>
                  </a:lnTo>
                  <a:lnTo>
                    <a:pt x="1201628" y="419100"/>
                  </a:lnTo>
                  <a:lnTo>
                    <a:pt x="1243049" y="419100"/>
                  </a:lnTo>
                  <a:lnTo>
                    <a:pt x="1251708" y="406400"/>
                  </a:lnTo>
                  <a:lnTo>
                    <a:pt x="1259966" y="393700"/>
                  </a:lnTo>
                  <a:close/>
                </a:path>
                <a:path w="1724659" h="1714500">
                  <a:moveTo>
                    <a:pt x="1501162" y="177800"/>
                  </a:moveTo>
                  <a:lnTo>
                    <a:pt x="1437795" y="177800"/>
                  </a:lnTo>
                  <a:lnTo>
                    <a:pt x="1419039" y="190500"/>
                  </a:lnTo>
                  <a:lnTo>
                    <a:pt x="1401603" y="203200"/>
                  </a:lnTo>
                  <a:lnTo>
                    <a:pt x="1386539" y="228600"/>
                  </a:lnTo>
                  <a:lnTo>
                    <a:pt x="1376006" y="241300"/>
                  </a:lnTo>
                  <a:lnTo>
                    <a:pt x="1370002" y="266700"/>
                  </a:lnTo>
                  <a:lnTo>
                    <a:pt x="1368529" y="292100"/>
                  </a:lnTo>
                  <a:lnTo>
                    <a:pt x="1371861" y="304800"/>
                  </a:lnTo>
                  <a:lnTo>
                    <a:pt x="1393768" y="355600"/>
                  </a:lnTo>
                  <a:lnTo>
                    <a:pt x="1432954" y="393700"/>
                  </a:lnTo>
                  <a:lnTo>
                    <a:pt x="1475414" y="419100"/>
                  </a:lnTo>
                  <a:lnTo>
                    <a:pt x="1518856" y="419100"/>
                  </a:lnTo>
                  <a:lnTo>
                    <a:pt x="1539522" y="406400"/>
                  </a:lnTo>
                  <a:lnTo>
                    <a:pt x="1559261" y="393700"/>
                  </a:lnTo>
                  <a:lnTo>
                    <a:pt x="1578074" y="381000"/>
                  </a:lnTo>
                  <a:lnTo>
                    <a:pt x="1490763" y="381000"/>
                  </a:lnTo>
                  <a:lnTo>
                    <a:pt x="1476332" y="368300"/>
                  </a:lnTo>
                  <a:lnTo>
                    <a:pt x="1461841" y="368300"/>
                  </a:lnTo>
                  <a:lnTo>
                    <a:pt x="1447293" y="355600"/>
                  </a:lnTo>
                  <a:lnTo>
                    <a:pt x="1472283" y="330200"/>
                  </a:lnTo>
                  <a:lnTo>
                    <a:pt x="1425633" y="330200"/>
                  </a:lnTo>
                  <a:lnTo>
                    <a:pt x="1416662" y="317500"/>
                  </a:lnTo>
                  <a:lnTo>
                    <a:pt x="1410283" y="304800"/>
                  </a:lnTo>
                  <a:lnTo>
                    <a:pt x="1406497" y="292100"/>
                  </a:lnTo>
                  <a:lnTo>
                    <a:pt x="1405303" y="279400"/>
                  </a:lnTo>
                  <a:lnTo>
                    <a:pt x="1406614" y="266700"/>
                  </a:lnTo>
                  <a:lnTo>
                    <a:pt x="1410341" y="254000"/>
                  </a:lnTo>
                  <a:lnTo>
                    <a:pt x="1416485" y="241300"/>
                  </a:lnTo>
                  <a:lnTo>
                    <a:pt x="1425046" y="228600"/>
                  </a:lnTo>
                  <a:lnTo>
                    <a:pt x="1436363" y="215900"/>
                  </a:lnTo>
                  <a:lnTo>
                    <a:pt x="1564839" y="215900"/>
                  </a:lnTo>
                  <a:lnTo>
                    <a:pt x="1522721" y="190500"/>
                  </a:lnTo>
                  <a:lnTo>
                    <a:pt x="1501162" y="177800"/>
                  </a:lnTo>
                  <a:close/>
                </a:path>
                <a:path w="1724659" h="1714500">
                  <a:moveTo>
                    <a:pt x="1330597" y="355600"/>
                  </a:moveTo>
                  <a:lnTo>
                    <a:pt x="1256448" y="355600"/>
                  </a:lnTo>
                  <a:lnTo>
                    <a:pt x="1246315" y="368300"/>
                  </a:lnTo>
                  <a:lnTo>
                    <a:pt x="1236294" y="368300"/>
                  </a:lnTo>
                  <a:lnTo>
                    <a:pt x="1226385" y="381000"/>
                  </a:lnTo>
                  <a:lnTo>
                    <a:pt x="1220156" y="393700"/>
                  </a:lnTo>
                  <a:lnTo>
                    <a:pt x="1276434" y="393700"/>
                  </a:lnTo>
                  <a:lnTo>
                    <a:pt x="1284643" y="381000"/>
                  </a:lnTo>
                  <a:lnTo>
                    <a:pt x="1327999" y="381000"/>
                  </a:lnTo>
                  <a:lnTo>
                    <a:pt x="1339961" y="368300"/>
                  </a:lnTo>
                  <a:lnTo>
                    <a:pt x="1330597" y="355600"/>
                  </a:lnTo>
                  <a:close/>
                </a:path>
                <a:path w="1724659" h="1714500">
                  <a:moveTo>
                    <a:pt x="1327999" y="381000"/>
                  </a:moveTo>
                  <a:lnTo>
                    <a:pt x="1292756" y="381000"/>
                  </a:lnTo>
                  <a:lnTo>
                    <a:pt x="1300692" y="393700"/>
                  </a:lnTo>
                  <a:lnTo>
                    <a:pt x="1316037" y="393700"/>
                  </a:lnTo>
                  <a:lnTo>
                    <a:pt x="1327999" y="381000"/>
                  </a:lnTo>
                  <a:close/>
                </a:path>
                <a:path w="1724659" h="1714500">
                  <a:moveTo>
                    <a:pt x="1597642" y="254000"/>
                  </a:moveTo>
                  <a:lnTo>
                    <a:pt x="1564333" y="279400"/>
                  </a:lnTo>
                  <a:lnTo>
                    <a:pt x="1569248" y="292100"/>
                  </a:lnTo>
                  <a:lnTo>
                    <a:pt x="1572360" y="304800"/>
                  </a:lnTo>
                  <a:lnTo>
                    <a:pt x="1573670" y="317500"/>
                  </a:lnTo>
                  <a:lnTo>
                    <a:pt x="1573179" y="317500"/>
                  </a:lnTo>
                  <a:lnTo>
                    <a:pt x="1570986" y="330200"/>
                  </a:lnTo>
                  <a:lnTo>
                    <a:pt x="1567190" y="342900"/>
                  </a:lnTo>
                  <a:lnTo>
                    <a:pt x="1561792" y="355600"/>
                  </a:lnTo>
                  <a:lnTo>
                    <a:pt x="1554792" y="355600"/>
                  </a:lnTo>
                  <a:lnTo>
                    <a:pt x="1543825" y="368300"/>
                  </a:lnTo>
                  <a:lnTo>
                    <a:pt x="1531894" y="368300"/>
                  </a:lnTo>
                  <a:lnTo>
                    <a:pt x="1518997" y="381000"/>
                  </a:lnTo>
                  <a:lnTo>
                    <a:pt x="1578074" y="381000"/>
                  </a:lnTo>
                  <a:lnTo>
                    <a:pt x="1591109" y="368300"/>
                  </a:lnTo>
                  <a:lnTo>
                    <a:pt x="1601073" y="355600"/>
                  </a:lnTo>
                  <a:lnTo>
                    <a:pt x="1607967" y="330200"/>
                  </a:lnTo>
                  <a:lnTo>
                    <a:pt x="1611791" y="317500"/>
                  </a:lnTo>
                  <a:lnTo>
                    <a:pt x="1612623" y="304800"/>
                  </a:lnTo>
                  <a:lnTo>
                    <a:pt x="1610542" y="292100"/>
                  </a:lnTo>
                  <a:lnTo>
                    <a:pt x="1605548" y="266700"/>
                  </a:lnTo>
                  <a:lnTo>
                    <a:pt x="1597642" y="254000"/>
                  </a:lnTo>
                  <a:close/>
                </a:path>
                <a:path w="1724659" h="1714500">
                  <a:moveTo>
                    <a:pt x="1304128" y="342900"/>
                  </a:moveTo>
                  <a:lnTo>
                    <a:pt x="1286353" y="342900"/>
                  </a:lnTo>
                  <a:lnTo>
                    <a:pt x="1276758" y="355600"/>
                  </a:lnTo>
                  <a:lnTo>
                    <a:pt x="1312680" y="355600"/>
                  </a:lnTo>
                  <a:lnTo>
                    <a:pt x="1304128" y="342900"/>
                  </a:lnTo>
                  <a:close/>
                </a:path>
                <a:path w="1724659" h="1714500">
                  <a:moveTo>
                    <a:pt x="1572244" y="228600"/>
                  </a:moveTo>
                  <a:lnTo>
                    <a:pt x="1519063" y="228600"/>
                  </a:lnTo>
                  <a:lnTo>
                    <a:pt x="1425633" y="330200"/>
                  </a:lnTo>
                  <a:lnTo>
                    <a:pt x="1472283" y="330200"/>
                  </a:lnTo>
                  <a:lnTo>
                    <a:pt x="1572244" y="228600"/>
                  </a:lnTo>
                  <a:close/>
                </a:path>
                <a:path w="1724659" h="1714500">
                  <a:moveTo>
                    <a:pt x="1692073" y="190500"/>
                  </a:moveTo>
                  <a:lnTo>
                    <a:pt x="1659420" y="228600"/>
                  </a:lnTo>
                  <a:lnTo>
                    <a:pt x="1691749" y="266700"/>
                  </a:lnTo>
                  <a:lnTo>
                    <a:pt x="1724402" y="228600"/>
                  </a:lnTo>
                  <a:lnTo>
                    <a:pt x="1692073" y="190500"/>
                  </a:lnTo>
                  <a:close/>
                </a:path>
                <a:path w="1724659" h="1714500">
                  <a:moveTo>
                    <a:pt x="1566523" y="215900"/>
                  </a:moveTo>
                  <a:lnTo>
                    <a:pt x="1496921" y="215900"/>
                  </a:lnTo>
                  <a:lnTo>
                    <a:pt x="1507764" y="228600"/>
                  </a:lnTo>
                  <a:lnTo>
                    <a:pt x="1568991" y="228600"/>
                  </a:lnTo>
                  <a:lnTo>
                    <a:pt x="1566523" y="215900"/>
                  </a:lnTo>
                  <a:close/>
                </a:path>
                <a:path w="1724659" h="1714500">
                  <a:moveTo>
                    <a:pt x="1494219" y="0"/>
                  </a:moveTo>
                  <a:lnTo>
                    <a:pt x="1458981" y="25400"/>
                  </a:lnTo>
                  <a:lnTo>
                    <a:pt x="1510277" y="76200"/>
                  </a:lnTo>
                  <a:lnTo>
                    <a:pt x="1641638" y="190500"/>
                  </a:lnTo>
                  <a:lnTo>
                    <a:pt x="1660066" y="177800"/>
                  </a:lnTo>
                  <a:lnTo>
                    <a:pt x="1545516" y="50800"/>
                  </a:lnTo>
                  <a:lnTo>
                    <a:pt x="1494219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75304" y="1946627"/>
              <a:ext cx="6308725" cy="2889250"/>
            </a:xfrm>
            <a:custGeom>
              <a:avLst/>
              <a:gdLst/>
              <a:ahLst/>
              <a:cxnLst/>
              <a:rect l="l" t="t" r="r" b="b"/>
              <a:pathLst>
                <a:path w="6308725" h="2889250">
                  <a:moveTo>
                    <a:pt x="248674" y="0"/>
                  </a:moveTo>
                  <a:lnTo>
                    <a:pt x="0" y="683226"/>
                  </a:lnTo>
                  <a:lnTo>
                    <a:pt x="6059537" y="2888717"/>
                  </a:lnTo>
                  <a:lnTo>
                    <a:pt x="6308210" y="2205490"/>
                  </a:lnTo>
                  <a:lnTo>
                    <a:pt x="248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75305" y="1946627"/>
              <a:ext cx="6308725" cy="2889250"/>
            </a:xfrm>
            <a:custGeom>
              <a:avLst/>
              <a:gdLst/>
              <a:ahLst/>
              <a:cxnLst/>
              <a:rect l="l" t="t" r="r" b="b"/>
              <a:pathLst>
                <a:path w="6308725" h="2889250">
                  <a:moveTo>
                    <a:pt x="248674" y="0"/>
                  </a:moveTo>
                  <a:lnTo>
                    <a:pt x="6308210" y="2205490"/>
                  </a:lnTo>
                  <a:lnTo>
                    <a:pt x="6059536" y="2888717"/>
                  </a:lnTo>
                  <a:lnTo>
                    <a:pt x="0" y="683226"/>
                  </a:lnTo>
                  <a:lnTo>
                    <a:pt x="248674" y="0"/>
                  </a:lnTo>
                  <a:close/>
                </a:path>
              </a:pathLst>
            </a:custGeom>
            <a:ln w="253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1308" y="2160648"/>
              <a:ext cx="5349800" cy="22827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0450" y="1311823"/>
            <a:ext cx="5163944" cy="585734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61144" y="1443768"/>
            <a:ext cx="570230" cy="67627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95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400</a:t>
            </a:r>
            <a:r>
              <a:rPr sz="1125" b="1" spc="-15" baseline="22222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800</a:t>
            </a:r>
            <a:r>
              <a:rPr sz="1125" b="1" spc="-15" baseline="22222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1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1200</a:t>
            </a:r>
            <a:r>
              <a:rPr sz="1125" b="1" spc="-15" baseline="22222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86938" y="4437536"/>
            <a:ext cx="483870" cy="54673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5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200</a:t>
            </a:r>
            <a:r>
              <a:rPr sz="1125" b="1" spc="-15" baseline="22222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1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400</a:t>
            </a:r>
            <a:r>
              <a:rPr sz="1125" b="1" spc="-15" baseline="22222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11385" y="5098072"/>
            <a:ext cx="595630" cy="11226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14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600</a:t>
            </a:r>
            <a:r>
              <a:rPr sz="1125" b="1" spc="-15" baseline="22222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  <a:p>
            <a:pPr marL="113030">
              <a:lnSpc>
                <a:spcPct val="100000"/>
              </a:lnSpc>
              <a:spcBef>
                <a:spcPts val="1125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800</a:t>
            </a:r>
            <a:r>
              <a:rPr sz="1125" b="1" spc="-15" baseline="22222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12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1000</a:t>
            </a:r>
            <a:r>
              <a:rPr sz="1125" b="1" spc="-15" baseline="22222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61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1200</a:t>
            </a:r>
            <a:r>
              <a:rPr sz="1125" b="1" spc="-15" baseline="22222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1698" y="347750"/>
            <a:ext cx="9143998" cy="100488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59"/>
              </a:spcBef>
            </a:pPr>
            <a:r>
              <a:rPr sz="1800" b="0" dirty="0">
                <a:solidFill>
                  <a:srgbClr val="C0504D"/>
                </a:solidFill>
                <a:latin typeface="Arial MT"/>
                <a:cs typeface="Arial MT"/>
              </a:rPr>
              <a:t>Numerical</a:t>
            </a:r>
            <a:r>
              <a:rPr sz="1800" b="0" spc="-30" dirty="0">
                <a:solidFill>
                  <a:srgbClr val="C0504D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C0504D"/>
                </a:solidFill>
                <a:latin typeface="Arial MT"/>
                <a:cs typeface="Arial MT"/>
              </a:rPr>
              <a:t>modeling</a:t>
            </a:r>
            <a:r>
              <a:rPr sz="1800" b="0" spc="-20" dirty="0">
                <a:solidFill>
                  <a:srgbClr val="C0504D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latin typeface="Arial MT"/>
                <a:cs typeface="Arial MT"/>
              </a:rPr>
              <a:t>with</a:t>
            </a:r>
            <a:r>
              <a:rPr sz="1800" b="0" spc="-20" dirty="0">
                <a:latin typeface="Arial MT"/>
                <a:cs typeface="Arial MT"/>
              </a:rPr>
              <a:t> </a:t>
            </a:r>
            <a:r>
              <a:rPr sz="1800" b="0" spc="-10" dirty="0">
                <a:solidFill>
                  <a:srgbClr val="C0504D"/>
                </a:solidFill>
                <a:latin typeface="Arial MT"/>
                <a:cs typeface="Arial MT"/>
              </a:rPr>
              <a:t>visualization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71698" y="1338350"/>
            <a:ext cx="3810000" cy="5867400"/>
            <a:chOff x="771698" y="1338350"/>
            <a:chExt cx="3810000" cy="586740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1698" y="1338350"/>
              <a:ext cx="3809999" cy="190499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698" y="3173500"/>
              <a:ext cx="3809999" cy="205104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1698" y="5115012"/>
              <a:ext cx="3809999" cy="2090736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50438" y="2590570"/>
            <a:ext cx="1736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Arial MT"/>
                <a:cs typeface="Arial MT"/>
              </a:rPr>
              <a:t>Temperature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0438" y="6781569"/>
            <a:ext cx="149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Bulk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Strain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84037" y="4419370"/>
            <a:ext cx="1222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8000"/>
                </a:solidFill>
                <a:latin typeface="Arial MT"/>
                <a:cs typeface="Arial MT"/>
              </a:rPr>
              <a:t>Viscosity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761" rIns="0" bIns="0" rtlCol="0">
            <a:spAutoFit/>
          </a:bodyPr>
          <a:lstStyle/>
          <a:p>
            <a:pPr marL="1615440">
              <a:lnSpc>
                <a:spcPct val="100000"/>
              </a:lnSpc>
              <a:spcBef>
                <a:spcPts val="100"/>
              </a:spcBef>
            </a:pPr>
            <a:r>
              <a:rPr dirty="0"/>
              <a:t>Computational</a:t>
            </a:r>
            <a:r>
              <a:rPr spc="-170" dirty="0"/>
              <a:t> </a:t>
            </a:r>
            <a:r>
              <a:rPr spc="-10" dirty="0"/>
              <a:t>resources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8366" y="4302879"/>
            <a:ext cx="2089148" cy="25069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4330" y="1352217"/>
            <a:ext cx="1122678" cy="11582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6219" y="6433978"/>
            <a:ext cx="550429" cy="49468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94764" y="6445524"/>
            <a:ext cx="671510" cy="4796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65518" y="6511346"/>
            <a:ext cx="842817" cy="27391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66019" y="2880832"/>
            <a:ext cx="1523998" cy="108711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197525" y="4000972"/>
            <a:ext cx="16490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7390" marR="5080" indent="-69532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FERMI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CINECA,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Bologna, </a:t>
            </a:r>
            <a:r>
              <a:rPr sz="1000" spc="-20" dirty="0">
                <a:latin typeface="Arial MT"/>
                <a:cs typeface="Arial MT"/>
              </a:rPr>
              <a:t>Italy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80889" y="6772102"/>
            <a:ext cx="15697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6415" marR="5080" indent="-51435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This is not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 coffee </a:t>
            </a:r>
            <a:r>
              <a:rPr sz="1000" spc="-10" dirty="0">
                <a:latin typeface="Arial MT"/>
                <a:cs typeface="Arial MT"/>
              </a:rPr>
              <a:t>vending machine!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5350" y="1424500"/>
            <a:ext cx="7186295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1D/2D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models:</a:t>
            </a:r>
            <a:endParaRPr sz="1500">
              <a:latin typeface="Arial"/>
              <a:cs typeface="Arial"/>
            </a:endParaRPr>
          </a:p>
          <a:p>
            <a:pPr marL="12700" marR="2131695" indent="118745">
              <a:lnSpc>
                <a:spcPct val="100000"/>
              </a:lnSpc>
              <a:buChar char="•"/>
              <a:tabLst>
                <a:tab pos="131445" algn="l"/>
              </a:tabLst>
            </a:pPr>
            <a:r>
              <a:rPr sz="1500" dirty="0">
                <a:latin typeface="Arial MT"/>
                <a:cs typeface="Arial MT"/>
              </a:rPr>
              <a:t>computation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visualization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can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mostly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done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on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local </a:t>
            </a:r>
            <a:r>
              <a:rPr sz="1500" dirty="0">
                <a:latin typeface="Arial MT"/>
                <a:cs typeface="Arial MT"/>
              </a:rPr>
              <a:t>machines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with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moderate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high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RAM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1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8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CPUs </a:t>
            </a:r>
            <a:r>
              <a:rPr sz="1500" dirty="0">
                <a:latin typeface="Arial MT"/>
                <a:cs typeface="Arial MT"/>
              </a:rPr>
              <a:t>(depending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on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numerical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resolution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=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problem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size)(</a:t>
            </a:r>
            <a:r>
              <a:rPr sz="1500" spc="-10" dirty="0">
                <a:latin typeface="Microsoft Sans Serif"/>
                <a:cs typeface="Microsoft Sans Serif"/>
              </a:rPr>
              <a:t>€ </a:t>
            </a:r>
            <a:r>
              <a:rPr sz="1500" spc="-10" dirty="0">
                <a:latin typeface="Arial MT"/>
                <a:cs typeface="Arial MT"/>
              </a:rPr>
              <a:t>1.500-4.000)</a:t>
            </a:r>
            <a:endParaRPr sz="1500">
              <a:latin typeface="Arial MT"/>
              <a:cs typeface="Arial MT"/>
            </a:endParaRPr>
          </a:p>
          <a:p>
            <a:pPr marR="5080" algn="r">
              <a:lnSpc>
                <a:spcPts val="1010"/>
              </a:lnSpc>
            </a:pPr>
            <a:r>
              <a:rPr sz="1000" spc="-10" dirty="0">
                <a:latin typeface="Arial MT"/>
                <a:cs typeface="Arial MT"/>
              </a:rPr>
              <a:t>Workstation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500" b="1" dirty="0">
                <a:latin typeface="Arial"/>
                <a:cs typeface="Arial"/>
              </a:rPr>
              <a:t>3D</a:t>
            </a:r>
            <a:r>
              <a:rPr sz="1500" b="1" spc="-2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models:</a:t>
            </a:r>
            <a:endParaRPr sz="1500">
              <a:latin typeface="Arial"/>
              <a:cs typeface="Arial"/>
            </a:endParaRPr>
          </a:p>
          <a:p>
            <a:pPr marL="12700" marR="1804670" indent="118745">
              <a:lnSpc>
                <a:spcPct val="100000"/>
              </a:lnSpc>
              <a:buChar char="•"/>
              <a:tabLst>
                <a:tab pos="131445" algn="l"/>
              </a:tabLst>
            </a:pPr>
            <a:r>
              <a:rPr sz="1500" dirty="0">
                <a:latin typeface="Arial MT"/>
                <a:cs typeface="Arial MT"/>
              </a:rPr>
              <a:t>computation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on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supercomputing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clusters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(e.g.,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PLX,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EURORA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FERMI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at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CINECA,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Italy)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with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100s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1.000.000s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CPUs.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If </a:t>
            </a:r>
            <a:r>
              <a:rPr sz="1500" dirty="0">
                <a:latin typeface="Arial MT"/>
                <a:cs typeface="Arial MT"/>
              </a:rPr>
              <a:t>many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users,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“problems”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may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arise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due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long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queuing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times.</a:t>
            </a:r>
            <a:endParaRPr sz="1500">
              <a:latin typeface="Arial MT"/>
              <a:cs typeface="Arial MT"/>
            </a:endParaRPr>
          </a:p>
          <a:p>
            <a:pPr marL="131445" indent="-118745">
              <a:lnSpc>
                <a:spcPct val="100000"/>
              </a:lnSpc>
              <a:buChar char="•"/>
              <a:tabLst>
                <a:tab pos="131445" algn="l"/>
              </a:tabLst>
            </a:pPr>
            <a:r>
              <a:rPr sz="1500" spc="-10" dirty="0">
                <a:latin typeface="Arial MT"/>
                <a:cs typeface="Arial MT"/>
              </a:rPr>
              <a:t>alternatively,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with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about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Microsoft Sans Serif"/>
                <a:cs typeface="Microsoft Sans Serif"/>
              </a:rPr>
              <a:t>€</a:t>
            </a:r>
            <a:r>
              <a:rPr sz="1500" spc="-10" dirty="0">
                <a:latin typeface="Microsoft Sans Serif"/>
                <a:cs typeface="Microsoft Sans Serif"/>
              </a:rPr>
              <a:t> </a:t>
            </a:r>
            <a:r>
              <a:rPr sz="1500" dirty="0">
                <a:latin typeface="Arial MT"/>
                <a:cs typeface="Arial MT"/>
              </a:rPr>
              <a:t>100.000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it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is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possible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buy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medium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35350" y="3939100"/>
            <a:ext cx="55562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83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MT"/>
                <a:cs typeface="Arial MT"/>
              </a:rPr>
              <a:t>size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clusters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(e.g.,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384-</a:t>
            </a:r>
            <a:r>
              <a:rPr sz="1500" dirty="0">
                <a:latin typeface="Arial MT"/>
                <a:cs typeface="Arial MT"/>
              </a:rPr>
              <a:t>786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CPUs)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that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could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serve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whole department.</a:t>
            </a:r>
            <a:endParaRPr sz="1500">
              <a:latin typeface="Arial MT"/>
              <a:cs typeface="Arial MT"/>
            </a:endParaRPr>
          </a:p>
          <a:p>
            <a:pPr marL="12700" marR="5080" indent="118745">
              <a:lnSpc>
                <a:spcPct val="100000"/>
              </a:lnSpc>
              <a:buChar char="•"/>
              <a:tabLst>
                <a:tab pos="131445" algn="l"/>
              </a:tabLst>
            </a:pPr>
            <a:r>
              <a:rPr sz="1500" dirty="0">
                <a:latin typeface="Arial MT"/>
                <a:cs typeface="Arial MT"/>
              </a:rPr>
              <a:t>visualization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requires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powerful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GPUs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(</a:t>
            </a:r>
            <a:r>
              <a:rPr sz="1500" dirty="0">
                <a:latin typeface="Microsoft Sans Serif"/>
                <a:cs typeface="Microsoft Sans Serif"/>
              </a:rPr>
              <a:t>€</a:t>
            </a:r>
            <a:r>
              <a:rPr sz="1500" spc="-30" dirty="0">
                <a:latin typeface="Microsoft Sans Serif"/>
                <a:cs typeface="Microsoft Sans Serif"/>
              </a:rPr>
              <a:t> </a:t>
            </a:r>
            <a:r>
              <a:rPr sz="1500" spc="-10" dirty="0">
                <a:latin typeface="Arial MT"/>
                <a:cs typeface="Arial MT"/>
              </a:rPr>
              <a:t>2.000-</a:t>
            </a:r>
            <a:r>
              <a:rPr sz="1500" dirty="0">
                <a:latin typeface="Arial MT"/>
                <a:cs typeface="Arial MT"/>
              </a:rPr>
              <a:t>10.0000)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can </a:t>
            </a:r>
            <a:r>
              <a:rPr sz="1500" dirty="0">
                <a:latin typeface="Arial MT"/>
                <a:cs typeface="Arial MT"/>
              </a:rPr>
              <a:t>be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done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on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local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machines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or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remotely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using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cluster’s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GPUs.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5350" y="5082100"/>
            <a:ext cx="52387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Programming</a:t>
            </a:r>
            <a:r>
              <a:rPr sz="1500" b="1" spc="-8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languages: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926465" algn="l"/>
                <a:tab pos="1840864" algn="l"/>
              </a:tabLst>
            </a:pPr>
            <a:r>
              <a:rPr sz="15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C/C++</a:t>
            </a:r>
            <a:r>
              <a:rPr sz="1500" spc="-10" dirty="0">
                <a:latin typeface="Arial MT"/>
                <a:cs typeface="Arial MT"/>
              </a:rPr>
              <a:t>,</a:t>
            </a:r>
            <a:r>
              <a:rPr sz="1500" dirty="0">
                <a:latin typeface="Arial MT"/>
                <a:cs typeface="Arial MT"/>
              </a:rPr>
              <a:t>	</a:t>
            </a:r>
            <a:r>
              <a:rPr sz="15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Fortran</a:t>
            </a:r>
            <a:r>
              <a:rPr sz="1500" spc="-10" dirty="0">
                <a:latin typeface="Arial MT"/>
                <a:cs typeface="Arial MT"/>
              </a:rPr>
              <a:t>,</a:t>
            </a:r>
            <a:r>
              <a:rPr sz="1500" dirty="0">
                <a:latin typeface="Arial MT"/>
                <a:cs typeface="Arial MT"/>
              </a:rPr>
              <a:t>	</a:t>
            </a:r>
            <a:r>
              <a:rPr sz="15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MatLab</a:t>
            </a:r>
            <a:r>
              <a:rPr sz="1500" i="1" spc="-25" dirty="0">
                <a:latin typeface="Arial"/>
                <a:cs typeface="Arial"/>
              </a:rPr>
              <a:t> </a:t>
            </a:r>
            <a:r>
              <a:rPr sz="1500" dirty="0">
                <a:latin typeface="Arial MT"/>
                <a:cs typeface="Arial MT"/>
              </a:rPr>
              <a:t>(</a:t>
            </a:r>
            <a:r>
              <a:rPr sz="1500" dirty="0">
                <a:latin typeface="Microsoft Sans Serif"/>
                <a:cs typeface="Microsoft Sans Serif"/>
              </a:rPr>
              <a:t>€</a:t>
            </a:r>
            <a:r>
              <a:rPr sz="1500" spc="-10" dirty="0">
                <a:latin typeface="Microsoft Sans Serif"/>
                <a:cs typeface="Microsoft Sans Serif"/>
              </a:rPr>
              <a:t> </a:t>
            </a:r>
            <a:r>
              <a:rPr sz="1500" spc="-10" dirty="0">
                <a:latin typeface="Arial MT"/>
                <a:cs typeface="Arial MT"/>
              </a:rPr>
              <a:t>500-</a:t>
            </a:r>
            <a:r>
              <a:rPr sz="1500" dirty="0">
                <a:latin typeface="Arial MT"/>
                <a:cs typeface="Arial MT"/>
              </a:rPr>
              <a:t>1000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Wingdings"/>
                <a:cs typeface="Wingdings"/>
              </a:rPr>
              <a:t>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Octave</a:t>
            </a:r>
            <a:r>
              <a:rPr sz="1500" i="1" spc="-25" dirty="0">
                <a:latin typeface="Arial"/>
                <a:cs typeface="Arial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free!)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35350" y="5767900"/>
            <a:ext cx="26301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Visualization</a:t>
            </a:r>
            <a:r>
              <a:rPr sz="1500" b="1" spc="-7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softwares: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965200" algn="l"/>
                <a:tab pos="2066289" algn="l"/>
              </a:tabLst>
            </a:pPr>
            <a:r>
              <a:rPr sz="15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MatLab</a:t>
            </a:r>
            <a:r>
              <a:rPr sz="1500" spc="-10" dirty="0">
                <a:latin typeface="Arial MT"/>
                <a:cs typeface="Arial MT"/>
              </a:rPr>
              <a:t>,</a:t>
            </a:r>
            <a:r>
              <a:rPr sz="1500" dirty="0">
                <a:latin typeface="Arial MT"/>
                <a:cs typeface="Arial MT"/>
              </a:rPr>
              <a:t>	</a:t>
            </a:r>
            <a:r>
              <a:rPr sz="15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Paraview</a:t>
            </a:r>
            <a:r>
              <a:rPr sz="1500" spc="-10" dirty="0">
                <a:latin typeface="Arial MT"/>
                <a:cs typeface="Arial MT"/>
              </a:rPr>
              <a:t>,</a:t>
            </a:r>
            <a:r>
              <a:rPr sz="1500" dirty="0">
                <a:latin typeface="Arial MT"/>
                <a:cs typeface="Arial MT"/>
              </a:rPr>
              <a:t>	</a:t>
            </a:r>
            <a:r>
              <a:rPr sz="15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Amira</a:t>
            </a:r>
            <a:r>
              <a:rPr sz="1500" spc="-10" dirty="0">
                <a:latin typeface="Arial MT"/>
                <a:cs typeface="Arial MT"/>
              </a:rPr>
              <a:t>,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90233" y="5996500"/>
            <a:ext cx="3327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latin typeface="Arial MT"/>
                <a:cs typeface="Arial MT"/>
              </a:rPr>
              <a:t>etc.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Computational Science Image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665" y="2025650"/>
            <a:ext cx="6736069" cy="3790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170" name="Rectangle 5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771698" y="347750"/>
            <a:ext cx="9150003" cy="615553"/>
          </a:xfrm>
        </p:spPr>
        <p:txBody>
          <a:bodyPr/>
          <a:lstStyle/>
          <a:p>
            <a:pPr eaLnBrk="1" hangingPunct="1"/>
            <a:r>
              <a:rPr lang="en-US" altLang="en-US" b="1"/>
              <a:t>Computational Science?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771698" y="347750"/>
            <a:ext cx="9150003" cy="615553"/>
          </a:xfrm>
        </p:spPr>
        <p:txBody>
          <a:bodyPr/>
          <a:lstStyle/>
          <a:p>
            <a:pPr eaLnBrk="1" hangingPunct="1"/>
            <a:r>
              <a:rPr lang="en-US" altLang="en-US" b="1"/>
              <a:t>Computational Science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0900" y="1607179"/>
            <a:ext cx="8564033" cy="1206484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dirty="0"/>
              <a:t>Complements, but does not replace, theory and experimentation in scientific research.</a:t>
            </a:r>
          </a:p>
          <a:p>
            <a:pPr eaLnBrk="1" hangingPunct="1">
              <a:buFontTx/>
              <a:buNone/>
            </a:pPr>
            <a:endParaRPr lang="en-US" altLang="en-US" sz="2800" dirty="0"/>
          </a:p>
        </p:txBody>
      </p:sp>
      <p:grpSp>
        <p:nvGrpSpPr>
          <p:cNvPr id="9220" name="Group 4"/>
          <p:cNvGrpSpPr>
            <a:grpSpLocks/>
          </p:cNvGrpSpPr>
          <p:nvPr/>
        </p:nvGrpSpPr>
        <p:grpSpPr bwMode="auto">
          <a:xfrm>
            <a:off x="1568450" y="3526367"/>
            <a:ext cx="7556500" cy="3190522"/>
            <a:chOff x="694" y="2112"/>
            <a:chExt cx="4202" cy="1824"/>
          </a:xfrm>
        </p:grpSpPr>
        <p:grpSp>
          <p:nvGrpSpPr>
            <p:cNvPr id="9221" name="Group 5"/>
            <p:cNvGrpSpPr>
              <a:grpSpLocks/>
            </p:cNvGrpSpPr>
            <p:nvPr/>
          </p:nvGrpSpPr>
          <p:grpSpPr bwMode="auto">
            <a:xfrm>
              <a:off x="1566" y="2892"/>
              <a:ext cx="2399" cy="498"/>
              <a:chOff x="1613" y="2344"/>
              <a:chExt cx="2528" cy="586"/>
            </a:xfrm>
          </p:grpSpPr>
          <p:sp>
            <p:nvSpPr>
              <p:cNvPr id="9230" name="Line 6"/>
              <p:cNvSpPr>
                <a:spLocks noChangeShapeType="1"/>
              </p:cNvSpPr>
              <p:nvPr/>
            </p:nvSpPr>
            <p:spPr bwMode="auto">
              <a:xfrm>
                <a:off x="1613" y="2344"/>
                <a:ext cx="1264" cy="582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231" name="Line 7"/>
              <p:cNvSpPr>
                <a:spLocks noChangeShapeType="1"/>
              </p:cNvSpPr>
              <p:nvPr/>
            </p:nvSpPr>
            <p:spPr bwMode="auto">
              <a:xfrm flipH="1">
                <a:off x="2877" y="2348"/>
                <a:ext cx="1264" cy="582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222" name="Group 8"/>
            <p:cNvGrpSpPr>
              <a:grpSpLocks/>
            </p:cNvGrpSpPr>
            <p:nvPr/>
          </p:nvGrpSpPr>
          <p:grpSpPr bwMode="auto">
            <a:xfrm>
              <a:off x="694" y="2115"/>
              <a:ext cx="1878" cy="904"/>
              <a:chOff x="898" y="1542"/>
              <a:chExt cx="1550" cy="835"/>
            </a:xfrm>
          </p:grpSpPr>
          <p:sp>
            <p:nvSpPr>
              <p:cNvPr id="9228" name="Oval 9"/>
              <p:cNvSpPr>
                <a:spLocks noChangeArrowheads="1"/>
              </p:cNvSpPr>
              <p:nvPr/>
            </p:nvSpPr>
            <p:spPr bwMode="auto">
              <a:xfrm>
                <a:off x="898" y="1542"/>
                <a:ext cx="1550" cy="835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 sz="2645"/>
              </a:p>
            </p:txBody>
          </p:sp>
          <p:sp>
            <p:nvSpPr>
              <p:cNvPr id="9229" name="Text Box 10"/>
              <p:cNvSpPr txBox="1">
                <a:spLocks noChangeArrowheads="1"/>
              </p:cNvSpPr>
              <p:nvPr/>
            </p:nvSpPr>
            <p:spPr bwMode="auto">
              <a:xfrm>
                <a:off x="898" y="1815"/>
                <a:ext cx="1526" cy="3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sz="3526" baseline="0">
                    <a:solidFill>
                      <a:srgbClr val="FFFFFF"/>
                    </a:solidFill>
                    <a:latin typeface="Albertus Medium" pitchFamily="34" charset="0"/>
                  </a:rPr>
                  <a:t>Experiment</a:t>
                </a:r>
              </a:p>
            </p:txBody>
          </p:sp>
        </p:grpSp>
        <p:sp>
          <p:nvSpPr>
            <p:cNvPr id="9223" name="Rectangle 11"/>
            <p:cNvSpPr>
              <a:spLocks noChangeArrowheads="1"/>
            </p:cNvSpPr>
            <p:nvPr/>
          </p:nvSpPr>
          <p:spPr bwMode="auto">
            <a:xfrm>
              <a:off x="1654" y="3359"/>
              <a:ext cx="2235" cy="57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2645"/>
            </a:p>
          </p:txBody>
        </p:sp>
        <p:sp>
          <p:nvSpPr>
            <p:cNvPr id="9224" name="Text Box 12"/>
            <p:cNvSpPr txBox="1">
              <a:spLocks noChangeArrowheads="1"/>
            </p:cNvSpPr>
            <p:nvPr/>
          </p:nvSpPr>
          <p:spPr bwMode="auto">
            <a:xfrm>
              <a:off x="1659" y="3486"/>
              <a:ext cx="2230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3526" i="1" baseline="0">
                  <a:solidFill>
                    <a:srgbClr val="FFFFFF"/>
                  </a:solidFill>
                  <a:latin typeface="Albertus Medium" pitchFamily="34" charset="0"/>
                </a:rPr>
                <a:t>Computation</a:t>
              </a:r>
            </a:p>
          </p:txBody>
        </p:sp>
        <p:grpSp>
          <p:nvGrpSpPr>
            <p:cNvPr id="9225" name="Group 13"/>
            <p:cNvGrpSpPr>
              <a:grpSpLocks/>
            </p:cNvGrpSpPr>
            <p:nvPr/>
          </p:nvGrpSpPr>
          <p:grpSpPr bwMode="auto">
            <a:xfrm>
              <a:off x="3018" y="2112"/>
              <a:ext cx="1878" cy="904"/>
              <a:chOff x="898" y="1542"/>
              <a:chExt cx="1550" cy="835"/>
            </a:xfrm>
          </p:grpSpPr>
          <p:sp>
            <p:nvSpPr>
              <p:cNvPr id="9226" name="Oval 14"/>
              <p:cNvSpPr>
                <a:spLocks noChangeArrowheads="1"/>
              </p:cNvSpPr>
              <p:nvPr/>
            </p:nvSpPr>
            <p:spPr bwMode="auto">
              <a:xfrm>
                <a:off x="898" y="1542"/>
                <a:ext cx="1550" cy="835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 sz="2645"/>
              </a:p>
            </p:txBody>
          </p:sp>
          <p:sp>
            <p:nvSpPr>
              <p:cNvPr id="9227" name="Text Box 15"/>
              <p:cNvSpPr txBox="1">
                <a:spLocks noChangeArrowheads="1"/>
              </p:cNvSpPr>
              <p:nvPr/>
            </p:nvSpPr>
            <p:spPr bwMode="auto">
              <a:xfrm>
                <a:off x="898" y="1815"/>
                <a:ext cx="1526" cy="3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sz="3526" baseline="0">
                    <a:solidFill>
                      <a:srgbClr val="FFFFFF"/>
                    </a:solidFill>
                    <a:latin typeface="Albertus Medium" pitchFamily="34" charset="0"/>
                  </a:rPr>
                  <a:t>Theory</a:t>
                </a: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771698" y="347750"/>
            <a:ext cx="9150003" cy="615553"/>
          </a:xfrm>
        </p:spPr>
        <p:txBody>
          <a:bodyPr/>
          <a:lstStyle/>
          <a:p>
            <a:pPr eaLnBrk="1" hangingPunct="1"/>
            <a:r>
              <a:rPr lang="en-US" altLang="en-US" b="1"/>
              <a:t>Computational Science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4683" y="2099028"/>
            <a:ext cx="8731956" cy="49859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   Has emerged as a powerful, indispensable tool for studying a variety of problems in scientific research, product and process development, and manufacturing. 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1568450" y="4094854"/>
            <a:ext cx="3610328" cy="2466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3085" b="1" baseline="0" dirty="0"/>
              <a:t> Seismology </a:t>
            </a:r>
          </a:p>
          <a:p>
            <a:pPr eaLnBrk="1" hangingPunct="1">
              <a:buFontTx/>
              <a:buChar char="•"/>
            </a:pPr>
            <a:r>
              <a:rPr lang="en-US" altLang="en-US" sz="3085" b="1" baseline="0" dirty="0"/>
              <a:t> Climate modeling </a:t>
            </a:r>
          </a:p>
          <a:p>
            <a:pPr eaLnBrk="1" hangingPunct="1">
              <a:buFontTx/>
              <a:buChar char="•"/>
            </a:pPr>
            <a:r>
              <a:rPr lang="en-US" altLang="en-US" sz="3085" b="1" baseline="0" dirty="0"/>
              <a:t> Economics</a:t>
            </a:r>
          </a:p>
          <a:p>
            <a:pPr eaLnBrk="1" hangingPunct="1">
              <a:buFontTx/>
              <a:buChar char="•"/>
            </a:pPr>
            <a:r>
              <a:rPr lang="en-US" altLang="en-US" sz="3085" b="1" baseline="0" dirty="0"/>
              <a:t> Environment</a:t>
            </a:r>
          </a:p>
          <a:p>
            <a:pPr eaLnBrk="1" hangingPunct="1">
              <a:buFontTx/>
              <a:buChar char="•"/>
            </a:pPr>
            <a:r>
              <a:rPr lang="en-US" altLang="en-US" sz="3085" b="1" baseline="0" dirty="0"/>
              <a:t> Material research</a:t>
            </a: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5766505" y="4094854"/>
            <a:ext cx="3610328" cy="2466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2645" b="1" baseline="0" dirty="0"/>
              <a:t> </a:t>
            </a:r>
            <a:r>
              <a:rPr lang="en-US" altLang="en-US" sz="3085" b="1" baseline="0" dirty="0"/>
              <a:t>Drug design</a:t>
            </a:r>
          </a:p>
          <a:p>
            <a:pPr eaLnBrk="1" hangingPunct="1">
              <a:buFontTx/>
              <a:buChar char="•"/>
            </a:pPr>
            <a:r>
              <a:rPr lang="en-US" altLang="en-US" sz="3085" b="1" baseline="0" dirty="0"/>
              <a:t> Manufacturing </a:t>
            </a:r>
          </a:p>
          <a:p>
            <a:pPr eaLnBrk="1" hangingPunct="1">
              <a:buFontTx/>
              <a:buChar char="•"/>
            </a:pPr>
            <a:r>
              <a:rPr lang="en-US" altLang="en-US" sz="3085" b="1" baseline="0" dirty="0"/>
              <a:t> Medicine </a:t>
            </a:r>
          </a:p>
          <a:p>
            <a:pPr eaLnBrk="1" hangingPunct="1">
              <a:buFontTx/>
              <a:buChar char="•"/>
            </a:pPr>
            <a:r>
              <a:rPr lang="en-US" altLang="en-US" sz="3085" b="1" baseline="0" dirty="0"/>
              <a:t> Biology</a:t>
            </a:r>
          </a:p>
          <a:p>
            <a:pPr eaLnBrk="1" hangingPunct="1"/>
            <a:endParaRPr lang="en-US" altLang="en-US" sz="3085" b="1" baseline="0" dirty="0"/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4111773" y="6566459"/>
            <a:ext cx="3082072" cy="974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kumimoji="1" lang="en-US" altLang="en-US" sz="3085" b="1" i="1" baseline="0" dirty="0"/>
              <a:t>Analyze - Predict</a:t>
            </a:r>
            <a:r>
              <a:rPr kumimoji="1" lang="en-US" altLang="en-US" sz="2645" b="1" i="1" baseline="0" dirty="0"/>
              <a:t> </a:t>
            </a:r>
          </a:p>
          <a:p>
            <a:pPr eaLnBrk="1" hangingPunct="1"/>
            <a:endParaRPr lang="en-US" altLang="en-US" sz="2645" baseline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1568450" y="564989"/>
            <a:ext cx="7808383" cy="615553"/>
          </a:xfrm>
        </p:spPr>
        <p:txBody>
          <a:bodyPr/>
          <a:lstStyle/>
          <a:p>
            <a:pPr eaLnBrk="1" hangingPunct="1"/>
            <a:r>
              <a:rPr lang="en-US" altLang="en-US" b="1"/>
              <a:t>Example: Industry </a:t>
            </a:r>
            <a:r>
              <a:rPr lang="en-US" altLang="en-US" b="1">
                <a:sym typeface="Wingdings" panose="05000000000000000000" pitchFamily="2" charset="2"/>
                <a:hlinkClick r:id="rId3"/>
              </a:rPr>
              <a:t></a:t>
            </a:r>
            <a:endParaRPr lang="en-US" altLang="en-US" b="1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728839" y="4701822"/>
            <a:ext cx="9151761" cy="167922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645">
                <a:solidFill>
                  <a:srgbClr val="000000"/>
                </a:solidFill>
                <a:latin typeface="Geneva"/>
                <a:cs typeface="Times New Roman" panose="02020603050405020304" pitchFamily="18" charset="0"/>
              </a:rPr>
              <a:t>First jetliner to be digitally designed, "pre-assembled" on computer, eliminating need for costly, full-scale mockup.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45">
                <a:solidFill>
                  <a:srgbClr val="000000"/>
                </a:solidFill>
                <a:latin typeface="Geneva"/>
                <a:cs typeface="Times New Roman" panose="02020603050405020304" pitchFamily="18" charset="0"/>
              </a:rPr>
              <a:t>Computational modeling improved the quality of work and reduced changes, errors, and rework</a:t>
            </a:r>
            <a:r>
              <a:rPr lang="en-US" altLang="en-US" sz="3085">
                <a:solidFill>
                  <a:srgbClr val="000000"/>
                </a:solidFill>
                <a:latin typeface="Geneva"/>
                <a:cs typeface="Times New Roman" panose="02020603050405020304" pitchFamily="18" charset="0"/>
              </a:rPr>
              <a:t>.</a:t>
            </a:r>
            <a:endParaRPr lang="en-US" altLang="en-US" sz="2645" b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5364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2114197" y="1847144"/>
          <a:ext cx="6465006" cy="2770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802380" imgH="1524000" progId="Word.Document.8">
                  <p:embed/>
                </p:oleObj>
              </mc:Choice>
              <mc:Fallback>
                <p:oleObj name="Document" r:id="rId4" imgW="3802380" imgH="1524000" progId="Word.Document.8">
                  <p:embed/>
                  <p:pic>
                    <p:nvPicPr>
                      <p:cNvPr id="15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197" y="1847144"/>
                        <a:ext cx="6465006" cy="27707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5334456" y="6363552"/>
            <a:ext cx="3805850" cy="770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en-US" altLang="en-US" sz="2204" b="1" baseline="0">
                <a:solidFill>
                  <a:srgbClr val="000000"/>
                </a:solidFill>
                <a:hlinkClick r:id="rId3"/>
              </a:rPr>
              <a:t>www.boeing.com/commercial/</a:t>
            </a:r>
          </a:p>
          <a:p>
            <a:pPr eaLnBrk="1" hangingPunct="1"/>
            <a:r>
              <a:rPr kumimoji="1" lang="en-US" altLang="en-US" sz="2204" b="1" baseline="0">
                <a:solidFill>
                  <a:srgbClr val="000000"/>
                </a:solidFill>
                <a:hlinkClick r:id="rId3"/>
              </a:rPr>
              <a:t>777family/index.html</a:t>
            </a:r>
            <a:endParaRPr kumimoji="1" lang="en-US" altLang="en-US" sz="2204" b="1" baseline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1484489" y="419805"/>
            <a:ext cx="8480072" cy="615553"/>
          </a:xfrm>
        </p:spPr>
        <p:txBody>
          <a:bodyPr/>
          <a:lstStyle/>
          <a:p>
            <a:pPr eaLnBrk="1" hangingPunct="1"/>
            <a:r>
              <a:rPr lang="en-US" altLang="en-US" b="1"/>
              <a:t>Computational Science Process</a:t>
            </a:r>
          </a:p>
        </p:txBody>
      </p:sp>
      <p:pic>
        <p:nvPicPr>
          <p:cNvPr id="21507" name="Picture 3" descr="Problem Cycle Comple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489" y="1847144"/>
            <a:ext cx="8144228" cy="4953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9914" y="2158027"/>
            <a:ext cx="7738745" cy="1391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First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it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simple!!!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First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second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order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derivatives.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30"/>
              </a:lnSpc>
            </a:pPr>
            <a:r>
              <a:rPr sz="1800" spc="-10" dirty="0">
                <a:latin typeface="Arial MT"/>
                <a:cs typeface="Arial MT"/>
              </a:rPr>
              <a:t>(Very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short)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review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mathematical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background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needed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course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</a:t>
            </a:r>
            <a:endParaRPr sz="1800">
              <a:latin typeface="Arial MT"/>
              <a:cs typeface="Arial MT"/>
            </a:endParaRPr>
          </a:p>
          <a:p>
            <a:pPr marL="12700" marR="50800">
              <a:lnSpc>
                <a:spcPct val="99500"/>
              </a:lnSpc>
              <a:spcBef>
                <a:spcPts val="50"/>
              </a:spcBef>
            </a:pPr>
            <a:r>
              <a:rPr sz="1800" dirty="0">
                <a:latin typeface="Arial MT"/>
                <a:cs typeface="Arial MT"/>
              </a:rPr>
              <a:t>handle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partial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differential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equations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(PDE):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differential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equations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 </a:t>
            </a:r>
            <a:r>
              <a:rPr sz="1800" dirty="0">
                <a:latin typeface="Arial MT"/>
                <a:cs typeface="Arial MT"/>
              </a:rPr>
              <a:t>unknown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multiple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(rather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single)</a:t>
            </a:r>
            <a:r>
              <a:rPr sz="1800" spc="-10" dirty="0">
                <a:latin typeface="Arial MT"/>
                <a:cs typeface="Arial MT"/>
              </a:rPr>
              <a:t> independent </a:t>
            </a:r>
            <a:r>
              <a:rPr sz="1800" dirty="0">
                <a:latin typeface="Arial MT"/>
                <a:cs typeface="Arial MT"/>
              </a:rPr>
              <a:t>variables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(space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coordinates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time).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49914" y="4342427"/>
            <a:ext cx="401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Example: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diffusion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equation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0" dirty="0">
                <a:latin typeface="Wingdings"/>
                <a:cs typeface="Wingdings"/>
              </a:rPr>
              <a:t></a:t>
            </a:r>
            <a:endParaRPr sz="18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9914" y="5447325"/>
            <a:ext cx="7896225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course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finite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method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operate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differentiation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numerically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solve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PDEs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58065" y="668404"/>
            <a:ext cx="418020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" dirty="0"/>
              <a:t>Mathematics</a:t>
            </a:r>
            <a:endParaRPr sz="54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8698" y="436650"/>
            <a:ext cx="1028699" cy="155008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2696" y="436650"/>
            <a:ext cx="1028700" cy="155008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917585" y="4248246"/>
            <a:ext cx="396875" cy="3981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50" dirty="0">
                <a:latin typeface="Symbol"/>
                <a:cs typeface="Symbol"/>
              </a:rPr>
              <a:t></a:t>
            </a:r>
            <a:r>
              <a:rPr sz="2450" spc="-130" dirty="0">
                <a:latin typeface="Times New Roman"/>
                <a:cs typeface="Times New Roman"/>
              </a:rPr>
              <a:t> </a:t>
            </a:r>
            <a:r>
              <a:rPr sz="2450" i="1" spc="-50" dirty="0">
                <a:latin typeface="Times New Roman"/>
                <a:cs typeface="Times New Roman"/>
              </a:rPr>
              <a:t>k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94389" y="4511692"/>
            <a:ext cx="103505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78995" y="4504592"/>
            <a:ext cx="463550" cy="0"/>
          </a:xfrm>
          <a:custGeom>
            <a:avLst/>
            <a:gdLst/>
            <a:ahLst/>
            <a:cxnLst/>
            <a:rect l="l" t="t" r="r" b="b"/>
            <a:pathLst>
              <a:path w="463550">
                <a:moveTo>
                  <a:pt x="0" y="0"/>
                </a:moveTo>
                <a:lnTo>
                  <a:pt x="463049" y="0"/>
                </a:lnTo>
              </a:path>
            </a:pathLst>
          </a:custGeom>
          <a:ln w="153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20036" y="4504592"/>
            <a:ext cx="463550" cy="0"/>
          </a:xfrm>
          <a:custGeom>
            <a:avLst/>
            <a:gdLst/>
            <a:ahLst/>
            <a:cxnLst/>
            <a:rect l="l" t="t" r="r" b="b"/>
            <a:pathLst>
              <a:path w="463550">
                <a:moveTo>
                  <a:pt x="0" y="0"/>
                </a:moveTo>
                <a:lnTo>
                  <a:pt x="463049" y="0"/>
                </a:lnTo>
              </a:path>
            </a:pathLst>
          </a:custGeom>
          <a:ln w="153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57865" y="4248246"/>
            <a:ext cx="1949450" cy="6451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830" algn="ctr">
              <a:lnSpc>
                <a:spcPts val="2445"/>
              </a:lnSpc>
              <a:spcBef>
                <a:spcPts val="90"/>
              </a:spcBef>
              <a:tabLst>
                <a:tab pos="777875" algn="l"/>
              </a:tabLst>
            </a:pPr>
            <a:r>
              <a:rPr sz="2450" spc="-50" dirty="0">
                <a:latin typeface="Symbol"/>
                <a:cs typeface="Symbol"/>
              </a:rPr>
              <a:t>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-50" dirty="0">
                <a:latin typeface="Symbol"/>
                <a:cs typeface="Symbol"/>
              </a:rPr>
              <a:t></a:t>
            </a:r>
            <a:endParaRPr sz="2450">
              <a:latin typeface="Symbol"/>
              <a:cs typeface="Symbol"/>
            </a:endParaRPr>
          </a:p>
          <a:p>
            <a:pPr marR="5080" algn="ctr">
              <a:lnSpc>
                <a:spcPts val="2445"/>
              </a:lnSpc>
              <a:tabLst>
                <a:tab pos="743585" algn="l"/>
                <a:tab pos="1492250" algn="l"/>
              </a:tabLst>
            </a:pPr>
            <a:r>
              <a:rPr sz="2450" spc="-25" dirty="0">
                <a:latin typeface="Symbol"/>
                <a:cs typeface="Symbol"/>
              </a:rPr>
              <a:t></a:t>
            </a:r>
            <a:r>
              <a:rPr sz="2450" i="1" spc="-25" dirty="0">
                <a:latin typeface="Times New Roman"/>
                <a:cs typeface="Times New Roman"/>
              </a:rPr>
              <a:t>x</a:t>
            </a:r>
            <a:r>
              <a:rPr sz="2450" i="1" dirty="0">
                <a:latin typeface="Times New Roman"/>
                <a:cs typeface="Times New Roman"/>
              </a:rPr>
              <a:t>	</a:t>
            </a:r>
            <a:r>
              <a:rPr sz="2450" spc="-25" dirty="0">
                <a:latin typeface="Symbol"/>
                <a:cs typeface="Symbol"/>
              </a:rPr>
              <a:t></a:t>
            </a:r>
            <a:r>
              <a:rPr sz="2450" i="1" spc="-25" dirty="0">
                <a:latin typeface="Times New Roman"/>
                <a:cs typeface="Times New Roman"/>
              </a:rPr>
              <a:t>y</a:t>
            </a:r>
            <a:r>
              <a:rPr sz="1800" spc="-37" baseline="50925" dirty="0">
                <a:latin typeface="Times New Roman"/>
                <a:cs typeface="Times New Roman"/>
              </a:rPr>
              <a:t>2</a:t>
            </a:r>
            <a:r>
              <a:rPr sz="1800" baseline="50925" dirty="0">
                <a:latin typeface="Times New Roman"/>
                <a:cs typeface="Times New Roman"/>
              </a:rPr>
              <a:t>	</a:t>
            </a:r>
            <a:r>
              <a:rPr sz="2450" spc="-25" dirty="0">
                <a:latin typeface="Symbol"/>
                <a:cs typeface="Symbol"/>
              </a:rPr>
              <a:t></a:t>
            </a:r>
            <a:r>
              <a:rPr sz="2450" i="1" spc="-25" dirty="0">
                <a:latin typeface="Times New Roman"/>
                <a:cs typeface="Times New Roman"/>
              </a:rPr>
              <a:t>z</a:t>
            </a:r>
            <a:r>
              <a:rPr sz="1800" spc="-37" baseline="50925" dirty="0">
                <a:latin typeface="Times New Roman"/>
                <a:cs typeface="Times New Roman"/>
              </a:rPr>
              <a:t>2</a:t>
            </a:r>
            <a:endParaRPr sz="1800" baseline="50925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961078" y="4504592"/>
            <a:ext cx="463550" cy="0"/>
          </a:xfrm>
          <a:custGeom>
            <a:avLst/>
            <a:gdLst/>
            <a:ahLst/>
            <a:cxnLst/>
            <a:rect l="l" t="t" r="r" b="b"/>
            <a:pathLst>
              <a:path w="463550">
                <a:moveTo>
                  <a:pt x="0" y="0"/>
                </a:moveTo>
                <a:lnTo>
                  <a:pt x="463049" y="0"/>
                </a:lnTo>
              </a:path>
            </a:pathLst>
          </a:custGeom>
          <a:ln w="153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321643" y="4288652"/>
            <a:ext cx="144780" cy="6273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375"/>
              </a:lnSpc>
              <a:spcBef>
                <a:spcPts val="90"/>
              </a:spcBef>
            </a:pPr>
            <a:r>
              <a:rPr sz="2450" spc="-805" dirty="0">
                <a:latin typeface="Symbol"/>
                <a:cs typeface="Symbol"/>
              </a:rPr>
              <a:t></a:t>
            </a:r>
            <a:endParaRPr sz="2450">
              <a:latin typeface="Symbol"/>
              <a:cs typeface="Symbol"/>
            </a:endParaRPr>
          </a:p>
          <a:p>
            <a:pPr marL="12700">
              <a:lnSpc>
                <a:spcPts val="2375"/>
              </a:lnSpc>
            </a:pPr>
            <a:r>
              <a:rPr sz="2450" spc="-50" dirty="0">
                <a:latin typeface="Symbol"/>
                <a:cs typeface="Symbol"/>
              </a:rPr>
              <a:t>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11238" y="3999993"/>
            <a:ext cx="3220085" cy="893444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575"/>
              </a:spcBef>
              <a:tabLst>
                <a:tab pos="922655" algn="l"/>
                <a:tab pos="1813560" algn="l"/>
                <a:tab pos="2554605" algn="l"/>
              </a:tabLst>
            </a:pPr>
            <a:r>
              <a:rPr sz="2450" u="sng" spc="-2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245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2450" i="1" dirty="0">
                <a:latin typeface="Times New Roman"/>
                <a:cs typeface="Times New Roman"/>
              </a:rPr>
              <a:t>	</a:t>
            </a:r>
            <a:r>
              <a:rPr sz="3675" spc="-30" baseline="11337" dirty="0">
                <a:latin typeface="Symbol"/>
                <a:cs typeface="Symbol"/>
              </a:rPr>
              <a:t></a:t>
            </a:r>
            <a:r>
              <a:rPr sz="2450" spc="-20" dirty="0">
                <a:latin typeface="Symbol"/>
                <a:cs typeface="Symbol"/>
              </a:rPr>
              <a:t></a:t>
            </a:r>
            <a:r>
              <a:rPr sz="1800" spc="-30" baseline="50925" dirty="0">
                <a:latin typeface="Times New Roman"/>
                <a:cs typeface="Times New Roman"/>
              </a:rPr>
              <a:t>2</a:t>
            </a:r>
            <a:r>
              <a:rPr sz="2450" i="1" spc="-20" dirty="0">
                <a:latin typeface="Times New Roman"/>
                <a:cs typeface="Times New Roman"/>
              </a:rPr>
              <a:t>T</a:t>
            </a:r>
            <a:r>
              <a:rPr sz="2450" i="1" dirty="0">
                <a:latin typeface="Times New Roman"/>
                <a:cs typeface="Times New Roman"/>
              </a:rPr>
              <a:t>	</a:t>
            </a:r>
            <a:r>
              <a:rPr sz="2450" spc="-25" dirty="0">
                <a:latin typeface="Symbol"/>
                <a:cs typeface="Symbol"/>
              </a:rPr>
              <a:t></a:t>
            </a:r>
            <a:r>
              <a:rPr sz="1800" spc="-37" baseline="50925" dirty="0">
                <a:latin typeface="Times New Roman"/>
                <a:cs typeface="Times New Roman"/>
              </a:rPr>
              <a:t>2</a:t>
            </a:r>
            <a:r>
              <a:rPr sz="2450" i="1" spc="-25" dirty="0">
                <a:latin typeface="Times New Roman"/>
                <a:cs typeface="Times New Roman"/>
              </a:rPr>
              <a:t>T</a:t>
            </a:r>
            <a:r>
              <a:rPr sz="2450" i="1" dirty="0">
                <a:latin typeface="Times New Roman"/>
                <a:cs typeface="Times New Roman"/>
              </a:rPr>
              <a:t>	</a:t>
            </a:r>
            <a:r>
              <a:rPr sz="2450" dirty="0">
                <a:latin typeface="Symbol"/>
                <a:cs typeface="Symbol"/>
              </a:rPr>
              <a:t></a:t>
            </a:r>
            <a:r>
              <a:rPr sz="1800" baseline="50925" dirty="0">
                <a:latin typeface="Times New Roman"/>
                <a:cs typeface="Times New Roman"/>
              </a:rPr>
              <a:t>2</a:t>
            </a:r>
            <a:r>
              <a:rPr sz="2450" i="1" dirty="0">
                <a:latin typeface="Times New Roman"/>
                <a:cs typeface="Times New Roman"/>
              </a:rPr>
              <a:t>T</a:t>
            </a:r>
            <a:r>
              <a:rPr sz="2450" i="1" spc="-15" dirty="0">
                <a:latin typeface="Times New Roman"/>
                <a:cs typeface="Times New Roman"/>
              </a:rPr>
              <a:t> </a:t>
            </a:r>
            <a:r>
              <a:rPr sz="3675" spc="-75" baseline="11337" dirty="0">
                <a:latin typeface="Symbol"/>
                <a:cs typeface="Symbol"/>
              </a:rPr>
              <a:t></a:t>
            </a:r>
            <a:endParaRPr sz="3675" baseline="11337">
              <a:latin typeface="Symbol"/>
              <a:cs typeface="Symbol"/>
            </a:endParaRPr>
          </a:p>
          <a:p>
            <a:pPr marL="128270">
              <a:lnSpc>
                <a:spcPct val="100000"/>
              </a:lnSpc>
              <a:spcBef>
                <a:spcPts val="480"/>
              </a:spcBef>
            </a:pPr>
            <a:r>
              <a:rPr sz="2450" spc="-25" dirty="0">
                <a:latin typeface="Symbol"/>
                <a:cs typeface="Symbol"/>
              </a:rPr>
              <a:t></a:t>
            </a:r>
            <a:r>
              <a:rPr sz="2450" i="1" spc="-25" dirty="0">
                <a:latin typeface="Times New Roman"/>
                <a:cs typeface="Times New Roman"/>
              </a:rPr>
              <a:t>t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35671" y="4288652"/>
            <a:ext cx="144780" cy="6273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375"/>
              </a:lnSpc>
              <a:spcBef>
                <a:spcPts val="90"/>
              </a:spcBef>
            </a:pPr>
            <a:r>
              <a:rPr sz="2450" spc="-805" dirty="0">
                <a:latin typeface="Symbol"/>
                <a:cs typeface="Symbol"/>
              </a:rPr>
              <a:t></a:t>
            </a:r>
            <a:endParaRPr sz="2450">
              <a:latin typeface="Symbol"/>
              <a:cs typeface="Symbol"/>
            </a:endParaRPr>
          </a:p>
          <a:p>
            <a:pPr marL="12700">
              <a:lnSpc>
                <a:spcPts val="2375"/>
              </a:lnSpc>
            </a:pPr>
            <a:r>
              <a:rPr sz="2450" spc="-50" dirty="0">
                <a:latin typeface="Symbol"/>
                <a:cs typeface="Symbol"/>
              </a:rPr>
              <a:t></a:t>
            </a:r>
            <a:endParaRPr sz="24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016" rIns="0" bIns="0" rtlCol="0">
            <a:spAutoFit/>
          </a:bodyPr>
          <a:lstStyle/>
          <a:p>
            <a:pPr marL="132969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Finite</a:t>
            </a:r>
            <a:r>
              <a:rPr sz="4400" spc="-125" dirty="0"/>
              <a:t> </a:t>
            </a:r>
            <a:r>
              <a:rPr sz="4400" dirty="0"/>
              <a:t>difference</a:t>
            </a:r>
            <a:r>
              <a:rPr sz="4400" spc="-105" dirty="0"/>
              <a:t> </a:t>
            </a:r>
            <a:r>
              <a:rPr sz="4400" spc="-10" dirty="0"/>
              <a:t>method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2237225" y="2711234"/>
            <a:ext cx="675005" cy="0"/>
          </a:xfrm>
          <a:custGeom>
            <a:avLst/>
            <a:gdLst/>
            <a:ahLst/>
            <a:cxnLst/>
            <a:rect l="l" t="t" r="r" b="b"/>
            <a:pathLst>
              <a:path w="675005">
                <a:moveTo>
                  <a:pt x="0" y="0"/>
                </a:moveTo>
                <a:lnTo>
                  <a:pt x="674836" y="0"/>
                </a:lnTo>
              </a:path>
            </a:pathLst>
          </a:custGeom>
          <a:ln w="14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45908" y="2711234"/>
            <a:ext cx="1956435" cy="0"/>
          </a:xfrm>
          <a:custGeom>
            <a:avLst/>
            <a:gdLst/>
            <a:ahLst/>
            <a:cxnLst/>
            <a:rect l="l" t="t" r="r" b="b"/>
            <a:pathLst>
              <a:path w="1956435">
                <a:moveTo>
                  <a:pt x="0" y="0"/>
                </a:moveTo>
                <a:lnTo>
                  <a:pt x="1956420" y="0"/>
                </a:lnTo>
              </a:path>
            </a:pathLst>
          </a:custGeom>
          <a:ln w="14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290528" y="2679466"/>
            <a:ext cx="695960" cy="0"/>
          </a:xfrm>
          <a:custGeom>
            <a:avLst/>
            <a:gdLst/>
            <a:ahLst/>
            <a:cxnLst/>
            <a:rect l="l" t="t" r="r" b="b"/>
            <a:pathLst>
              <a:path w="695959">
                <a:moveTo>
                  <a:pt x="0" y="0"/>
                </a:moveTo>
                <a:lnTo>
                  <a:pt x="695532" y="0"/>
                </a:lnTo>
              </a:path>
            </a:pathLst>
          </a:custGeom>
          <a:ln w="132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45083" y="6389642"/>
            <a:ext cx="946785" cy="0"/>
          </a:xfrm>
          <a:custGeom>
            <a:avLst/>
            <a:gdLst/>
            <a:ahLst/>
            <a:cxnLst/>
            <a:rect l="l" t="t" r="r" b="b"/>
            <a:pathLst>
              <a:path w="946784">
                <a:moveTo>
                  <a:pt x="0" y="0"/>
                </a:moveTo>
                <a:lnTo>
                  <a:pt x="946311" y="0"/>
                </a:lnTo>
              </a:path>
            </a:pathLst>
          </a:custGeom>
          <a:ln w="131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680251" y="3839819"/>
            <a:ext cx="3990340" cy="2997200"/>
            <a:chOff x="1680251" y="3839819"/>
            <a:chExt cx="3990340" cy="29972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9776" y="3849344"/>
              <a:ext cx="3970704" cy="297818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685014" y="3844582"/>
              <a:ext cx="3980815" cy="2987675"/>
            </a:xfrm>
            <a:custGeom>
              <a:avLst/>
              <a:gdLst/>
              <a:ahLst/>
              <a:cxnLst/>
              <a:rect l="l" t="t" r="r" b="b"/>
              <a:pathLst>
                <a:path w="3980815" h="2987675">
                  <a:moveTo>
                    <a:pt x="0" y="0"/>
                  </a:moveTo>
                  <a:lnTo>
                    <a:pt x="3980258" y="0"/>
                  </a:lnTo>
                  <a:lnTo>
                    <a:pt x="3980258" y="2987674"/>
                  </a:lnTo>
                  <a:lnTo>
                    <a:pt x="0" y="29876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944245" y="3288494"/>
            <a:ext cx="2524125" cy="1644650"/>
            <a:chOff x="6944245" y="3288494"/>
            <a:chExt cx="2524125" cy="1644650"/>
          </a:xfrm>
        </p:grpSpPr>
        <p:sp>
          <p:nvSpPr>
            <p:cNvPr id="11" name="object 11"/>
            <p:cNvSpPr/>
            <p:nvPr/>
          </p:nvSpPr>
          <p:spPr>
            <a:xfrm>
              <a:off x="8799909" y="3919664"/>
              <a:ext cx="1270" cy="158750"/>
            </a:xfrm>
            <a:custGeom>
              <a:avLst/>
              <a:gdLst/>
              <a:ahLst/>
              <a:cxnLst/>
              <a:rect l="l" t="t" r="r" b="b"/>
              <a:pathLst>
                <a:path w="1270" h="158750">
                  <a:moveTo>
                    <a:pt x="792" y="158484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08175" y="4000092"/>
              <a:ext cx="1784350" cy="0"/>
            </a:xfrm>
            <a:custGeom>
              <a:avLst/>
              <a:gdLst/>
              <a:ahLst/>
              <a:cxnLst/>
              <a:rect l="l" t="t" r="r" b="b"/>
              <a:pathLst>
                <a:path w="1784350">
                  <a:moveTo>
                    <a:pt x="0" y="0"/>
                  </a:moveTo>
                  <a:lnTo>
                    <a:pt x="1783751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01223" y="3941138"/>
              <a:ext cx="115907" cy="11790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385042" y="4541976"/>
              <a:ext cx="390525" cy="0"/>
            </a:xfrm>
            <a:custGeom>
              <a:avLst/>
              <a:gdLst/>
              <a:ahLst/>
              <a:cxnLst/>
              <a:rect l="l" t="t" r="r" b="b"/>
              <a:pathLst>
                <a:path w="390525">
                  <a:moveTo>
                    <a:pt x="0" y="0"/>
                  </a:moveTo>
                  <a:lnTo>
                    <a:pt x="389926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4266" y="4483022"/>
              <a:ext cx="115907" cy="11790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361173" y="4541975"/>
              <a:ext cx="457834" cy="0"/>
            </a:xfrm>
            <a:custGeom>
              <a:avLst/>
              <a:gdLst/>
              <a:ahLst/>
              <a:cxnLst/>
              <a:rect l="l" t="t" r="r" b="b"/>
              <a:pathLst>
                <a:path w="457834">
                  <a:moveTo>
                    <a:pt x="457395" y="0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35969" y="4483022"/>
              <a:ext cx="115909" cy="1179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41613" y="3949028"/>
              <a:ext cx="85724" cy="10689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953770" y="3298019"/>
              <a:ext cx="2505075" cy="1625600"/>
            </a:xfrm>
            <a:custGeom>
              <a:avLst/>
              <a:gdLst/>
              <a:ahLst/>
              <a:cxnLst/>
              <a:rect l="l" t="t" r="r" b="b"/>
              <a:pathLst>
                <a:path w="2505075" h="1625600">
                  <a:moveTo>
                    <a:pt x="0" y="0"/>
                  </a:moveTo>
                  <a:lnTo>
                    <a:pt x="2504726" y="0"/>
                  </a:lnTo>
                  <a:lnTo>
                    <a:pt x="2504726" y="1625599"/>
                  </a:lnTo>
                  <a:lnTo>
                    <a:pt x="0" y="1625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47875" y="3928391"/>
              <a:ext cx="1270" cy="158750"/>
            </a:xfrm>
            <a:custGeom>
              <a:avLst/>
              <a:gdLst/>
              <a:ahLst/>
              <a:cxnLst/>
              <a:rect l="l" t="t" r="r" b="b"/>
              <a:pathLst>
                <a:path w="1270" h="158750">
                  <a:moveTo>
                    <a:pt x="792" y="158484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016173" y="1499021"/>
          <a:ext cx="8737600" cy="5506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5535">
                <a:tc rowSpan="2">
                  <a:txBody>
                    <a:bodyPr/>
                    <a:lstStyle/>
                    <a:p>
                      <a:pPr marR="60960" algn="ctr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First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derivative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function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f(x)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(1D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case):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2625" algn="ctr">
                        <a:lnSpc>
                          <a:spcPts val="2570"/>
                        </a:lnSpc>
                        <a:spcBef>
                          <a:spcPts val="5"/>
                        </a:spcBef>
                        <a:tabLst>
                          <a:tab pos="2149475" algn="l"/>
                        </a:tabLst>
                      </a:pPr>
                      <a:r>
                        <a:rPr sz="2250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250" i="1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250" i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425" spc="-37" baseline="-4708" dirty="0">
                          <a:latin typeface="Symbol"/>
                          <a:cs typeface="Symbol"/>
                        </a:rPr>
                        <a:t></a:t>
                      </a:r>
                      <a:r>
                        <a:rPr sz="2250" i="1" spc="-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4425" spc="-37" baseline="-4708" dirty="0">
                          <a:latin typeface="Symbol"/>
                          <a:cs typeface="Symbol"/>
                        </a:rPr>
                        <a:t></a:t>
                      </a:r>
                      <a:r>
                        <a:rPr sz="4425" baseline="-4708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i="1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250" i="1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425" spc="-30" baseline="-4708" dirty="0">
                          <a:latin typeface="Symbol"/>
                          <a:cs typeface="Symbol"/>
                        </a:rPr>
                        <a:t></a:t>
                      </a:r>
                      <a:r>
                        <a:rPr sz="2250" i="1" spc="-2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250" i="1" spc="-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50" dirty="0">
                          <a:latin typeface="Symbol"/>
                          <a:cs typeface="Symbol"/>
                        </a:rPr>
                        <a:t></a:t>
                      </a:r>
                      <a:r>
                        <a:rPr sz="2250" spc="-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50" spc="-40" dirty="0">
                          <a:latin typeface="Symbol"/>
                          <a:cs typeface="Symbol"/>
                        </a:rPr>
                        <a:t></a:t>
                      </a:r>
                      <a:r>
                        <a:rPr sz="2250" i="1" spc="-4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4425" spc="-60" baseline="-4708" dirty="0">
                          <a:latin typeface="Symbol"/>
                          <a:cs typeface="Symbol"/>
                        </a:rPr>
                        <a:t></a:t>
                      </a:r>
                      <a:r>
                        <a:rPr sz="4425" spc="-630" baseline="-470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50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250" spc="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50" i="1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250" i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425" spc="-37" baseline="-4708" dirty="0">
                          <a:latin typeface="Symbol"/>
                          <a:cs typeface="Symbol"/>
                        </a:rPr>
                        <a:t></a:t>
                      </a:r>
                      <a:r>
                        <a:rPr sz="2250" i="1" spc="-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4425" spc="-37" baseline="-4708" dirty="0">
                          <a:latin typeface="Symbol"/>
                          <a:cs typeface="Symbol"/>
                        </a:rPr>
                        <a:t></a:t>
                      </a:r>
                      <a:endParaRPr sz="4425" baseline="-4708">
                        <a:latin typeface="Symbol"/>
                        <a:cs typeface="Symbol"/>
                      </a:endParaRPr>
                    </a:p>
                    <a:p>
                      <a:pPr marR="2155190" algn="ctr">
                        <a:lnSpc>
                          <a:spcPts val="1710"/>
                        </a:lnSpc>
                        <a:tabLst>
                          <a:tab pos="1600200" algn="l"/>
                        </a:tabLst>
                      </a:pPr>
                      <a:r>
                        <a:rPr sz="2250" i="1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250" i="1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375" spc="-97" baseline="1234" dirty="0">
                          <a:latin typeface="Symbol"/>
                          <a:cs typeface="Symbol"/>
                        </a:rPr>
                        <a:t></a:t>
                      </a:r>
                      <a:r>
                        <a:rPr sz="4425" spc="-97" baseline="-4708" dirty="0">
                          <a:latin typeface="Symbol"/>
                          <a:cs typeface="Symbol"/>
                        </a:rPr>
                        <a:t></a:t>
                      </a:r>
                      <a:r>
                        <a:rPr sz="2250" i="1" spc="-6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4425" spc="-97" baseline="-4708" dirty="0">
                          <a:latin typeface="Symbol"/>
                          <a:cs typeface="Symbol"/>
                        </a:rPr>
                        <a:t></a:t>
                      </a:r>
                      <a:r>
                        <a:rPr sz="4425" spc="-442" baseline="-470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50" spc="-50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22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dirty="0">
                          <a:latin typeface="Symbol"/>
                          <a:cs typeface="Symbol"/>
                        </a:rPr>
                        <a:t></a:t>
                      </a:r>
                      <a:r>
                        <a:rPr sz="22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50" spc="-25" dirty="0">
                          <a:latin typeface="Times New Roman"/>
                          <a:cs typeface="Times New Roman"/>
                        </a:rPr>
                        <a:t>lim</a:t>
                      </a: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657860" algn="ctr">
                        <a:lnSpc>
                          <a:spcPts val="2680"/>
                        </a:lnSpc>
                        <a:tabLst>
                          <a:tab pos="1450340" algn="l"/>
                          <a:tab pos="2097405" algn="l"/>
                        </a:tabLst>
                      </a:pPr>
                      <a:r>
                        <a:rPr sz="2250" spc="-2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250" i="1" spc="-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2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725" spc="-30" baseline="33816" dirty="0">
                          <a:latin typeface="Symbol"/>
                          <a:cs typeface="Symbol"/>
                        </a:rPr>
                        <a:t></a:t>
                      </a:r>
                      <a:r>
                        <a:rPr sz="1725" i="1" spc="-30" baseline="33816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725" spc="-30" baseline="33816" dirty="0">
                          <a:latin typeface="Symbol"/>
                          <a:cs typeface="Symbol"/>
                        </a:rPr>
                        <a:t></a:t>
                      </a:r>
                      <a:r>
                        <a:rPr sz="1725" spc="-30" baseline="33816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725" baseline="33816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spc="7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250" i="1" spc="7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250" i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50" dirty="0">
                          <a:latin typeface="Symbol"/>
                          <a:cs typeface="Symbol"/>
                        </a:rPr>
                        <a:t></a:t>
                      </a:r>
                      <a:r>
                        <a:rPr sz="2250" spc="-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50" dirty="0">
                          <a:latin typeface="Symbol"/>
                          <a:cs typeface="Symbol"/>
                        </a:rPr>
                        <a:t></a:t>
                      </a:r>
                      <a:r>
                        <a:rPr sz="225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250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2250" spc="-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50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250" spc="-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425" spc="-37" baseline="-4708" dirty="0">
                          <a:latin typeface="Symbol"/>
                          <a:cs typeface="Symbol"/>
                        </a:rPr>
                        <a:t></a:t>
                      </a:r>
                      <a:r>
                        <a:rPr sz="2250" i="1" spc="-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4425" spc="-37" baseline="-4708" dirty="0">
                          <a:latin typeface="Symbol"/>
                          <a:cs typeface="Symbol"/>
                        </a:rPr>
                        <a:t></a:t>
                      </a:r>
                      <a:endParaRPr sz="4425" baseline="-4708">
                        <a:latin typeface="Symbol"/>
                        <a:cs typeface="Symbo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202565" algn="ctr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Analytical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vs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Numerical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6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Example: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5669">
                        <a:lnSpc>
                          <a:spcPct val="100000"/>
                        </a:lnSpc>
                      </a:pPr>
                      <a:r>
                        <a:rPr sz="21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Symbol"/>
                          <a:cs typeface="Symbol"/>
                        </a:rPr>
                        <a:t></a:t>
                      </a:r>
                      <a:r>
                        <a:rPr sz="21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100" i="1" spc="3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150" baseline="-33068" dirty="0">
                          <a:latin typeface="Symbol"/>
                          <a:cs typeface="Symbol"/>
                        </a:rPr>
                        <a:t></a:t>
                      </a:r>
                      <a:r>
                        <a:rPr sz="3150" spc="179" baseline="-3306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Symbol"/>
                          <a:cs typeface="Symbol"/>
                        </a:rPr>
                        <a:t></a:t>
                      </a:r>
                      <a:r>
                        <a:rPr sz="21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100" i="1" spc="2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150" baseline="-33068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3150" spc="127" baseline="-3306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i="1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575" baseline="-291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575" spc="375" baseline="-29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100" spc="-2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i="1" spc="-2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575" spc="-37" baseline="-291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75" baseline="-29100">
                        <a:latin typeface="Times New Roman"/>
                        <a:cs typeface="Times New Roman"/>
                      </a:endParaRPr>
                    </a:p>
                    <a:p>
                      <a:pPr marL="941069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1565275" algn="l"/>
                          <a:tab pos="2193290" algn="l"/>
                        </a:tabLst>
                      </a:pPr>
                      <a:r>
                        <a:rPr sz="2100" spc="-2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100" i="1" spc="-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10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100" spc="-25" dirty="0">
                          <a:latin typeface="Symbol"/>
                          <a:cs typeface="Symbol"/>
                        </a:rPr>
                        <a:t></a:t>
                      </a:r>
                      <a:r>
                        <a:rPr sz="2100" i="1" spc="-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100" i="1" dirty="0">
                          <a:latin typeface="Times New Roman"/>
                          <a:cs typeface="Times New Roman"/>
                        </a:rPr>
                        <a:t>	x</a:t>
                      </a:r>
                      <a:r>
                        <a:rPr sz="1575" baseline="-291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575" spc="419" baseline="-29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1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i="1" spc="-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575" spc="-37" baseline="-291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75" baseline="-29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287655" algn="ctr">
                        <a:lnSpc>
                          <a:spcPts val="1350"/>
                        </a:lnSpc>
                      </a:pPr>
                      <a:r>
                        <a:rPr sz="1500" dirty="0">
                          <a:latin typeface="Symbol"/>
                          <a:cs typeface="Symbol"/>
                        </a:rPr>
                        <a:t></a:t>
                      </a:r>
                      <a:r>
                        <a:rPr sz="2250" u="sng" baseline="-5555" dirty="0">
                          <a:uFill>
                            <a:solidFill>
                              <a:srgbClr val="000000"/>
                            </a:solidFill>
                          </a:uFill>
                          <a:latin typeface="Symbol"/>
                          <a:cs typeface="Symbol"/>
                        </a:rPr>
                        <a:t></a:t>
                      </a:r>
                      <a:r>
                        <a:rPr sz="2250" i="1" u="sng" baseline="-555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250" i="1" spc="157" baseline="-55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0" dirty="0">
                          <a:latin typeface="Symbol"/>
                          <a:cs typeface="Symbol"/>
                        </a:rPr>
                        <a:t></a:t>
                      </a:r>
                      <a:endParaRPr sz="1500">
                        <a:latin typeface="Symbol"/>
                        <a:cs typeface="Symbol"/>
                      </a:endParaRPr>
                    </a:p>
                    <a:p>
                      <a:pPr marL="234950" algn="ctr">
                        <a:lnSpc>
                          <a:spcPts val="1305"/>
                        </a:lnSpc>
                        <a:tabLst>
                          <a:tab pos="891540" algn="l"/>
                          <a:tab pos="1232535" algn="l"/>
                          <a:tab pos="1686560" algn="l"/>
                        </a:tabLst>
                      </a:pPr>
                      <a:r>
                        <a:rPr sz="2700" b="1" i="1" spc="-75" baseline="-35493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700" b="1" i="1" baseline="-35493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500" spc="-495" dirty="0">
                          <a:latin typeface="Symbol"/>
                          <a:cs typeface="Symbol"/>
                        </a:rPr>
                        <a:t>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500" spc="-495" dirty="0">
                          <a:latin typeface="Symbol"/>
                          <a:cs typeface="Symbol"/>
                        </a:rPr>
                        <a:t>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b="1" i="1" spc="-37" baseline="-32407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b="1" i="1" spc="-37" baseline="-69444" dirty="0">
                          <a:latin typeface="Arial"/>
                          <a:cs typeface="Arial"/>
                        </a:rPr>
                        <a:t>2</a:t>
                      </a:r>
                      <a:endParaRPr sz="1800" baseline="-69444">
                        <a:latin typeface="Arial"/>
                        <a:cs typeface="Arial"/>
                      </a:endParaRPr>
                    </a:p>
                    <a:p>
                      <a:pPr marL="1237615">
                        <a:lnSpc>
                          <a:spcPts val="1275"/>
                        </a:lnSpc>
                        <a:tabLst>
                          <a:tab pos="1755139" algn="l"/>
                        </a:tabLst>
                      </a:pPr>
                      <a:r>
                        <a:rPr sz="1800" b="1" i="1" spc="-75" baseline="-25462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i="1" baseline="-25462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2250" baseline="1851" dirty="0">
                          <a:latin typeface="Symbol"/>
                          <a:cs typeface="Symbol"/>
                        </a:rPr>
                        <a:t></a:t>
                      </a:r>
                      <a:r>
                        <a:rPr sz="2250" spc="-112" baseline="185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15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500" i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50" spc="-75" baseline="1851" dirty="0">
                          <a:latin typeface="Symbol"/>
                          <a:cs typeface="Symbol"/>
                        </a:rPr>
                        <a:t></a:t>
                      </a:r>
                      <a:endParaRPr sz="2250" baseline="1851">
                        <a:latin typeface="Symbol"/>
                        <a:cs typeface="Symbol"/>
                      </a:endParaRPr>
                    </a:p>
                    <a:p>
                      <a:pPr marR="533400" algn="r">
                        <a:lnSpc>
                          <a:spcPts val="1975"/>
                        </a:lnSpc>
                      </a:pPr>
                      <a:r>
                        <a:rPr sz="1800" b="1" i="1" spc="-5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286385" algn="ctr">
                        <a:lnSpc>
                          <a:spcPts val="2075"/>
                        </a:lnSpc>
                        <a:tabLst>
                          <a:tab pos="1706880" algn="l"/>
                        </a:tabLst>
                      </a:pPr>
                      <a:r>
                        <a:rPr sz="1800" b="1" i="1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b="1" i="1" spc="-37" baseline="-20833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i="1" baseline="-20833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2700" b="1" i="1" spc="-37" baseline="-9259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b="1" i="1" spc="-37" baseline="-34722" dirty="0">
                          <a:latin typeface="Arial"/>
                          <a:cs typeface="Arial"/>
                        </a:rPr>
                        <a:t>2</a:t>
                      </a:r>
                      <a:endParaRPr sz="1800" baseline="-34722">
                        <a:latin typeface="Arial"/>
                        <a:cs typeface="Arial"/>
                      </a:endParaRPr>
                    </a:p>
                    <a:p>
                      <a:pPr marL="374650" algn="ctr">
                        <a:lnSpc>
                          <a:spcPts val="2140"/>
                        </a:lnSpc>
                      </a:pPr>
                      <a:r>
                        <a:rPr sz="1800" b="1" i="1" spc="-25" dirty="0">
                          <a:latin typeface="Arial"/>
                          <a:cs typeface="Arial"/>
                        </a:rPr>
                        <a:t>Δx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943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05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6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0" marR="959485">
                        <a:lnSpc>
                          <a:spcPts val="1900"/>
                        </a:lnSpc>
                        <a:spcBef>
                          <a:spcPts val="170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same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valid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first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derivative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time: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877569">
                        <a:lnSpc>
                          <a:spcPts val="1889"/>
                        </a:lnSpc>
                        <a:spcBef>
                          <a:spcPts val="1310"/>
                        </a:spcBef>
                        <a:tabLst>
                          <a:tab pos="1498600" algn="l"/>
                          <a:tab pos="2125980" algn="l"/>
                        </a:tabLst>
                      </a:pPr>
                      <a:r>
                        <a:rPr sz="21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Symbol"/>
                          <a:cs typeface="Symbol"/>
                        </a:rPr>
                        <a:t></a:t>
                      </a:r>
                      <a:r>
                        <a:rPr sz="2100" i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10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1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Symbol"/>
                          <a:cs typeface="Symbol"/>
                        </a:rPr>
                        <a:t></a:t>
                      </a:r>
                      <a:r>
                        <a:rPr sz="2100" i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100" i="1" dirty="0">
                          <a:latin typeface="Times New Roman"/>
                          <a:cs typeface="Times New Roman"/>
                        </a:rPr>
                        <a:t>	T</a:t>
                      </a:r>
                      <a:r>
                        <a:rPr sz="2100" i="1" spc="-2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i="1" baseline="50264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575" baseline="50264" dirty="0">
                          <a:latin typeface="Symbol"/>
                          <a:cs typeface="Symbol"/>
                        </a:rPr>
                        <a:t></a:t>
                      </a:r>
                      <a:r>
                        <a:rPr sz="1575" i="1" baseline="50264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575" i="1" spc="487" baseline="5026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100" spc="-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i="1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100" i="1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i="1" spc="-75" baseline="50264" dirty="0">
                          <a:latin typeface="Times New Roman"/>
                          <a:cs typeface="Times New Roman"/>
                        </a:rPr>
                        <a:t>t</a:t>
                      </a:r>
                      <a:endParaRPr sz="1575" baseline="50264">
                        <a:latin typeface="Times New Roman"/>
                        <a:cs typeface="Times New Roman"/>
                      </a:endParaRPr>
                    </a:p>
                    <a:p>
                      <a:pPr marR="302260" algn="ctr">
                        <a:lnSpc>
                          <a:spcPts val="1465"/>
                        </a:lnSpc>
                        <a:tabLst>
                          <a:tab pos="644525" algn="l"/>
                        </a:tabLst>
                      </a:pPr>
                      <a:r>
                        <a:rPr sz="2100" spc="-50" dirty="0">
                          <a:latin typeface="Symbol"/>
                          <a:cs typeface="Symbol"/>
                        </a:rPr>
                        <a:t>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100" spc="-50" dirty="0">
                          <a:latin typeface="Symbol"/>
                          <a:cs typeface="Symbol"/>
                        </a:rPr>
                        <a:t></a:t>
                      </a:r>
                      <a:endParaRPr sz="2100">
                        <a:latin typeface="Symbol"/>
                        <a:cs typeface="Symbol"/>
                      </a:endParaRPr>
                    </a:p>
                    <a:p>
                      <a:pPr marL="923290">
                        <a:lnSpc>
                          <a:spcPts val="2095"/>
                        </a:lnSpc>
                        <a:tabLst>
                          <a:tab pos="1543685" algn="l"/>
                          <a:tab pos="2468880" algn="l"/>
                        </a:tabLst>
                      </a:pPr>
                      <a:r>
                        <a:rPr sz="2100" spc="-2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100" i="1" spc="-2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10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100" spc="-25" dirty="0">
                          <a:latin typeface="Symbol"/>
                          <a:cs typeface="Symbol"/>
                        </a:rPr>
                        <a:t></a:t>
                      </a:r>
                      <a:r>
                        <a:rPr sz="2100" i="1" spc="-2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10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100" spc="-25" dirty="0">
                          <a:latin typeface="Symbol"/>
                          <a:cs typeface="Symbol"/>
                        </a:rPr>
                        <a:t></a:t>
                      </a:r>
                      <a:r>
                        <a:rPr sz="2100" i="1" spc="-25" dirty="0">
                          <a:latin typeface="Times New Roman"/>
                          <a:cs typeface="Times New Roman"/>
                        </a:rPr>
                        <a:t>t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2165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A69E239-E428-F712-A5BB-F56A27632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1698" y="347750"/>
            <a:ext cx="9150003" cy="615553"/>
          </a:xfrm>
        </p:spPr>
        <p:txBody>
          <a:bodyPr/>
          <a:lstStyle/>
          <a:p>
            <a:r>
              <a:rPr lang="en-US" altLang="en-US"/>
              <a:t>Chapter Objectives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A724D14-7034-2C01-970D-684BA04E90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7665" y="1397149"/>
            <a:ext cx="9034036" cy="497190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645" dirty="0"/>
              <a:t>Understanding the meaning of local and global truncation errors and their relationship to step size for one-step methods for solving ODEs.</a:t>
            </a:r>
          </a:p>
          <a:p>
            <a:pPr>
              <a:lnSpc>
                <a:spcPct val="90000"/>
              </a:lnSpc>
            </a:pPr>
            <a:r>
              <a:rPr lang="en-US" altLang="en-US" sz="2645" dirty="0"/>
              <a:t>Knowing how to implement the following Runge-</a:t>
            </a:r>
            <a:r>
              <a:rPr lang="en-US" altLang="en-US" sz="2645" dirty="0" err="1"/>
              <a:t>Kutta</a:t>
            </a:r>
            <a:r>
              <a:rPr lang="en-US" altLang="en-US" sz="2645" dirty="0"/>
              <a:t> (RK) methods for a single ODE:</a:t>
            </a:r>
          </a:p>
          <a:p>
            <a:pPr lvl="1">
              <a:lnSpc>
                <a:spcPct val="90000"/>
              </a:lnSpc>
            </a:pPr>
            <a:r>
              <a:rPr lang="en-US" altLang="en-US" sz="2204" dirty="0"/>
              <a:t>Euler</a:t>
            </a:r>
          </a:p>
          <a:p>
            <a:pPr lvl="1">
              <a:lnSpc>
                <a:spcPct val="90000"/>
              </a:lnSpc>
            </a:pPr>
            <a:r>
              <a:rPr lang="en-US" altLang="en-US" sz="2204" dirty="0" err="1"/>
              <a:t>Heun</a:t>
            </a:r>
            <a:endParaRPr lang="en-US" altLang="en-US" sz="2204" dirty="0"/>
          </a:p>
          <a:p>
            <a:pPr lvl="1">
              <a:lnSpc>
                <a:spcPct val="90000"/>
              </a:lnSpc>
            </a:pPr>
            <a:r>
              <a:rPr lang="en-US" altLang="en-US" sz="2204" dirty="0"/>
              <a:t>Midpoint</a:t>
            </a:r>
          </a:p>
          <a:p>
            <a:pPr lvl="1">
              <a:lnSpc>
                <a:spcPct val="90000"/>
              </a:lnSpc>
            </a:pPr>
            <a:r>
              <a:rPr lang="en-US" altLang="en-US" sz="2204" dirty="0"/>
              <a:t>Fourth-Order RK</a:t>
            </a:r>
          </a:p>
          <a:p>
            <a:pPr>
              <a:lnSpc>
                <a:spcPct val="90000"/>
              </a:lnSpc>
            </a:pPr>
            <a:r>
              <a:rPr lang="en-US" altLang="en-US" sz="2645" dirty="0"/>
              <a:t>Knowing how to iterate the corrector of </a:t>
            </a:r>
            <a:r>
              <a:rPr lang="en-US" altLang="en-US" sz="2645" dirty="0" err="1"/>
              <a:t>Heun’s</a:t>
            </a:r>
            <a:r>
              <a:rPr lang="en-US" altLang="en-US" sz="2645" dirty="0"/>
              <a:t> method.</a:t>
            </a:r>
          </a:p>
          <a:p>
            <a:pPr>
              <a:lnSpc>
                <a:spcPct val="90000"/>
              </a:lnSpc>
            </a:pPr>
            <a:r>
              <a:rPr lang="en-US" altLang="en-US" sz="2645" dirty="0"/>
              <a:t>Knowing how to implement the following Runge-</a:t>
            </a:r>
            <a:r>
              <a:rPr lang="en-US" altLang="en-US" sz="2645" dirty="0" err="1"/>
              <a:t>Kutta</a:t>
            </a:r>
            <a:r>
              <a:rPr lang="en-US" altLang="en-US" sz="2645" dirty="0"/>
              <a:t> methods for systems of ODEs:</a:t>
            </a:r>
          </a:p>
          <a:p>
            <a:pPr lvl="1">
              <a:lnSpc>
                <a:spcPct val="90000"/>
              </a:lnSpc>
            </a:pPr>
            <a:r>
              <a:rPr lang="en-US" altLang="en-US" sz="2204" dirty="0"/>
              <a:t>Euler</a:t>
            </a:r>
          </a:p>
          <a:p>
            <a:pPr lvl="1">
              <a:lnSpc>
                <a:spcPct val="90000"/>
              </a:lnSpc>
            </a:pPr>
            <a:r>
              <a:rPr lang="en-US" altLang="en-US" sz="2204" dirty="0"/>
              <a:t>Fourth-order RK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FCC944EA-4E3F-0B88-1131-872B4649B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1698" y="347750"/>
            <a:ext cx="9150003" cy="615553"/>
          </a:xfrm>
        </p:spPr>
        <p:txBody>
          <a:bodyPr/>
          <a:lstStyle/>
          <a:p>
            <a:r>
              <a:rPr lang="en-US" altLang="en-US"/>
              <a:t>Ordinary Differential Equations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BF0D37BE-68F0-B779-E147-9ACB97B957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65896" y="1986827"/>
            <a:ext cx="8918068" cy="470026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085"/>
              <a:t>Methods described here are for solving differential equations of the form:</a:t>
            </a:r>
            <a:br>
              <a:rPr lang="en-US" altLang="en-US" sz="3085"/>
            </a:br>
            <a:br>
              <a:rPr lang="en-US" altLang="en-US" sz="3085"/>
            </a:br>
            <a:endParaRPr lang="en-US" altLang="en-US" sz="3085"/>
          </a:p>
          <a:p>
            <a:pPr>
              <a:lnSpc>
                <a:spcPct val="90000"/>
              </a:lnSpc>
            </a:pPr>
            <a:r>
              <a:rPr lang="en-US" altLang="en-US" sz="3085"/>
              <a:t>The methods in this chapter are all </a:t>
            </a:r>
            <a:r>
              <a:rPr lang="en-US" altLang="en-US" sz="3085" i="1"/>
              <a:t>one-step</a:t>
            </a:r>
            <a:r>
              <a:rPr lang="en-US" altLang="en-US" sz="3085"/>
              <a:t> methods and have the general format:</a:t>
            </a:r>
            <a:br>
              <a:rPr lang="en-US" altLang="en-US" sz="3085"/>
            </a:br>
            <a:br>
              <a:rPr lang="en-US" altLang="en-US" sz="3085"/>
            </a:br>
            <a:br>
              <a:rPr lang="en-US" altLang="en-US" sz="3085"/>
            </a:br>
            <a:r>
              <a:rPr lang="en-US" altLang="en-US" sz="3085"/>
              <a:t>where </a:t>
            </a:r>
            <a:r>
              <a:rPr lang="en-US" altLang="en-US" sz="3085" i="1">
                <a:latin typeface="Symbol" pitchFamily="2" charset="2"/>
              </a:rPr>
              <a:t></a:t>
            </a:r>
            <a:r>
              <a:rPr lang="en-US" altLang="en-US" sz="3085"/>
              <a:t> is called an </a:t>
            </a:r>
            <a:r>
              <a:rPr lang="en-US" altLang="en-US" sz="3085" i="1"/>
              <a:t>increment function</a:t>
            </a:r>
            <a:r>
              <a:rPr lang="en-US" altLang="en-US" sz="3085"/>
              <a:t>, and is used to extrapolate from an old value </a:t>
            </a:r>
            <a:r>
              <a:rPr lang="en-US" altLang="en-US" sz="3085" i="1"/>
              <a:t>y</a:t>
            </a:r>
            <a:r>
              <a:rPr lang="en-US" altLang="en-US" sz="3085" i="1" baseline="-25000"/>
              <a:t>i</a:t>
            </a:r>
            <a:r>
              <a:rPr lang="en-US" altLang="en-US" sz="3085"/>
              <a:t> to a new value </a:t>
            </a:r>
            <a:r>
              <a:rPr lang="en-US" altLang="en-US" sz="3085" i="1"/>
              <a:t>y</a:t>
            </a:r>
            <a:r>
              <a:rPr lang="en-US" altLang="en-US" sz="3085" i="1" baseline="-25000"/>
              <a:t>i</a:t>
            </a:r>
            <a:r>
              <a:rPr lang="en-US" altLang="en-US" sz="3085" baseline="-25000"/>
              <a:t>+1</a:t>
            </a:r>
            <a:r>
              <a:rPr lang="en-US" altLang="en-US" sz="3085"/>
              <a:t>.</a:t>
            </a:r>
          </a:p>
        </p:txBody>
      </p:sp>
      <p:graphicFrame>
        <p:nvGraphicFramePr>
          <p:cNvPr id="73732" name="Object 4">
            <a:extLst>
              <a:ext uri="{FF2B5EF4-FFF2-40B4-BE49-F238E27FC236}">
                <a16:creationId xmlns:a16="http://schemas.microsoft.com/office/drawing/2014/main" id="{274AD62B-65B6-F27B-30F0-2CD1DF4B3D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956871"/>
              </p:ext>
            </p:extLst>
          </p:nvPr>
        </p:nvGraphicFramePr>
        <p:xfrm>
          <a:off x="4541197" y="2819568"/>
          <a:ext cx="1611004" cy="820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65600" imgH="2120900" progId="Equation.3">
                  <p:embed/>
                </p:oleObj>
              </mc:Choice>
              <mc:Fallback>
                <p:oleObj name="Equation" r:id="rId2" imgW="4165600" imgH="2120900" progId="Equation.3">
                  <p:embed/>
                  <p:pic>
                    <p:nvPicPr>
                      <p:cNvPr id="73732" name="Object 4">
                        <a:extLst>
                          <a:ext uri="{FF2B5EF4-FFF2-40B4-BE49-F238E27FC236}">
                            <a16:creationId xmlns:a16="http://schemas.microsoft.com/office/drawing/2014/main" id="{274AD62B-65B6-F27B-30F0-2CD1DF4B3D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1197" y="2819568"/>
                        <a:ext cx="1611004" cy="8203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3" name="Object 5">
            <a:extLst>
              <a:ext uri="{FF2B5EF4-FFF2-40B4-BE49-F238E27FC236}">
                <a16:creationId xmlns:a16="http://schemas.microsoft.com/office/drawing/2014/main" id="{758A24F0-1903-5188-458B-29D5F65227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1765"/>
              </p:ext>
            </p:extLst>
          </p:nvPr>
        </p:nvGraphicFramePr>
        <p:xfrm>
          <a:off x="4401977" y="4691465"/>
          <a:ext cx="1722953" cy="397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57700" imgH="1028700" progId="Equation.3">
                  <p:embed/>
                </p:oleObj>
              </mc:Choice>
              <mc:Fallback>
                <p:oleObj name="Equation" r:id="rId4" imgW="4457700" imgH="1028700" progId="Equation.3">
                  <p:embed/>
                  <p:pic>
                    <p:nvPicPr>
                      <p:cNvPr id="73733" name="Object 5">
                        <a:extLst>
                          <a:ext uri="{FF2B5EF4-FFF2-40B4-BE49-F238E27FC236}">
                            <a16:creationId xmlns:a16="http://schemas.microsoft.com/office/drawing/2014/main" id="{758A24F0-1903-5188-458B-29D5F65227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1977" y="4691465"/>
                        <a:ext cx="1722953" cy="397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3F475CFF-B66C-C7AA-6916-73A01C6BE0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1698" y="347750"/>
            <a:ext cx="9150003" cy="615553"/>
          </a:xfrm>
        </p:spPr>
        <p:txBody>
          <a:bodyPr/>
          <a:lstStyle/>
          <a:p>
            <a:r>
              <a:rPr lang="en-US" altLang="en-US"/>
              <a:t>Euler’s Method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30E9BEC6-2C92-54DF-C14A-5F9BC92ACC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55700" y="1791529"/>
            <a:ext cx="3946172" cy="3256276"/>
          </a:xfrm>
        </p:spPr>
        <p:txBody>
          <a:bodyPr/>
          <a:lstStyle/>
          <a:p>
            <a:r>
              <a:rPr lang="en-US" altLang="en-US" sz="2645" dirty="0"/>
              <a:t>The first derivative provides a direct estimate of the slope at </a:t>
            </a:r>
            <a:r>
              <a:rPr lang="en-US" altLang="en-US" sz="2645" i="1" dirty="0" err="1"/>
              <a:t>t</a:t>
            </a:r>
            <a:r>
              <a:rPr lang="en-US" altLang="en-US" sz="2645" i="1" baseline="-25000" dirty="0" err="1"/>
              <a:t>i</a:t>
            </a:r>
            <a:r>
              <a:rPr lang="en-US" altLang="en-US" sz="2645" dirty="0"/>
              <a:t>:</a:t>
            </a:r>
            <a:br>
              <a:rPr lang="en-US" altLang="en-US" sz="2645" dirty="0"/>
            </a:br>
            <a:br>
              <a:rPr lang="en-US" altLang="en-US" sz="2645" dirty="0"/>
            </a:br>
            <a:br>
              <a:rPr lang="en-US" altLang="en-US" sz="2645" dirty="0"/>
            </a:br>
            <a:r>
              <a:rPr lang="en-US" altLang="en-US" sz="2645" dirty="0"/>
              <a:t>and the Euler method uses that estimate as the increment function:</a:t>
            </a:r>
            <a:r>
              <a:rPr lang="en-US" altLang="en-US" dirty="0"/>
              <a:t> </a:t>
            </a:r>
          </a:p>
        </p:txBody>
      </p:sp>
      <p:graphicFrame>
        <p:nvGraphicFramePr>
          <p:cNvPr id="47108" name="Object 4">
            <a:extLst>
              <a:ext uri="{FF2B5EF4-FFF2-40B4-BE49-F238E27FC236}">
                <a16:creationId xmlns:a16="http://schemas.microsoft.com/office/drawing/2014/main" id="{70F01E91-F673-9E8D-FB5A-9A31FB936B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4031" y="2938640"/>
          <a:ext cx="1978333" cy="962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18100" imgH="2489200" progId="Equation.3">
                  <p:embed/>
                </p:oleObj>
              </mc:Choice>
              <mc:Fallback>
                <p:oleObj name="Equation" r:id="rId2" imgW="5118100" imgH="2489200" progId="Equation.3">
                  <p:embed/>
                  <p:pic>
                    <p:nvPicPr>
                      <p:cNvPr id="47108" name="Object 4">
                        <a:extLst>
                          <a:ext uri="{FF2B5EF4-FFF2-40B4-BE49-F238E27FC236}">
                            <a16:creationId xmlns:a16="http://schemas.microsoft.com/office/drawing/2014/main" id="{70F01E91-F673-9E8D-FB5A-9A31FB936B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4031" y="2938640"/>
                        <a:ext cx="1978333" cy="9620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>
            <a:extLst>
              <a:ext uri="{FF2B5EF4-FFF2-40B4-BE49-F238E27FC236}">
                <a16:creationId xmlns:a16="http://schemas.microsoft.com/office/drawing/2014/main" id="{D1FA8D3D-6A59-04D4-18EA-FE91D18BFD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2412" y="5793317"/>
          <a:ext cx="2543322" cy="1021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578600" imgH="2628900" progId="Equation.3">
                  <p:embed/>
                </p:oleObj>
              </mc:Choice>
              <mc:Fallback>
                <p:oleObj name="Equation" r:id="rId4" imgW="6578600" imgH="2628900" progId="Equation.3">
                  <p:embed/>
                  <p:pic>
                    <p:nvPicPr>
                      <p:cNvPr id="47109" name="Object 5">
                        <a:extLst>
                          <a:ext uri="{FF2B5EF4-FFF2-40B4-BE49-F238E27FC236}">
                            <a16:creationId xmlns:a16="http://schemas.microsoft.com/office/drawing/2014/main" id="{D1FA8D3D-6A59-04D4-18EA-FE91D18BFD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412" y="5793317"/>
                        <a:ext cx="2543322" cy="10215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7110" name="Picture 6">
            <a:extLst>
              <a:ext uri="{FF2B5EF4-FFF2-40B4-BE49-F238E27FC236}">
                <a16:creationId xmlns:a16="http://schemas.microsoft.com/office/drawing/2014/main" id="{744B57FB-A44C-A233-4A6A-95C8F178D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973" y="2099028"/>
            <a:ext cx="5439980" cy="3835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5318EFA-27D4-6959-BE12-A9469CE47F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1698" y="347750"/>
            <a:ext cx="9150003" cy="615553"/>
          </a:xfrm>
        </p:spPr>
        <p:txBody>
          <a:bodyPr/>
          <a:lstStyle/>
          <a:p>
            <a:r>
              <a:rPr lang="en-US" altLang="en-US"/>
              <a:t>Error Analysis for Euler’s Method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E34479EE-5BA4-BB57-95AF-AD49DDBD9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7665" y="1797050"/>
            <a:ext cx="8918068" cy="463973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085" dirty="0"/>
              <a:t>The numerical solution of ODEs involves two types of error:</a:t>
            </a:r>
          </a:p>
          <a:p>
            <a:pPr lvl="1">
              <a:lnSpc>
                <a:spcPct val="90000"/>
              </a:lnSpc>
            </a:pPr>
            <a:r>
              <a:rPr lang="en-US" altLang="en-US" sz="2645" i="1" dirty="0"/>
              <a:t>Truncation errors</a:t>
            </a:r>
            <a:r>
              <a:rPr lang="en-US" altLang="en-US" sz="2645" dirty="0"/>
              <a:t>, caused by the nature of the techniques employed</a:t>
            </a:r>
          </a:p>
          <a:p>
            <a:pPr lvl="1">
              <a:lnSpc>
                <a:spcPct val="90000"/>
              </a:lnSpc>
            </a:pPr>
            <a:r>
              <a:rPr lang="en-US" altLang="en-US" sz="2645" i="1" dirty="0"/>
              <a:t>Roundoff errors</a:t>
            </a:r>
            <a:r>
              <a:rPr lang="en-US" altLang="en-US" sz="2645" dirty="0"/>
              <a:t>, caused by the limited numbers of significant digits that can be retained</a:t>
            </a:r>
          </a:p>
          <a:p>
            <a:pPr>
              <a:lnSpc>
                <a:spcPct val="90000"/>
              </a:lnSpc>
            </a:pPr>
            <a:r>
              <a:rPr lang="en-US" altLang="en-US" sz="3085" dirty="0"/>
              <a:t>The total, or </a:t>
            </a:r>
            <a:r>
              <a:rPr lang="en-US" altLang="en-US" sz="3085" i="1" dirty="0"/>
              <a:t>global </a:t>
            </a:r>
            <a:r>
              <a:rPr lang="en-US" altLang="en-US" sz="3085" dirty="0"/>
              <a:t>truncation error can be further split into:</a:t>
            </a:r>
          </a:p>
          <a:p>
            <a:pPr lvl="1">
              <a:lnSpc>
                <a:spcPct val="90000"/>
              </a:lnSpc>
            </a:pPr>
            <a:r>
              <a:rPr lang="en-US" altLang="en-US" sz="2645" i="1" dirty="0"/>
              <a:t>local truncation error</a:t>
            </a:r>
            <a:r>
              <a:rPr lang="en-US" altLang="en-US" sz="2645" dirty="0"/>
              <a:t> that results from an application method in question over a single step, and </a:t>
            </a:r>
          </a:p>
          <a:p>
            <a:pPr lvl="1">
              <a:lnSpc>
                <a:spcPct val="90000"/>
              </a:lnSpc>
            </a:pPr>
            <a:r>
              <a:rPr lang="en-US" altLang="en-US" sz="2645" i="1" dirty="0"/>
              <a:t>propagated truncation error</a:t>
            </a:r>
            <a:r>
              <a:rPr lang="en-US" altLang="en-US" sz="2645" dirty="0"/>
              <a:t> that results from the approximations produced during previous steps.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F7C2AC23-EF8C-7099-B992-505E6E0A76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1698" y="347750"/>
            <a:ext cx="9150003" cy="615553"/>
          </a:xfrm>
        </p:spPr>
        <p:txBody>
          <a:bodyPr/>
          <a:lstStyle/>
          <a:p>
            <a:r>
              <a:rPr lang="en-US" altLang="en-US"/>
              <a:t>Error Analysis for Euler’s Method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8E09EC5A-003B-8129-C13E-8845541657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1438" y="1803170"/>
            <a:ext cx="8093709" cy="174509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The local truncation error for Euler’s method is </a:t>
            </a:r>
            <a:r>
              <a:rPr lang="en-US" altLang="en-US" i="1"/>
              <a:t>O</a:t>
            </a:r>
            <a:r>
              <a:rPr lang="en-US" altLang="en-US"/>
              <a:t>(</a:t>
            </a:r>
            <a:r>
              <a:rPr lang="en-US" altLang="en-US" i="1"/>
              <a:t>h</a:t>
            </a:r>
            <a:r>
              <a:rPr lang="en-US" altLang="en-US" baseline="30000"/>
              <a:t>2</a:t>
            </a:r>
            <a:r>
              <a:rPr lang="en-US" altLang="en-US"/>
              <a:t>) and proportional to the derivative of </a:t>
            </a:r>
            <a:r>
              <a:rPr lang="en-US" altLang="en-US" i="1"/>
              <a:t>f</a:t>
            </a:r>
            <a:r>
              <a:rPr lang="en-US" altLang="en-US"/>
              <a:t>(</a:t>
            </a:r>
            <a:r>
              <a:rPr lang="en-US" altLang="en-US" i="1"/>
              <a:t>t</a:t>
            </a:r>
            <a:r>
              <a:rPr lang="en-US" altLang="en-US"/>
              <a:t>,</a:t>
            </a:r>
            <a:r>
              <a:rPr lang="en-US" altLang="en-US" i="1"/>
              <a:t>y</a:t>
            </a:r>
            <a:r>
              <a:rPr lang="en-US" altLang="en-US"/>
              <a:t>) while the global truncation error is </a:t>
            </a:r>
            <a:r>
              <a:rPr lang="en-US" altLang="en-US" i="1"/>
              <a:t>O</a:t>
            </a:r>
            <a:r>
              <a:rPr lang="en-US" altLang="en-US"/>
              <a:t>(</a:t>
            </a:r>
            <a:r>
              <a:rPr lang="en-US" altLang="en-US" i="1"/>
              <a:t>h</a:t>
            </a:r>
            <a:r>
              <a:rPr lang="en-US" altLang="en-US"/>
              <a:t>).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This means: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The global error can be reduced by decreasing the step size, and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Euler’s method will provide error-free predictions if the underlying function is linear.</a:t>
            </a:r>
          </a:p>
          <a:p>
            <a:pPr>
              <a:lnSpc>
                <a:spcPct val="90000"/>
              </a:lnSpc>
            </a:pPr>
            <a:r>
              <a:rPr lang="en-US" altLang="en-US"/>
              <a:t>Euler’s method is </a:t>
            </a:r>
            <a:r>
              <a:rPr lang="en-US" altLang="en-US" i="1"/>
              <a:t>conditionally stable</a:t>
            </a:r>
            <a:r>
              <a:rPr lang="en-US" altLang="en-US"/>
              <a:t>, depending on the size of </a:t>
            </a:r>
            <a:r>
              <a:rPr lang="en-US" altLang="en-US" i="1"/>
              <a:t>h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7D19DB37-4E98-FBFC-B645-A244FB810A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1698" y="347750"/>
            <a:ext cx="9150003" cy="615553"/>
          </a:xfrm>
        </p:spPr>
        <p:txBody>
          <a:bodyPr/>
          <a:lstStyle/>
          <a:p>
            <a:r>
              <a:rPr lang="en-US" altLang="en-US"/>
              <a:t>Runge-Kutta Methods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2F674394-FFF2-3543-230D-5E48ED6522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100" y="1450669"/>
            <a:ext cx="9571567" cy="549477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645" dirty="0"/>
              <a:t>Runge-</a:t>
            </a:r>
            <a:r>
              <a:rPr lang="en-US" altLang="en-US" sz="2645" dirty="0" err="1"/>
              <a:t>Kutta</a:t>
            </a:r>
            <a:r>
              <a:rPr lang="en-US" altLang="en-US" sz="2645" dirty="0"/>
              <a:t> (RK) methods achieve the accuracy of a Taylor series approach without requiring the calculation of higher derivatives.</a:t>
            </a:r>
          </a:p>
          <a:p>
            <a:pPr>
              <a:lnSpc>
                <a:spcPct val="90000"/>
              </a:lnSpc>
            </a:pPr>
            <a:r>
              <a:rPr lang="en-US" altLang="en-US" sz="2645" dirty="0"/>
              <a:t>For RK methods, the increment function </a:t>
            </a:r>
            <a:r>
              <a:rPr lang="en-US" altLang="en-US" sz="2645" i="1" dirty="0">
                <a:latin typeface="Symbol" pitchFamily="2" charset="2"/>
              </a:rPr>
              <a:t></a:t>
            </a:r>
            <a:r>
              <a:rPr lang="en-US" altLang="en-US" sz="2645" dirty="0"/>
              <a:t> can be generally written as:</a:t>
            </a:r>
            <a:br>
              <a:rPr lang="en-US" altLang="en-US" sz="2645" dirty="0"/>
            </a:br>
            <a:br>
              <a:rPr lang="en-US" altLang="en-US" sz="2645" dirty="0"/>
            </a:br>
            <a:r>
              <a:rPr lang="en-US" altLang="en-US" sz="2645" dirty="0"/>
              <a:t>where the </a:t>
            </a:r>
            <a:r>
              <a:rPr lang="en-US" altLang="en-US" sz="2645" i="1" dirty="0"/>
              <a:t>a</a:t>
            </a:r>
            <a:r>
              <a:rPr lang="en-US" altLang="en-US" sz="2645" dirty="0"/>
              <a:t>’s are constants and the </a:t>
            </a:r>
            <a:r>
              <a:rPr lang="en-US" altLang="en-US" sz="2645" i="1" dirty="0"/>
              <a:t>k</a:t>
            </a:r>
            <a:r>
              <a:rPr lang="en-US" altLang="en-US" sz="2645" dirty="0"/>
              <a:t>’s are</a:t>
            </a:r>
            <a:br>
              <a:rPr lang="en-US" altLang="en-US" sz="2645" dirty="0"/>
            </a:br>
            <a:br>
              <a:rPr lang="en-US" altLang="en-US" sz="2645" dirty="0"/>
            </a:br>
            <a:br>
              <a:rPr lang="en-US" altLang="en-US" sz="2645" dirty="0"/>
            </a:br>
            <a:br>
              <a:rPr lang="en-US" altLang="en-US" sz="2645" dirty="0"/>
            </a:br>
            <a:br>
              <a:rPr lang="en-US" altLang="en-US" sz="2645" dirty="0"/>
            </a:br>
            <a:br>
              <a:rPr lang="en-US" altLang="en-US" sz="2645" dirty="0"/>
            </a:br>
            <a:br>
              <a:rPr lang="en-US" altLang="en-US" sz="2645" dirty="0"/>
            </a:br>
            <a:endParaRPr lang="en-US" altLang="en-US" sz="2645" dirty="0"/>
          </a:p>
          <a:p>
            <a:pPr>
              <a:lnSpc>
                <a:spcPct val="90000"/>
              </a:lnSpc>
            </a:pPr>
            <a:r>
              <a:rPr lang="en-US" altLang="en-US" sz="2645" dirty="0"/>
              <a:t>where the </a:t>
            </a:r>
            <a:r>
              <a:rPr lang="en-US" altLang="en-US" sz="2645" i="1" dirty="0"/>
              <a:t>p</a:t>
            </a:r>
            <a:r>
              <a:rPr lang="en-US" altLang="en-US" sz="2645" dirty="0"/>
              <a:t>’s and </a:t>
            </a:r>
            <a:r>
              <a:rPr lang="en-US" altLang="en-US" sz="2645" i="1" dirty="0"/>
              <a:t>q</a:t>
            </a:r>
            <a:r>
              <a:rPr lang="en-US" altLang="en-US" sz="2645" dirty="0"/>
              <a:t>’s are constants.</a:t>
            </a:r>
          </a:p>
        </p:txBody>
      </p:sp>
      <p:graphicFrame>
        <p:nvGraphicFramePr>
          <p:cNvPr id="78852" name="Object 4">
            <a:extLst>
              <a:ext uri="{FF2B5EF4-FFF2-40B4-BE49-F238E27FC236}">
                <a16:creationId xmlns:a16="http://schemas.microsoft.com/office/drawing/2014/main" id="{A7425219-7426-3E49-1A58-25DBFD9925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8347463"/>
              </p:ext>
            </p:extLst>
          </p:nvPr>
        </p:nvGraphicFramePr>
        <p:xfrm>
          <a:off x="3517900" y="3159910"/>
          <a:ext cx="3332207" cy="397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6000" imgH="1028700" progId="Equation.3">
                  <p:embed/>
                </p:oleObj>
              </mc:Choice>
              <mc:Fallback>
                <p:oleObj name="Equation" r:id="rId2" imgW="8636000" imgH="1028700" progId="Equation.3">
                  <p:embed/>
                  <p:pic>
                    <p:nvPicPr>
                      <p:cNvPr id="78852" name="Object 4">
                        <a:extLst>
                          <a:ext uri="{FF2B5EF4-FFF2-40B4-BE49-F238E27FC236}">
                            <a16:creationId xmlns:a16="http://schemas.microsoft.com/office/drawing/2014/main" id="{A7425219-7426-3E49-1A58-25DBFD9925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3159910"/>
                        <a:ext cx="3332207" cy="3970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3" name="Object 5">
            <a:extLst>
              <a:ext uri="{FF2B5EF4-FFF2-40B4-BE49-F238E27FC236}">
                <a16:creationId xmlns:a16="http://schemas.microsoft.com/office/drawing/2014/main" id="{4DB0137B-00B1-F852-FFBC-9258C6605C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8747" y="4198056"/>
          <a:ext cx="7568744" cy="2210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96100" imgH="5702300" progId="Equation.3">
                  <p:embed/>
                </p:oleObj>
              </mc:Choice>
              <mc:Fallback>
                <p:oleObj name="Equation" r:id="rId4" imgW="19596100" imgH="5702300" progId="Equation.3">
                  <p:embed/>
                  <p:pic>
                    <p:nvPicPr>
                      <p:cNvPr id="78853" name="Object 5">
                        <a:extLst>
                          <a:ext uri="{FF2B5EF4-FFF2-40B4-BE49-F238E27FC236}">
                            <a16:creationId xmlns:a16="http://schemas.microsoft.com/office/drawing/2014/main" id="{4DB0137B-00B1-F852-FFBC-9258C6605C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747" y="4198056"/>
                        <a:ext cx="7568744" cy="2210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5F3A82B5-69FF-10F4-57A7-0CEC450FBB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1698" y="347750"/>
            <a:ext cx="9150003" cy="1231106"/>
          </a:xfrm>
        </p:spPr>
        <p:txBody>
          <a:bodyPr/>
          <a:lstStyle/>
          <a:p>
            <a:r>
              <a:rPr lang="en-US" altLang="en-US"/>
              <a:t>Classical Fourth-Order Runge-Kutta Method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55401D0B-A83A-56CB-A23B-1A4E13D426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1438" y="1803170"/>
            <a:ext cx="8093709" cy="1384995"/>
          </a:xfrm>
        </p:spPr>
        <p:txBody>
          <a:bodyPr/>
          <a:lstStyle/>
          <a:p>
            <a:r>
              <a:rPr lang="en-US" altLang="en-US"/>
              <a:t>The most popular RK methods are fourth-order, and the most commonly used form is: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/>
              <a:t>where:</a:t>
            </a:r>
          </a:p>
        </p:txBody>
      </p:sp>
      <p:graphicFrame>
        <p:nvGraphicFramePr>
          <p:cNvPr id="79876" name="Object 4">
            <a:extLst>
              <a:ext uri="{FF2B5EF4-FFF2-40B4-BE49-F238E27FC236}">
                <a16:creationId xmlns:a16="http://schemas.microsoft.com/office/drawing/2014/main" id="{FA4048E8-D740-ECCE-3D01-5A04DE878C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5692" y="2686756"/>
          <a:ext cx="4407958" cy="823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04600" imgH="2120900" progId="Equation.3">
                  <p:embed/>
                </p:oleObj>
              </mc:Choice>
              <mc:Fallback>
                <p:oleObj name="Equation" r:id="rId2" imgW="11404600" imgH="2120900" progId="Equation.3">
                  <p:embed/>
                  <p:pic>
                    <p:nvPicPr>
                      <p:cNvPr id="79876" name="Object 4">
                        <a:extLst>
                          <a:ext uri="{FF2B5EF4-FFF2-40B4-BE49-F238E27FC236}">
                            <a16:creationId xmlns:a16="http://schemas.microsoft.com/office/drawing/2014/main" id="{FA4048E8-D740-ECCE-3D01-5A04DE878C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692" y="2686756"/>
                        <a:ext cx="4407958" cy="8238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7" name="Object 5">
            <a:extLst>
              <a:ext uri="{FF2B5EF4-FFF2-40B4-BE49-F238E27FC236}">
                <a16:creationId xmlns:a16="http://schemas.microsoft.com/office/drawing/2014/main" id="{B9066728-7F78-D840-D23A-2CF59128B1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4684" y="4365978"/>
          <a:ext cx="3445904" cy="2665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928100" imgH="6870700" progId="Equation.3">
                  <p:embed/>
                </p:oleObj>
              </mc:Choice>
              <mc:Fallback>
                <p:oleObj name="Equation" r:id="rId4" imgW="8928100" imgH="6870700" progId="Equation.3">
                  <p:embed/>
                  <p:pic>
                    <p:nvPicPr>
                      <p:cNvPr id="79877" name="Object 5">
                        <a:extLst>
                          <a:ext uri="{FF2B5EF4-FFF2-40B4-BE49-F238E27FC236}">
                            <a16:creationId xmlns:a16="http://schemas.microsoft.com/office/drawing/2014/main" id="{B9066728-7F78-D840-D23A-2CF59128B1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4684" y="4365978"/>
                        <a:ext cx="3445904" cy="26657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9878" name="Picture 6">
            <a:extLst>
              <a:ext uri="{FF2B5EF4-FFF2-40B4-BE49-F238E27FC236}">
                <a16:creationId xmlns:a16="http://schemas.microsoft.com/office/drawing/2014/main" id="{E73B5352-9F0B-A350-B96D-17D778663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856" y="3563100"/>
            <a:ext cx="5205589" cy="399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ECC2F05B-2453-6986-B086-6036FBA09F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1698" y="347750"/>
            <a:ext cx="9150003" cy="615553"/>
          </a:xfrm>
        </p:spPr>
        <p:txBody>
          <a:bodyPr/>
          <a:lstStyle/>
          <a:p>
            <a:r>
              <a:rPr lang="en-US" altLang="en-US"/>
              <a:t>Systems of Equations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835B5273-4614-F607-EA37-F3D06475C6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65896" y="1986827"/>
            <a:ext cx="8918068" cy="4747453"/>
          </a:xfrm>
        </p:spPr>
        <p:txBody>
          <a:bodyPr/>
          <a:lstStyle/>
          <a:p>
            <a:r>
              <a:rPr lang="en-US" altLang="en-US" sz="3085" dirty="0"/>
              <a:t>Many practical problems require the solution of a </a:t>
            </a:r>
            <a:r>
              <a:rPr lang="en-US" altLang="en-US" sz="3085" i="1" dirty="0"/>
              <a:t>system</a:t>
            </a:r>
            <a:r>
              <a:rPr lang="en-US" altLang="en-US" sz="3085" dirty="0"/>
              <a:t> of equations:</a:t>
            </a:r>
            <a:br>
              <a:rPr lang="en-US" altLang="en-US" sz="3085" dirty="0"/>
            </a:br>
            <a:br>
              <a:rPr lang="en-US" altLang="en-US" sz="3085" dirty="0"/>
            </a:br>
            <a:br>
              <a:rPr lang="en-US" altLang="en-US" sz="3085" dirty="0"/>
            </a:br>
            <a:br>
              <a:rPr lang="en-US" altLang="en-US" sz="3085" dirty="0"/>
            </a:br>
            <a:br>
              <a:rPr lang="en-US" altLang="en-US" sz="3085" dirty="0"/>
            </a:br>
            <a:endParaRPr lang="en-US" altLang="en-US" sz="3085" dirty="0"/>
          </a:p>
          <a:p>
            <a:endParaRPr lang="en-US" altLang="en-US" sz="3085" dirty="0"/>
          </a:p>
          <a:p>
            <a:r>
              <a:rPr lang="en-US" altLang="en-US" sz="3085" dirty="0"/>
              <a:t>The solution of such a system requires that </a:t>
            </a:r>
            <a:r>
              <a:rPr lang="en-US" altLang="en-US" sz="3085" i="1" dirty="0"/>
              <a:t>n</a:t>
            </a:r>
            <a:r>
              <a:rPr lang="en-US" altLang="en-US" sz="3085" dirty="0"/>
              <a:t> initial conditions be known at the starting value of </a:t>
            </a:r>
            <a:r>
              <a:rPr lang="en-US" altLang="en-US" sz="3085" i="1" dirty="0"/>
              <a:t>t</a:t>
            </a:r>
            <a:r>
              <a:rPr lang="en-US" altLang="en-US" sz="3085" dirty="0"/>
              <a:t>.</a:t>
            </a:r>
          </a:p>
        </p:txBody>
      </p:sp>
      <p:graphicFrame>
        <p:nvGraphicFramePr>
          <p:cNvPr id="80900" name="Object 4">
            <a:extLst>
              <a:ext uri="{FF2B5EF4-FFF2-40B4-BE49-F238E27FC236}">
                <a16:creationId xmlns:a16="http://schemas.microsoft.com/office/drawing/2014/main" id="{25A112A3-9D5B-20A0-9338-A9FD51B54F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969608"/>
              </p:ext>
            </p:extLst>
          </p:nvPr>
        </p:nvGraphicFramePr>
        <p:xfrm>
          <a:off x="3751440" y="2915046"/>
          <a:ext cx="3111809" cy="2692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15300" imgH="7023100" progId="Equation.3">
                  <p:embed/>
                </p:oleObj>
              </mc:Choice>
              <mc:Fallback>
                <p:oleObj name="Equation" r:id="rId2" imgW="8115300" imgH="7023100" progId="Equation.3">
                  <p:embed/>
                  <p:pic>
                    <p:nvPicPr>
                      <p:cNvPr id="80900" name="Object 4">
                        <a:extLst>
                          <a:ext uri="{FF2B5EF4-FFF2-40B4-BE49-F238E27FC236}">
                            <a16:creationId xmlns:a16="http://schemas.microsoft.com/office/drawing/2014/main" id="{25A112A3-9D5B-20A0-9338-A9FD51B54F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440" y="2915046"/>
                        <a:ext cx="3111809" cy="26920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74FD26CD-2AAD-A50B-6FE5-9C807C848B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1698" y="347750"/>
            <a:ext cx="9150003" cy="615553"/>
          </a:xfrm>
        </p:spPr>
        <p:txBody>
          <a:bodyPr/>
          <a:lstStyle/>
          <a:p>
            <a:r>
              <a:rPr lang="en-US" altLang="en-US"/>
              <a:t>Solution Methods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EAEDFC78-85BC-E17D-3435-C5C4507444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1438" y="1803170"/>
            <a:ext cx="8093709" cy="1661993"/>
          </a:xfrm>
        </p:spPr>
        <p:txBody>
          <a:bodyPr/>
          <a:lstStyle/>
          <a:p>
            <a:r>
              <a:rPr lang="en-US" altLang="en-US"/>
              <a:t>Single-equation methods can be used to solve systems of ODE’s as well; for example, Euler’s method can be used on systems of equations - the one-step method is applied for every equation at each step before proceeding to the next step.</a:t>
            </a:r>
          </a:p>
          <a:p>
            <a:r>
              <a:rPr lang="en-US" altLang="en-US"/>
              <a:t>Fourth-order Runge-Kutta methods can also be used, but care must be taken in calculating the </a:t>
            </a:r>
            <a:r>
              <a:rPr lang="en-US" altLang="en-US" i="1"/>
              <a:t>k</a:t>
            </a:r>
            <a:r>
              <a:rPr lang="en-US" altLang="en-US"/>
              <a:t>’s.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Solving Differential Equations Numerically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Example equation:</a:t>
            </a:r>
          </a:p>
          <a:p>
            <a:r>
              <a:t> dy/dx + 2y = 1.3 e^{-x}</a:t>
            </a:r>
          </a:p>
          <a:p>
            <a:endParaRPr/>
          </a:p>
          <a:p>
            <a:r>
              <a:t>Initial condition:</a:t>
            </a:r>
          </a:p>
          <a:p>
            <a:r>
              <a:t> y(0) = 5</a:t>
            </a:r>
          </a:p>
          <a:p>
            <a:endParaRPr/>
          </a:p>
          <a:p>
            <a:r>
              <a:t>Rewrite:</a:t>
            </a:r>
          </a:p>
          <a:p>
            <a:r>
              <a:t> dy/dx = 1.3 e^{-x} - 2y</a:t>
            </a:r>
          </a:p>
          <a:p>
            <a:endParaRPr/>
          </a:p>
          <a:p>
            <a:r>
              <a:t>Goal: compute y(x) numerically.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Numerical Methods?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63184"/>
            <a:ext cx="9067800" cy="503477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Many differential equations cannot be solved analytically.</a:t>
            </a:r>
          </a:p>
          <a:p>
            <a:endParaRPr dirty="0"/>
          </a:p>
          <a:p>
            <a:r>
              <a:rPr dirty="0"/>
              <a:t>Example idea (Euler method):</a:t>
            </a:r>
          </a:p>
          <a:p>
            <a:r>
              <a:rPr dirty="0"/>
              <a:t> y_{n+1} = </a:t>
            </a:r>
            <a:r>
              <a:rPr dirty="0" err="1"/>
              <a:t>y_n</a:t>
            </a:r>
            <a:r>
              <a:rPr dirty="0"/>
              <a:t> + h f(</a:t>
            </a:r>
            <a:r>
              <a:rPr dirty="0" err="1"/>
              <a:t>x_n</a:t>
            </a:r>
            <a:r>
              <a:rPr dirty="0"/>
              <a:t>, </a:t>
            </a:r>
            <a:r>
              <a:rPr dirty="0" err="1"/>
              <a:t>y_n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But Euler can be inaccurate.</a:t>
            </a:r>
          </a:p>
          <a:p>
            <a:endParaRPr dirty="0"/>
          </a:p>
          <a:p>
            <a:r>
              <a:rPr dirty="0"/>
              <a:t>Runge–</a:t>
            </a:r>
            <a:r>
              <a:rPr dirty="0" err="1"/>
              <a:t>Kutta</a:t>
            </a:r>
            <a:r>
              <a:rPr dirty="0"/>
              <a:t> methods improve accuracy using several slope evaluations.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Runge–Kutta 4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Compute four slopes:</a:t>
            </a:r>
          </a:p>
          <a:p>
            <a:endParaRPr/>
          </a:p>
          <a:p>
            <a:r>
              <a:t>k1 = f(x_n, y_n)</a:t>
            </a:r>
          </a:p>
          <a:p>
            <a:r>
              <a:t>k2 = f(x_n + h/2, y_n + h k1/2)</a:t>
            </a:r>
          </a:p>
          <a:p>
            <a:r>
              <a:t>k3 = f(x_n + h/2, y_n + h k2/2)</a:t>
            </a:r>
          </a:p>
          <a:p>
            <a:r>
              <a:t>k4 = f(x_n + h, y_n + h k3)</a:t>
            </a:r>
          </a:p>
          <a:p>
            <a:endParaRPr/>
          </a:p>
          <a:p>
            <a:r>
              <a:t>Update:</a:t>
            </a:r>
          </a:p>
          <a:p>
            <a:r>
              <a:t> y_{n+1} = y_n + h/6 (k1 + 2k2 + 2k3 + k4)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Step (RK4)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Equation:</a:t>
            </a:r>
          </a:p>
          <a:p>
            <a:r>
              <a:t> f(x,y) = 1.3 e^{-x} - 2y</a:t>
            </a:r>
          </a:p>
          <a:p>
            <a:endParaRPr/>
          </a:p>
          <a:p>
            <a:r>
              <a:t>Initial values:</a:t>
            </a:r>
          </a:p>
          <a:p>
            <a:r>
              <a:t> x0 = 0</a:t>
            </a:r>
          </a:p>
          <a:p>
            <a:r>
              <a:t> y0 = 5</a:t>
            </a:r>
          </a:p>
          <a:p>
            <a:endParaRPr/>
          </a:p>
          <a:p>
            <a:r>
              <a:t>Step size:</a:t>
            </a:r>
          </a:p>
          <a:p>
            <a:r>
              <a:t> h = 0.1</a:t>
            </a:r>
          </a:p>
          <a:p>
            <a:endParaRPr/>
          </a:p>
          <a:p>
            <a:r>
              <a:t>Compute slopes k1, k2, k3, k4.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of RK4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63183"/>
            <a:ext cx="9067800" cy="4826316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k1 = -8.7</a:t>
            </a:r>
          </a:p>
          <a:p>
            <a:r>
              <a:rPr dirty="0"/>
              <a:t>k2 ≈ -7.893</a:t>
            </a:r>
          </a:p>
          <a:p>
            <a:r>
              <a:rPr dirty="0"/>
              <a:t>k3 ≈ -7.974</a:t>
            </a:r>
          </a:p>
          <a:p>
            <a:r>
              <a:rPr dirty="0"/>
              <a:t>k4 ≈ -7.229</a:t>
            </a:r>
          </a:p>
          <a:p>
            <a:endParaRPr dirty="0"/>
          </a:p>
          <a:p>
            <a:r>
              <a:rPr dirty="0"/>
              <a:t>Update:</a:t>
            </a:r>
          </a:p>
          <a:p>
            <a:r>
              <a:rPr dirty="0"/>
              <a:t> y1 = y0 + h/6 (k1 + 2k2 + 2k3 + k4)</a:t>
            </a:r>
          </a:p>
          <a:p>
            <a:endParaRPr dirty="0"/>
          </a:p>
          <a:p>
            <a:r>
              <a:rPr dirty="0"/>
              <a:t>Result:</a:t>
            </a:r>
          </a:p>
          <a:p>
            <a:r>
              <a:rPr dirty="0"/>
              <a:t> y(0.1) ≈ 4.206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Geometric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63183"/>
            <a:ext cx="9067800" cy="5092676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RK4 evaluates slopes at:</a:t>
            </a:r>
          </a:p>
          <a:p>
            <a:r>
              <a:rPr dirty="0"/>
              <a:t>• start of the interval</a:t>
            </a:r>
          </a:p>
          <a:p>
            <a:r>
              <a:rPr dirty="0"/>
              <a:t>• middle (twice)</a:t>
            </a:r>
          </a:p>
          <a:p>
            <a:r>
              <a:rPr dirty="0"/>
              <a:t>• end of the interval</a:t>
            </a:r>
          </a:p>
          <a:p>
            <a:endParaRPr dirty="0"/>
          </a:p>
          <a:p>
            <a:r>
              <a:rPr dirty="0"/>
              <a:t>Weighted average of slopes:</a:t>
            </a:r>
          </a:p>
          <a:p>
            <a:r>
              <a:rPr dirty="0"/>
              <a:t>k1 + 2k2 + 2k3 + k4</a:t>
            </a:r>
          </a:p>
          <a:p>
            <a:endParaRPr dirty="0"/>
          </a:p>
          <a:p>
            <a:r>
              <a:rPr dirty="0"/>
              <a:t>This gives a much more accurate estimate than Euler's method.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3231</Words>
  <Application>Microsoft Macintosh PowerPoint</Application>
  <PresentationFormat>Custom</PresentationFormat>
  <Paragraphs>810</Paragraphs>
  <Slides>31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6" baseType="lpstr">
      <vt:lpstr>Albertus Medium</vt:lpstr>
      <vt:lpstr>Aptos</vt:lpstr>
      <vt:lpstr>Arial</vt:lpstr>
      <vt:lpstr>Arial MT</vt:lpstr>
      <vt:lpstr>Calibri</vt:lpstr>
      <vt:lpstr>Geneva</vt:lpstr>
      <vt:lpstr>Lucida Sans Unicode</vt:lpstr>
      <vt:lpstr>Microsoft Sans Serif</vt:lpstr>
      <vt:lpstr>Symbol</vt:lpstr>
      <vt:lpstr>Times New Roman</vt:lpstr>
      <vt:lpstr>Wingdings</vt:lpstr>
      <vt:lpstr>Office Theme</vt:lpstr>
      <vt:lpstr>1_Office Theme</vt:lpstr>
      <vt:lpstr>Microsoft Equation</vt:lpstr>
      <vt:lpstr>Document</vt:lpstr>
      <vt:lpstr>Numerical Modelling in Geosciences</vt:lpstr>
      <vt:lpstr>Why numerical modelling in geosciences?</vt:lpstr>
      <vt:lpstr>Why numerical modelling in geosciences?</vt:lpstr>
      <vt:lpstr>Why numerical modelling in geosciences?</vt:lpstr>
      <vt:lpstr>What is numerical modelling in geosciences?</vt:lpstr>
      <vt:lpstr>Visualization is important!</vt:lpstr>
      <vt:lpstr>PowerPoint Presentation</vt:lpstr>
      <vt:lpstr>Numerical modeling with visualization</vt:lpstr>
      <vt:lpstr>Computational resources</vt:lpstr>
      <vt:lpstr>Computational Science?</vt:lpstr>
      <vt:lpstr>Computational Science</vt:lpstr>
      <vt:lpstr>Computational Science</vt:lpstr>
      <vt:lpstr>Example: Industry </vt:lpstr>
      <vt:lpstr>Computational Science Process</vt:lpstr>
      <vt:lpstr>Mathematics</vt:lpstr>
      <vt:lpstr>Finite difference method</vt:lpstr>
      <vt:lpstr>Chapter Objectives</vt:lpstr>
      <vt:lpstr>Ordinary Differential Equations</vt:lpstr>
      <vt:lpstr>Euler’s Method</vt:lpstr>
      <vt:lpstr>Error Analysis for Euler’s Method</vt:lpstr>
      <vt:lpstr>Error Analysis for Euler’s Method</vt:lpstr>
      <vt:lpstr>Runge-Kutta Methods</vt:lpstr>
      <vt:lpstr>Classical Fourth-Order Runge-Kutta Method</vt:lpstr>
      <vt:lpstr>Systems of Equations</vt:lpstr>
      <vt:lpstr>Solution Methods</vt:lpstr>
      <vt:lpstr>Solving Differential Equations Numerically</vt:lpstr>
      <vt:lpstr>Why Numerical Methods?</vt:lpstr>
      <vt:lpstr>Runge–Kutta 4 Method</vt:lpstr>
      <vt:lpstr>Example Step (RK4)</vt:lpstr>
      <vt:lpstr>Result of RK4 Step</vt:lpstr>
      <vt:lpstr>Geometric Interpretation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Modelling in Geosciences</dc:title>
  <cp:lastModifiedBy>Carlos Pinilla</cp:lastModifiedBy>
  <cp:revision>1</cp:revision>
  <dcterms:created xsi:type="dcterms:W3CDTF">2026-03-09T00:17:07Z</dcterms:created>
  <dcterms:modified xsi:type="dcterms:W3CDTF">2026-03-09T00:51:37Z</dcterms:modified>
</cp:coreProperties>
</file>