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04514" y="340867"/>
            <a:ext cx="266255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1">
                <a:solidFill>
                  <a:srgbClr val="C9B99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4191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1">
                <a:solidFill>
                  <a:srgbClr val="C9B99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4191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1">
                <a:solidFill>
                  <a:srgbClr val="C9B99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4191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1">
                <a:solidFill>
                  <a:srgbClr val="C9B99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4191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4191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400500" y="6270568"/>
            <a:ext cx="0" cy="160020"/>
          </a:xfrm>
          <a:custGeom>
            <a:avLst/>
            <a:gdLst/>
            <a:ahLst/>
            <a:cxnLst/>
            <a:rect l="l" t="t" r="r" b="b"/>
            <a:pathLst>
              <a:path h="160020">
                <a:moveTo>
                  <a:pt x="0" y="0"/>
                </a:moveTo>
                <a:lnTo>
                  <a:pt x="1" y="16002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366001" y="6"/>
            <a:ext cx="1778000" cy="6858000"/>
          </a:xfrm>
          <a:custGeom>
            <a:avLst/>
            <a:gdLst/>
            <a:ahLst/>
            <a:cxnLst/>
            <a:rect l="l" t="t" r="r" b="b"/>
            <a:pathLst>
              <a:path w="1778000" h="6858000">
                <a:moveTo>
                  <a:pt x="1778000" y="0"/>
                </a:moveTo>
                <a:lnTo>
                  <a:pt x="1595026" y="0"/>
                </a:lnTo>
                <a:lnTo>
                  <a:pt x="0" y="6857986"/>
                </a:lnTo>
                <a:lnTo>
                  <a:pt x="1778000" y="6857986"/>
                </a:lnTo>
                <a:lnTo>
                  <a:pt x="1778000" y="0"/>
                </a:lnTo>
                <a:close/>
              </a:path>
            </a:pathLst>
          </a:custGeom>
          <a:solidFill>
            <a:srgbClr val="8E6F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256" y="0"/>
            <a:ext cx="8636000" cy="914400"/>
          </a:xfrm>
          <a:custGeom>
            <a:avLst/>
            <a:gdLst/>
            <a:ahLst/>
            <a:cxnLst/>
            <a:rect l="l" t="t" r="r" b="b"/>
            <a:pathLst>
              <a:path w="8636000" h="914400">
                <a:moveTo>
                  <a:pt x="8635999" y="0"/>
                </a:moveTo>
                <a:lnTo>
                  <a:pt x="0" y="0"/>
                </a:lnTo>
                <a:lnTo>
                  <a:pt x="0" y="914400"/>
                </a:lnTo>
                <a:lnTo>
                  <a:pt x="8423134" y="914400"/>
                </a:lnTo>
                <a:lnTo>
                  <a:pt x="86359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400500" y="6270568"/>
            <a:ext cx="0" cy="160020"/>
          </a:xfrm>
          <a:custGeom>
            <a:avLst/>
            <a:gdLst/>
            <a:ahLst/>
            <a:cxnLst/>
            <a:rect l="l" t="t" r="r" b="b"/>
            <a:pathLst>
              <a:path h="160020">
                <a:moveTo>
                  <a:pt x="0" y="0"/>
                </a:moveTo>
                <a:lnTo>
                  <a:pt x="1" y="16002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0186" y="6046656"/>
            <a:ext cx="2084413" cy="37700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35572" y="5950715"/>
            <a:ext cx="1429385" cy="5439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96433" y="229107"/>
            <a:ext cx="6572250" cy="685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1">
                <a:solidFill>
                  <a:srgbClr val="C9B99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0391" y="1715515"/>
            <a:ext cx="3694429" cy="2588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18466" y="6267177"/>
            <a:ext cx="158099" cy="18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4191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4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7999"/>
                </a:lnTo>
                <a:lnTo>
                  <a:pt x="9144000" y="6857999"/>
                </a:lnTo>
                <a:lnTo>
                  <a:pt x="9144000" y="0"/>
                </a:lnTo>
                <a:close/>
              </a:path>
            </a:pathLst>
          </a:custGeom>
          <a:solidFill>
            <a:srgbClr val="C9B9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366001" y="6"/>
            <a:ext cx="1778000" cy="6858000"/>
          </a:xfrm>
          <a:custGeom>
            <a:avLst/>
            <a:gdLst/>
            <a:ahLst/>
            <a:cxnLst/>
            <a:rect l="l" t="t" r="r" b="b"/>
            <a:pathLst>
              <a:path w="1778000" h="6858000">
                <a:moveTo>
                  <a:pt x="1778000" y="0"/>
                </a:moveTo>
                <a:lnTo>
                  <a:pt x="1595026" y="0"/>
                </a:lnTo>
                <a:lnTo>
                  <a:pt x="0" y="6857986"/>
                </a:lnTo>
                <a:lnTo>
                  <a:pt x="1778000" y="6857986"/>
                </a:lnTo>
                <a:lnTo>
                  <a:pt x="177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400500" y="6270568"/>
            <a:ext cx="0" cy="160020"/>
          </a:xfrm>
          <a:custGeom>
            <a:avLst/>
            <a:gdLst/>
            <a:ahLst/>
            <a:cxnLst/>
            <a:rect l="l" t="t" r="r" b="b"/>
            <a:pathLst>
              <a:path h="160020">
                <a:moveTo>
                  <a:pt x="0" y="0"/>
                </a:moveTo>
                <a:lnTo>
                  <a:pt x="1" y="16002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03415" y="1447291"/>
            <a:ext cx="5189855" cy="134239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210"/>
              </a:spcBef>
              <a:tabLst>
                <a:tab pos="1422400" algn="l"/>
              </a:tabLst>
            </a:pPr>
            <a:r>
              <a:rPr sz="4800" b="0" i="0" spc="-20" dirty="0">
                <a:solidFill>
                  <a:srgbClr val="000000"/>
                </a:solidFill>
                <a:latin typeface="Calibri"/>
                <a:cs typeface="Calibri"/>
              </a:rPr>
              <a:t>DATA</a:t>
            </a:r>
            <a:r>
              <a:rPr sz="4800" b="0" i="0" dirty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sz="4800" b="0" i="0" spc="-50" dirty="0">
                <a:solidFill>
                  <a:srgbClr val="000000"/>
                </a:solidFill>
                <a:latin typeface="Calibri"/>
                <a:cs typeface="Calibri"/>
              </a:rPr>
              <a:t>VISUALIZATION </a:t>
            </a:r>
            <a:r>
              <a:rPr sz="4800" b="0" i="0" dirty="0">
                <a:solidFill>
                  <a:srgbClr val="000000"/>
                </a:solidFill>
                <a:latin typeface="Calibri"/>
                <a:cs typeface="Calibri"/>
              </a:rPr>
              <a:t>USING</a:t>
            </a:r>
            <a:r>
              <a:rPr sz="4800" b="0" i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800" b="0" i="0" spc="-10" dirty="0">
                <a:solidFill>
                  <a:srgbClr val="000000"/>
                </a:solidFill>
                <a:latin typeface="Calibri"/>
                <a:cs typeface="Calibri"/>
              </a:rPr>
              <a:t>PYTHON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4807" y="6042675"/>
            <a:ext cx="5197475" cy="6796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15"/>
              </a:lnSpc>
              <a:spcBef>
                <a:spcPts val="100"/>
              </a:spcBef>
            </a:pPr>
            <a:r>
              <a:rPr lang="en-GB" sz="2200" b="1" spc="-20" dirty="0">
                <a:solidFill>
                  <a:srgbClr val="555960"/>
                </a:solidFill>
                <a:latin typeface="Calibri"/>
                <a:cs typeface="Calibri"/>
              </a:rPr>
              <a:t>Notes from </a:t>
            </a:r>
            <a:r>
              <a:rPr sz="2200" b="1" spc="-20" dirty="0">
                <a:solidFill>
                  <a:srgbClr val="555960"/>
                </a:solidFill>
                <a:latin typeface="Calibri"/>
                <a:cs typeface="Calibri"/>
              </a:rPr>
              <a:t>Trevor</a:t>
            </a:r>
            <a:r>
              <a:rPr sz="2200" b="1" spc="-95" dirty="0">
                <a:solidFill>
                  <a:srgbClr val="55596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555960"/>
                </a:solidFill>
                <a:latin typeface="Calibri"/>
                <a:cs typeface="Calibri"/>
              </a:rPr>
              <a:t>Bonjour</a:t>
            </a:r>
            <a:r>
              <a:rPr lang="en-GB" sz="2200" b="1" spc="-10" dirty="0">
                <a:solidFill>
                  <a:srgbClr val="555960"/>
                </a:solidFill>
                <a:latin typeface="Calibri"/>
                <a:cs typeface="Calibri"/>
              </a:rPr>
              <a:t>, Purdue University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640" y="6248400"/>
            <a:ext cx="579120" cy="268224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1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What</a:t>
            </a:r>
            <a:r>
              <a:rPr sz="4000" spc="-155" dirty="0"/>
              <a:t> </a:t>
            </a:r>
            <a:r>
              <a:rPr dirty="0"/>
              <a:t>will</a:t>
            </a:r>
            <a:r>
              <a:rPr spc="-60" dirty="0"/>
              <a:t> </a:t>
            </a:r>
            <a:r>
              <a:rPr dirty="0"/>
              <a:t>we</a:t>
            </a:r>
            <a:r>
              <a:rPr spc="-70" dirty="0"/>
              <a:t> </a:t>
            </a:r>
            <a:r>
              <a:rPr dirty="0"/>
              <a:t>cover</a:t>
            </a:r>
            <a:r>
              <a:rPr spc="-65" dirty="0"/>
              <a:t> </a:t>
            </a:r>
            <a:r>
              <a:rPr spc="-10" dirty="0"/>
              <a:t>today?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39550" y="1867915"/>
            <a:ext cx="3157855" cy="149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spc="-10" dirty="0">
                <a:latin typeface="Calibri"/>
                <a:cs typeface="Calibri"/>
              </a:rPr>
              <a:t>Motivation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Useful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Python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Libraries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spc="-10" dirty="0">
                <a:latin typeface="Calibri"/>
                <a:cs typeface="Calibri"/>
              </a:rPr>
              <a:t>Types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Plots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Learn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Doing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640" y="6248400"/>
            <a:ext cx="579120" cy="26822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2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/>
              <a:t>Visualization</a:t>
            </a:r>
            <a:r>
              <a:rPr sz="4000" spc="-135" dirty="0"/>
              <a:t> </a:t>
            </a:r>
            <a:r>
              <a:rPr sz="4000" spc="-10" dirty="0"/>
              <a:t>Objectives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39550" y="1867915"/>
            <a:ext cx="4516120" cy="149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spc="-10" dirty="0">
                <a:latin typeface="Calibri"/>
                <a:cs typeface="Calibri"/>
              </a:rPr>
              <a:t>Record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spc="-10" dirty="0">
                <a:latin typeface="Calibri"/>
                <a:cs typeface="Calibri"/>
              </a:rPr>
              <a:t>Analyze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support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reasoning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Confirm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hypotheses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spc="-10" dirty="0">
                <a:latin typeface="Calibri"/>
                <a:cs typeface="Calibri"/>
              </a:rPr>
              <a:t>Communicate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others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640" y="6248400"/>
            <a:ext cx="579120" cy="26822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5" dirty="0"/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70" dirty="0"/>
              <a:t> </a:t>
            </a:r>
            <a:r>
              <a:rPr spc="-10" dirty="0"/>
              <a:t>Visualize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4978" y="1320291"/>
            <a:ext cx="254889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90" dirty="0">
                <a:solidFill>
                  <a:srgbClr val="555960"/>
                </a:solidFill>
                <a:latin typeface="Calibri"/>
                <a:cs typeface="Calibri"/>
              </a:rPr>
              <a:t>To</a:t>
            </a:r>
            <a:r>
              <a:rPr sz="2200" b="1" spc="-35" dirty="0">
                <a:solidFill>
                  <a:srgbClr val="55596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555960"/>
                </a:solidFill>
                <a:latin typeface="Calibri"/>
                <a:cs typeface="Calibri"/>
              </a:rPr>
              <a:t>record</a:t>
            </a:r>
            <a:r>
              <a:rPr sz="2200" b="1" spc="-100" dirty="0">
                <a:solidFill>
                  <a:srgbClr val="55596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555960"/>
                </a:solidFill>
                <a:latin typeface="Calibri"/>
                <a:cs typeface="Calibri"/>
              </a:rPr>
              <a:t>information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2228" y="2355728"/>
            <a:ext cx="8284845" cy="4161154"/>
            <a:chOff x="82228" y="2355728"/>
            <a:chExt cx="8284845" cy="416115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7640" y="6248399"/>
              <a:ext cx="579120" cy="2682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228" y="2355728"/>
              <a:ext cx="7537269" cy="244584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5" dirty="0"/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70" dirty="0"/>
              <a:t> </a:t>
            </a:r>
            <a:r>
              <a:rPr spc="-10" dirty="0"/>
              <a:t>Visualize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4978" y="1320291"/>
            <a:ext cx="350266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90" dirty="0">
                <a:solidFill>
                  <a:srgbClr val="555960"/>
                </a:solidFill>
                <a:latin typeface="Calibri"/>
                <a:cs typeface="Calibri"/>
              </a:rPr>
              <a:t>To</a:t>
            </a:r>
            <a:r>
              <a:rPr sz="2200" b="1" spc="-35" dirty="0">
                <a:solidFill>
                  <a:srgbClr val="55596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555960"/>
                </a:solidFill>
                <a:latin typeface="Calibri"/>
                <a:cs typeface="Calibri"/>
              </a:rPr>
              <a:t>point</a:t>
            </a:r>
            <a:r>
              <a:rPr sz="2200" b="1" spc="-35" dirty="0">
                <a:solidFill>
                  <a:srgbClr val="55596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555960"/>
                </a:solidFill>
                <a:latin typeface="Calibri"/>
                <a:cs typeface="Calibri"/>
              </a:rPr>
              <a:t>out</a:t>
            </a:r>
            <a:r>
              <a:rPr sz="2200" b="1" spc="-40" dirty="0">
                <a:solidFill>
                  <a:srgbClr val="55596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555960"/>
                </a:solidFill>
                <a:latin typeface="Calibri"/>
                <a:cs typeface="Calibri"/>
              </a:rPr>
              <a:t>interesting</a:t>
            </a:r>
            <a:r>
              <a:rPr sz="2200" b="1" spc="-40" dirty="0">
                <a:solidFill>
                  <a:srgbClr val="55596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555960"/>
                </a:solidFill>
                <a:latin typeface="Calibri"/>
                <a:cs typeface="Calibri"/>
              </a:rPr>
              <a:t>things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97758" y="2567702"/>
            <a:ext cx="7469505" cy="3949065"/>
            <a:chOff x="897758" y="2567702"/>
            <a:chExt cx="7469505" cy="39490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7639" y="6248400"/>
              <a:ext cx="579120" cy="2682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7758" y="2567702"/>
              <a:ext cx="6724695" cy="202189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5" dirty="0"/>
              <a:t>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70" dirty="0"/>
              <a:t> </a:t>
            </a:r>
            <a:r>
              <a:rPr spc="-10" dirty="0"/>
              <a:t>Visualize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4978" y="1320291"/>
            <a:ext cx="350266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90" dirty="0">
                <a:solidFill>
                  <a:srgbClr val="555960"/>
                </a:solidFill>
                <a:latin typeface="Calibri"/>
                <a:cs typeface="Calibri"/>
              </a:rPr>
              <a:t>To</a:t>
            </a:r>
            <a:r>
              <a:rPr sz="2200" b="1" spc="-35" dirty="0">
                <a:solidFill>
                  <a:srgbClr val="55596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555960"/>
                </a:solidFill>
                <a:latin typeface="Calibri"/>
                <a:cs typeface="Calibri"/>
              </a:rPr>
              <a:t>point</a:t>
            </a:r>
            <a:r>
              <a:rPr sz="2200" b="1" spc="-35" dirty="0">
                <a:solidFill>
                  <a:srgbClr val="55596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555960"/>
                </a:solidFill>
                <a:latin typeface="Calibri"/>
                <a:cs typeface="Calibri"/>
              </a:rPr>
              <a:t>out</a:t>
            </a:r>
            <a:r>
              <a:rPr sz="2200" b="1" spc="-40" dirty="0">
                <a:solidFill>
                  <a:srgbClr val="55596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555960"/>
                </a:solidFill>
                <a:latin typeface="Calibri"/>
                <a:cs typeface="Calibri"/>
              </a:rPr>
              <a:t>interesting</a:t>
            </a:r>
            <a:r>
              <a:rPr sz="2200" b="1" spc="-40" dirty="0">
                <a:solidFill>
                  <a:srgbClr val="55596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555960"/>
                </a:solidFill>
                <a:latin typeface="Calibri"/>
                <a:cs typeface="Calibri"/>
              </a:rPr>
              <a:t>things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97758" y="2573575"/>
            <a:ext cx="7469505" cy="3943350"/>
            <a:chOff x="897758" y="2573575"/>
            <a:chExt cx="7469505" cy="39433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7639" y="6248400"/>
              <a:ext cx="579120" cy="2682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7758" y="2573575"/>
              <a:ext cx="6724695" cy="2010148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5" dirty="0"/>
              <a:t>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70" dirty="0"/>
              <a:t> </a:t>
            </a:r>
            <a:r>
              <a:rPr spc="-10" dirty="0"/>
              <a:t>Visualize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4978" y="1320291"/>
            <a:ext cx="337185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90" dirty="0">
                <a:solidFill>
                  <a:srgbClr val="555960"/>
                </a:solidFill>
                <a:latin typeface="Calibri"/>
                <a:cs typeface="Calibri"/>
              </a:rPr>
              <a:t>To</a:t>
            </a:r>
            <a:r>
              <a:rPr sz="2200" b="1" spc="-35" dirty="0">
                <a:solidFill>
                  <a:srgbClr val="55596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555960"/>
                </a:solidFill>
                <a:latin typeface="Calibri"/>
                <a:cs typeface="Calibri"/>
              </a:rPr>
              <a:t>communicate</a:t>
            </a:r>
            <a:r>
              <a:rPr sz="2200" b="1" spc="-40" dirty="0">
                <a:solidFill>
                  <a:srgbClr val="55596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555960"/>
                </a:solidFill>
                <a:latin typeface="Calibri"/>
                <a:cs typeface="Calibri"/>
              </a:rPr>
              <a:t>information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0938" y="2156020"/>
            <a:ext cx="7496175" cy="4361180"/>
            <a:chOff x="870938" y="2156020"/>
            <a:chExt cx="7496175" cy="43611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7639" y="6248400"/>
              <a:ext cx="579120" cy="2682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0938" y="2156020"/>
              <a:ext cx="6333771" cy="296124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5" dirty="0"/>
              <a:t>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70" dirty="0"/>
              <a:t> </a:t>
            </a:r>
            <a:r>
              <a:rPr spc="-10" dirty="0"/>
              <a:t>Visualize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4978" y="1320291"/>
            <a:ext cx="18053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90" dirty="0">
                <a:solidFill>
                  <a:srgbClr val="555960"/>
                </a:solidFill>
                <a:latin typeface="Calibri"/>
                <a:cs typeface="Calibri"/>
              </a:rPr>
              <a:t>To</a:t>
            </a:r>
            <a:r>
              <a:rPr sz="2200" b="1" spc="-35" dirty="0">
                <a:solidFill>
                  <a:srgbClr val="55596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555960"/>
                </a:solidFill>
                <a:latin typeface="Calibri"/>
                <a:cs typeface="Calibri"/>
              </a:rPr>
              <a:t>analyze</a:t>
            </a:r>
            <a:r>
              <a:rPr sz="2200" b="1" spc="-114" dirty="0">
                <a:solidFill>
                  <a:srgbClr val="555960"/>
                </a:solidFill>
                <a:latin typeface="Calibri"/>
                <a:cs typeface="Calibri"/>
              </a:rPr>
              <a:t> </a:t>
            </a:r>
            <a:r>
              <a:rPr sz="2200" b="1" spc="-20" dirty="0">
                <a:solidFill>
                  <a:srgbClr val="555960"/>
                </a:solidFill>
                <a:latin typeface="Calibri"/>
                <a:cs typeface="Calibri"/>
              </a:rPr>
              <a:t>data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96111" y="2072639"/>
            <a:ext cx="7470775" cy="4444365"/>
            <a:chOff x="896111" y="2072639"/>
            <a:chExt cx="7470775" cy="44443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7640" y="6248399"/>
              <a:ext cx="579120" cy="2682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6111" y="2072639"/>
              <a:ext cx="5788151" cy="366064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752726" y="5751067"/>
            <a:ext cx="2677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2020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Elections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(NYTimes)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Useful</a:t>
            </a:r>
            <a:r>
              <a:rPr sz="4000" spc="-50" dirty="0"/>
              <a:t> </a:t>
            </a:r>
            <a:r>
              <a:rPr sz="4000" dirty="0"/>
              <a:t>Python</a:t>
            </a:r>
            <a:r>
              <a:rPr sz="4000" spc="-55" dirty="0"/>
              <a:t> </a:t>
            </a:r>
            <a:r>
              <a:rPr sz="4000" spc="-10" dirty="0"/>
              <a:t>Libraries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404368" y="2673685"/>
            <a:ext cx="7962900" cy="3843020"/>
            <a:chOff x="404368" y="2673685"/>
            <a:chExt cx="7962900" cy="38430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7639" y="6248399"/>
              <a:ext cx="579120" cy="2682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4368" y="2835913"/>
              <a:ext cx="625856" cy="63360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86160" y="2859024"/>
              <a:ext cx="425975" cy="60701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00632" y="2835913"/>
              <a:ext cx="633602" cy="63360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55041" y="2835913"/>
              <a:ext cx="633602" cy="63360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87240" y="2673685"/>
              <a:ext cx="878021" cy="87802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47128" y="3678428"/>
            <a:ext cx="922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NumPy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5" dirty="0"/>
              <a:t>11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904521" y="3678428"/>
            <a:ext cx="916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pandas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63859" y="3678428"/>
            <a:ext cx="13074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matplotlib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57110" y="3678428"/>
            <a:ext cx="10299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seaborn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32867" y="3660140"/>
            <a:ext cx="787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bokeh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NumPy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577328" y="955122"/>
            <a:ext cx="805180" cy="5561965"/>
            <a:chOff x="7577328" y="955122"/>
            <a:chExt cx="805180" cy="55619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7640" y="6248399"/>
              <a:ext cx="579120" cy="2682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77328" y="955122"/>
              <a:ext cx="804672" cy="79892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50391" y="1715515"/>
            <a:ext cx="6581775" cy="2102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spc="-10" dirty="0">
                <a:latin typeface="Calibri"/>
                <a:cs typeface="Calibri"/>
              </a:rPr>
              <a:t>Fundamental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package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scientific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spc="-10" dirty="0">
                <a:latin typeface="Calibri"/>
                <a:cs typeface="Calibri"/>
              </a:rPr>
              <a:t>Exceptionally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written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C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Main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structure:</a:t>
            </a:r>
            <a:endParaRPr sz="2400">
              <a:latin typeface="Calibri"/>
              <a:cs typeface="Calibri"/>
            </a:endParaRPr>
          </a:p>
          <a:p>
            <a:pPr marL="469265" lvl="1" indent="-227965">
              <a:lnSpc>
                <a:spcPts val="2395"/>
              </a:lnSpc>
              <a:spcBef>
                <a:spcPts val="20"/>
              </a:spcBef>
              <a:buClr>
                <a:srgbClr val="555960"/>
              </a:buClr>
              <a:buFont typeface="Arial MT"/>
              <a:buChar char="•"/>
              <a:tabLst>
                <a:tab pos="469265" algn="l"/>
              </a:tabLst>
            </a:pPr>
            <a:r>
              <a:rPr sz="2000" i="1" dirty="0">
                <a:solidFill>
                  <a:srgbClr val="262626"/>
                </a:solidFill>
                <a:latin typeface="Calibri"/>
                <a:cs typeface="Calibri"/>
              </a:rPr>
              <a:t>ndarray</a:t>
            </a:r>
            <a:r>
              <a:rPr sz="2000" i="1" spc="-4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62626"/>
                </a:solidFill>
                <a:latin typeface="Calibri"/>
                <a:cs typeface="Calibri"/>
              </a:rPr>
              <a:t>:</a:t>
            </a:r>
            <a:r>
              <a:rPr sz="2000" spc="-5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62626"/>
                </a:solidFill>
                <a:latin typeface="Calibri"/>
                <a:cs typeface="Calibri"/>
              </a:rPr>
              <a:t>n-</a:t>
            </a:r>
            <a:r>
              <a:rPr sz="2000" dirty="0">
                <a:solidFill>
                  <a:srgbClr val="262626"/>
                </a:solidFill>
                <a:latin typeface="Calibri"/>
                <a:cs typeface="Calibri"/>
              </a:rPr>
              <a:t>dimensional</a:t>
            </a:r>
            <a:r>
              <a:rPr sz="2000" spc="-4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62626"/>
                </a:solidFill>
                <a:latin typeface="Calibri"/>
                <a:cs typeface="Calibri"/>
              </a:rPr>
              <a:t>arrays</a:t>
            </a:r>
            <a:r>
              <a:rPr sz="2000" spc="-4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62626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62626"/>
                </a:solidFill>
                <a:latin typeface="Calibri"/>
                <a:cs typeface="Calibri"/>
              </a:rPr>
              <a:t>homogeneous</a:t>
            </a:r>
            <a:r>
              <a:rPr sz="2000" spc="-4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62626"/>
                </a:solidFill>
                <a:latin typeface="Calibri"/>
                <a:cs typeface="Calibri"/>
              </a:rPr>
              <a:t>data</a:t>
            </a:r>
            <a:r>
              <a:rPr sz="2000" spc="-4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62626"/>
                </a:solidFill>
                <a:latin typeface="Calibri"/>
                <a:cs typeface="Calibri"/>
              </a:rPr>
              <a:t>types</a:t>
            </a:r>
            <a:endParaRPr sz="2000">
              <a:latin typeface="Calibri"/>
              <a:cs typeface="Calibri"/>
            </a:endParaRPr>
          </a:p>
          <a:p>
            <a:pPr marL="286385" indent="-273685">
              <a:lnSpc>
                <a:spcPts val="2625"/>
              </a:lnSpc>
              <a:buFont typeface="Wingdings"/>
              <a:buChar char="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Data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manipulation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≈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NumPy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array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manipulation</a:t>
            </a:r>
            <a:endParaRPr sz="2200">
              <a:latin typeface="Calibri"/>
              <a:cs typeface="Calibri"/>
            </a:endParaRPr>
          </a:p>
          <a:p>
            <a:pPr marL="286385" indent="-273685">
              <a:lnSpc>
                <a:spcPts val="2630"/>
              </a:lnSpc>
              <a:buFont typeface="Wingdings"/>
              <a:buChar char="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Used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other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libraries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-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Matplotlib,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pandas,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scikit-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learn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5" dirty="0"/>
              <a:t>12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0391" y="5361940"/>
            <a:ext cx="26416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Link: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NumPy</a:t>
            </a:r>
            <a:r>
              <a:rPr sz="16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16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MATLAB</a:t>
            </a:r>
            <a:r>
              <a:rPr sz="16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USERS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Pandas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87640" y="950975"/>
            <a:ext cx="628015" cy="5565775"/>
            <a:chOff x="7787640" y="950975"/>
            <a:chExt cx="628015" cy="55657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7640" y="6248399"/>
              <a:ext cx="579120" cy="2682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79388" y="950975"/>
              <a:ext cx="536139" cy="76918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50391" y="1715515"/>
            <a:ext cx="7142480" cy="2163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spc="-10" dirty="0">
                <a:latin typeface="Calibri"/>
                <a:cs typeface="Calibri"/>
              </a:rPr>
              <a:t>Fundamental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tool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handling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analyzing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spc="-10" dirty="0">
                <a:latin typeface="Calibri"/>
                <a:cs typeface="Calibri"/>
              </a:rPr>
              <a:t>Particularly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suited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tabular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Implements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powerful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Main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structures:</a:t>
            </a:r>
            <a:endParaRPr sz="2400">
              <a:latin typeface="Calibri"/>
              <a:cs typeface="Calibri"/>
            </a:endParaRPr>
          </a:p>
          <a:p>
            <a:pPr marL="469265" lvl="1" indent="-227965">
              <a:lnSpc>
                <a:spcPts val="2615"/>
              </a:lnSpc>
              <a:spcBef>
                <a:spcPts val="10"/>
              </a:spcBef>
              <a:buClr>
                <a:srgbClr val="555960"/>
              </a:buClr>
              <a:buFont typeface="Arial MT"/>
              <a:buChar char="•"/>
              <a:tabLst>
                <a:tab pos="469265" algn="l"/>
              </a:tabLst>
            </a:pPr>
            <a:r>
              <a:rPr sz="2200" i="1" spc="-10" dirty="0">
                <a:solidFill>
                  <a:srgbClr val="262626"/>
                </a:solidFill>
                <a:latin typeface="Calibri"/>
                <a:cs typeface="Calibri"/>
              </a:rPr>
              <a:t>DataFrame</a:t>
            </a:r>
            <a:r>
              <a:rPr sz="2200" spc="-10" dirty="0">
                <a:solidFill>
                  <a:srgbClr val="262626"/>
                </a:solidFill>
                <a:latin typeface="Calibri"/>
                <a:cs typeface="Calibri"/>
              </a:rPr>
              <a:t>:</a:t>
            </a:r>
            <a:r>
              <a:rPr sz="2200" spc="-5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62626"/>
                </a:solidFill>
                <a:latin typeface="Calibri"/>
                <a:cs typeface="Calibri"/>
              </a:rPr>
              <a:t>A</a:t>
            </a:r>
            <a:r>
              <a:rPr sz="2200" spc="-4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62626"/>
                </a:solidFill>
                <a:latin typeface="Calibri"/>
                <a:cs typeface="Calibri"/>
              </a:rPr>
              <a:t>table</a:t>
            </a:r>
            <a:r>
              <a:rPr sz="2200" spc="-4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62626"/>
                </a:solidFill>
                <a:latin typeface="Calibri"/>
                <a:cs typeface="Calibri"/>
              </a:rPr>
              <a:t>with</a:t>
            </a:r>
            <a:r>
              <a:rPr sz="2200" spc="-5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62626"/>
                </a:solidFill>
                <a:latin typeface="Calibri"/>
                <a:cs typeface="Calibri"/>
              </a:rPr>
              <a:t>rows</a:t>
            </a:r>
            <a:r>
              <a:rPr sz="2200" spc="-4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62626"/>
                </a:solidFill>
                <a:latin typeface="Calibri"/>
                <a:cs typeface="Calibri"/>
              </a:rPr>
              <a:t>and</a:t>
            </a:r>
            <a:r>
              <a:rPr sz="2200" spc="-5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62626"/>
                </a:solidFill>
                <a:latin typeface="Calibri"/>
                <a:cs typeface="Calibri"/>
              </a:rPr>
              <a:t>columns</a:t>
            </a:r>
            <a:endParaRPr sz="2200">
              <a:latin typeface="Calibri"/>
              <a:cs typeface="Calibri"/>
            </a:endParaRPr>
          </a:p>
          <a:p>
            <a:pPr marL="469265" lvl="1" indent="-227965">
              <a:lnSpc>
                <a:spcPts val="2615"/>
              </a:lnSpc>
              <a:buClr>
                <a:srgbClr val="555960"/>
              </a:buClr>
              <a:buFont typeface="Arial MT"/>
              <a:buChar char="•"/>
              <a:tabLst>
                <a:tab pos="469265" algn="l"/>
              </a:tabLst>
            </a:pPr>
            <a:r>
              <a:rPr sz="2200" i="1" dirty="0">
                <a:solidFill>
                  <a:srgbClr val="262626"/>
                </a:solidFill>
                <a:latin typeface="Calibri"/>
                <a:cs typeface="Calibri"/>
              </a:rPr>
              <a:t>Series</a:t>
            </a:r>
            <a:r>
              <a:rPr sz="2200" dirty="0">
                <a:solidFill>
                  <a:srgbClr val="262626"/>
                </a:solidFill>
                <a:latin typeface="Calibri"/>
                <a:cs typeface="Calibri"/>
              </a:rPr>
              <a:t>:</a:t>
            </a:r>
            <a:r>
              <a:rPr sz="2200" spc="-4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62626"/>
                </a:solidFill>
                <a:latin typeface="Calibri"/>
                <a:cs typeface="Calibri"/>
              </a:rPr>
              <a:t>A</a:t>
            </a:r>
            <a:r>
              <a:rPr sz="2200" spc="-3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62626"/>
                </a:solidFill>
                <a:latin typeface="Calibri"/>
                <a:cs typeface="Calibri"/>
              </a:rPr>
              <a:t>single</a:t>
            </a:r>
            <a:r>
              <a:rPr sz="2200" spc="-3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62626"/>
                </a:solidFill>
                <a:latin typeface="Calibri"/>
                <a:cs typeface="Calibri"/>
              </a:rPr>
              <a:t>column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5" dirty="0"/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Matplotlib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32639" y="955122"/>
            <a:ext cx="7848600" cy="5561965"/>
            <a:chOff x="532639" y="955122"/>
            <a:chExt cx="7848600" cy="55619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7639" y="6248399"/>
              <a:ext cx="579120" cy="2682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81980" y="955122"/>
              <a:ext cx="798924" cy="79892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2639" y="3540641"/>
              <a:ext cx="2244186" cy="15819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03741" y="3476416"/>
              <a:ext cx="2224554" cy="166426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06932" y="3423013"/>
              <a:ext cx="1730336" cy="174516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50391" y="1715515"/>
            <a:ext cx="4157979" cy="1129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Used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basic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plotting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Highly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customizable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spc="-10" dirty="0">
                <a:latin typeface="Calibri"/>
                <a:cs typeface="Calibri"/>
              </a:rPr>
              <a:t>Works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NumPy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pandas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5" dirty="0"/>
              <a:t>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Seaborn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63091" y="918949"/>
            <a:ext cx="7604125" cy="5598160"/>
            <a:chOff x="763091" y="918949"/>
            <a:chExt cx="7604125" cy="55981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7639" y="6248399"/>
              <a:ext cx="579120" cy="2682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3091" y="3462727"/>
              <a:ext cx="1929295" cy="193599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25076" y="3462727"/>
              <a:ext cx="1935994" cy="192929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87059" y="3459815"/>
              <a:ext cx="1976189" cy="197618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6142" y="918949"/>
              <a:ext cx="633602" cy="63360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50391" y="1715515"/>
            <a:ext cx="6326505" cy="149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Used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statistical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visualization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Uses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fewer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syntax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good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default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themes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spc="-20" dirty="0">
                <a:latin typeface="Calibri"/>
                <a:cs typeface="Calibri"/>
              </a:rPr>
              <a:t>Integrated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great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pandas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data-</a:t>
            </a:r>
            <a:r>
              <a:rPr sz="2400" spc="-10" dirty="0">
                <a:latin typeface="Calibri"/>
                <a:cs typeface="Calibri"/>
              </a:rPr>
              <a:t>frame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Uses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Matplotlib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under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hood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5" dirty="0"/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4514" y="340867"/>
            <a:ext cx="1193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Bokeh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20407" y="876024"/>
            <a:ext cx="7458075" cy="5640705"/>
            <a:chOff x="920407" y="876024"/>
            <a:chExt cx="7458075" cy="56407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7639" y="6248399"/>
              <a:ext cx="579120" cy="2682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0407" y="3428999"/>
              <a:ext cx="2968882" cy="184552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3017" y="3428999"/>
              <a:ext cx="3097161" cy="185829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00179" y="876024"/>
              <a:ext cx="878021" cy="87802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50391" y="1715515"/>
            <a:ext cx="4321175" cy="1129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Used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interactive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visualization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spc="-10" dirty="0">
                <a:latin typeface="Calibri"/>
                <a:cs typeface="Calibri"/>
              </a:rPr>
              <a:t>Requires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modern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web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browsers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spc="-20" dirty="0">
                <a:latin typeface="Calibri"/>
                <a:cs typeface="Calibri"/>
              </a:rPr>
              <a:t>Integrates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JavaScript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5" dirty="0"/>
              <a:t>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90" dirty="0"/>
              <a:t> </a:t>
            </a:r>
            <a:r>
              <a:rPr dirty="0"/>
              <a:t>of</a:t>
            </a:r>
            <a:r>
              <a:rPr spc="-85" dirty="0"/>
              <a:t> </a:t>
            </a:r>
            <a:r>
              <a:rPr spc="-20" dirty="0"/>
              <a:t>Plots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640" y="6248400"/>
            <a:ext cx="579120" cy="2682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50391" y="1715515"/>
            <a:ext cx="1842770" cy="1863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Line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plots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Bar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plots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spc="-10" dirty="0">
                <a:latin typeface="Calibri"/>
                <a:cs typeface="Calibri"/>
              </a:rPr>
              <a:t>Scatter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plots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Box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plots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Font typeface="Wingdings"/>
              <a:buChar char=""/>
              <a:tabLst>
                <a:tab pos="286385" algn="l"/>
              </a:tabLst>
            </a:pPr>
            <a:r>
              <a:rPr sz="2400" spc="-10" dirty="0">
                <a:latin typeface="Calibri"/>
                <a:cs typeface="Calibri"/>
              </a:rPr>
              <a:t>Histograms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5" dirty="0"/>
              <a:t>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dirty="0"/>
              <a:t>Line</a:t>
            </a:r>
            <a:r>
              <a:rPr spc="-75" dirty="0"/>
              <a:t> </a:t>
            </a:r>
            <a:r>
              <a:rPr spc="-10" dirty="0"/>
              <a:t>plots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21525" y="1754046"/>
            <a:ext cx="3445510" cy="4763135"/>
            <a:chOff x="4921525" y="1754046"/>
            <a:chExt cx="3445510" cy="47631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7639" y="6248399"/>
              <a:ext cx="579120" cy="2682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21525" y="1754046"/>
              <a:ext cx="3037561" cy="196879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50391" y="1715515"/>
            <a:ext cx="380047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Used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numeric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Used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trends</a:t>
            </a:r>
            <a:endParaRPr sz="2400">
              <a:latin typeface="Calibri"/>
              <a:cs typeface="Calibri"/>
            </a:endParaRPr>
          </a:p>
          <a:p>
            <a:pPr marL="287020" marR="5080" indent="-274320">
              <a:lnSpc>
                <a:spcPct val="100800"/>
              </a:lnSpc>
              <a:buFont typeface="Wingdings"/>
              <a:buChar char=""/>
              <a:tabLst>
                <a:tab pos="287020" algn="l"/>
              </a:tabLst>
            </a:pPr>
            <a:r>
              <a:rPr sz="2400" dirty="0">
                <a:latin typeface="Calibri"/>
                <a:cs typeface="Calibri"/>
              </a:rPr>
              <a:t>Compare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more </a:t>
            </a:r>
            <a:r>
              <a:rPr sz="2400" spc="-10" dirty="0">
                <a:latin typeface="Calibri"/>
                <a:cs typeface="Calibri"/>
              </a:rPr>
              <a:t>different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variables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time</a:t>
            </a:r>
            <a:endParaRPr sz="2400">
              <a:latin typeface="Calibri"/>
              <a:cs typeface="Calibri"/>
            </a:endParaRPr>
          </a:p>
          <a:p>
            <a:pPr marL="287020" marR="685800" indent="-274320">
              <a:lnSpc>
                <a:spcPts val="2810"/>
              </a:lnSpc>
              <a:spcBef>
                <a:spcPts val="150"/>
              </a:spcBef>
              <a:buFont typeface="Wingdings"/>
              <a:buChar char=""/>
              <a:tabLst>
                <a:tab pos="287020" algn="l"/>
              </a:tabLst>
            </a:pPr>
            <a:r>
              <a:rPr sz="2400" dirty="0">
                <a:latin typeface="Calibri"/>
                <a:cs typeface="Calibri"/>
              </a:rPr>
              <a:t>Could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make </a:t>
            </a:r>
            <a:r>
              <a:rPr sz="2400" spc="-10" dirty="0">
                <a:latin typeface="Calibri"/>
                <a:cs typeface="Calibri"/>
              </a:rPr>
              <a:t>predictions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5" dirty="0"/>
              <a:t>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dirty="0"/>
              <a:t>Bar</a:t>
            </a:r>
            <a:r>
              <a:rPr spc="-15" dirty="0"/>
              <a:t> </a:t>
            </a:r>
            <a:r>
              <a:rPr spc="-20" dirty="0"/>
              <a:t>plots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80079" y="1692415"/>
            <a:ext cx="3787140" cy="4824730"/>
            <a:chOff x="4580079" y="1692415"/>
            <a:chExt cx="3787140" cy="48247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7639" y="6248399"/>
              <a:ext cx="579120" cy="2682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0079" y="1692415"/>
              <a:ext cx="3406672" cy="234942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50391" y="1715515"/>
            <a:ext cx="3699510" cy="29578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7020" marR="5080" indent="-274320">
              <a:lnSpc>
                <a:spcPct val="100800"/>
              </a:lnSpc>
              <a:spcBef>
                <a:spcPts val="75"/>
              </a:spcBef>
              <a:buFont typeface="Wingdings"/>
              <a:buChar char=""/>
              <a:tabLst>
                <a:tab pos="287020" algn="l"/>
              </a:tabLst>
            </a:pPr>
            <a:r>
              <a:rPr sz="2400" dirty="0">
                <a:latin typeface="Calibri"/>
                <a:cs typeface="Calibri"/>
              </a:rPr>
              <a:t>Used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nominal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ordinal categories</a:t>
            </a:r>
            <a:endParaRPr sz="2400">
              <a:latin typeface="Calibri"/>
              <a:cs typeface="Calibri"/>
            </a:endParaRPr>
          </a:p>
          <a:p>
            <a:pPr marL="287020" marR="523240" indent="-274320">
              <a:lnSpc>
                <a:spcPct val="100800"/>
              </a:lnSpc>
              <a:buFont typeface="Wingdings"/>
              <a:buChar char=""/>
              <a:tabLst>
                <a:tab pos="287020" algn="l"/>
              </a:tabLst>
            </a:pPr>
            <a:r>
              <a:rPr sz="2400" dirty="0">
                <a:latin typeface="Calibri"/>
                <a:cs typeface="Calibri"/>
              </a:rPr>
              <a:t>Compare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amongst different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categories</a:t>
            </a:r>
            <a:endParaRPr sz="2400">
              <a:latin typeface="Calibri"/>
              <a:cs typeface="Calibri"/>
            </a:endParaRPr>
          </a:p>
          <a:p>
            <a:pPr marL="287020" marR="791845" indent="-274320">
              <a:lnSpc>
                <a:spcPts val="2810"/>
              </a:lnSpc>
              <a:spcBef>
                <a:spcPts val="155"/>
              </a:spcBef>
              <a:buFont typeface="Wingdings"/>
              <a:buChar char=""/>
              <a:tabLst>
                <a:tab pos="287020" algn="l"/>
              </a:tabLst>
            </a:pPr>
            <a:r>
              <a:rPr sz="2400" dirty="0">
                <a:latin typeface="Calibri"/>
                <a:cs typeface="Calibri"/>
              </a:rPr>
              <a:t>Ideal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3 </a:t>
            </a:r>
            <a:r>
              <a:rPr sz="2400" spc="-10" dirty="0">
                <a:latin typeface="Calibri"/>
                <a:cs typeface="Calibri"/>
              </a:rPr>
              <a:t>categories</a:t>
            </a:r>
            <a:endParaRPr sz="2400">
              <a:latin typeface="Calibri"/>
              <a:cs typeface="Calibri"/>
            </a:endParaRPr>
          </a:p>
          <a:p>
            <a:pPr marL="287020" marR="916305" indent="-274320">
              <a:lnSpc>
                <a:spcPts val="2900"/>
              </a:lnSpc>
              <a:spcBef>
                <a:spcPts val="20"/>
              </a:spcBef>
              <a:buFont typeface="Wingdings"/>
              <a:buChar char=""/>
              <a:tabLst>
                <a:tab pos="287020" algn="l"/>
              </a:tabLst>
            </a:pPr>
            <a:r>
              <a:rPr sz="2400" dirty="0">
                <a:latin typeface="Calibri"/>
                <a:cs typeface="Calibri"/>
              </a:rPr>
              <a:t>Can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show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 </a:t>
            </a:r>
            <a:r>
              <a:rPr sz="2400" dirty="0">
                <a:latin typeface="Calibri"/>
                <a:cs typeface="Calibri"/>
              </a:rPr>
              <a:t>changes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time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5" dirty="0"/>
              <a:t>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dirty="0"/>
              <a:t>Scatter</a:t>
            </a:r>
            <a:r>
              <a:rPr spc="-165" dirty="0"/>
              <a:t> </a:t>
            </a:r>
            <a:r>
              <a:rPr spc="-20" dirty="0"/>
              <a:t>plots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640" y="6248400"/>
            <a:ext cx="579120" cy="2682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50391" y="1715515"/>
            <a:ext cx="3782695" cy="332676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7020" marR="398780" indent="-274320">
              <a:lnSpc>
                <a:spcPct val="100800"/>
              </a:lnSpc>
              <a:spcBef>
                <a:spcPts val="75"/>
              </a:spcBef>
              <a:buFont typeface="Wingdings"/>
              <a:buChar char=""/>
              <a:tabLst>
                <a:tab pos="287020" algn="l"/>
              </a:tabLst>
            </a:pPr>
            <a:r>
              <a:rPr sz="2400" dirty="0">
                <a:latin typeface="Calibri"/>
                <a:cs typeface="Calibri"/>
              </a:rPr>
              <a:t>Used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visualize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numeric variables</a:t>
            </a:r>
            <a:endParaRPr sz="2400">
              <a:latin typeface="Calibri"/>
              <a:cs typeface="Calibri"/>
            </a:endParaRPr>
          </a:p>
          <a:p>
            <a:pPr marL="287020" marR="5080" indent="-274320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287020" algn="l"/>
              </a:tabLst>
            </a:pPr>
            <a:r>
              <a:rPr sz="2400" dirty="0">
                <a:latin typeface="Calibri"/>
                <a:cs typeface="Calibri"/>
              </a:rPr>
              <a:t>Used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visualize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correlation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set</a:t>
            </a:r>
            <a:endParaRPr sz="2400">
              <a:latin typeface="Calibri"/>
              <a:cs typeface="Calibri"/>
            </a:endParaRPr>
          </a:p>
          <a:p>
            <a:pPr marL="287020" marR="270510" indent="-274320">
              <a:lnSpc>
                <a:spcPts val="2900"/>
              </a:lnSpc>
              <a:spcBef>
                <a:spcPts val="5"/>
              </a:spcBef>
              <a:buFont typeface="Wingdings"/>
              <a:buChar char=""/>
              <a:tabLst>
                <a:tab pos="287020" algn="l"/>
              </a:tabLst>
            </a:pP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behavior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dependent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variable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based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measure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independent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variable.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32376" y="1840992"/>
            <a:ext cx="3429000" cy="267004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5" dirty="0"/>
              <a:t>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dirty="0"/>
              <a:t>Box</a:t>
            </a:r>
            <a:r>
              <a:rPr spc="-95" dirty="0"/>
              <a:t> </a:t>
            </a:r>
            <a:r>
              <a:rPr spc="-10" dirty="0"/>
              <a:t>plots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08576" y="1752600"/>
            <a:ext cx="3758565" cy="4764405"/>
            <a:chOff x="4608576" y="1752600"/>
            <a:chExt cx="3758565" cy="47644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7640" y="6248400"/>
              <a:ext cx="579120" cy="2682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08576" y="1752600"/>
              <a:ext cx="3297935" cy="173126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86385" algn="l"/>
              </a:tabLst>
            </a:pPr>
            <a:r>
              <a:rPr i="1" dirty="0">
                <a:latin typeface="Calibri"/>
                <a:cs typeface="Calibri"/>
              </a:rPr>
              <a:t>aka</a:t>
            </a:r>
            <a:r>
              <a:rPr i="1" spc="-120" dirty="0">
                <a:latin typeface="Calibri"/>
                <a:cs typeface="Calibri"/>
              </a:rPr>
              <a:t> </a:t>
            </a:r>
            <a:r>
              <a:rPr dirty="0"/>
              <a:t>whisker</a:t>
            </a:r>
            <a:r>
              <a:rPr spc="-120" dirty="0"/>
              <a:t> </a:t>
            </a:r>
            <a:r>
              <a:rPr spc="-20" dirty="0"/>
              <a:t>plot</a:t>
            </a:r>
          </a:p>
          <a:p>
            <a:pPr marL="287020" marR="389890" indent="-274320">
              <a:lnSpc>
                <a:spcPct val="100800"/>
              </a:lnSpc>
              <a:buFont typeface="Wingdings"/>
              <a:buChar char=""/>
              <a:tabLst>
                <a:tab pos="287020" algn="l"/>
              </a:tabLst>
            </a:pPr>
            <a:r>
              <a:rPr spc="-10" dirty="0"/>
              <a:t>Statistical</a:t>
            </a:r>
            <a:r>
              <a:rPr spc="-75" dirty="0"/>
              <a:t> </a:t>
            </a:r>
            <a:r>
              <a:rPr dirty="0"/>
              <a:t>graph</a:t>
            </a:r>
            <a:r>
              <a:rPr spc="-75" dirty="0"/>
              <a:t> </a:t>
            </a:r>
            <a:r>
              <a:rPr dirty="0"/>
              <a:t>used</a:t>
            </a:r>
            <a:r>
              <a:rPr spc="-70" dirty="0"/>
              <a:t> </a:t>
            </a:r>
            <a:r>
              <a:rPr spc="-25" dirty="0"/>
              <a:t>on </a:t>
            </a:r>
            <a:r>
              <a:rPr dirty="0"/>
              <a:t>sets</a:t>
            </a:r>
            <a:r>
              <a:rPr spc="-5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numerical</a:t>
            </a:r>
            <a:r>
              <a:rPr spc="-50" dirty="0"/>
              <a:t> </a:t>
            </a:r>
            <a:r>
              <a:rPr spc="-20" dirty="0"/>
              <a:t>data</a:t>
            </a:r>
          </a:p>
          <a:p>
            <a:pPr marL="287020" marR="370840" indent="-274320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287020" algn="l"/>
              </a:tabLst>
            </a:pPr>
            <a:r>
              <a:rPr dirty="0"/>
              <a:t>Shows</a:t>
            </a:r>
            <a:r>
              <a:rPr spc="-8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range,</a:t>
            </a:r>
            <a:r>
              <a:rPr spc="-75" dirty="0"/>
              <a:t> </a:t>
            </a:r>
            <a:r>
              <a:rPr spc="-10" dirty="0"/>
              <a:t>spread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center</a:t>
            </a:r>
          </a:p>
          <a:p>
            <a:pPr marL="287020" marR="5080" indent="-274320">
              <a:lnSpc>
                <a:spcPts val="2900"/>
              </a:lnSpc>
              <a:spcBef>
                <a:spcPts val="5"/>
              </a:spcBef>
              <a:buFont typeface="Wingdings"/>
              <a:buChar char=""/>
              <a:tabLst>
                <a:tab pos="287020" algn="l"/>
              </a:tabLst>
            </a:pPr>
            <a:r>
              <a:rPr dirty="0"/>
              <a:t>Used</a:t>
            </a:r>
            <a:r>
              <a:rPr spc="-80" dirty="0"/>
              <a:t> </a:t>
            </a:r>
            <a:r>
              <a:rPr dirty="0"/>
              <a:t>to</a:t>
            </a:r>
            <a:r>
              <a:rPr spc="-85" dirty="0"/>
              <a:t> </a:t>
            </a:r>
            <a:r>
              <a:rPr dirty="0"/>
              <a:t>compare</a:t>
            </a:r>
            <a:r>
              <a:rPr spc="-75" dirty="0"/>
              <a:t> </a:t>
            </a:r>
            <a:r>
              <a:rPr dirty="0"/>
              <a:t>data</a:t>
            </a:r>
            <a:r>
              <a:rPr spc="-75" dirty="0"/>
              <a:t> </a:t>
            </a:r>
            <a:r>
              <a:rPr spc="-20" dirty="0"/>
              <a:t>from </a:t>
            </a:r>
            <a:r>
              <a:rPr spc="-10" dirty="0"/>
              <a:t>different</a:t>
            </a:r>
            <a:r>
              <a:rPr spc="-125" dirty="0"/>
              <a:t> </a:t>
            </a:r>
            <a:r>
              <a:rPr spc="-10" dirty="0"/>
              <a:t>categories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5" dirty="0"/>
              <a:t>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Histograms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80079" y="1754046"/>
            <a:ext cx="3787140" cy="4763135"/>
            <a:chOff x="4580079" y="1754046"/>
            <a:chExt cx="3787140" cy="47631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7639" y="6248399"/>
              <a:ext cx="579120" cy="2682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0079" y="1754046"/>
              <a:ext cx="3097262" cy="205088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50390" y="1715515"/>
            <a:ext cx="3408679" cy="2588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86385" algn="l"/>
              </a:tabLst>
            </a:pPr>
            <a:r>
              <a:rPr sz="2400" dirty="0">
                <a:latin typeface="Calibri"/>
                <a:cs typeface="Calibri"/>
              </a:rPr>
              <a:t>Used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continuous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marL="287020" marR="314325" indent="-274320">
              <a:lnSpc>
                <a:spcPct val="100800"/>
              </a:lnSpc>
              <a:buFont typeface="Wingdings"/>
              <a:buChar char=""/>
              <a:tabLst>
                <a:tab pos="287020" algn="l"/>
              </a:tabLst>
            </a:pPr>
            <a:r>
              <a:rPr sz="2400" dirty="0">
                <a:latin typeface="Calibri"/>
                <a:cs typeface="Calibri"/>
              </a:rPr>
              <a:t>Displays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frequency </a:t>
            </a:r>
            <a:r>
              <a:rPr sz="2400" dirty="0">
                <a:latin typeface="Calibri"/>
                <a:cs typeface="Calibri"/>
              </a:rPr>
              <a:t>distribution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(shape)</a:t>
            </a:r>
            <a:endParaRPr sz="2400">
              <a:latin typeface="Calibri"/>
              <a:cs typeface="Calibri"/>
            </a:endParaRPr>
          </a:p>
          <a:p>
            <a:pPr marL="287020" marR="443865" indent="-274320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287020" algn="l"/>
              </a:tabLst>
            </a:pPr>
            <a:r>
              <a:rPr sz="2400" dirty="0">
                <a:latin typeface="Calibri"/>
                <a:cs typeface="Calibri"/>
              </a:rPr>
              <a:t>Summarize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 </a:t>
            </a:r>
            <a:r>
              <a:rPr sz="2400" dirty="0">
                <a:latin typeface="Calibri"/>
                <a:cs typeface="Calibri"/>
              </a:rPr>
              <a:t>sets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graphically</a:t>
            </a:r>
            <a:endParaRPr sz="2400">
              <a:latin typeface="Calibri"/>
              <a:cs typeface="Calibri"/>
            </a:endParaRPr>
          </a:p>
          <a:p>
            <a:pPr marL="287020" marR="892810" indent="-274320">
              <a:lnSpc>
                <a:spcPts val="2900"/>
              </a:lnSpc>
              <a:spcBef>
                <a:spcPts val="5"/>
              </a:spcBef>
              <a:buFont typeface="Wingdings"/>
              <a:buChar char=""/>
              <a:tabLst>
                <a:tab pos="287020" algn="l"/>
              </a:tabLst>
            </a:pPr>
            <a:r>
              <a:rPr sz="2400" dirty="0">
                <a:latin typeface="Calibri"/>
                <a:cs typeface="Calibri"/>
              </a:rPr>
              <a:t>Compare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multiple distributions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25" dirty="0"/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379</Words>
  <Application>Microsoft Macintosh PowerPoint</Application>
  <PresentationFormat>On-screen Show (4:3)</PresentationFormat>
  <Paragraphs>107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 MT</vt:lpstr>
      <vt:lpstr>Calibri</vt:lpstr>
      <vt:lpstr>Wingdings</vt:lpstr>
      <vt:lpstr>Office Theme</vt:lpstr>
      <vt:lpstr>DATA VISUALIZATION USING PYTHON</vt:lpstr>
      <vt:lpstr>What will we cover today?</vt:lpstr>
      <vt:lpstr>Visualization Objectives</vt:lpstr>
      <vt:lpstr>Why Visualize</vt:lpstr>
      <vt:lpstr>Why Visualize</vt:lpstr>
      <vt:lpstr>Why Visualize</vt:lpstr>
      <vt:lpstr>Why Visualize</vt:lpstr>
      <vt:lpstr>Why Visualize</vt:lpstr>
      <vt:lpstr>Useful Python Libraries</vt:lpstr>
      <vt:lpstr>NumPy</vt:lpstr>
      <vt:lpstr>Pandas</vt:lpstr>
      <vt:lpstr>Matplotlib</vt:lpstr>
      <vt:lpstr>Seaborn</vt:lpstr>
      <vt:lpstr>Bokeh</vt:lpstr>
      <vt:lpstr>Types of Plots</vt:lpstr>
      <vt:lpstr>Line plots</vt:lpstr>
      <vt:lpstr>Bar plots</vt:lpstr>
      <vt:lpstr>Scatter plots</vt:lpstr>
      <vt:lpstr>Box plots</vt:lpstr>
      <vt:lpstr>Histograms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USING PYTHON</dc:title>
  <cp:lastModifiedBy>Carlos Pinilla</cp:lastModifiedBy>
  <cp:revision>1</cp:revision>
  <dcterms:created xsi:type="dcterms:W3CDTF">2026-03-01T16:37:52Z</dcterms:created>
  <dcterms:modified xsi:type="dcterms:W3CDTF">2026-03-01T16:39:26Z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2021-07-29T00:00:00Z</vt:filetime>
  </property>
  <property fmtid="{D5CDD505-2E9C-101B-9397-08002B2CF9AE}" pid="3" name="LastSaved">
    <vt:filetime>2026-03-01T00:00:00Z</vt:filetime>
  </property>
  <property fmtid="{D5CDD505-2E9C-101B-9397-08002B2CF9AE}" pid="4" name="Producer">
    <vt:lpwstr>macOS Version 11.2.3 (Build 20D91) Quartz PDFContext</vt:lpwstr>
  </property>
</Properties>
</file>