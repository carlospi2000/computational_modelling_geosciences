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6" r:id="rId1"/>
  </p:sldMasterIdLst>
  <p:notesMasterIdLst>
    <p:notesMasterId r:id="rId23"/>
  </p:notesMasterIdLst>
  <p:handoutMasterIdLst>
    <p:handoutMasterId r:id="rId24"/>
  </p:handoutMasterIdLst>
  <p:sldIdLst>
    <p:sldId id="808" r:id="rId2"/>
    <p:sldId id="761" r:id="rId3"/>
    <p:sldId id="762" r:id="rId4"/>
    <p:sldId id="763" r:id="rId5"/>
    <p:sldId id="817" r:id="rId6"/>
    <p:sldId id="809" r:id="rId7"/>
    <p:sldId id="810" r:id="rId8"/>
    <p:sldId id="811" r:id="rId9"/>
    <p:sldId id="764" r:id="rId10"/>
    <p:sldId id="818" r:id="rId11"/>
    <p:sldId id="819" r:id="rId12"/>
    <p:sldId id="820" r:id="rId13"/>
    <p:sldId id="824" r:id="rId14"/>
    <p:sldId id="821" r:id="rId15"/>
    <p:sldId id="825" r:id="rId16"/>
    <p:sldId id="822" r:id="rId17"/>
    <p:sldId id="823" r:id="rId18"/>
    <p:sldId id="765" r:id="rId19"/>
    <p:sldId id="750" r:id="rId20"/>
    <p:sldId id="813" r:id="rId21"/>
    <p:sldId id="767" r:id="rId22"/>
  </p:sldIdLst>
  <p:sldSz cx="9144000" cy="6858000" type="screen4x3"/>
  <p:notesSz cx="9296400" cy="7010400"/>
  <p:defaultTextStyle>
    <a:defPPr>
      <a:defRPr lang="en-US"/>
    </a:defPPr>
    <a:lvl1pPr algn="l" rtl="0" fontAlgn="base">
      <a:spcBef>
        <a:spcPct val="0"/>
      </a:spcBef>
      <a:spcAft>
        <a:spcPct val="0"/>
      </a:spcAft>
      <a:defRPr sz="1400" kern="1200">
        <a:solidFill>
          <a:schemeClr val="tx1"/>
        </a:solidFill>
        <a:latin typeface="Times New Roman" pitchFamily="18" charset="0"/>
        <a:ea typeface="+mn-ea"/>
        <a:cs typeface="+mn-cs"/>
      </a:defRPr>
    </a:lvl1pPr>
    <a:lvl2pPr marL="457200" algn="l" rtl="0" fontAlgn="base">
      <a:spcBef>
        <a:spcPct val="0"/>
      </a:spcBef>
      <a:spcAft>
        <a:spcPct val="0"/>
      </a:spcAft>
      <a:defRPr sz="1400" kern="1200">
        <a:solidFill>
          <a:schemeClr val="tx1"/>
        </a:solidFill>
        <a:latin typeface="Times New Roman" pitchFamily="18" charset="0"/>
        <a:ea typeface="+mn-ea"/>
        <a:cs typeface="+mn-cs"/>
      </a:defRPr>
    </a:lvl2pPr>
    <a:lvl3pPr marL="914400" algn="l" rtl="0" fontAlgn="base">
      <a:spcBef>
        <a:spcPct val="0"/>
      </a:spcBef>
      <a:spcAft>
        <a:spcPct val="0"/>
      </a:spcAft>
      <a:defRPr sz="1400" kern="1200">
        <a:solidFill>
          <a:schemeClr val="tx1"/>
        </a:solidFill>
        <a:latin typeface="Times New Roman" pitchFamily="18" charset="0"/>
        <a:ea typeface="+mn-ea"/>
        <a:cs typeface="+mn-cs"/>
      </a:defRPr>
    </a:lvl3pPr>
    <a:lvl4pPr marL="1371600" algn="l" rtl="0" fontAlgn="base">
      <a:spcBef>
        <a:spcPct val="0"/>
      </a:spcBef>
      <a:spcAft>
        <a:spcPct val="0"/>
      </a:spcAft>
      <a:defRPr sz="1400" kern="1200">
        <a:solidFill>
          <a:schemeClr val="tx1"/>
        </a:solidFill>
        <a:latin typeface="Times New Roman" pitchFamily="18" charset="0"/>
        <a:ea typeface="+mn-ea"/>
        <a:cs typeface="+mn-cs"/>
      </a:defRPr>
    </a:lvl4pPr>
    <a:lvl5pPr marL="1828800" algn="l" rtl="0" fontAlgn="base">
      <a:spcBef>
        <a:spcPct val="0"/>
      </a:spcBef>
      <a:spcAft>
        <a:spcPct val="0"/>
      </a:spcAft>
      <a:defRPr sz="1400" kern="1200">
        <a:solidFill>
          <a:schemeClr val="tx1"/>
        </a:solidFill>
        <a:latin typeface="Times New Roman" pitchFamily="18" charset="0"/>
        <a:ea typeface="+mn-ea"/>
        <a:cs typeface="+mn-cs"/>
      </a:defRPr>
    </a:lvl5pPr>
    <a:lvl6pPr marL="2286000" algn="l" defTabSz="914400" rtl="0" eaLnBrk="1" latinLnBrk="0" hangingPunct="1">
      <a:defRPr sz="1400" kern="1200">
        <a:solidFill>
          <a:schemeClr val="tx1"/>
        </a:solidFill>
        <a:latin typeface="Times New Roman" pitchFamily="18" charset="0"/>
        <a:ea typeface="+mn-ea"/>
        <a:cs typeface="+mn-cs"/>
      </a:defRPr>
    </a:lvl6pPr>
    <a:lvl7pPr marL="2743200" algn="l" defTabSz="914400" rtl="0" eaLnBrk="1" latinLnBrk="0" hangingPunct="1">
      <a:defRPr sz="1400" kern="1200">
        <a:solidFill>
          <a:schemeClr val="tx1"/>
        </a:solidFill>
        <a:latin typeface="Times New Roman" pitchFamily="18" charset="0"/>
        <a:ea typeface="+mn-ea"/>
        <a:cs typeface="+mn-cs"/>
      </a:defRPr>
    </a:lvl7pPr>
    <a:lvl8pPr marL="3200400" algn="l" defTabSz="914400" rtl="0" eaLnBrk="1" latinLnBrk="0" hangingPunct="1">
      <a:defRPr sz="1400" kern="1200">
        <a:solidFill>
          <a:schemeClr val="tx1"/>
        </a:solidFill>
        <a:latin typeface="Times New Roman" pitchFamily="18" charset="0"/>
        <a:ea typeface="+mn-ea"/>
        <a:cs typeface="+mn-cs"/>
      </a:defRPr>
    </a:lvl8pPr>
    <a:lvl9pPr marL="3657600" algn="l" defTabSz="914400" rtl="0" eaLnBrk="1" latinLnBrk="0" hangingPunct="1">
      <a:defRPr sz="1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54" autoAdjust="0"/>
    <p:restoredTop sz="95215" autoAdjust="0"/>
  </p:normalViewPr>
  <p:slideViewPr>
    <p:cSldViewPr snapToGrid="0">
      <p:cViewPr varScale="1">
        <p:scale>
          <a:sx n="119" d="100"/>
          <a:sy n="119" d="100"/>
        </p:scale>
        <p:origin x="73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2" y="0"/>
            <a:ext cx="4029282" cy="350760"/>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eaLnBrk="0" hangingPunct="0">
              <a:defRPr sz="1200">
                <a:ea typeface="굴림" charset="-127"/>
              </a:defRPr>
            </a:lvl1pPr>
          </a:lstStyle>
          <a:p>
            <a:pPr>
              <a:defRPr/>
            </a:pPr>
            <a:endParaRPr lang="en-US" altLang="ko-KR"/>
          </a:p>
        </p:txBody>
      </p:sp>
      <p:sp>
        <p:nvSpPr>
          <p:cNvPr id="24579" name="Rectangle 3"/>
          <p:cNvSpPr>
            <a:spLocks noGrp="1" noChangeArrowheads="1"/>
          </p:cNvSpPr>
          <p:nvPr>
            <p:ph type="dt" sz="quarter" idx="1"/>
          </p:nvPr>
        </p:nvSpPr>
        <p:spPr bwMode="auto">
          <a:xfrm>
            <a:off x="5265015" y="0"/>
            <a:ext cx="4029282" cy="350760"/>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r" eaLnBrk="0" hangingPunct="0">
              <a:defRPr sz="1200">
                <a:ea typeface="굴림" charset="-127"/>
              </a:defRPr>
            </a:lvl1pPr>
          </a:lstStyle>
          <a:p>
            <a:pPr>
              <a:defRPr/>
            </a:pPr>
            <a:endParaRPr lang="en-US" altLang="ko-KR"/>
          </a:p>
        </p:txBody>
      </p:sp>
      <p:sp>
        <p:nvSpPr>
          <p:cNvPr id="24580" name="Rectangle 4"/>
          <p:cNvSpPr>
            <a:spLocks noGrp="1" noChangeArrowheads="1"/>
          </p:cNvSpPr>
          <p:nvPr>
            <p:ph type="ftr" sz="quarter" idx="2"/>
          </p:nvPr>
        </p:nvSpPr>
        <p:spPr bwMode="auto">
          <a:xfrm>
            <a:off x="2" y="6658443"/>
            <a:ext cx="4029282" cy="350760"/>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eaLnBrk="0" hangingPunct="0">
              <a:defRPr sz="1200">
                <a:ea typeface="굴림" charset="-127"/>
              </a:defRPr>
            </a:lvl1pPr>
          </a:lstStyle>
          <a:p>
            <a:pPr>
              <a:defRPr/>
            </a:pPr>
            <a:endParaRPr lang="en-US" altLang="ko-KR"/>
          </a:p>
        </p:txBody>
      </p:sp>
      <p:sp>
        <p:nvSpPr>
          <p:cNvPr id="24581" name="Rectangle 5"/>
          <p:cNvSpPr>
            <a:spLocks noGrp="1" noChangeArrowheads="1"/>
          </p:cNvSpPr>
          <p:nvPr>
            <p:ph type="sldNum" sz="quarter" idx="3"/>
          </p:nvPr>
        </p:nvSpPr>
        <p:spPr bwMode="auto">
          <a:xfrm>
            <a:off x="5265015" y="6658443"/>
            <a:ext cx="4029282" cy="350760"/>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lgn="r" eaLnBrk="0" hangingPunct="0">
              <a:defRPr sz="1200">
                <a:ea typeface="굴림" charset="-127"/>
              </a:defRPr>
            </a:lvl1pPr>
          </a:lstStyle>
          <a:p>
            <a:pPr>
              <a:defRPr/>
            </a:pPr>
            <a:fld id="{705BCE10-26AC-4B1D-B324-555A90C988EE}" type="slidenum">
              <a:rPr lang="en-US" altLang="ko-KR"/>
              <a:pPr>
                <a:defRPr/>
              </a:pPr>
              <a:t>‹#›</a:t>
            </a:fld>
            <a:endParaRPr lang="en-US" altLang="ko-KR"/>
          </a:p>
        </p:txBody>
      </p:sp>
    </p:spTree>
    <p:extLst>
      <p:ext uri="{BB962C8B-B14F-4D97-AF65-F5344CB8AC3E}">
        <p14:creationId xmlns:p14="http://schemas.microsoft.com/office/powerpoint/2010/main" val="33122077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029282" cy="350760"/>
          </a:xfrm>
          <a:prstGeom prst="rect">
            <a:avLst/>
          </a:prstGeom>
        </p:spPr>
        <p:txBody>
          <a:bodyPr vert="horz" lIns="91427" tIns="45713" rIns="91427" bIns="45713" rtlCol="0"/>
          <a:lstStyle>
            <a:lvl1pPr algn="l">
              <a:defRPr sz="1200"/>
            </a:lvl1pPr>
          </a:lstStyle>
          <a:p>
            <a:endParaRPr lang="en-US"/>
          </a:p>
        </p:txBody>
      </p:sp>
      <p:sp>
        <p:nvSpPr>
          <p:cNvPr id="3" name="Date Placeholder 2"/>
          <p:cNvSpPr>
            <a:spLocks noGrp="1"/>
          </p:cNvSpPr>
          <p:nvPr>
            <p:ph type="dt" idx="1"/>
          </p:nvPr>
        </p:nvSpPr>
        <p:spPr>
          <a:xfrm>
            <a:off x="5265015" y="0"/>
            <a:ext cx="4029282" cy="350760"/>
          </a:xfrm>
          <a:prstGeom prst="rect">
            <a:avLst/>
          </a:prstGeom>
        </p:spPr>
        <p:txBody>
          <a:bodyPr vert="horz" lIns="91427" tIns="45713" rIns="91427" bIns="45713" rtlCol="0"/>
          <a:lstStyle>
            <a:lvl1pPr algn="r">
              <a:defRPr sz="1200"/>
            </a:lvl1pPr>
          </a:lstStyle>
          <a:p>
            <a:fld id="{0970CDF2-5637-4FFC-BADB-1C58079E5167}" type="datetimeFigureOut">
              <a:rPr lang="en-US" smtClean="0"/>
              <a:pPr/>
              <a:t>4/2/26</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1427" tIns="45713" rIns="91427" bIns="45713" rtlCol="0" anchor="ctr"/>
          <a:lstStyle/>
          <a:p>
            <a:endParaRPr lang="en-US"/>
          </a:p>
        </p:txBody>
      </p:sp>
      <p:sp>
        <p:nvSpPr>
          <p:cNvPr id="5" name="Notes Placeholder 4"/>
          <p:cNvSpPr>
            <a:spLocks noGrp="1"/>
          </p:cNvSpPr>
          <p:nvPr>
            <p:ph type="body" sz="quarter" idx="3"/>
          </p:nvPr>
        </p:nvSpPr>
        <p:spPr>
          <a:xfrm>
            <a:off x="930483" y="3330420"/>
            <a:ext cx="7435436" cy="3154441"/>
          </a:xfrm>
          <a:prstGeom prst="rect">
            <a:avLst/>
          </a:prstGeom>
        </p:spPr>
        <p:txBody>
          <a:bodyPr vert="horz" lIns="91427" tIns="45713" rIns="91427" bIns="4571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6658443"/>
            <a:ext cx="4029282" cy="350760"/>
          </a:xfrm>
          <a:prstGeom prst="rect">
            <a:avLst/>
          </a:prstGeom>
        </p:spPr>
        <p:txBody>
          <a:bodyPr vert="horz" lIns="91427" tIns="45713" rIns="91427" bIns="45713" rtlCol="0" anchor="b"/>
          <a:lstStyle>
            <a:lvl1pPr algn="l">
              <a:defRPr sz="1200"/>
            </a:lvl1pPr>
          </a:lstStyle>
          <a:p>
            <a:endParaRPr lang="en-US"/>
          </a:p>
        </p:txBody>
      </p:sp>
      <p:sp>
        <p:nvSpPr>
          <p:cNvPr id="7" name="Slide Number Placeholder 6"/>
          <p:cNvSpPr>
            <a:spLocks noGrp="1"/>
          </p:cNvSpPr>
          <p:nvPr>
            <p:ph type="sldNum" sz="quarter" idx="5"/>
          </p:nvPr>
        </p:nvSpPr>
        <p:spPr>
          <a:xfrm>
            <a:off x="5265015" y="6658443"/>
            <a:ext cx="4029282" cy="350760"/>
          </a:xfrm>
          <a:prstGeom prst="rect">
            <a:avLst/>
          </a:prstGeom>
        </p:spPr>
        <p:txBody>
          <a:bodyPr vert="horz" lIns="91427" tIns="45713" rIns="91427" bIns="45713" rtlCol="0" anchor="b"/>
          <a:lstStyle>
            <a:lvl1pPr algn="r">
              <a:defRPr sz="1200"/>
            </a:lvl1pPr>
          </a:lstStyle>
          <a:p>
            <a:fld id="{F216F6FA-FF3C-4079-87C1-A0283F50F0AB}" type="slidenum">
              <a:rPr lang="en-US" smtClean="0"/>
              <a:pPr/>
              <a:t>‹#›</a:t>
            </a:fld>
            <a:endParaRPr lang="en-US"/>
          </a:p>
        </p:txBody>
      </p:sp>
    </p:spTree>
    <p:extLst>
      <p:ext uri="{BB962C8B-B14F-4D97-AF65-F5344CB8AC3E}">
        <p14:creationId xmlns:p14="http://schemas.microsoft.com/office/powerpoint/2010/main" val="2790625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A0AE465-D5DD-4044-A941-8EC18DFC78FC}"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392F4-81E6-49B0-BB10-303FFE4FEF7A}" type="slidenum">
              <a:rPr lang="en-US" smtClean="0"/>
              <a:t>‹#›</a:t>
            </a:fld>
            <a:endParaRPr lang="en-US"/>
          </a:p>
        </p:txBody>
      </p:sp>
    </p:spTree>
    <p:extLst>
      <p:ext uri="{BB962C8B-B14F-4D97-AF65-F5344CB8AC3E}">
        <p14:creationId xmlns:p14="http://schemas.microsoft.com/office/powerpoint/2010/main" val="2786275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0AE465-D5DD-4044-A941-8EC18DFC78FC}"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392F4-81E6-49B0-BB10-303FFE4FEF7A}" type="slidenum">
              <a:rPr lang="en-US" smtClean="0"/>
              <a:t>‹#›</a:t>
            </a:fld>
            <a:endParaRPr lang="en-US"/>
          </a:p>
        </p:txBody>
      </p:sp>
    </p:spTree>
    <p:extLst>
      <p:ext uri="{BB962C8B-B14F-4D97-AF65-F5344CB8AC3E}">
        <p14:creationId xmlns:p14="http://schemas.microsoft.com/office/powerpoint/2010/main" val="2370134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3771"/>
            <a:ext cx="8229600" cy="5342393"/>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0AE465-D5DD-4044-A941-8EC18DFC78FC}"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4392F4-81E6-49B0-BB10-303FFE4FEF7A}" type="slidenum">
              <a:rPr lang="en-US" smtClean="0"/>
              <a:t>‹#›</a:t>
            </a:fld>
            <a:endParaRPr lang="en-US"/>
          </a:p>
        </p:txBody>
      </p:sp>
    </p:spTree>
    <p:extLst>
      <p:ext uri="{BB962C8B-B14F-4D97-AF65-F5344CB8AC3E}">
        <p14:creationId xmlns:p14="http://schemas.microsoft.com/office/powerpoint/2010/main" val="44392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A0AE465-D5DD-4044-A941-8EC18DFC78FC}"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4392F4-81E6-49B0-BB10-303FFE4FEF7A}" type="slidenum">
              <a:rPr lang="en-US" smtClean="0"/>
              <a:t>‹#›</a:t>
            </a:fld>
            <a:endParaRPr lang="en-US"/>
          </a:p>
        </p:txBody>
      </p:sp>
    </p:spTree>
    <p:extLst>
      <p:ext uri="{BB962C8B-B14F-4D97-AF65-F5344CB8AC3E}">
        <p14:creationId xmlns:p14="http://schemas.microsoft.com/office/powerpoint/2010/main" val="3582555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0AE465-D5DD-4044-A941-8EC18DFC78FC}" type="datetimeFigureOut">
              <a:rPr lang="en-US" smtClean="0"/>
              <a:t>4/2/26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4392F4-81E6-49B0-BB10-303FFE4FEF7A}" type="slidenum">
              <a:rPr lang="en-US" smtClean="0"/>
              <a:t>‹#›</a:t>
            </a:fld>
            <a:endParaRPr lang="en-US"/>
          </a:p>
        </p:txBody>
      </p:sp>
    </p:spTree>
    <p:extLst>
      <p:ext uri="{BB962C8B-B14F-4D97-AF65-F5344CB8AC3E}">
        <p14:creationId xmlns:p14="http://schemas.microsoft.com/office/powerpoint/2010/main" val="4254062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0AE465-D5DD-4044-A941-8EC18DFC78FC}" type="datetimeFigureOut">
              <a:rPr lang="en-US" smtClean="0"/>
              <a:t>4/2/26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4392F4-81E6-49B0-BB10-303FFE4FEF7A}" type="slidenum">
              <a:rPr lang="en-US" smtClean="0"/>
              <a:t>‹#›</a:t>
            </a:fld>
            <a:endParaRPr lang="en-US"/>
          </a:p>
        </p:txBody>
      </p:sp>
    </p:spTree>
    <p:extLst>
      <p:ext uri="{BB962C8B-B14F-4D97-AF65-F5344CB8AC3E}">
        <p14:creationId xmlns:p14="http://schemas.microsoft.com/office/powerpoint/2010/main" val="1444252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0AE465-D5DD-4044-A941-8EC18DFC78FC}" type="datetimeFigureOut">
              <a:rPr lang="en-US" smtClean="0"/>
              <a:t>4/2/26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4392F4-81E6-49B0-BB10-303FFE4FEF7A}" type="slidenum">
              <a:rPr lang="en-US" smtClean="0"/>
              <a:t>‹#›</a:t>
            </a:fld>
            <a:endParaRPr lang="en-US"/>
          </a:p>
        </p:txBody>
      </p:sp>
    </p:spTree>
    <p:extLst>
      <p:ext uri="{BB962C8B-B14F-4D97-AF65-F5344CB8AC3E}">
        <p14:creationId xmlns:p14="http://schemas.microsoft.com/office/powerpoint/2010/main" val="1181284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0AE465-D5DD-4044-A941-8EC18DFC78FC}" type="datetimeFigureOut">
              <a:rPr lang="en-US" smtClean="0"/>
              <a:t>4/2/26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4392F4-81E6-49B0-BB10-303FFE4FEF7A}" type="slidenum">
              <a:rPr lang="en-US" smtClean="0"/>
              <a:t>‹#›</a:t>
            </a:fld>
            <a:endParaRPr lang="en-US"/>
          </a:p>
        </p:txBody>
      </p:sp>
    </p:spTree>
    <p:extLst>
      <p:ext uri="{BB962C8B-B14F-4D97-AF65-F5344CB8AC3E}">
        <p14:creationId xmlns:p14="http://schemas.microsoft.com/office/powerpoint/2010/main" val="3537540546"/>
      </p:ext>
    </p:extLst>
  </p:cSld>
  <p:clrMap bg1="lt1" tx1="dk1" bg2="lt2" tx2="dk2" accent1="accent1" accent2="accent2" accent3="accent3" accent4="accent4" accent5="accent5" accent6="accent6" hlink="hlink" folHlink="folHlink"/>
  <p:sldLayoutIdLst>
    <p:sldLayoutId id="2147484067" r:id="rId1"/>
    <p:sldLayoutId id="2147484068" r:id="rId2"/>
    <p:sldLayoutId id="2147484074" r:id="rId3"/>
    <p:sldLayoutId id="2147484070" r:id="rId4"/>
    <p:sldLayoutId id="2147484071" r:id="rId5"/>
    <p:sldLayoutId id="2147484072" r:id="rId6"/>
    <p:sldLayoutId id="2147484073" r:id="rId7"/>
  </p:sldLayoutIdLst>
  <p:txStyles>
    <p:titleStyle>
      <a:lvl1pPr algn="ctr" defTabSz="914400" rtl="0" eaLnBrk="1" latinLnBrk="0" hangingPunct="1">
        <a:spcBef>
          <a:spcPct val="0"/>
        </a:spcBef>
        <a:buNone/>
        <a:defRPr sz="32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49F466-028D-4C48-9586-0FF8F1A27AAA}"/>
              </a:ext>
            </a:extLst>
          </p:cNvPr>
          <p:cNvSpPr>
            <a:spLocks noGrp="1"/>
          </p:cNvSpPr>
          <p:nvPr>
            <p:ph idx="1"/>
          </p:nvPr>
        </p:nvSpPr>
        <p:spPr>
          <a:xfrm>
            <a:off x="457200" y="2073166"/>
            <a:ext cx="8229600" cy="4525963"/>
          </a:xfrm>
        </p:spPr>
        <p:txBody>
          <a:bodyPr>
            <a:normAutofit/>
          </a:bodyPr>
          <a:lstStyle/>
          <a:p>
            <a:pPr marL="0" indent="0" algn="ctr">
              <a:buNone/>
            </a:pPr>
            <a:r>
              <a:rPr lang="en-US" sz="4800" b="1" dirty="0"/>
              <a:t>What is the pH of rainwater? </a:t>
            </a:r>
          </a:p>
        </p:txBody>
      </p:sp>
    </p:spTree>
    <p:extLst>
      <p:ext uri="{BB962C8B-B14F-4D97-AF65-F5344CB8AC3E}">
        <p14:creationId xmlns:p14="http://schemas.microsoft.com/office/powerpoint/2010/main" val="2408525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Acids and Bases </a:t>
            </a:r>
          </a:p>
        </p:txBody>
      </p:sp>
      <p:sp>
        <p:nvSpPr>
          <p:cNvPr id="3" name="Content Placeholder 2"/>
          <p:cNvSpPr>
            <a:spLocks noGrp="1"/>
          </p:cNvSpPr>
          <p:nvPr>
            <p:ph idx="1"/>
          </p:nvPr>
        </p:nvSpPr>
        <p:spPr>
          <a:xfrm>
            <a:off x="89128" y="1600200"/>
            <a:ext cx="8597672" cy="4525963"/>
          </a:xfrm>
        </p:spPr>
        <p:txBody>
          <a:bodyPr/>
          <a:lstStyle/>
          <a:p>
            <a:pPr marL="0" indent="0">
              <a:buNone/>
            </a:pPr>
            <a:r>
              <a:rPr lang="en-US" b="1" dirty="0"/>
              <a:t>Acid: </a:t>
            </a:r>
            <a:r>
              <a:rPr lang="en-US" dirty="0"/>
              <a:t>hydrogen-bearing compound that dissociates when dissolved in water, releasing H</a:t>
            </a:r>
            <a:r>
              <a:rPr lang="en-US" baseline="30000" dirty="0"/>
              <a:t>+</a:t>
            </a:r>
            <a:r>
              <a:rPr lang="en-US" dirty="0"/>
              <a:t> ions (protons) and lowering the pH of the solution</a:t>
            </a:r>
          </a:p>
          <a:p>
            <a:pPr marL="0" indent="0">
              <a:buNone/>
            </a:pPr>
            <a:endParaRPr lang="en-US" dirty="0"/>
          </a:p>
          <a:p>
            <a:pPr marL="0" indent="0">
              <a:buNone/>
            </a:pPr>
            <a:r>
              <a:rPr lang="en-US" b="1" dirty="0"/>
              <a:t>Base: </a:t>
            </a:r>
            <a:r>
              <a:rPr lang="en-US" dirty="0"/>
              <a:t>substance containing the OH</a:t>
            </a:r>
            <a:r>
              <a:rPr lang="en-US" baseline="30000" dirty="0"/>
              <a:t>-</a:t>
            </a:r>
            <a:r>
              <a:rPr lang="en-US" dirty="0"/>
              <a:t> group that dissociates when dissolved in water, releasing OH</a:t>
            </a:r>
            <a:r>
              <a:rPr lang="en-US" baseline="30000" dirty="0"/>
              <a:t>-</a:t>
            </a:r>
            <a:r>
              <a:rPr lang="en-US" dirty="0"/>
              <a:t> ions and thus raising the pH of the solution</a:t>
            </a:r>
          </a:p>
        </p:txBody>
      </p:sp>
    </p:spTree>
    <p:extLst>
      <p:ext uri="{BB962C8B-B14F-4D97-AF65-F5344CB8AC3E}">
        <p14:creationId xmlns:p14="http://schemas.microsoft.com/office/powerpoint/2010/main" val="148787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Dissociation constants</a:t>
            </a:r>
          </a:p>
        </p:txBody>
      </p:sp>
      <p:sp>
        <p:nvSpPr>
          <p:cNvPr id="3" name="Content Placeholder 2"/>
          <p:cNvSpPr>
            <a:spLocks noGrp="1"/>
          </p:cNvSpPr>
          <p:nvPr>
            <p:ph idx="1"/>
          </p:nvPr>
        </p:nvSpPr>
        <p:spPr>
          <a:xfrm>
            <a:off x="457200" y="1600200"/>
            <a:ext cx="8686800" cy="5005760"/>
          </a:xfrm>
        </p:spPr>
        <p:txBody>
          <a:bodyPr>
            <a:normAutofit/>
          </a:bodyPr>
          <a:lstStyle/>
          <a:p>
            <a:pPr marL="0" indent="0">
              <a:buNone/>
            </a:pPr>
            <a:r>
              <a:rPr lang="en-US" dirty="0">
                <a:solidFill>
                  <a:srgbClr val="000000"/>
                </a:solidFill>
              </a:rPr>
              <a:t>Acid dissociation: </a:t>
            </a:r>
          </a:p>
          <a:p>
            <a:pPr marL="0" indent="0">
              <a:buNone/>
            </a:pPr>
            <a:r>
              <a:rPr lang="en-US" dirty="0" err="1">
                <a:solidFill>
                  <a:srgbClr val="000000"/>
                </a:solidFill>
              </a:rPr>
              <a:t>H</a:t>
            </a:r>
            <a:r>
              <a:rPr lang="en-US" baseline="-25000" dirty="0" err="1">
                <a:solidFill>
                  <a:srgbClr val="000000"/>
                </a:solidFill>
              </a:rPr>
              <a:t>m</a:t>
            </a:r>
            <a:r>
              <a:rPr lang="en-US" dirty="0" err="1">
                <a:solidFill>
                  <a:srgbClr val="000000"/>
                </a:solidFill>
              </a:rPr>
              <a:t>A</a:t>
            </a:r>
            <a:r>
              <a:rPr lang="en-US" baseline="-25000" dirty="0" err="1">
                <a:solidFill>
                  <a:srgbClr val="000000"/>
                </a:solidFill>
              </a:rPr>
              <a:t>n</a:t>
            </a:r>
            <a:r>
              <a:rPr lang="en-US" dirty="0">
                <a:solidFill>
                  <a:srgbClr val="000000"/>
                </a:solidFill>
              </a:rPr>
              <a:t> </a:t>
            </a:r>
            <a:r>
              <a:rPr lang="en-US" dirty="0">
                <a:solidFill>
                  <a:srgbClr val="000000"/>
                </a:solidFill>
                <a:sym typeface="Wingdings"/>
              </a:rPr>
              <a:t> </a:t>
            </a:r>
            <a:r>
              <a:rPr lang="en-US" dirty="0" err="1">
                <a:solidFill>
                  <a:srgbClr val="000000"/>
                </a:solidFill>
                <a:sym typeface="Wingdings"/>
              </a:rPr>
              <a:t>mH</a:t>
            </a:r>
            <a:r>
              <a:rPr lang="en-US" baseline="30000" dirty="0">
                <a:solidFill>
                  <a:srgbClr val="000000"/>
                </a:solidFill>
                <a:sym typeface="Wingdings"/>
              </a:rPr>
              <a:t>+</a:t>
            </a:r>
            <a:r>
              <a:rPr lang="en-US" dirty="0">
                <a:solidFill>
                  <a:srgbClr val="000000"/>
                </a:solidFill>
                <a:sym typeface="Wingdings"/>
              </a:rPr>
              <a:t> + </a:t>
            </a:r>
            <a:r>
              <a:rPr lang="en-US" dirty="0" err="1">
                <a:solidFill>
                  <a:srgbClr val="000000"/>
                </a:solidFill>
                <a:sym typeface="Wingdings"/>
              </a:rPr>
              <a:t>nA</a:t>
            </a:r>
            <a:r>
              <a:rPr lang="en-US" baseline="30000" dirty="0">
                <a:solidFill>
                  <a:srgbClr val="000000"/>
                </a:solidFill>
                <a:sym typeface="Wingdings"/>
              </a:rPr>
              <a:t>-</a:t>
            </a:r>
            <a:r>
              <a:rPr lang="en-US" dirty="0">
                <a:solidFill>
                  <a:srgbClr val="000000"/>
                </a:solidFill>
                <a:sym typeface="Wingdings"/>
              </a:rPr>
              <a:t> 			</a:t>
            </a:r>
            <a:r>
              <a:rPr lang="en-US" dirty="0" err="1">
                <a:solidFill>
                  <a:srgbClr val="000000"/>
                </a:solidFill>
                <a:sym typeface="Wingdings"/>
              </a:rPr>
              <a:t>K</a:t>
            </a:r>
            <a:r>
              <a:rPr lang="en-US" baseline="-25000" dirty="0" err="1">
                <a:solidFill>
                  <a:srgbClr val="000000"/>
                </a:solidFill>
                <a:sym typeface="Wingdings"/>
              </a:rPr>
              <a:t>a</a:t>
            </a:r>
            <a:r>
              <a:rPr lang="en-US" dirty="0">
                <a:solidFill>
                  <a:srgbClr val="000000"/>
                </a:solidFill>
                <a:sym typeface="Wingdings"/>
              </a:rPr>
              <a:t> = (</a:t>
            </a:r>
            <a:r>
              <a:rPr lang="en-US" dirty="0" err="1">
                <a:solidFill>
                  <a:srgbClr val="000000"/>
                </a:solidFill>
                <a:sym typeface="Wingdings"/>
              </a:rPr>
              <a:t>a</a:t>
            </a:r>
            <a:r>
              <a:rPr lang="en-US" baseline="-25000" dirty="0" err="1">
                <a:solidFill>
                  <a:srgbClr val="000000"/>
                </a:solidFill>
                <a:sym typeface="Wingdings"/>
              </a:rPr>
              <a:t>H</a:t>
            </a:r>
            <a:r>
              <a:rPr lang="en-US" baseline="-25000" dirty="0">
                <a:solidFill>
                  <a:srgbClr val="000000"/>
                </a:solidFill>
                <a:sym typeface="Wingdings"/>
              </a:rPr>
              <a:t>+</a:t>
            </a:r>
            <a:r>
              <a:rPr lang="en-US" dirty="0">
                <a:solidFill>
                  <a:srgbClr val="000000"/>
                </a:solidFill>
                <a:sym typeface="Wingdings"/>
              </a:rPr>
              <a:t>)</a:t>
            </a:r>
            <a:r>
              <a:rPr lang="en-US" baseline="30000" dirty="0">
                <a:solidFill>
                  <a:srgbClr val="000000"/>
                </a:solidFill>
                <a:sym typeface="Wingdings"/>
              </a:rPr>
              <a:t>m</a:t>
            </a:r>
            <a:r>
              <a:rPr lang="en-US" dirty="0">
                <a:solidFill>
                  <a:srgbClr val="000000"/>
                </a:solidFill>
                <a:sym typeface="Wingdings"/>
              </a:rPr>
              <a:t>(</a:t>
            </a:r>
            <a:r>
              <a:rPr lang="en-US" dirty="0" err="1">
                <a:solidFill>
                  <a:srgbClr val="000000"/>
                </a:solidFill>
                <a:sym typeface="Wingdings"/>
              </a:rPr>
              <a:t>a</a:t>
            </a:r>
            <a:r>
              <a:rPr lang="en-US" baseline="-25000" dirty="0" err="1">
                <a:solidFill>
                  <a:srgbClr val="000000"/>
                </a:solidFill>
                <a:sym typeface="Wingdings"/>
              </a:rPr>
              <a:t>A</a:t>
            </a:r>
            <a:r>
              <a:rPr lang="en-US" baseline="-25000" dirty="0">
                <a:solidFill>
                  <a:srgbClr val="000000"/>
                </a:solidFill>
                <a:sym typeface="Wingdings"/>
              </a:rPr>
              <a:t>-</a:t>
            </a:r>
            <a:r>
              <a:rPr lang="en-US" dirty="0">
                <a:solidFill>
                  <a:srgbClr val="000000"/>
                </a:solidFill>
                <a:sym typeface="Wingdings"/>
              </a:rPr>
              <a:t>)</a:t>
            </a:r>
            <a:r>
              <a:rPr lang="en-US" baseline="30000" dirty="0">
                <a:solidFill>
                  <a:srgbClr val="000000"/>
                </a:solidFill>
                <a:sym typeface="Wingdings"/>
              </a:rPr>
              <a:t>n</a:t>
            </a:r>
            <a:r>
              <a:rPr lang="en-US" dirty="0">
                <a:solidFill>
                  <a:srgbClr val="000000"/>
                </a:solidFill>
              </a:rPr>
              <a:t>					                                 </a:t>
            </a:r>
            <a:r>
              <a:rPr lang="en-US" dirty="0" err="1">
                <a:solidFill>
                  <a:srgbClr val="000000"/>
                </a:solidFill>
              </a:rPr>
              <a:t>a</a:t>
            </a:r>
            <a:r>
              <a:rPr lang="en-US" baseline="-25000" dirty="0" err="1">
                <a:solidFill>
                  <a:srgbClr val="000000"/>
                </a:solidFill>
              </a:rPr>
              <a:t>HmAn</a:t>
            </a:r>
            <a:endParaRPr lang="en-US" baseline="-25000" dirty="0">
              <a:solidFill>
                <a:srgbClr val="000000"/>
              </a:solidFill>
            </a:endParaRPr>
          </a:p>
          <a:p>
            <a:pPr marL="0" indent="0">
              <a:buNone/>
            </a:pPr>
            <a:r>
              <a:rPr lang="en-US" dirty="0">
                <a:solidFill>
                  <a:srgbClr val="000000"/>
                </a:solidFill>
              </a:rPr>
              <a:t>Base dissociation:</a:t>
            </a:r>
          </a:p>
          <a:p>
            <a:pPr marL="0" indent="0">
              <a:buNone/>
            </a:pPr>
            <a:r>
              <a:rPr lang="en-US" dirty="0" err="1">
                <a:solidFill>
                  <a:srgbClr val="000000"/>
                </a:solidFill>
              </a:rPr>
              <a:t>B</a:t>
            </a:r>
            <a:r>
              <a:rPr lang="en-US" baseline="-25000" dirty="0" err="1">
                <a:solidFill>
                  <a:srgbClr val="000000"/>
                </a:solidFill>
              </a:rPr>
              <a:t>p</a:t>
            </a:r>
            <a:r>
              <a:rPr lang="en-US" dirty="0" err="1">
                <a:solidFill>
                  <a:srgbClr val="000000"/>
                </a:solidFill>
              </a:rPr>
              <a:t>OH</a:t>
            </a:r>
            <a:r>
              <a:rPr lang="en-US" baseline="-25000" dirty="0" err="1">
                <a:solidFill>
                  <a:srgbClr val="000000"/>
                </a:solidFill>
              </a:rPr>
              <a:t>q</a:t>
            </a:r>
            <a:r>
              <a:rPr lang="en-US" dirty="0">
                <a:solidFill>
                  <a:srgbClr val="000000"/>
                </a:solidFill>
              </a:rPr>
              <a:t> </a:t>
            </a:r>
            <a:r>
              <a:rPr lang="en-US" dirty="0">
                <a:solidFill>
                  <a:srgbClr val="000000"/>
                </a:solidFill>
                <a:sym typeface="Wingdings"/>
              </a:rPr>
              <a:t> </a:t>
            </a:r>
            <a:r>
              <a:rPr lang="en-US" dirty="0" err="1">
                <a:solidFill>
                  <a:srgbClr val="000000"/>
                </a:solidFill>
                <a:sym typeface="Wingdings"/>
              </a:rPr>
              <a:t>pB</a:t>
            </a:r>
            <a:r>
              <a:rPr lang="en-US" baseline="30000" dirty="0">
                <a:solidFill>
                  <a:srgbClr val="000000"/>
                </a:solidFill>
                <a:sym typeface="Wingdings"/>
              </a:rPr>
              <a:t>+</a:t>
            </a:r>
            <a:r>
              <a:rPr lang="en-US" dirty="0">
                <a:solidFill>
                  <a:srgbClr val="000000"/>
                </a:solidFill>
                <a:sym typeface="Wingdings"/>
              </a:rPr>
              <a:t> + </a:t>
            </a:r>
            <a:r>
              <a:rPr lang="en-US" dirty="0" err="1">
                <a:solidFill>
                  <a:srgbClr val="000000"/>
                </a:solidFill>
                <a:sym typeface="Wingdings"/>
              </a:rPr>
              <a:t>qOH</a:t>
            </a:r>
            <a:r>
              <a:rPr lang="en-US" baseline="30000" dirty="0">
                <a:solidFill>
                  <a:srgbClr val="000000"/>
                </a:solidFill>
                <a:sym typeface="Wingdings"/>
              </a:rPr>
              <a:t>-</a:t>
            </a:r>
            <a:r>
              <a:rPr lang="en-US" dirty="0">
                <a:solidFill>
                  <a:srgbClr val="000000"/>
                </a:solidFill>
                <a:sym typeface="Wingdings"/>
              </a:rPr>
              <a:t> 		        K</a:t>
            </a:r>
            <a:r>
              <a:rPr lang="en-US" baseline="-25000" dirty="0">
                <a:solidFill>
                  <a:srgbClr val="000000"/>
                </a:solidFill>
                <a:sym typeface="Wingdings"/>
              </a:rPr>
              <a:t>b</a:t>
            </a:r>
            <a:r>
              <a:rPr lang="en-US" dirty="0">
                <a:solidFill>
                  <a:srgbClr val="000000"/>
                </a:solidFill>
                <a:sym typeface="Wingdings"/>
              </a:rPr>
              <a:t> = (</a:t>
            </a:r>
            <a:r>
              <a:rPr lang="en-US" dirty="0" err="1">
                <a:solidFill>
                  <a:srgbClr val="000000"/>
                </a:solidFill>
                <a:sym typeface="Wingdings"/>
              </a:rPr>
              <a:t>a</a:t>
            </a:r>
            <a:r>
              <a:rPr lang="en-US" baseline="-25000" dirty="0" err="1">
                <a:solidFill>
                  <a:srgbClr val="000000"/>
                </a:solidFill>
                <a:sym typeface="Wingdings"/>
              </a:rPr>
              <a:t>B</a:t>
            </a:r>
            <a:r>
              <a:rPr lang="en-US" baseline="-25000" dirty="0">
                <a:solidFill>
                  <a:srgbClr val="000000"/>
                </a:solidFill>
                <a:sym typeface="Wingdings"/>
              </a:rPr>
              <a:t>+</a:t>
            </a:r>
            <a:r>
              <a:rPr lang="en-US" dirty="0">
                <a:solidFill>
                  <a:srgbClr val="000000"/>
                </a:solidFill>
                <a:sym typeface="Wingdings"/>
              </a:rPr>
              <a:t>)</a:t>
            </a:r>
            <a:r>
              <a:rPr lang="en-US" baseline="30000" dirty="0">
                <a:solidFill>
                  <a:srgbClr val="000000"/>
                </a:solidFill>
                <a:sym typeface="Wingdings"/>
              </a:rPr>
              <a:t>p</a:t>
            </a:r>
            <a:r>
              <a:rPr lang="en-US" dirty="0">
                <a:solidFill>
                  <a:srgbClr val="000000"/>
                </a:solidFill>
                <a:sym typeface="Wingdings"/>
              </a:rPr>
              <a:t>(</a:t>
            </a:r>
            <a:r>
              <a:rPr lang="en-US" dirty="0" err="1">
                <a:solidFill>
                  <a:srgbClr val="000000"/>
                </a:solidFill>
                <a:sym typeface="Wingdings"/>
              </a:rPr>
              <a:t>a</a:t>
            </a:r>
            <a:r>
              <a:rPr lang="en-US" baseline="-25000" dirty="0" err="1">
                <a:solidFill>
                  <a:srgbClr val="000000"/>
                </a:solidFill>
                <a:sym typeface="Wingdings"/>
              </a:rPr>
              <a:t>OH</a:t>
            </a:r>
            <a:r>
              <a:rPr lang="en-US" baseline="-25000" dirty="0">
                <a:solidFill>
                  <a:srgbClr val="000000"/>
                </a:solidFill>
                <a:sym typeface="Wingdings"/>
              </a:rPr>
              <a:t>-</a:t>
            </a:r>
            <a:r>
              <a:rPr lang="en-US" dirty="0">
                <a:solidFill>
                  <a:srgbClr val="000000"/>
                </a:solidFill>
                <a:sym typeface="Wingdings"/>
              </a:rPr>
              <a:t>)</a:t>
            </a:r>
            <a:r>
              <a:rPr lang="en-US" baseline="30000" dirty="0">
                <a:solidFill>
                  <a:srgbClr val="000000"/>
                </a:solidFill>
                <a:sym typeface="Wingdings"/>
              </a:rPr>
              <a:t>q</a:t>
            </a:r>
          </a:p>
          <a:p>
            <a:pPr marL="0" indent="0">
              <a:buNone/>
            </a:pPr>
            <a:r>
              <a:rPr lang="en-US" baseline="30000" dirty="0">
                <a:solidFill>
                  <a:srgbClr val="000000"/>
                </a:solidFill>
                <a:sym typeface="Wingdings"/>
              </a:rPr>
              <a:t>						 </a:t>
            </a:r>
            <a:r>
              <a:rPr lang="en-US" dirty="0">
                <a:solidFill>
                  <a:srgbClr val="000000"/>
                </a:solidFill>
                <a:sym typeface="Wingdings"/>
              </a:rPr>
              <a:t>      </a:t>
            </a:r>
            <a:r>
              <a:rPr lang="en-US" dirty="0" err="1">
                <a:solidFill>
                  <a:srgbClr val="000000"/>
                </a:solidFill>
              </a:rPr>
              <a:t>a</a:t>
            </a:r>
            <a:r>
              <a:rPr lang="en-US" baseline="-25000" dirty="0" err="1">
                <a:solidFill>
                  <a:srgbClr val="000000"/>
                </a:solidFill>
              </a:rPr>
              <a:t>BpOHq</a:t>
            </a:r>
            <a:endParaRPr lang="en-US" baseline="-25000" dirty="0">
              <a:solidFill>
                <a:srgbClr val="000000"/>
              </a:solidFill>
            </a:endParaRPr>
          </a:p>
          <a:p>
            <a:pPr marL="0" indent="0">
              <a:buNone/>
            </a:pPr>
            <a:endParaRPr lang="en-US" dirty="0">
              <a:solidFill>
                <a:srgbClr val="000000"/>
              </a:solidFill>
            </a:endParaRPr>
          </a:p>
          <a:p>
            <a:pPr marL="0" indent="0">
              <a:buNone/>
            </a:pPr>
            <a:r>
              <a:rPr lang="en-US" dirty="0">
                <a:solidFill>
                  <a:srgbClr val="000000"/>
                </a:solidFill>
              </a:rPr>
              <a:t>Higher value of dissociation constant, greater the degree of dissociation and stronger the acid or base</a:t>
            </a:r>
          </a:p>
          <a:p>
            <a:pPr marL="0" indent="0">
              <a:buNone/>
            </a:pPr>
            <a:endParaRPr lang="en-US" baseline="30000" dirty="0">
              <a:sym typeface="Wingdings"/>
            </a:endParaRPr>
          </a:p>
        </p:txBody>
      </p:sp>
      <p:cxnSp>
        <p:nvCxnSpPr>
          <p:cNvPr id="5" name="Straight Connector 4"/>
          <p:cNvCxnSpPr/>
          <p:nvPr/>
        </p:nvCxnSpPr>
        <p:spPr>
          <a:xfrm>
            <a:off x="6030187" y="2589795"/>
            <a:ext cx="19719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5915887" y="4191942"/>
            <a:ext cx="19719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6380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00"/>
                </a:solidFill>
              </a:rPr>
              <a:t>pH of aqueous solution</a:t>
            </a:r>
          </a:p>
        </p:txBody>
      </p:sp>
      <p:sp>
        <p:nvSpPr>
          <p:cNvPr id="3" name="Content Placeholder 2"/>
          <p:cNvSpPr>
            <a:spLocks noGrp="1"/>
          </p:cNvSpPr>
          <p:nvPr>
            <p:ph idx="1"/>
          </p:nvPr>
        </p:nvSpPr>
        <p:spPr>
          <a:xfrm>
            <a:off x="223237" y="1600200"/>
            <a:ext cx="8789855" cy="4525963"/>
          </a:xfrm>
        </p:spPr>
        <p:txBody>
          <a:bodyPr>
            <a:normAutofit lnSpcReduction="10000"/>
          </a:bodyPr>
          <a:lstStyle/>
          <a:p>
            <a:pPr marL="0" indent="0">
              <a:buNone/>
            </a:pPr>
            <a:r>
              <a:rPr lang="en-US" dirty="0"/>
              <a:t>pH = -log</a:t>
            </a:r>
            <a:r>
              <a:rPr lang="en-US" baseline="-25000" dirty="0"/>
              <a:t>10</a:t>
            </a:r>
            <a:r>
              <a:rPr lang="en-US" dirty="0"/>
              <a:t>a</a:t>
            </a:r>
            <a:r>
              <a:rPr lang="en-US" baseline="-25000" dirty="0"/>
              <a:t>H+</a:t>
            </a:r>
          </a:p>
          <a:p>
            <a:pPr marL="0" indent="0">
              <a:buNone/>
            </a:pPr>
            <a:r>
              <a:rPr lang="en-US" dirty="0"/>
              <a:t>H</a:t>
            </a:r>
            <a:r>
              <a:rPr lang="en-US" baseline="-25000" dirty="0"/>
              <a:t>2</a:t>
            </a:r>
            <a:r>
              <a:rPr lang="en-US" dirty="0"/>
              <a:t>O = H</a:t>
            </a:r>
            <a:r>
              <a:rPr lang="en-US" baseline="30000" dirty="0"/>
              <a:t>+</a:t>
            </a:r>
            <a:r>
              <a:rPr lang="en-US" dirty="0"/>
              <a:t> + OH</a:t>
            </a:r>
            <a:r>
              <a:rPr lang="en-US" baseline="30000" dirty="0"/>
              <a:t>-</a:t>
            </a:r>
          </a:p>
          <a:p>
            <a:pPr marL="0" indent="0">
              <a:buNone/>
            </a:pPr>
            <a:r>
              <a:rPr lang="en-US" dirty="0"/>
              <a:t>K</a:t>
            </a:r>
            <a:r>
              <a:rPr lang="en-US" baseline="-25000" dirty="0"/>
              <a:t>w</a:t>
            </a:r>
            <a:r>
              <a:rPr lang="en-US" dirty="0"/>
              <a:t> = </a:t>
            </a:r>
            <a:r>
              <a:rPr lang="en-US" dirty="0" err="1"/>
              <a:t>a</a:t>
            </a:r>
            <a:r>
              <a:rPr lang="en-US" baseline="-25000" dirty="0" err="1"/>
              <a:t>H+</a:t>
            </a:r>
            <a:r>
              <a:rPr lang="en-US" dirty="0" err="1"/>
              <a:t>a</a:t>
            </a:r>
            <a:r>
              <a:rPr lang="en-US" baseline="-25000" dirty="0" err="1"/>
              <a:t>OH</a:t>
            </a:r>
            <a:r>
              <a:rPr lang="en-US" baseline="-25000" dirty="0"/>
              <a:t>-  </a:t>
            </a:r>
            <a:r>
              <a:rPr lang="en-US" dirty="0"/>
              <a:t>= </a:t>
            </a:r>
            <a:r>
              <a:rPr lang="en-US" dirty="0" err="1"/>
              <a:t>a</a:t>
            </a:r>
            <a:r>
              <a:rPr lang="en-US" baseline="-25000" dirty="0" err="1"/>
              <a:t>H+</a:t>
            </a:r>
            <a:r>
              <a:rPr lang="en-US" dirty="0" err="1"/>
              <a:t>a</a:t>
            </a:r>
            <a:r>
              <a:rPr lang="en-US" baseline="-25000" dirty="0" err="1"/>
              <a:t>OH</a:t>
            </a:r>
            <a:r>
              <a:rPr lang="en-US" baseline="-25000" dirty="0"/>
              <a:t>-</a:t>
            </a:r>
            <a:r>
              <a:rPr lang="en-US" dirty="0"/>
              <a:t>  = 10</a:t>
            </a:r>
            <a:r>
              <a:rPr lang="en-US" baseline="30000" dirty="0"/>
              <a:t>-14</a:t>
            </a:r>
          </a:p>
          <a:p>
            <a:pPr marL="0" indent="0">
              <a:buNone/>
            </a:pPr>
            <a:r>
              <a:rPr lang="en-US" baseline="-25000" dirty="0"/>
              <a:t>	</a:t>
            </a:r>
            <a:r>
              <a:rPr lang="en-US" dirty="0"/>
              <a:t>a</a:t>
            </a:r>
            <a:r>
              <a:rPr lang="en-US" baseline="-25000" dirty="0"/>
              <a:t>H2O</a:t>
            </a:r>
          </a:p>
          <a:p>
            <a:pPr marL="0" indent="0">
              <a:buNone/>
            </a:pPr>
            <a:endParaRPr lang="en-US" baseline="-25000" dirty="0"/>
          </a:p>
          <a:p>
            <a:pPr marL="0" indent="0">
              <a:buNone/>
            </a:pPr>
            <a:r>
              <a:rPr lang="en-US" dirty="0"/>
              <a:t>For pure water at 298 K and 1 bar, </a:t>
            </a:r>
            <a:r>
              <a:rPr lang="en-US" dirty="0" err="1"/>
              <a:t>a</a:t>
            </a:r>
            <a:r>
              <a:rPr lang="en-US" baseline="-25000" dirty="0" err="1"/>
              <a:t>H</a:t>
            </a:r>
            <a:r>
              <a:rPr lang="en-US" baseline="-25000" dirty="0"/>
              <a:t>+</a:t>
            </a:r>
            <a:r>
              <a:rPr lang="en-US" dirty="0"/>
              <a:t> = </a:t>
            </a:r>
            <a:r>
              <a:rPr lang="en-US" dirty="0" err="1"/>
              <a:t>a</a:t>
            </a:r>
            <a:r>
              <a:rPr lang="en-US" baseline="-25000" dirty="0" err="1"/>
              <a:t>OH</a:t>
            </a:r>
            <a:r>
              <a:rPr lang="en-US" baseline="-25000" dirty="0"/>
              <a:t>-</a:t>
            </a:r>
            <a:r>
              <a:rPr lang="en-US" dirty="0"/>
              <a:t> = 10</a:t>
            </a:r>
            <a:r>
              <a:rPr lang="en-US" baseline="30000" dirty="0"/>
              <a:t>-7</a:t>
            </a:r>
            <a:r>
              <a:rPr lang="en-US" dirty="0"/>
              <a:t>, </a:t>
            </a:r>
          </a:p>
          <a:p>
            <a:pPr marL="0" indent="0">
              <a:buNone/>
            </a:pPr>
            <a:r>
              <a:rPr lang="en-US" dirty="0"/>
              <a:t>pH = 7 (neutral)</a:t>
            </a:r>
          </a:p>
          <a:p>
            <a:pPr marL="0" indent="0">
              <a:buNone/>
            </a:pPr>
            <a:r>
              <a:rPr lang="en-US" dirty="0"/>
              <a:t>pH &lt; 7 is defined as acidic</a:t>
            </a:r>
          </a:p>
          <a:p>
            <a:pPr marL="0" indent="0">
              <a:buNone/>
            </a:pPr>
            <a:r>
              <a:rPr lang="en-US" dirty="0"/>
              <a:t>pH &gt; 7 is defined as basic</a:t>
            </a:r>
          </a:p>
          <a:p>
            <a:pPr marL="0" indent="0">
              <a:buNone/>
            </a:pPr>
            <a:r>
              <a:rPr lang="en-US" baseline="-25000" dirty="0"/>
              <a:t>		</a:t>
            </a:r>
          </a:p>
        </p:txBody>
      </p:sp>
      <p:cxnSp>
        <p:nvCxnSpPr>
          <p:cNvPr id="4" name="Straight Connector 3"/>
          <p:cNvCxnSpPr/>
          <p:nvPr/>
        </p:nvCxnSpPr>
        <p:spPr>
          <a:xfrm>
            <a:off x="1036116" y="3030052"/>
            <a:ext cx="106953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0108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E7832-2384-1D9D-D91D-C983D467C8DE}"/>
              </a:ext>
            </a:extLst>
          </p:cNvPr>
          <p:cNvSpPr>
            <a:spLocks noGrp="1"/>
          </p:cNvSpPr>
          <p:nvPr>
            <p:ph type="title"/>
          </p:nvPr>
        </p:nvSpPr>
        <p:spPr/>
        <p:txBody>
          <a:bodyPr/>
          <a:lstStyle/>
          <a:p>
            <a:endParaRPr lang="en-US"/>
          </a:p>
        </p:txBody>
      </p:sp>
      <p:pic>
        <p:nvPicPr>
          <p:cNvPr id="5" name="Content Placeholder 4" descr="A close-up of a chemical formula&#10;&#10;Description automatically generated">
            <a:extLst>
              <a:ext uri="{FF2B5EF4-FFF2-40B4-BE49-F238E27FC236}">
                <a16:creationId xmlns:a16="http://schemas.microsoft.com/office/drawing/2014/main" id="{38A0D0B9-6160-A981-622D-A68B1DD709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274639"/>
            <a:ext cx="8495682" cy="2864938"/>
          </a:xfrm>
        </p:spPr>
      </p:pic>
    </p:spTree>
    <p:extLst>
      <p:ext uri="{BB962C8B-B14F-4D97-AF65-F5344CB8AC3E}">
        <p14:creationId xmlns:p14="http://schemas.microsoft.com/office/powerpoint/2010/main" val="1105626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0"/>
            <a:ext cx="8229600" cy="1143000"/>
          </a:xfrm>
          <a:prstGeom prst="rect">
            <a:avLst/>
          </a:prstGeom>
        </p:spPr>
        <p:txBody>
          <a:bodyPr>
            <a:normAutofit/>
          </a:bodyPr>
          <a:lstStyle>
            <a:lvl1pPr algn="ctr" defTabSz="914400" rtl="0" eaLnBrk="1" latinLnBrk="0" hangingPunct="1">
              <a:spcBef>
                <a:spcPct val="0"/>
              </a:spcBef>
              <a:buNone/>
              <a:defRPr sz="3200" kern="1200">
                <a:solidFill>
                  <a:schemeClr val="tx1"/>
                </a:solidFill>
                <a:latin typeface="+mj-lt"/>
                <a:ea typeface="+mj-ea"/>
                <a:cs typeface="+mj-cs"/>
              </a:defRPr>
            </a:lvl1pPr>
          </a:lstStyle>
          <a:p>
            <a:r>
              <a:rPr lang="en-US" sz="4000" b="1" dirty="0"/>
              <a:t>pH Range in Environment</a:t>
            </a:r>
          </a:p>
        </p:txBody>
      </p:sp>
      <p:pic>
        <p:nvPicPr>
          <p:cNvPr id="5" name="Picture 4" descr="soil-ph-large.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45758" y="1068139"/>
            <a:ext cx="4150867" cy="5257155"/>
          </a:xfrm>
          <a:prstGeom prst="rect">
            <a:avLst/>
          </a:prstGeom>
        </p:spPr>
      </p:pic>
      <p:sp>
        <p:nvSpPr>
          <p:cNvPr id="6" name="Rectangle 5"/>
          <p:cNvSpPr/>
          <p:nvPr/>
        </p:nvSpPr>
        <p:spPr>
          <a:xfrm>
            <a:off x="441934" y="6432468"/>
            <a:ext cx="6067250" cy="307777"/>
          </a:xfrm>
          <a:prstGeom prst="rect">
            <a:avLst/>
          </a:prstGeom>
        </p:spPr>
        <p:txBody>
          <a:bodyPr wrap="square">
            <a:spAutoFit/>
          </a:bodyPr>
          <a:lstStyle/>
          <a:p>
            <a:r>
              <a:rPr lang="en-US" dirty="0">
                <a:latin typeface="Arial"/>
                <a:cs typeface="Arial"/>
              </a:rPr>
              <a:t>https://</a:t>
            </a:r>
            <a:r>
              <a:rPr lang="en-US" dirty="0" err="1">
                <a:latin typeface="Arial"/>
                <a:cs typeface="Arial"/>
              </a:rPr>
              <a:t>www.qld.gov.au</a:t>
            </a:r>
            <a:r>
              <a:rPr lang="en-US" dirty="0">
                <a:latin typeface="Arial"/>
                <a:cs typeface="Arial"/>
              </a:rPr>
              <a:t>/environment/land/soil/soil-properties/</a:t>
            </a:r>
            <a:r>
              <a:rPr lang="en-US" dirty="0" err="1">
                <a:latin typeface="Arial"/>
                <a:cs typeface="Arial"/>
              </a:rPr>
              <a:t>ph</a:t>
            </a:r>
            <a:r>
              <a:rPr lang="en-US" dirty="0">
                <a:latin typeface="Arial"/>
                <a:cs typeface="Arial"/>
              </a:rPr>
              <a:t>-levels/</a:t>
            </a:r>
          </a:p>
        </p:txBody>
      </p:sp>
      <p:pic>
        <p:nvPicPr>
          <p:cNvPr id="7" name="Picture 6" descr="225px-Iron_Mountain_Mine_red.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225438" y="4041838"/>
            <a:ext cx="2375197" cy="2575769"/>
          </a:xfrm>
          <a:prstGeom prst="rect">
            <a:avLst/>
          </a:prstGeom>
        </p:spPr>
      </p:pic>
      <p:sp>
        <p:nvSpPr>
          <p:cNvPr id="2" name="TextBox 1"/>
          <p:cNvSpPr txBox="1"/>
          <p:nvPr/>
        </p:nvSpPr>
        <p:spPr>
          <a:xfrm>
            <a:off x="6090912" y="3712141"/>
            <a:ext cx="2955390" cy="307777"/>
          </a:xfrm>
          <a:prstGeom prst="rect">
            <a:avLst/>
          </a:prstGeom>
          <a:noFill/>
        </p:spPr>
        <p:txBody>
          <a:bodyPr wrap="square" rtlCol="0">
            <a:spAutoFit/>
          </a:bodyPr>
          <a:lstStyle/>
          <a:p>
            <a:r>
              <a:rPr lang="en-US" b="1" dirty="0">
                <a:latin typeface="Arial"/>
                <a:cs typeface="Arial"/>
              </a:rPr>
              <a:t>Most acidic : acid mine drainage</a:t>
            </a:r>
          </a:p>
        </p:txBody>
      </p:sp>
      <p:sp>
        <p:nvSpPr>
          <p:cNvPr id="9" name="TextBox 8"/>
          <p:cNvSpPr txBox="1"/>
          <p:nvPr/>
        </p:nvSpPr>
        <p:spPr>
          <a:xfrm>
            <a:off x="2479109" y="6203185"/>
            <a:ext cx="3907953" cy="369332"/>
          </a:xfrm>
          <a:prstGeom prst="rect">
            <a:avLst/>
          </a:prstGeom>
          <a:noFill/>
        </p:spPr>
        <p:txBody>
          <a:bodyPr wrap="square" rtlCol="0">
            <a:spAutoFit/>
          </a:bodyPr>
          <a:lstStyle/>
          <a:p>
            <a:r>
              <a:rPr lang="en-US" sz="1800" b="1" dirty="0">
                <a:solidFill>
                  <a:srgbClr val="FF0000"/>
                </a:solidFill>
                <a:latin typeface="Arial"/>
                <a:cs typeface="Arial"/>
              </a:rPr>
              <a:t>-3.6  </a:t>
            </a:r>
          </a:p>
        </p:txBody>
      </p:sp>
      <p:pic>
        <p:nvPicPr>
          <p:cNvPr id="10" name="Picture 9" descr="GetFile.jpe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761310" y="706197"/>
            <a:ext cx="2506454" cy="1849811"/>
          </a:xfrm>
          <a:prstGeom prst="rect">
            <a:avLst/>
          </a:prstGeom>
        </p:spPr>
      </p:pic>
      <p:sp>
        <p:nvSpPr>
          <p:cNvPr id="11" name="TextBox 10"/>
          <p:cNvSpPr txBox="1"/>
          <p:nvPr/>
        </p:nvSpPr>
        <p:spPr>
          <a:xfrm>
            <a:off x="2778056" y="1593297"/>
            <a:ext cx="3907953" cy="369332"/>
          </a:xfrm>
          <a:prstGeom prst="rect">
            <a:avLst/>
          </a:prstGeom>
          <a:noFill/>
        </p:spPr>
        <p:txBody>
          <a:bodyPr wrap="square" rtlCol="0">
            <a:spAutoFit/>
          </a:bodyPr>
          <a:lstStyle/>
          <a:p>
            <a:r>
              <a:rPr lang="en-US" sz="1800" b="1" dirty="0">
                <a:solidFill>
                  <a:srgbClr val="FF0000"/>
                </a:solidFill>
                <a:latin typeface="Arial"/>
                <a:cs typeface="Arial"/>
              </a:rPr>
              <a:t>12.6</a:t>
            </a:r>
          </a:p>
        </p:txBody>
      </p:sp>
      <p:cxnSp>
        <p:nvCxnSpPr>
          <p:cNvPr id="12" name="Straight Arrow Connector 11"/>
          <p:cNvCxnSpPr/>
          <p:nvPr/>
        </p:nvCxnSpPr>
        <p:spPr>
          <a:xfrm flipV="1">
            <a:off x="3040876" y="6349717"/>
            <a:ext cx="3089726" cy="1221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3413098" y="1795016"/>
            <a:ext cx="2265647" cy="586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705967" y="2570176"/>
            <a:ext cx="2955390" cy="523220"/>
          </a:xfrm>
          <a:prstGeom prst="rect">
            <a:avLst/>
          </a:prstGeom>
          <a:noFill/>
        </p:spPr>
        <p:txBody>
          <a:bodyPr wrap="square" rtlCol="0">
            <a:spAutoFit/>
          </a:bodyPr>
          <a:lstStyle/>
          <a:p>
            <a:r>
              <a:rPr lang="en-US" b="1" dirty="0">
                <a:latin typeface="Arial"/>
                <a:cs typeface="Arial"/>
              </a:rPr>
              <a:t>Most basic : </a:t>
            </a:r>
            <a:r>
              <a:rPr lang="en-US" b="1" dirty="0" err="1">
                <a:latin typeface="Arial"/>
                <a:cs typeface="Arial"/>
              </a:rPr>
              <a:t>serpentinite</a:t>
            </a:r>
            <a:r>
              <a:rPr lang="en-US" b="1" dirty="0">
                <a:latin typeface="Arial"/>
                <a:cs typeface="Arial"/>
              </a:rPr>
              <a:t> mud (cold) volcanoes on the seafloor</a:t>
            </a:r>
          </a:p>
        </p:txBody>
      </p:sp>
    </p:spTree>
    <p:extLst>
      <p:ext uri="{BB962C8B-B14F-4D97-AF65-F5344CB8AC3E}">
        <p14:creationId xmlns:p14="http://schemas.microsoft.com/office/powerpoint/2010/main" val="1033200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0"/>
            <a:ext cx="8229600" cy="1143000"/>
          </a:xfrm>
          <a:prstGeom prst="rect">
            <a:avLst/>
          </a:prstGeom>
        </p:spPr>
        <p:txBody>
          <a:bodyPr>
            <a:normAutofit lnSpcReduction="10000"/>
          </a:bodyPr>
          <a:lstStyle>
            <a:lvl1pPr algn="ctr" defTabSz="914400" rtl="0" eaLnBrk="1" latinLnBrk="0" hangingPunct="1">
              <a:spcBef>
                <a:spcPct val="0"/>
              </a:spcBef>
              <a:buNone/>
              <a:defRPr sz="3200" kern="1200">
                <a:solidFill>
                  <a:schemeClr val="tx1"/>
                </a:solidFill>
                <a:latin typeface="+mj-lt"/>
                <a:ea typeface="+mj-ea"/>
                <a:cs typeface="+mj-cs"/>
              </a:defRPr>
            </a:lvl1pPr>
          </a:lstStyle>
          <a:p>
            <a:r>
              <a:rPr lang="en-US" sz="2800" b="1" dirty="0"/>
              <a:t>Most Acidic Waters: </a:t>
            </a:r>
          </a:p>
          <a:p>
            <a:r>
              <a:rPr lang="en-US" sz="2400" b="1" dirty="0"/>
              <a:t>Iron Mountain Mine (Richmond Mine), </a:t>
            </a:r>
          </a:p>
          <a:p>
            <a:r>
              <a:rPr lang="en-US" sz="2400" b="1" dirty="0"/>
              <a:t>Superfund Site in Northern California</a:t>
            </a:r>
          </a:p>
        </p:txBody>
      </p:sp>
      <p:pic>
        <p:nvPicPr>
          <p:cNvPr id="5" name="Picture 4" descr="download.jpe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0853" y="3820882"/>
            <a:ext cx="2267988" cy="2568953"/>
          </a:xfrm>
          <a:prstGeom prst="rect">
            <a:avLst/>
          </a:prstGeom>
        </p:spPr>
      </p:pic>
      <p:pic>
        <p:nvPicPr>
          <p:cNvPr id="6" name="Picture 5" descr="eventImaged2Q3iu.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12919" y="1238873"/>
            <a:ext cx="3944591" cy="2547799"/>
          </a:xfrm>
          <a:prstGeom prst="rect">
            <a:avLst/>
          </a:prstGeom>
        </p:spPr>
      </p:pic>
      <p:sp>
        <p:nvSpPr>
          <p:cNvPr id="8" name="TextBox 7"/>
          <p:cNvSpPr txBox="1"/>
          <p:nvPr/>
        </p:nvSpPr>
        <p:spPr>
          <a:xfrm>
            <a:off x="5068127" y="3736564"/>
            <a:ext cx="3907953" cy="646331"/>
          </a:xfrm>
          <a:prstGeom prst="rect">
            <a:avLst/>
          </a:prstGeom>
          <a:noFill/>
        </p:spPr>
        <p:txBody>
          <a:bodyPr wrap="square" rtlCol="0">
            <a:spAutoFit/>
          </a:bodyPr>
          <a:lstStyle/>
          <a:p>
            <a:r>
              <a:rPr lang="en-US" sz="1800" b="1" dirty="0">
                <a:latin typeface="Arial"/>
                <a:cs typeface="Arial"/>
              </a:rPr>
              <a:t>pH as low as -3.6  </a:t>
            </a:r>
          </a:p>
          <a:p>
            <a:r>
              <a:rPr lang="en-US" sz="1800" b="1" dirty="0" err="1">
                <a:latin typeface="Arial"/>
                <a:cs typeface="Arial"/>
              </a:rPr>
              <a:t>a</a:t>
            </a:r>
            <a:r>
              <a:rPr lang="en-US" sz="1800" b="1" baseline="-25000" dirty="0" err="1">
                <a:latin typeface="Arial"/>
                <a:cs typeface="Arial"/>
              </a:rPr>
              <a:t>H</a:t>
            </a:r>
            <a:r>
              <a:rPr lang="en-US" sz="1800" b="1" baseline="-25000" dirty="0">
                <a:latin typeface="Arial"/>
                <a:cs typeface="Arial"/>
              </a:rPr>
              <a:t>+</a:t>
            </a:r>
            <a:r>
              <a:rPr lang="en-US" sz="1800" b="1" dirty="0">
                <a:latin typeface="Arial"/>
                <a:cs typeface="Arial"/>
              </a:rPr>
              <a:t> = 10</a:t>
            </a:r>
            <a:r>
              <a:rPr lang="en-US" sz="1800" b="1" baseline="30000" dirty="0">
                <a:latin typeface="Arial"/>
                <a:cs typeface="Arial"/>
              </a:rPr>
              <a:t>3.6</a:t>
            </a:r>
          </a:p>
        </p:txBody>
      </p:sp>
      <p:pic>
        <p:nvPicPr>
          <p:cNvPr id="10" name="Picture 9" descr="Screen Shot 2016-09-18 at 6.51.30 PM.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034108" y="4725656"/>
            <a:ext cx="5975557" cy="1949180"/>
          </a:xfrm>
          <a:prstGeom prst="rect">
            <a:avLst/>
          </a:prstGeom>
        </p:spPr>
      </p:pic>
      <p:sp>
        <p:nvSpPr>
          <p:cNvPr id="11" name="TextBox 10"/>
          <p:cNvSpPr txBox="1"/>
          <p:nvPr/>
        </p:nvSpPr>
        <p:spPr>
          <a:xfrm>
            <a:off x="4836092" y="1269944"/>
            <a:ext cx="4136935" cy="2308324"/>
          </a:xfrm>
          <a:prstGeom prst="rect">
            <a:avLst/>
          </a:prstGeom>
          <a:noFill/>
        </p:spPr>
        <p:txBody>
          <a:bodyPr wrap="square" rtlCol="0">
            <a:spAutoFit/>
          </a:bodyPr>
          <a:lstStyle/>
          <a:p>
            <a:r>
              <a:rPr lang="en-US" sz="1800" b="1" dirty="0">
                <a:latin typeface="Cambria (Body)"/>
                <a:cs typeface="Cambria (Body)"/>
              </a:rPr>
              <a:t>Dominant sources of extreme acidity in natural ecosystems:</a:t>
            </a:r>
          </a:p>
          <a:p>
            <a:endParaRPr lang="en-US" sz="1800" dirty="0">
              <a:latin typeface="Cambria (Body)"/>
              <a:cs typeface="Cambria (Body)"/>
            </a:endParaRPr>
          </a:p>
          <a:p>
            <a:pPr marL="342900" indent="-342900">
              <a:buAutoNum type="arabicParenR"/>
            </a:pPr>
            <a:r>
              <a:rPr lang="en-US" sz="1800" dirty="0">
                <a:latin typeface="Cambria (Body)"/>
                <a:cs typeface="Cambria (Body)"/>
              </a:rPr>
              <a:t>magmatic gases that contribute </a:t>
            </a:r>
            <a:r>
              <a:rPr lang="en-US" sz="1800" dirty="0" err="1">
                <a:latin typeface="Cambria (Body)"/>
                <a:cs typeface="Cambria (Body)"/>
              </a:rPr>
              <a:t>HCl</a:t>
            </a:r>
            <a:r>
              <a:rPr lang="en-US" sz="1800" dirty="0">
                <a:latin typeface="Cambria (Body)"/>
                <a:cs typeface="Cambria (Body)"/>
              </a:rPr>
              <a:t>, HF, H</a:t>
            </a:r>
            <a:r>
              <a:rPr lang="en-US" sz="1800" baseline="-25000" dirty="0">
                <a:latin typeface="Cambria (Body)"/>
                <a:cs typeface="Cambria (Body)"/>
              </a:rPr>
              <a:t>2</a:t>
            </a:r>
            <a:r>
              <a:rPr lang="en-US" sz="1800" dirty="0">
                <a:latin typeface="Cambria (Body)"/>
                <a:cs typeface="Cambria (Body)"/>
              </a:rPr>
              <a:t>SO</a:t>
            </a:r>
            <a:r>
              <a:rPr lang="en-US" sz="1800" baseline="-25000" dirty="0">
                <a:latin typeface="Cambria (Body)"/>
                <a:cs typeface="Cambria (Body)"/>
              </a:rPr>
              <a:t>4</a:t>
            </a:r>
            <a:r>
              <a:rPr lang="en-US" sz="1800" dirty="0">
                <a:latin typeface="Cambria (Body)"/>
                <a:cs typeface="Cambria (Body)"/>
              </a:rPr>
              <a:t> </a:t>
            </a:r>
          </a:p>
          <a:p>
            <a:endParaRPr lang="en-US" sz="1800" dirty="0">
              <a:latin typeface="Cambria (Body)"/>
              <a:cs typeface="Cambria (Body)"/>
            </a:endParaRPr>
          </a:p>
          <a:p>
            <a:pPr marL="342900" indent="-342900">
              <a:buAutoNum type="arabicParenR"/>
            </a:pPr>
            <a:r>
              <a:rPr lang="en-US" sz="1800" dirty="0">
                <a:latin typeface="Cambria (Body)"/>
                <a:cs typeface="Cambria (Body)"/>
              </a:rPr>
              <a:t>oxidative weathering of pyrite (FeS</a:t>
            </a:r>
            <a:r>
              <a:rPr lang="en-US" sz="1800" baseline="-25000" dirty="0">
                <a:latin typeface="Cambria (Body)"/>
                <a:cs typeface="Cambria (Body)"/>
              </a:rPr>
              <a:t>2</a:t>
            </a:r>
            <a:r>
              <a:rPr lang="en-US" sz="1800" dirty="0">
                <a:latin typeface="Cambria (Body)"/>
                <a:cs typeface="Cambria (Body)"/>
              </a:rPr>
              <a:t>), which produces H</a:t>
            </a:r>
            <a:r>
              <a:rPr lang="en-US" sz="1800" baseline="-25000" dirty="0">
                <a:latin typeface="Cambria (Body)"/>
                <a:cs typeface="Cambria (Body)"/>
              </a:rPr>
              <a:t>2</a:t>
            </a:r>
            <a:r>
              <a:rPr lang="en-US" sz="1800" dirty="0">
                <a:latin typeface="Cambria (Body)"/>
                <a:cs typeface="Cambria (Body)"/>
              </a:rPr>
              <a:t>SO</a:t>
            </a:r>
            <a:r>
              <a:rPr lang="en-US" sz="1800" baseline="-25000" dirty="0">
                <a:latin typeface="Cambria (Body)"/>
                <a:cs typeface="Cambria (Body)"/>
              </a:rPr>
              <a:t>4</a:t>
            </a:r>
          </a:p>
        </p:txBody>
      </p:sp>
    </p:spTree>
    <p:extLst>
      <p:ext uri="{BB962C8B-B14F-4D97-AF65-F5344CB8AC3E}">
        <p14:creationId xmlns:p14="http://schemas.microsoft.com/office/powerpoint/2010/main" val="456319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57200" y="0"/>
            <a:ext cx="8229600" cy="1143000"/>
          </a:xfrm>
          <a:prstGeom prst="rect">
            <a:avLst/>
          </a:prstGeom>
        </p:spPr>
        <p:txBody>
          <a:bodyPr>
            <a:normAutofit lnSpcReduction="10000"/>
          </a:bodyPr>
          <a:lstStyle>
            <a:lvl1pPr algn="ctr" defTabSz="914400" rtl="0" eaLnBrk="1" latinLnBrk="0" hangingPunct="1">
              <a:spcBef>
                <a:spcPct val="0"/>
              </a:spcBef>
              <a:buNone/>
              <a:defRPr sz="3200" kern="1200">
                <a:solidFill>
                  <a:schemeClr val="tx1"/>
                </a:solidFill>
                <a:latin typeface="+mj-lt"/>
                <a:ea typeface="+mj-ea"/>
                <a:cs typeface="+mj-cs"/>
              </a:defRPr>
            </a:lvl1pPr>
          </a:lstStyle>
          <a:p>
            <a:r>
              <a:rPr lang="en-US" sz="2800" b="1" dirty="0"/>
              <a:t>Most Basic Waters: </a:t>
            </a:r>
          </a:p>
          <a:p>
            <a:r>
              <a:rPr lang="en-US" sz="2400" b="1" dirty="0"/>
              <a:t>Serpentine Mud Volcanoes </a:t>
            </a:r>
          </a:p>
          <a:p>
            <a:r>
              <a:rPr lang="en-US" sz="2400" b="1" dirty="0"/>
              <a:t>in Mariana Trench </a:t>
            </a:r>
            <a:r>
              <a:rPr lang="en-US" sz="2400" b="1" dirty="0" err="1"/>
              <a:t>Forearc</a:t>
            </a:r>
            <a:r>
              <a:rPr lang="en-US" sz="2400" b="1" dirty="0"/>
              <a:t> on the seafloor</a:t>
            </a:r>
          </a:p>
        </p:txBody>
      </p:sp>
      <p:sp>
        <p:nvSpPr>
          <p:cNvPr id="7" name="Rectangle 6"/>
          <p:cNvSpPr/>
          <p:nvPr/>
        </p:nvSpPr>
        <p:spPr>
          <a:xfrm>
            <a:off x="2970667" y="1309141"/>
            <a:ext cx="6173333" cy="2031325"/>
          </a:xfrm>
          <a:prstGeom prst="rect">
            <a:avLst/>
          </a:prstGeom>
        </p:spPr>
        <p:txBody>
          <a:bodyPr wrap="square">
            <a:spAutoFit/>
          </a:bodyPr>
          <a:lstStyle/>
          <a:p>
            <a:r>
              <a:rPr lang="en-US" sz="1800" dirty="0" err="1">
                <a:latin typeface="Cambria (Body)"/>
                <a:cs typeface="Cambria (Body)"/>
              </a:rPr>
              <a:t>Subseafloor</a:t>
            </a:r>
            <a:r>
              <a:rPr lang="en-US" sz="1800" dirty="0">
                <a:latin typeface="Cambria (Body)"/>
                <a:cs typeface="Cambria (Body)"/>
              </a:rPr>
              <a:t> “weathering” of mantle olivine to serpentine and dissolution of carbonate</a:t>
            </a:r>
          </a:p>
          <a:p>
            <a:endParaRPr lang="en-US" sz="1800" dirty="0">
              <a:latin typeface="Cambria (Body)"/>
              <a:cs typeface="Cambria (Body)"/>
            </a:endParaRPr>
          </a:p>
          <a:p>
            <a:r>
              <a:rPr lang="en-US" sz="1800" dirty="0">
                <a:latin typeface="Cambria (Body)"/>
                <a:cs typeface="Cambria (Body)"/>
              </a:rPr>
              <a:t>Low-density </a:t>
            </a:r>
            <a:r>
              <a:rPr lang="en-US" sz="1800" dirty="0" err="1">
                <a:latin typeface="Cambria (Body)"/>
                <a:cs typeface="Cambria (Body)"/>
              </a:rPr>
              <a:t>serpentinite</a:t>
            </a:r>
            <a:r>
              <a:rPr lang="en-US" sz="1800" dirty="0">
                <a:latin typeface="Cambria (Body)"/>
                <a:cs typeface="Cambria (Body)"/>
              </a:rPr>
              <a:t> rises buoyantly along intersecting fractures and extrudes at the seafloor, </a:t>
            </a:r>
          </a:p>
          <a:p>
            <a:endParaRPr lang="en-US" sz="1800" dirty="0">
              <a:latin typeface="Cambria (Body)"/>
              <a:cs typeface="Cambria (Body)"/>
            </a:endParaRPr>
          </a:p>
          <a:p>
            <a:r>
              <a:rPr lang="en-US" sz="1800" dirty="0">
                <a:latin typeface="Cambria (Body)"/>
                <a:cs typeface="Cambria (Body)"/>
              </a:rPr>
              <a:t>“Cold” mud volcanoes, 2 km high, 50 km across</a:t>
            </a:r>
          </a:p>
        </p:txBody>
      </p:sp>
      <p:sp>
        <p:nvSpPr>
          <p:cNvPr id="9" name="TextBox 8"/>
          <p:cNvSpPr txBox="1"/>
          <p:nvPr/>
        </p:nvSpPr>
        <p:spPr>
          <a:xfrm>
            <a:off x="2967602" y="3321390"/>
            <a:ext cx="3907953" cy="646331"/>
          </a:xfrm>
          <a:prstGeom prst="rect">
            <a:avLst/>
          </a:prstGeom>
          <a:noFill/>
        </p:spPr>
        <p:txBody>
          <a:bodyPr wrap="square" rtlCol="0">
            <a:spAutoFit/>
          </a:bodyPr>
          <a:lstStyle/>
          <a:p>
            <a:r>
              <a:rPr lang="en-US" sz="1800" b="1" dirty="0">
                <a:latin typeface="Arial"/>
                <a:cs typeface="Arial"/>
              </a:rPr>
              <a:t>pH as high as 12.6</a:t>
            </a:r>
          </a:p>
          <a:p>
            <a:r>
              <a:rPr lang="en-US" sz="1800" b="1" dirty="0" err="1">
                <a:latin typeface="Arial"/>
                <a:cs typeface="Arial"/>
              </a:rPr>
              <a:t>a</a:t>
            </a:r>
            <a:r>
              <a:rPr lang="en-US" sz="1800" b="1" baseline="-25000" dirty="0" err="1">
                <a:latin typeface="Arial"/>
                <a:cs typeface="Arial"/>
              </a:rPr>
              <a:t>H</a:t>
            </a:r>
            <a:r>
              <a:rPr lang="en-US" sz="1800" b="1" baseline="-25000" dirty="0">
                <a:latin typeface="Arial"/>
                <a:cs typeface="Arial"/>
              </a:rPr>
              <a:t>+</a:t>
            </a:r>
            <a:r>
              <a:rPr lang="en-US" sz="1800" b="1" dirty="0">
                <a:latin typeface="Arial"/>
                <a:cs typeface="Arial"/>
              </a:rPr>
              <a:t> = 10</a:t>
            </a:r>
            <a:r>
              <a:rPr lang="en-US" sz="1800" b="1" baseline="30000" dirty="0">
                <a:latin typeface="Arial"/>
                <a:cs typeface="Arial"/>
              </a:rPr>
              <a:t>-12.6</a:t>
            </a:r>
          </a:p>
        </p:txBody>
      </p:sp>
      <p:pic>
        <p:nvPicPr>
          <p:cNvPr id="10" name="Picture 9" descr="fig2-300.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6676" y="1403818"/>
            <a:ext cx="2637741" cy="4097291"/>
          </a:xfrm>
          <a:prstGeom prst="rect">
            <a:avLst/>
          </a:prstGeom>
        </p:spPr>
      </p:pic>
      <p:pic>
        <p:nvPicPr>
          <p:cNvPr id="11" name="Picture 10" descr="fig1-590.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844755" y="4016012"/>
            <a:ext cx="6065489" cy="2086940"/>
          </a:xfrm>
          <a:prstGeom prst="rect">
            <a:avLst/>
          </a:prstGeom>
        </p:spPr>
      </p:pic>
      <p:sp>
        <p:nvSpPr>
          <p:cNvPr id="12" name="Rectangle 11"/>
          <p:cNvSpPr/>
          <p:nvPr/>
        </p:nvSpPr>
        <p:spPr>
          <a:xfrm>
            <a:off x="136625" y="6550223"/>
            <a:ext cx="9167686" cy="307777"/>
          </a:xfrm>
          <a:prstGeom prst="rect">
            <a:avLst/>
          </a:prstGeom>
        </p:spPr>
        <p:txBody>
          <a:bodyPr wrap="square">
            <a:spAutoFit/>
          </a:bodyPr>
          <a:lstStyle/>
          <a:p>
            <a:r>
              <a:rPr lang="en-US" dirty="0">
                <a:latin typeface="Cambria (Body)"/>
                <a:cs typeface="Cambria (Body)"/>
              </a:rPr>
              <a:t>http://</a:t>
            </a:r>
            <a:r>
              <a:rPr lang="en-US" dirty="0" err="1">
                <a:latin typeface="Cambria (Body)"/>
                <a:cs typeface="Cambria (Body)"/>
              </a:rPr>
              <a:t>oceanexplorer.noaa.gov</a:t>
            </a:r>
            <a:r>
              <a:rPr lang="en-US" dirty="0">
                <a:latin typeface="Cambria (Body)"/>
                <a:cs typeface="Cambria (Body)"/>
              </a:rPr>
              <a:t>/</a:t>
            </a:r>
            <a:r>
              <a:rPr lang="en-US" dirty="0" err="1">
                <a:latin typeface="Cambria (Body)"/>
                <a:cs typeface="Cambria (Body)"/>
              </a:rPr>
              <a:t>okeanos</a:t>
            </a:r>
            <a:r>
              <a:rPr lang="en-US" dirty="0">
                <a:latin typeface="Cambria (Body)"/>
                <a:cs typeface="Cambria (Body)"/>
              </a:rPr>
              <a:t>/explorations/ex1605/background/geology/</a:t>
            </a:r>
            <a:r>
              <a:rPr lang="en-US" dirty="0" err="1">
                <a:latin typeface="Cambria (Body)"/>
                <a:cs typeface="Cambria (Body)"/>
              </a:rPr>
              <a:t>welcome.html</a:t>
            </a:r>
            <a:endParaRPr lang="en-US" dirty="0">
              <a:latin typeface="Cambria (Body)"/>
              <a:cs typeface="Cambria (Body)"/>
            </a:endParaRPr>
          </a:p>
        </p:txBody>
      </p:sp>
      <p:sp>
        <p:nvSpPr>
          <p:cNvPr id="13" name="Rectangle 12"/>
          <p:cNvSpPr/>
          <p:nvPr/>
        </p:nvSpPr>
        <p:spPr>
          <a:xfrm>
            <a:off x="185474" y="6258751"/>
            <a:ext cx="8729061" cy="307777"/>
          </a:xfrm>
          <a:prstGeom prst="rect">
            <a:avLst/>
          </a:prstGeom>
        </p:spPr>
        <p:txBody>
          <a:bodyPr wrap="square">
            <a:spAutoFit/>
          </a:bodyPr>
          <a:lstStyle/>
          <a:p>
            <a:r>
              <a:rPr lang="en-US" dirty="0">
                <a:latin typeface="Cambria (Body)"/>
                <a:cs typeface="Cambria (Body)"/>
              </a:rPr>
              <a:t>https://</a:t>
            </a:r>
            <a:r>
              <a:rPr lang="en-US" dirty="0" err="1">
                <a:latin typeface="Cambria (Body)"/>
                <a:cs typeface="Cambria (Body)"/>
              </a:rPr>
              <a:t>www.geochemsoc.org</a:t>
            </a:r>
            <a:r>
              <a:rPr lang="en-US" dirty="0">
                <a:latin typeface="Cambria (Body)"/>
                <a:cs typeface="Cambria (Body)"/>
              </a:rPr>
              <a:t>/publications/</a:t>
            </a:r>
            <a:r>
              <a:rPr lang="en-US" dirty="0" err="1">
                <a:latin typeface="Cambria (Body)"/>
                <a:cs typeface="Cambria (Body)"/>
              </a:rPr>
              <a:t>geochemicalnews</a:t>
            </a:r>
            <a:r>
              <a:rPr lang="en-US" dirty="0">
                <a:latin typeface="Cambria (Body)"/>
                <a:cs typeface="Cambria (Body)"/>
              </a:rPr>
              <a:t>/gn141oct09/</a:t>
            </a:r>
            <a:r>
              <a:rPr lang="en-US" dirty="0" err="1">
                <a:latin typeface="Cambria (Body)"/>
                <a:cs typeface="Cambria (Body)"/>
              </a:rPr>
              <a:t>highestph</a:t>
            </a:r>
            <a:r>
              <a:rPr lang="en-US" dirty="0">
                <a:latin typeface="Cambria (Body)"/>
                <a:cs typeface="Cambria (Body)"/>
              </a:rPr>
              <a:t>/</a:t>
            </a:r>
          </a:p>
        </p:txBody>
      </p:sp>
    </p:spTree>
    <p:extLst>
      <p:ext uri="{BB962C8B-B14F-4D97-AF65-F5344CB8AC3E}">
        <p14:creationId xmlns:p14="http://schemas.microsoft.com/office/powerpoint/2010/main" val="701245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6625"/>
            <a:ext cx="8229600" cy="1143000"/>
          </a:xfrm>
        </p:spPr>
        <p:txBody>
          <a:bodyPr>
            <a:noAutofit/>
          </a:bodyPr>
          <a:lstStyle/>
          <a:p>
            <a:r>
              <a:rPr lang="en-US" sz="3600" b="1" dirty="0"/>
              <a:t>Carbonic acid as </a:t>
            </a:r>
            <a:r>
              <a:rPr lang="en-US" sz="3600" b="1" dirty="0" err="1"/>
              <a:t>polyprotic</a:t>
            </a:r>
            <a:r>
              <a:rPr lang="en-US" sz="3600" b="1" dirty="0"/>
              <a:t> acid</a:t>
            </a:r>
            <a:br>
              <a:rPr lang="en-US" sz="3600" b="1" dirty="0"/>
            </a:br>
            <a:endParaRPr lang="en-US" sz="3600" b="1" dirty="0"/>
          </a:p>
        </p:txBody>
      </p:sp>
      <p:sp>
        <p:nvSpPr>
          <p:cNvPr id="3" name="Content Placeholder 2"/>
          <p:cNvSpPr>
            <a:spLocks noGrp="1"/>
          </p:cNvSpPr>
          <p:nvPr>
            <p:ph idx="1"/>
          </p:nvPr>
        </p:nvSpPr>
        <p:spPr>
          <a:xfrm>
            <a:off x="312056" y="1805895"/>
            <a:ext cx="8466765" cy="4525963"/>
          </a:xfrm>
        </p:spPr>
        <p:txBody>
          <a:bodyPr>
            <a:normAutofit fontScale="85000" lnSpcReduction="20000"/>
          </a:bodyPr>
          <a:lstStyle/>
          <a:p>
            <a:pPr marL="0" indent="0">
              <a:buNone/>
            </a:pPr>
            <a:r>
              <a:rPr lang="en-US" b="1" dirty="0">
                <a:solidFill>
                  <a:srgbClr val="000000"/>
                </a:solidFill>
              </a:rPr>
              <a:t>H</a:t>
            </a:r>
            <a:r>
              <a:rPr lang="en-US" b="1" baseline="-25000" dirty="0">
                <a:solidFill>
                  <a:srgbClr val="000000"/>
                </a:solidFill>
              </a:rPr>
              <a:t>2</a:t>
            </a:r>
            <a:r>
              <a:rPr lang="en-US" b="1" dirty="0">
                <a:solidFill>
                  <a:srgbClr val="000000"/>
                </a:solidFill>
              </a:rPr>
              <a:t>CO</a:t>
            </a:r>
            <a:r>
              <a:rPr lang="en-US" b="1" baseline="-25000" dirty="0">
                <a:solidFill>
                  <a:srgbClr val="000000"/>
                </a:solidFill>
              </a:rPr>
              <a:t>3</a:t>
            </a:r>
            <a:r>
              <a:rPr lang="en-US" b="1" dirty="0">
                <a:solidFill>
                  <a:srgbClr val="000000"/>
                </a:solidFill>
              </a:rPr>
              <a:t> (</a:t>
            </a:r>
            <a:r>
              <a:rPr lang="en-US" b="1" dirty="0" err="1">
                <a:solidFill>
                  <a:srgbClr val="000000"/>
                </a:solidFill>
              </a:rPr>
              <a:t>aq</a:t>
            </a:r>
            <a:r>
              <a:rPr lang="en-US" b="1" dirty="0">
                <a:solidFill>
                  <a:srgbClr val="000000"/>
                </a:solidFill>
              </a:rPr>
              <a:t>) = H</a:t>
            </a:r>
            <a:r>
              <a:rPr lang="en-US" b="1" baseline="30000" dirty="0">
                <a:solidFill>
                  <a:srgbClr val="000000"/>
                </a:solidFill>
              </a:rPr>
              <a:t>+</a:t>
            </a:r>
            <a:r>
              <a:rPr lang="en-US" b="1" dirty="0">
                <a:solidFill>
                  <a:srgbClr val="000000"/>
                </a:solidFill>
              </a:rPr>
              <a:t> + HCO</a:t>
            </a:r>
            <a:r>
              <a:rPr lang="en-US" b="1" baseline="-25000" dirty="0">
                <a:solidFill>
                  <a:srgbClr val="000000"/>
                </a:solidFill>
              </a:rPr>
              <a:t>3</a:t>
            </a:r>
            <a:r>
              <a:rPr lang="en-US" b="1" baseline="30000" dirty="0">
                <a:solidFill>
                  <a:srgbClr val="000000"/>
                </a:solidFill>
              </a:rPr>
              <a:t>-</a:t>
            </a:r>
            <a:r>
              <a:rPr lang="en-US" b="1" dirty="0">
                <a:solidFill>
                  <a:srgbClr val="000000"/>
                </a:solidFill>
              </a:rPr>
              <a:t>     </a:t>
            </a:r>
            <a:r>
              <a:rPr lang="en-US" dirty="0">
                <a:solidFill>
                  <a:srgbClr val="000000"/>
                </a:solidFill>
              </a:rPr>
              <a:t>		</a:t>
            </a:r>
          </a:p>
          <a:p>
            <a:pPr marL="0" indent="0">
              <a:buNone/>
            </a:pPr>
            <a:r>
              <a:rPr lang="en-US" dirty="0">
                <a:solidFill>
                  <a:srgbClr val="000000"/>
                </a:solidFill>
              </a:rPr>
              <a:t>K</a:t>
            </a:r>
            <a:r>
              <a:rPr lang="en-US" baseline="-25000" dirty="0">
                <a:solidFill>
                  <a:srgbClr val="000000"/>
                </a:solidFill>
              </a:rPr>
              <a:t>H2CO3 </a:t>
            </a:r>
            <a:r>
              <a:rPr lang="en-US" dirty="0">
                <a:solidFill>
                  <a:srgbClr val="000000"/>
                </a:solidFill>
              </a:rPr>
              <a:t>= a</a:t>
            </a:r>
            <a:r>
              <a:rPr lang="en-US" baseline="-25000" dirty="0">
                <a:solidFill>
                  <a:srgbClr val="000000"/>
                </a:solidFill>
              </a:rPr>
              <a:t>H+</a:t>
            </a:r>
            <a:r>
              <a:rPr lang="en-US" dirty="0">
                <a:solidFill>
                  <a:srgbClr val="000000"/>
                </a:solidFill>
              </a:rPr>
              <a:t>a</a:t>
            </a:r>
            <a:r>
              <a:rPr lang="en-US" baseline="-25000" dirty="0">
                <a:solidFill>
                  <a:srgbClr val="000000"/>
                </a:solidFill>
              </a:rPr>
              <a:t>HCO3-     </a:t>
            </a:r>
            <a:r>
              <a:rPr lang="en-US" dirty="0">
                <a:solidFill>
                  <a:srgbClr val="000000"/>
                </a:solidFill>
              </a:rPr>
              <a:t>= 10</a:t>
            </a:r>
            <a:r>
              <a:rPr lang="en-US" baseline="30000" dirty="0">
                <a:solidFill>
                  <a:srgbClr val="000000"/>
                </a:solidFill>
              </a:rPr>
              <a:t>-6.35				</a:t>
            </a:r>
            <a:r>
              <a:rPr lang="en-US" dirty="0">
                <a:solidFill>
                  <a:srgbClr val="000000"/>
                </a:solidFill>
              </a:rPr>
              <a:t>	</a:t>
            </a:r>
          </a:p>
          <a:p>
            <a:pPr marL="0" indent="0">
              <a:buNone/>
            </a:pPr>
            <a:r>
              <a:rPr lang="en-US" baseline="-25000" dirty="0">
                <a:solidFill>
                  <a:srgbClr val="000000"/>
                </a:solidFill>
              </a:rPr>
              <a:t> </a:t>
            </a:r>
            <a:r>
              <a:rPr lang="en-US" dirty="0">
                <a:solidFill>
                  <a:srgbClr val="000000"/>
                </a:solidFill>
              </a:rPr>
              <a:t>               a</a:t>
            </a:r>
            <a:r>
              <a:rPr lang="en-US" baseline="-25000" dirty="0">
                <a:solidFill>
                  <a:srgbClr val="000000"/>
                </a:solidFill>
              </a:rPr>
              <a:t>H2CO3</a:t>
            </a:r>
            <a:endParaRPr lang="en-US" dirty="0">
              <a:solidFill>
                <a:srgbClr val="000000"/>
              </a:solidFill>
            </a:endParaRPr>
          </a:p>
          <a:p>
            <a:pPr marL="0" indent="0">
              <a:buNone/>
            </a:pPr>
            <a:endParaRPr lang="en-US" dirty="0">
              <a:solidFill>
                <a:srgbClr val="000000"/>
              </a:solidFill>
            </a:endParaRPr>
          </a:p>
          <a:p>
            <a:pPr marL="0" indent="0">
              <a:buNone/>
            </a:pPr>
            <a:r>
              <a:rPr lang="en-US" b="1" dirty="0">
                <a:solidFill>
                  <a:srgbClr val="000000"/>
                </a:solidFill>
              </a:rPr>
              <a:t>HCO</a:t>
            </a:r>
            <a:r>
              <a:rPr lang="en-US" b="1" baseline="-25000" dirty="0">
                <a:solidFill>
                  <a:srgbClr val="000000"/>
                </a:solidFill>
              </a:rPr>
              <a:t>3</a:t>
            </a:r>
            <a:r>
              <a:rPr lang="en-US" b="1" baseline="30000" dirty="0">
                <a:solidFill>
                  <a:srgbClr val="000000"/>
                </a:solidFill>
              </a:rPr>
              <a:t>-</a:t>
            </a:r>
            <a:r>
              <a:rPr lang="en-US" b="1" dirty="0">
                <a:solidFill>
                  <a:srgbClr val="000000"/>
                </a:solidFill>
              </a:rPr>
              <a:t> 	     = H</a:t>
            </a:r>
            <a:r>
              <a:rPr lang="en-US" b="1" baseline="30000" dirty="0">
                <a:solidFill>
                  <a:srgbClr val="000000"/>
                </a:solidFill>
              </a:rPr>
              <a:t>+</a:t>
            </a:r>
            <a:r>
              <a:rPr lang="en-US" b="1" dirty="0">
                <a:solidFill>
                  <a:srgbClr val="000000"/>
                </a:solidFill>
              </a:rPr>
              <a:t> + CO</a:t>
            </a:r>
            <a:r>
              <a:rPr lang="en-US" b="1" baseline="-25000" dirty="0">
                <a:solidFill>
                  <a:srgbClr val="000000"/>
                </a:solidFill>
              </a:rPr>
              <a:t>3</a:t>
            </a:r>
            <a:r>
              <a:rPr lang="en-US" b="1" baseline="30000" dirty="0">
                <a:solidFill>
                  <a:srgbClr val="000000"/>
                </a:solidFill>
              </a:rPr>
              <a:t>2-</a:t>
            </a:r>
            <a:r>
              <a:rPr lang="en-US" b="1" dirty="0">
                <a:solidFill>
                  <a:srgbClr val="000000"/>
                </a:solidFill>
              </a:rPr>
              <a:t> </a:t>
            </a:r>
            <a:r>
              <a:rPr lang="en-US" dirty="0">
                <a:solidFill>
                  <a:srgbClr val="000000"/>
                </a:solidFill>
              </a:rPr>
              <a:t>					</a:t>
            </a:r>
          </a:p>
          <a:p>
            <a:pPr marL="0" indent="0">
              <a:buNone/>
            </a:pPr>
            <a:r>
              <a:rPr lang="en-US" dirty="0">
                <a:solidFill>
                  <a:srgbClr val="000000"/>
                </a:solidFill>
              </a:rPr>
              <a:t>K</a:t>
            </a:r>
            <a:r>
              <a:rPr lang="en-US" baseline="-25000" dirty="0">
                <a:solidFill>
                  <a:srgbClr val="000000"/>
                </a:solidFill>
              </a:rPr>
              <a:t>HCO3- </a:t>
            </a:r>
            <a:r>
              <a:rPr lang="en-US" dirty="0">
                <a:solidFill>
                  <a:srgbClr val="000000"/>
                </a:solidFill>
              </a:rPr>
              <a:t>= a</a:t>
            </a:r>
            <a:r>
              <a:rPr lang="en-US" baseline="-25000" dirty="0">
                <a:solidFill>
                  <a:srgbClr val="000000"/>
                </a:solidFill>
              </a:rPr>
              <a:t>H+</a:t>
            </a:r>
            <a:r>
              <a:rPr lang="en-US" dirty="0">
                <a:solidFill>
                  <a:srgbClr val="000000"/>
                </a:solidFill>
              </a:rPr>
              <a:t>a</a:t>
            </a:r>
            <a:r>
              <a:rPr lang="en-US" baseline="-25000" dirty="0">
                <a:solidFill>
                  <a:srgbClr val="000000"/>
                </a:solidFill>
              </a:rPr>
              <a:t>CO32-     </a:t>
            </a:r>
            <a:r>
              <a:rPr lang="en-US" dirty="0">
                <a:solidFill>
                  <a:srgbClr val="000000"/>
                </a:solidFill>
              </a:rPr>
              <a:t>= 10</a:t>
            </a:r>
            <a:r>
              <a:rPr lang="en-US" baseline="30000" dirty="0">
                <a:solidFill>
                  <a:srgbClr val="000000"/>
                </a:solidFill>
              </a:rPr>
              <a:t>-10.33</a:t>
            </a:r>
            <a:endParaRPr lang="en-US" baseline="-25000" dirty="0">
              <a:solidFill>
                <a:srgbClr val="000000"/>
              </a:solidFill>
            </a:endParaRPr>
          </a:p>
          <a:p>
            <a:pPr marL="0" indent="0">
              <a:buNone/>
            </a:pPr>
            <a:r>
              <a:rPr lang="en-US" baseline="-25000" dirty="0">
                <a:solidFill>
                  <a:srgbClr val="000000"/>
                </a:solidFill>
              </a:rPr>
              <a:t> </a:t>
            </a:r>
            <a:r>
              <a:rPr lang="en-US" dirty="0">
                <a:solidFill>
                  <a:srgbClr val="000000"/>
                </a:solidFill>
              </a:rPr>
              <a:t>                a</a:t>
            </a:r>
            <a:r>
              <a:rPr lang="en-US" baseline="-25000" dirty="0">
                <a:solidFill>
                  <a:srgbClr val="000000"/>
                </a:solidFill>
              </a:rPr>
              <a:t>HCO3-</a:t>
            </a:r>
            <a:endParaRPr lang="en-US" dirty="0">
              <a:solidFill>
                <a:srgbClr val="000000"/>
              </a:solidFill>
            </a:endParaRPr>
          </a:p>
          <a:p>
            <a:pPr marL="0" indent="0">
              <a:buNone/>
            </a:pPr>
            <a:endParaRPr lang="en-US" dirty="0">
              <a:solidFill>
                <a:srgbClr val="000000"/>
              </a:solidFill>
            </a:endParaRPr>
          </a:p>
          <a:p>
            <a:pPr marL="0" indent="0">
              <a:buNone/>
            </a:pPr>
            <a:r>
              <a:rPr lang="en-US" b="1" dirty="0">
                <a:solidFill>
                  <a:srgbClr val="000000"/>
                </a:solidFill>
              </a:rPr>
              <a:t>H</a:t>
            </a:r>
            <a:r>
              <a:rPr lang="en-US" b="1" baseline="-25000" dirty="0">
                <a:solidFill>
                  <a:srgbClr val="000000"/>
                </a:solidFill>
              </a:rPr>
              <a:t>2</a:t>
            </a:r>
            <a:r>
              <a:rPr lang="en-US" b="1" dirty="0">
                <a:solidFill>
                  <a:srgbClr val="000000"/>
                </a:solidFill>
              </a:rPr>
              <a:t>O 	    = H</a:t>
            </a:r>
            <a:r>
              <a:rPr lang="en-US" b="1" baseline="30000" dirty="0">
                <a:solidFill>
                  <a:srgbClr val="000000"/>
                </a:solidFill>
              </a:rPr>
              <a:t>+</a:t>
            </a:r>
            <a:r>
              <a:rPr lang="en-US" b="1" dirty="0">
                <a:solidFill>
                  <a:srgbClr val="000000"/>
                </a:solidFill>
              </a:rPr>
              <a:t> + OH</a:t>
            </a:r>
            <a:r>
              <a:rPr lang="en-US" b="1" baseline="30000" dirty="0">
                <a:solidFill>
                  <a:srgbClr val="000000"/>
                </a:solidFill>
              </a:rPr>
              <a:t>-	</a:t>
            </a:r>
            <a:r>
              <a:rPr lang="en-US" baseline="30000" dirty="0">
                <a:solidFill>
                  <a:srgbClr val="000000"/>
                </a:solidFill>
              </a:rPr>
              <a:t>								</a:t>
            </a:r>
          </a:p>
          <a:p>
            <a:pPr marL="0" indent="0">
              <a:buNone/>
            </a:pPr>
            <a:r>
              <a:rPr lang="en-US" dirty="0">
                <a:solidFill>
                  <a:srgbClr val="000000"/>
                </a:solidFill>
              </a:rPr>
              <a:t>K</a:t>
            </a:r>
            <a:r>
              <a:rPr lang="en-US" baseline="-25000" dirty="0">
                <a:solidFill>
                  <a:srgbClr val="000000"/>
                </a:solidFill>
              </a:rPr>
              <a:t>w 	</a:t>
            </a:r>
            <a:r>
              <a:rPr lang="en-US" dirty="0">
                <a:solidFill>
                  <a:srgbClr val="000000"/>
                </a:solidFill>
              </a:rPr>
              <a:t>= </a:t>
            </a:r>
            <a:r>
              <a:rPr lang="en-US" dirty="0" err="1">
                <a:solidFill>
                  <a:srgbClr val="000000"/>
                </a:solidFill>
              </a:rPr>
              <a:t>a</a:t>
            </a:r>
            <a:r>
              <a:rPr lang="en-US" baseline="-25000" dirty="0" err="1">
                <a:solidFill>
                  <a:srgbClr val="000000"/>
                </a:solidFill>
              </a:rPr>
              <a:t>H+</a:t>
            </a:r>
            <a:r>
              <a:rPr lang="en-US" dirty="0" err="1">
                <a:solidFill>
                  <a:srgbClr val="000000"/>
                </a:solidFill>
              </a:rPr>
              <a:t>a</a:t>
            </a:r>
            <a:r>
              <a:rPr lang="en-US" baseline="-25000" dirty="0" err="1">
                <a:solidFill>
                  <a:srgbClr val="000000"/>
                </a:solidFill>
              </a:rPr>
              <a:t>OH</a:t>
            </a:r>
            <a:r>
              <a:rPr lang="en-US" baseline="-25000" dirty="0">
                <a:solidFill>
                  <a:srgbClr val="000000"/>
                </a:solidFill>
              </a:rPr>
              <a:t>-     </a:t>
            </a:r>
            <a:r>
              <a:rPr lang="en-US" dirty="0">
                <a:solidFill>
                  <a:srgbClr val="000000"/>
                </a:solidFill>
              </a:rPr>
              <a:t>= 10</a:t>
            </a:r>
            <a:r>
              <a:rPr lang="en-US" baseline="30000" dirty="0">
                <a:solidFill>
                  <a:srgbClr val="000000"/>
                </a:solidFill>
              </a:rPr>
              <a:t>-14</a:t>
            </a:r>
            <a:endParaRPr lang="en-US" baseline="-25000" dirty="0">
              <a:solidFill>
                <a:srgbClr val="000000"/>
              </a:solidFill>
            </a:endParaRPr>
          </a:p>
          <a:p>
            <a:pPr marL="0" indent="0">
              <a:buNone/>
            </a:pPr>
            <a:r>
              <a:rPr lang="en-US" baseline="-25000" dirty="0">
                <a:solidFill>
                  <a:srgbClr val="000000"/>
                </a:solidFill>
              </a:rPr>
              <a:t> </a:t>
            </a:r>
            <a:r>
              <a:rPr lang="en-US" dirty="0">
                <a:solidFill>
                  <a:srgbClr val="000000"/>
                </a:solidFill>
              </a:rPr>
              <a:t>                 a</a:t>
            </a:r>
            <a:r>
              <a:rPr lang="en-US" baseline="-25000" dirty="0">
                <a:solidFill>
                  <a:srgbClr val="000000"/>
                </a:solidFill>
              </a:rPr>
              <a:t>H2O</a:t>
            </a:r>
            <a:endParaRPr lang="en-US" dirty="0">
              <a:solidFill>
                <a:srgbClr val="000000"/>
              </a:solidFill>
            </a:endParaRPr>
          </a:p>
          <a:p>
            <a:pPr marL="0" indent="0">
              <a:buNone/>
            </a:pPr>
            <a:endParaRPr lang="en-US" dirty="0">
              <a:solidFill>
                <a:srgbClr val="000000"/>
              </a:solidFill>
            </a:endParaRPr>
          </a:p>
        </p:txBody>
      </p:sp>
      <p:cxnSp>
        <p:nvCxnSpPr>
          <p:cNvPr id="4" name="Straight Connector 3"/>
          <p:cNvCxnSpPr/>
          <p:nvPr/>
        </p:nvCxnSpPr>
        <p:spPr>
          <a:xfrm>
            <a:off x="1438164" y="2633778"/>
            <a:ext cx="106953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p:nvCxnSpPr>
        <p:spPr>
          <a:xfrm>
            <a:off x="1323864" y="4057992"/>
            <a:ext cx="106953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1438164" y="5685406"/>
            <a:ext cx="106953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635043" y="1899754"/>
            <a:ext cx="4272697" cy="3323987"/>
          </a:xfrm>
          <a:prstGeom prst="rect">
            <a:avLst/>
          </a:prstGeom>
          <a:ln>
            <a:solidFill>
              <a:schemeClr val="tx1"/>
            </a:solidFill>
          </a:ln>
        </p:spPr>
        <p:txBody>
          <a:bodyPr wrap="square">
            <a:spAutoFit/>
          </a:bodyPr>
          <a:lstStyle/>
          <a:p>
            <a:r>
              <a:rPr lang="en-US" sz="3000" b="1" u="sng" dirty="0" err="1">
                <a:solidFill>
                  <a:srgbClr val="FF0000"/>
                </a:solidFill>
                <a:latin typeface="Arial" panose="020B0604020202020204" pitchFamily="34" charset="0"/>
                <a:cs typeface="Arial" panose="020B0604020202020204" pitchFamily="34" charset="0"/>
              </a:rPr>
              <a:t>Polyprotic</a:t>
            </a:r>
            <a:r>
              <a:rPr lang="en-US" sz="3000" b="1" u="sng" dirty="0">
                <a:solidFill>
                  <a:srgbClr val="FF0000"/>
                </a:solidFill>
                <a:latin typeface="Arial" panose="020B0604020202020204" pitchFamily="34" charset="0"/>
                <a:cs typeface="Arial" panose="020B0604020202020204" pitchFamily="34" charset="0"/>
              </a:rPr>
              <a:t> acids</a:t>
            </a:r>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Contain more than one H in their formula dissociate in a step-wise manner, with a different dissociation constant for each step </a:t>
            </a:r>
          </a:p>
        </p:txBody>
      </p:sp>
    </p:spTree>
    <p:extLst>
      <p:ext uri="{BB962C8B-B14F-4D97-AF65-F5344CB8AC3E}">
        <p14:creationId xmlns:p14="http://schemas.microsoft.com/office/powerpoint/2010/main" val="1412473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5D3EC-A403-E8BE-3501-C036BEF8D4C5}"/>
              </a:ext>
            </a:extLst>
          </p:cNvPr>
          <p:cNvSpPr>
            <a:spLocks noGrp="1"/>
          </p:cNvSpPr>
          <p:nvPr>
            <p:ph type="title"/>
          </p:nvPr>
        </p:nvSpPr>
        <p:spPr/>
        <p:txBody>
          <a:bodyPr/>
          <a:lstStyle/>
          <a:p>
            <a:r>
              <a:rPr lang="en-US" dirty="0"/>
              <a:t>Dissociation of water and pH</a:t>
            </a:r>
          </a:p>
        </p:txBody>
      </p:sp>
      <p:pic>
        <p:nvPicPr>
          <p:cNvPr id="9" name="Picture 8" descr="A screenshot of a black background with white text&#10;&#10;Description automatically generated">
            <a:extLst>
              <a:ext uri="{FF2B5EF4-FFF2-40B4-BE49-F238E27FC236}">
                <a16:creationId xmlns:a16="http://schemas.microsoft.com/office/drawing/2014/main" id="{62AC227E-6805-0D56-C6D3-063405C3FF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598" y="1417638"/>
            <a:ext cx="8830804" cy="4760740"/>
          </a:xfrm>
          <a:prstGeom prst="rect">
            <a:avLst/>
          </a:prstGeom>
        </p:spPr>
      </p:pic>
    </p:spTree>
    <p:extLst>
      <p:ext uri="{BB962C8B-B14F-4D97-AF65-F5344CB8AC3E}">
        <p14:creationId xmlns:p14="http://schemas.microsoft.com/office/powerpoint/2010/main" val="3939628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table with numbers and symbols&#10;&#10;Description automatically generated">
            <a:extLst>
              <a:ext uri="{FF2B5EF4-FFF2-40B4-BE49-F238E27FC236}">
                <a16:creationId xmlns:a16="http://schemas.microsoft.com/office/drawing/2014/main" id="{71606040-A898-3D98-F99F-758A60733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045" y="765088"/>
            <a:ext cx="8677894" cy="5327823"/>
          </a:xfrm>
          <a:prstGeom prst="rect">
            <a:avLst/>
          </a:prstGeom>
        </p:spPr>
      </p:pic>
    </p:spTree>
    <p:extLst>
      <p:ext uri="{BB962C8B-B14F-4D97-AF65-F5344CB8AC3E}">
        <p14:creationId xmlns:p14="http://schemas.microsoft.com/office/powerpoint/2010/main" val="3599912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E6171-95DD-6BFC-B961-C4C2599D5F81}"/>
              </a:ext>
            </a:extLst>
          </p:cNvPr>
          <p:cNvSpPr>
            <a:spLocks noGrp="1"/>
          </p:cNvSpPr>
          <p:nvPr>
            <p:ph type="title"/>
          </p:nvPr>
        </p:nvSpPr>
        <p:spPr/>
        <p:txBody>
          <a:bodyPr>
            <a:normAutofit/>
          </a:bodyPr>
          <a:lstStyle/>
          <a:p>
            <a:r>
              <a:rPr lang="en-US" sz="4000" dirty="0"/>
              <a:t>Common acids in nature</a:t>
            </a:r>
          </a:p>
        </p:txBody>
      </p:sp>
      <p:sp>
        <p:nvSpPr>
          <p:cNvPr id="3" name="Content Placeholder 2">
            <a:extLst>
              <a:ext uri="{FF2B5EF4-FFF2-40B4-BE49-F238E27FC236}">
                <a16:creationId xmlns:a16="http://schemas.microsoft.com/office/drawing/2014/main" id="{FA0E0DB3-9E44-716D-0DAB-98914030898E}"/>
              </a:ext>
            </a:extLst>
          </p:cNvPr>
          <p:cNvSpPr>
            <a:spLocks noGrp="1"/>
          </p:cNvSpPr>
          <p:nvPr>
            <p:ph idx="1"/>
          </p:nvPr>
        </p:nvSpPr>
        <p:spPr/>
        <p:txBody>
          <a:bodyPr>
            <a:normAutofit lnSpcReduction="10000"/>
          </a:bodyPr>
          <a:lstStyle/>
          <a:p>
            <a:r>
              <a:rPr lang="en-US" dirty="0"/>
              <a:t>Strong acids: </a:t>
            </a:r>
          </a:p>
          <a:p>
            <a:pPr lvl="1" indent="-342900"/>
            <a:r>
              <a:rPr lang="en-US" dirty="0"/>
              <a:t>HCl</a:t>
            </a:r>
          </a:p>
          <a:p>
            <a:pPr lvl="1" indent="-342900"/>
            <a:r>
              <a:rPr lang="en-US" dirty="0"/>
              <a:t>HNO</a:t>
            </a:r>
            <a:r>
              <a:rPr lang="en-US" baseline="-25000" dirty="0"/>
              <a:t>3</a:t>
            </a:r>
            <a:r>
              <a:rPr lang="en-US" dirty="0"/>
              <a:t>: acid rain due to the oxidation on NOx by combustion</a:t>
            </a:r>
            <a:endParaRPr lang="en-US" baseline="-25000" dirty="0"/>
          </a:p>
          <a:p>
            <a:pPr lvl="1" indent="-342900"/>
            <a:r>
              <a:rPr lang="en-US" dirty="0"/>
              <a:t>H</a:t>
            </a:r>
            <a:r>
              <a:rPr lang="en-US" baseline="-25000" dirty="0"/>
              <a:t>2</a:t>
            </a:r>
            <a:r>
              <a:rPr lang="en-US" dirty="0"/>
              <a:t>SO</a:t>
            </a:r>
            <a:r>
              <a:rPr lang="en-US" baseline="-25000" dirty="0"/>
              <a:t>4</a:t>
            </a:r>
            <a:r>
              <a:rPr lang="en-US" dirty="0"/>
              <a:t>: acid rain, combustion of fossil fuel, release of SO</a:t>
            </a:r>
            <a:r>
              <a:rPr lang="en-US" baseline="-25000" dirty="0"/>
              <a:t>2</a:t>
            </a:r>
          </a:p>
          <a:p>
            <a:r>
              <a:rPr lang="en-US" dirty="0"/>
              <a:t>Weak acids: </a:t>
            </a:r>
          </a:p>
          <a:p>
            <a:pPr lvl="1"/>
            <a:r>
              <a:rPr lang="en-US" dirty="0"/>
              <a:t>H</a:t>
            </a:r>
            <a:r>
              <a:rPr lang="en-US" baseline="-25000" dirty="0"/>
              <a:t>2</a:t>
            </a:r>
            <a:r>
              <a:rPr lang="en-US" dirty="0"/>
              <a:t>CO</a:t>
            </a:r>
            <a:r>
              <a:rPr lang="en-US" baseline="-25000" dirty="0"/>
              <a:t>3</a:t>
            </a:r>
            <a:r>
              <a:rPr lang="en-US" dirty="0"/>
              <a:t>: Atmosphere due to the presence of CO2 and water</a:t>
            </a:r>
            <a:endParaRPr lang="en-US" baseline="-25000" dirty="0"/>
          </a:p>
          <a:p>
            <a:pPr lvl="1"/>
            <a:r>
              <a:rPr lang="en-US" dirty="0"/>
              <a:t>H</a:t>
            </a:r>
            <a:r>
              <a:rPr lang="en-US" baseline="-25000" dirty="0"/>
              <a:t>4</a:t>
            </a:r>
            <a:r>
              <a:rPr lang="en-US" dirty="0"/>
              <a:t>SiO</a:t>
            </a:r>
            <a:r>
              <a:rPr lang="en-US" baseline="-25000" dirty="0"/>
              <a:t>4</a:t>
            </a:r>
            <a:r>
              <a:rPr lang="en-US" dirty="0"/>
              <a:t>: dissolution of silicates by water </a:t>
            </a:r>
            <a:r>
              <a:rPr lang="en-US" dirty="0" err="1"/>
              <a:t>vapour</a:t>
            </a:r>
            <a:endParaRPr lang="en-US" baseline="-25000" dirty="0"/>
          </a:p>
          <a:p>
            <a:pPr lvl="1"/>
            <a:r>
              <a:rPr lang="en-US" dirty="0"/>
              <a:t>CHCOOH (acetic acid): Landfill leachates and sewage</a:t>
            </a:r>
          </a:p>
          <a:p>
            <a:pPr lvl="1"/>
            <a:r>
              <a:rPr lang="en-US" dirty="0"/>
              <a:t>HCOOH (formic acid): due to leak of hydrocarbons mainly in ground waters</a:t>
            </a:r>
          </a:p>
        </p:txBody>
      </p:sp>
    </p:spTree>
    <p:extLst>
      <p:ext uri="{BB962C8B-B14F-4D97-AF65-F5344CB8AC3E}">
        <p14:creationId xmlns:p14="http://schemas.microsoft.com/office/powerpoint/2010/main" val="1306113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A5C70-4894-2B3A-EC9D-80F57DDBA1BE}"/>
              </a:ext>
            </a:extLst>
          </p:cNvPr>
          <p:cNvSpPr>
            <a:spLocks noGrp="1"/>
          </p:cNvSpPr>
          <p:nvPr>
            <p:ph type="title"/>
          </p:nvPr>
        </p:nvSpPr>
        <p:spPr/>
        <p:txBody>
          <a:bodyPr/>
          <a:lstStyle/>
          <a:p>
            <a:r>
              <a:rPr lang="en-US" dirty="0"/>
              <a:t>Henry’s Law of Gases</a:t>
            </a:r>
          </a:p>
        </p:txBody>
      </p:sp>
      <p:pic>
        <p:nvPicPr>
          <p:cNvPr id="4" name="Picture 3">
            <a:extLst>
              <a:ext uri="{FF2B5EF4-FFF2-40B4-BE49-F238E27FC236}">
                <a16:creationId xmlns:a16="http://schemas.microsoft.com/office/drawing/2014/main" id="{B0861C0D-AACA-631D-53A1-EDA8BEC4A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950" y="1788534"/>
            <a:ext cx="7520294" cy="3856892"/>
          </a:xfrm>
          <a:prstGeom prst="rect">
            <a:avLst/>
          </a:prstGeom>
        </p:spPr>
      </p:pic>
      <p:sp>
        <p:nvSpPr>
          <p:cNvPr id="5" name="TextBox 4">
            <a:extLst>
              <a:ext uri="{FF2B5EF4-FFF2-40B4-BE49-F238E27FC236}">
                <a16:creationId xmlns:a16="http://schemas.microsoft.com/office/drawing/2014/main" id="{E8AF8B28-41B4-4382-0C02-A4DCA4134AB2}"/>
              </a:ext>
            </a:extLst>
          </p:cNvPr>
          <p:cNvSpPr txBox="1"/>
          <p:nvPr/>
        </p:nvSpPr>
        <p:spPr>
          <a:xfrm>
            <a:off x="3710920" y="6049191"/>
            <a:ext cx="1435008" cy="461665"/>
          </a:xfrm>
          <a:prstGeom prst="rect">
            <a:avLst/>
          </a:prstGeom>
          <a:noFill/>
        </p:spPr>
        <p:txBody>
          <a:bodyPr wrap="none" rtlCol="0">
            <a:spAutoFit/>
          </a:bodyPr>
          <a:lstStyle/>
          <a:p>
            <a:r>
              <a:rPr lang="en-US" sz="2400" dirty="0"/>
              <a:t>C</a:t>
            </a:r>
            <a:r>
              <a:rPr lang="en-US" sz="2400" baseline="-25000" dirty="0"/>
              <a:t>i</a:t>
            </a:r>
            <a:r>
              <a:rPr lang="en-US" sz="2400" dirty="0"/>
              <a:t> = K*P</a:t>
            </a:r>
            <a:r>
              <a:rPr lang="en-US" sz="2400" baseline="-25000" dirty="0"/>
              <a:t>i</a:t>
            </a:r>
          </a:p>
        </p:txBody>
      </p:sp>
    </p:spTree>
    <p:extLst>
      <p:ext uri="{BB962C8B-B14F-4D97-AF65-F5344CB8AC3E}">
        <p14:creationId xmlns:p14="http://schemas.microsoft.com/office/powerpoint/2010/main" val="319276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49D9F-6193-23B2-1480-E1832CFB6E06}"/>
              </a:ext>
            </a:extLst>
          </p:cNvPr>
          <p:cNvSpPr>
            <a:spLocks noGrp="1"/>
          </p:cNvSpPr>
          <p:nvPr>
            <p:ph type="title"/>
          </p:nvPr>
        </p:nvSpPr>
        <p:spPr/>
        <p:txBody>
          <a:bodyPr/>
          <a:lstStyle/>
          <a:p>
            <a:r>
              <a:rPr lang="en-US" dirty="0"/>
              <a:t>Carbonic acid I</a:t>
            </a:r>
          </a:p>
        </p:txBody>
      </p:sp>
      <p:pic>
        <p:nvPicPr>
          <p:cNvPr id="5" name="Content Placeholder 4" descr="A black background with white text&#10;&#10;Description automatically generated">
            <a:extLst>
              <a:ext uri="{FF2B5EF4-FFF2-40B4-BE49-F238E27FC236}">
                <a16:creationId xmlns:a16="http://schemas.microsoft.com/office/drawing/2014/main" id="{4543207A-8D12-2E4D-72E4-D72DB6D88A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939" y="1417638"/>
            <a:ext cx="9085704" cy="5128054"/>
          </a:xfrm>
        </p:spPr>
      </p:pic>
    </p:spTree>
    <p:extLst>
      <p:ext uri="{BB962C8B-B14F-4D97-AF65-F5344CB8AC3E}">
        <p14:creationId xmlns:p14="http://schemas.microsoft.com/office/powerpoint/2010/main" val="3898204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ABD1-20C7-66AF-4CEE-5777AB465F3C}"/>
              </a:ext>
            </a:extLst>
          </p:cNvPr>
          <p:cNvSpPr>
            <a:spLocks noGrp="1"/>
          </p:cNvSpPr>
          <p:nvPr>
            <p:ph type="title"/>
          </p:nvPr>
        </p:nvSpPr>
        <p:spPr/>
        <p:txBody>
          <a:bodyPr/>
          <a:lstStyle/>
          <a:p>
            <a:endParaRPr lang="en-US"/>
          </a:p>
        </p:txBody>
      </p:sp>
      <p:pic>
        <p:nvPicPr>
          <p:cNvPr id="5" name="Content Placeholder 4" descr="A table with numbers and letters&#10;&#10;Description automatically generated">
            <a:extLst>
              <a:ext uri="{FF2B5EF4-FFF2-40B4-BE49-F238E27FC236}">
                <a16:creationId xmlns:a16="http://schemas.microsoft.com/office/drawing/2014/main" id="{D0DA7D55-BC67-E9E0-B838-0A907164F2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0956" y="1560994"/>
            <a:ext cx="7609356" cy="4786797"/>
          </a:xfrm>
        </p:spPr>
      </p:pic>
    </p:spTree>
    <p:extLst>
      <p:ext uri="{BB962C8B-B14F-4D97-AF65-F5344CB8AC3E}">
        <p14:creationId xmlns:p14="http://schemas.microsoft.com/office/powerpoint/2010/main" val="118200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49D9F-6193-23B2-1480-E1832CFB6E06}"/>
              </a:ext>
            </a:extLst>
          </p:cNvPr>
          <p:cNvSpPr>
            <a:spLocks noGrp="1"/>
          </p:cNvSpPr>
          <p:nvPr>
            <p:ph type="title"/>
          </p:nvPr>
        </p:nvSpPr>
        <p:spPr/>
        <p:txBody>
          <a:bodyPr/>
          <a:lstStyle/>
          <a:p>
            <a:r>
              <a:rPr lang="en-US" dirty="0"/>
              <a:t>Carbonic acid II</a:t>
            </a:r>
          </a:p>
        </p:txBody>
      </p:sp>
      <p:pic>
        <p:nvPicPr>
          <p:cNvPr id="7" name="Content Placeholder 6" descr="A black background with white text&#10;&#10;Description automatically generated">
            <a:extLst>
              <a:ext uri="{FF2B5EF4-FFF2-40B4-BE49-F238E27FC236}">
                <a16:creationId xmlns:a16="http://schemas.microsoft.com/office/drawing/2014/main" id="{ED227C5A-2B9A-6304-BB7A-06B107A876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4590" y="1211508"/>
            <a:ext cx="8232210" cy="3423554"/>
          </a:xfrm>
        </p:spPr>
      </p:pic>
      <p:pic>
        <p:nvPicPr>
          <p:cNvPr id="9" name="Picture 8" descr="A black background with white text&#10;&#10;Description automatically generated">
            <a:extLst>
              <a:ext uri="{FF2B5EF4-FFF2-40B4-BE49-F238E27FC236}">
                <a16:creationId xmlns:a16="http://schemas.microsoft.com/office/drawing/2014/main" id="{C39FB740-2FF3-5470-9134-4A7EEB3EBD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358" y="4657395"/>
            <a:ext cx="7399283" cy="2200605"/>
          </a:xfrm>
          <a:prstGeom prst="rect">
            <a:avLst/>
          </a:prstGeom>
        </p:spPr>
      </p:pic>
    </p:spTree>
    <p:extLst>
      <p:ext uri="{BB962C8B-B14F-4D97-AF65-F5344CB8AC3E}">
        <p14:creationId xmlns:p14="http://schemas.microsoft.com/office/powerpoint/2010/main" val="2624836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Z:\BLACKWELL\Power-point\Misra\Figures-images\Ch07\c07f006.jp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9100" y="1572219"/>
            <a:ext cx="5838206" cy="4795774"/>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3" descr="Z:\BLACKWELL\Power-point\Misra\Captions\Ch07\c07f006.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821840" y="5841993"/>
            <a:ext cx="4182460" cy="1016007"/>
          </a:xfrm>
          <a:prstGeom prst="rect">
            <a:avLst/>
          </a:prstGeom>
          <a:noFill/>
          <a:extLst>
            <a:ext uri="{909E8E84-426E-40dd-AFC4-6F175D3DCCD1}">
              <a14:hiddenFill xmlns="" xmlns:a14="http://schemas.microsoft.com/office/drawing/2010/main">
                <a:solidFill>
                  <a:srgbClr val="FFFFFF"/>
                </a:solidFill>
              </a14:hiddenFill>
            </a:ext>
          </a:extLst>
        </p:spPr>
      </p:pic>
      <p:sp>
        <p:nvSpPr>
          <p:cNvPr id="8" name="Rectangle 7"/>
          <p:cNvSpPr/>
          <p:nvPr/>
        </p:nvSpPr>
        <p:spPr>
          <a:xfrm>
            <a:off x="0" y="210207"/>
            <a:ext cx="9144000" cy="954107"/>
          </a:xfrm>
          <a:prstGeom prst="rect">
            <a:avLst/>
          </a:prstGeom>
        </p:spPr>
        <p:txBody>
          <a:bodyPr wrap="square">
            <a:spAutoFit/>
          </a:bodyPr>
          <a:lstStyle/>
          <a:p>
            <a:pPr algn="ctr"/>
            <a:r>
              <a:rPr lang="en-US" sz="2800" b="1" dirty="0">
                <a:latin typeface="Arial" panose="020B0604020202020204" pitchFamily="34" charset="0"/>
                <a:cs typeface="Arial" panose="020B0604020202020204" pitchFamily="34" charset="0"/>
              </a:rPr>
              <a:t>What is the major species in the CO</a:t>
            </a:r>
            <a:r>
              <a:rPr lang="en-US" sz="2800" b="1" baseline="-25000" dirty="0">
                <a:latin typeface="Arial" panose="020B0604020202020204" pitchFamily="34" charset="0"/>
                <a:cs typeface="Arial" panose="020B0604020202020204" pitchFamily="34" charset="0"/>
              </a:rPr>
              <a:t>2</a:t>
            </a:r>
            <a:r>
              <a:rPr lang="en-US" sz="2800" b="1" dirty="0">
                <a:latin typeface="Arial" panose="020B0604020202020204" pitchFamily="34" charset="0"/>
                <a:cs typeface="Arial" panose="020B0604020202020204" pitchFamily="34" charset="0"/>
              </a:rPr>
              <a:t>-H</a:t>
            </a:r>
            <a:r>
              <a:rPr lang="en-US" sz="2800" b="1" baseline="-25000" dirty="0">
                <a:latin typeface="Arial" panose="020B0604020202020204" pitchFamily="34" charset="0"/>
                <a:cs typeface="Arial" panose="020B0604020202020204" pitchFamily="34" charset="0"/>
              </a:rPr>
              <a:t>2</a:t>
            </a:r>
            <a:r>
              <a:rPr lang="en-US" sz="2800" b="1" dirty="0">
                <a:latin typeface="Arial" panose="020B0604020202020204" pitchFamily="34" charset="0"/>
                <a:cs typeface="Arial" panose="020B0604020202020204" pitchFamily="34" charset="0"/>
              </a:rPr>
              <a:t>O system at pH 4.2? 8? pH 2 ? pH 12?</a:t>
            </a:r>
          </a:p>
        </p:txBody>
      </p:sp>
      <p:sp>
        <p:nvSpPr>
          <p:cNvPr id="2" name="Rectangle 1"/>
          <p:cNvSpPr/>
          <p:nvPr/>
        </p:nvSpPr>
        <p:spPr>
          <a:xfrm>
            <a:off x="1651000" y="1981200"/>
            <a:ext cx="838200" cy="4445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H</a:t>
            </a:r>
            <a:r>
              <a:rPr lang="en-US" sz="1800" baseline="-25000" dirty="0">
                <a:solidFill>
                  <a:schemeClr val="tx1"/>
                </a:solidFill>
              </a:rPr>
              <a:t>2</a:t>
            </a:r>
            <a:r>
              <a:rPr lang="en-US" sz="1800" dirty="0">
                <a:solidFill>
                  <a:schemeClr val="tx1"/>
                </a:solidFill>
              </a:rPr>
              <a:t>CO</a:t>
            </a:r>
            <a:r>
              <a:rPr lang="en-US" sz="1800" baseline="-25000" dirty="0">
                <a:solidFill>
                  <a:schemeClr val="tx1"/>
                </a:solidFill>
              </a:rPr>
              <a:t>3</a:t>
            </a:r>
          </a:p>
        </p:txBody>
      </p:sp>
      <p:sp>
        <p:nvSpPr>
          <p:cNvPr id="7" name="Rectangle 6"/>
          <p:cNvSpPr/>
          <p:nvPr/>
        </p:nvSpPr>
        <p:spPr>
          <a:xfrm>
            <a:off x="3733800" y="2006600"/>
            <a:ext cx="838200" cy="4445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900153" y="1993900"/>
            <a:ext cx="838200" cy="4445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CO</a:t>
            </a:r>
            <a:r>
              <a:rPr lang="en-US" sz="1800" baseline="-25000" dirty="0">
                <a:solidFill>
                  <a:schemeClr val="tx1"/>
                </a:solidFill>
              </a:rPr>
              <a:t>3</a:t>
            </a:r>
            <a:r>
              <a:rPr lang="en-US" sz="1800" baseline="30000" dirty="0">
                <a:solidFill>
                  <a:schemeClr val="tx1"/>
                </a:solidFill>
              </a:rPr>
              <a:t>2-</a:t>
            </a:r>
          </a:p>
        </p:txBody>
      </p:sp>
      <p:sp>
        <p:nvSpPr>
          <p:cNvPr id="3" name="Rectangle 2">
            <a:extLst>
              <a:ext uri="{FF2B5EF4-FFF2-40B4-BE49-F238E27FC236}">
                <a16:creationId xmlns:a16="http://schemas.microsoft.com/office/drawing/2014/main" id="{98B0D648-208F-2857-B39C-5ED7639C16E7}"/>
              </a:ext>
            </a:extLst>
          </p:cNvPr>
          <p:cNvSpPr/>
          <p:nvPr/>
        </p:nvSpPr>
        <p:spPr>
          <a:xfrm>
            <a:off x="3721539" y="2006600"/>
            <a:ext cx="838200" cy="4445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HCO3</a:t>
            </a:r>
            <a:r>
              <a:rPr lang="en-US" sz="1800" baseline="30000" dirty="0">
                <a:solidFill>
                  <a:schemeClr val="tx1"/>
                </a:solidFill>
              </a:rPr>
              <a:t>-</a:t>
            </a:r>
          </a:p>
        </p:txBody>
      </p:sp>
    </p:spTree>
    <p:extLst>
      <p:ext uri="{BB962C8B-B14F-4D97-AF65-F5344CB8AC3E}">
        <p14:creationId xmlns:p14="http://schemas.microsoft.com/office/powerpoint/2010/main" val="1931134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0000"/>
                </a:solidFill>
              </a:rPr>
              <a:t>Converting ppm of gas to bars </a:t>
            </a:r>
            <a:br>
              <a:rPr lang="en-US" dirty="0">
                <a:solidFill>
                  <a:srgbClr val="000000"/>
                </a:solidFill>
              </a:rPr>
            </a:br>
            <a:endParaRPr lang="en-US" dirty="0">
              <a:solidFill>
                <a:srgbClr val="000000"/>
              </a:solidFill>
            </a:endParaRPr>
          </a:p>
        </p:txBody>
      </p:sp>
      <p:sp>
        <p:nvSpPr>
          <p:cNvPr id="3" name="Content Placeholder 2"/>
          <p:cNvSpPr>
            <a:spLocks noGrp="1"/>
          </p:cNvSpPr>
          <p:nvPr>
            <p:ph idx="1"/>
          </p:nvPr>
        </p:nvSpPr>
        <p:spPr>
          <a:xfrm>
            <a:off x="457200" y="1186689"/>
            <a:ext cx="8229600" cy="4883056"/>
          </a:xfrm>
        </p:spPr>
        <p:txBody>
          <a:bodyPr>
            <a:normAutofit lnSpcReduction="10000"/>
          </a:bodyPr>
          <a:lstStyle/>
          <a:p>
            <a:pPr marL="0" indent="0">
              <a:buNone/>
            </a:pPr>
            <a:r>
              <a:rPr lang="en-US" b="1" dirty="0">
                <a:solidFill>
                  <a:srgbClr val="000000"/>
                </a:solidFill>
              </a:rPr>
              <a:t>ppm gas = parts per million of gas of interest </a:t>
            </a:r>
          </a:p>
          <a:p>
            <a:pPr marL="0" indent="0">
              <a:buNone/>
            </a:pPr>
            <a:r>
              <a:rPr lang="en-US" b="1" dirty="0">
                <a:solidFill>
                  <a:srgbClr val="000000"/>
                </a:solidFill>
              </a:rPr>
              <a:t>= mole fraction * 1,000,000</a:t>
            </a:r>
          </a:p>
          <a:p>
            <a:pPr marL="0" indent="0">
              <a:buNone/>
            </a:pPr>
            <a:r>
              <a:rPr lang="en-US" dirty="0">
                <a:solidFill>
                  <a:srgbClr val="000000"/>
                </a:solidFill>
              </a:rPr>
              <a:t>So, to get mole fraction (</a:t>
            </a:r>
            <a:r>
              <a:rPr lang="en-US" dirty="0" err="1">
                <a:solidFill>
                  <a:srgbClr val="000000"/>
                </a:solidFill>
              </a:rPr>
              <a:t>X</a:t>
            </a:r>
            <a:r>
              <a:rPr lang="en-US" baseline="-25000" dirty="0" err="1">
                <a:solidFill>
                  <a:srgbClr val="000000"/>
                </a:solidFill>
              </a:rPr>
              <a:t>gas</a:t>
            </a:r>
            <a:r>
              <a:rPr lang="en-US" dirty="0">
                <a:solidFill>
                  <a:srgbClr val="000000"/>
                </a:solidFill>
              </a:rPr>
              <a:t>), </a:t>
            </a:r>
          </a:p>
          <a:p>
            <a:pPr marL="0" indent="0">
              <a:buNone/>
            </a:pPr>
            <a:r>
              <a:rPr lang="en-US" dirty="0">
                <a:solidFill>
                  <a:srgbClr val="000000"/>
                </a:solidFill>
              </a:rPr>
              <a:t>divide ppm of gas by 1,000,000</a:t>
            </a:r>
          </a:p>
          <a:p>
            <a:pPr marL="0" indent="0">
              <a:buNone/>
            </a:pPr>
            <a:endParaRPr lang="en-US" dirty="0">
              <a:solidFill>
                <a:srgbClr val="000000"/>
              </a:solidFill>
            </a:endParaRPr>
          </a:p>
          <a:p>
            <a:pPr marL="0" indent="0">
              <a:buNone/>
            </a:pPr>
            <a:r>
              <a:rPr lang="en-US" dirty="0">
                <a:solidFill>
                  <a:srgbClr val="000000"/>
                </a:solidFill>
              </a:rPr>
              <a:t>Then, multiply partial pressure of atmosphere in bars by mole fraction to get partial pressure of gas of interest in bars:</a:t>
            </a:r>
          </a:p>
          <a:p>
            <a:pPr marL="0" indent="0">
              <a:buNone/>
            </a:pPr>
            <a:r>
              <a:rPr lang="en-US" dirty="0" err="1">
                <a:solidFill>
                  <a:srgbClr val="000000"/>
                </a:solidFill>
              </a:rPr>
              <a:t>P</a:t>
            </a:r>
            <a:r>
              <a:rPr lang="en-US" baseline="-25000" dirty="0" err="1">
                <a:solidFill>
                  <a:srgbClr val="000000"/>
                </a:solidFill>
              </a:rPr>
              <a:t>gas</a:t>
            </a:r>
            <a:r>
              <a:rPr lang="en-US" dirty="0">
                <a:solidFill>
                  <a:srgbClr val="000000"/>
                </a:solidFill>
              </a:rPr>
              <a:t> = </a:t>
            </a:r>
            <a:r>
              <a:rPr lang="en-US" dirty="0" err="1">
                <a:solidFill>
                  <a:srgbClr val="000000"/>
                </a:solidFill>
              </a:rPr>
              <a:t>P</a:t>
            </a:r>
            <a:r>
              <a:rPr lang="en-US" baseline="-25000" dirty="0" err="1">
                <a:solidFill>
                  <a:srgbClr val="000000"/>
                </a:solidFill>
              </a:rPr>
              <a:t>atmosphere</a:t>
            </a:r>
            <a:r>
              <a:rPr lang="en-US" dirty="0">
                <a:solidFill>
                  <a:srgbClr val="000000"/>
                </a:solidFill>
              </a:rPr>
              <a:t>*</a:t>
            </a:r>
            <a:r>
              <a:rPr lang="en-US" dirty="0" err="1">
                <a:solidFill>
                  <a:srgbClr val="000000"/>
                </a:solidFill>
              </a:rPr>
              <a:t>X</a:t>
            </a:r>
            <a:r>
              <a:rPr lang="en-US" baseline="-25000" dirty="0" err="1">
                <a:solidFill>
                  <a:srgbClr val="000000"/>
                </a:solidFill>
              </a:rPr>
              <a:t>gas</a:t>
            </a:r>
            <a:r>
              <a:rPr lang="en-US" baseline="-25000" dirty="0">
                <a:solidFill>
                  <a:srgbClr val="000000"/>
                </a:solidFill>
              </a:rPr>
              <a:t> </a:t>
            </a:r>
            <a:r>
              <a:rPr lang="en-US" dirty="0">
                <a:solidFill>
                  <a:srgbClr val="000000"/>
                </a:solidFill>
              </a:rPr>
              <a:t> </a:t>
            </a:r>
            <a:r>
              <a:rPr lang="en-US" baseline="-25000" dirty="0">
                <a:solidFill>
                  <a:srgbClr val="000000"/>
                </a:solidFill>
              </a:rPr>
              <a:t> </a:t>
            </a:r>
          </a:p>
          <a:p>
            <a:pPr marL="0" indent="0">
              <a:buNone/>
            </a:pPr>
            <a:r>
              <a:rPr lang="en-US" dirty="0">
                <a:solidFill>
                  <a:srgbClr val="000000"/>
                </a:solidFill>
              </a:rPr>
              <a:t>where</a:t>
            </a:r>
            <a:r>
              <a:rPr lang="en-US" baseline="-25000" dirty="0">
                <a:solidFill>
                  <a:srgbClr val="000000"/>
                </a:solidFill>
              </a:rPr>
              <a:t> </a:t>
            </a:r>
            <a:r>
              <a:rPr lang="en-US" dirty="0" err="1">
                <a:solidFill>
                  <a:srgbClr val="000000"/>
                </a:solidFill>
              </a:rPr>
              <a:t>P</a:t>
            </a:r>
            <a:r>
              <a:rPr lang="en-US" baseline="-25000" dirty="0" err="1">
                <a:solidFill>
                  <a:srgbClr val="000000"/>
                </a:solidFill>
              </a:rPr>
              <a:t>atmosphere</a:t>
            </a:r>
            <a:r>
              <a:rPr lang="en-US" baseline="-25000" dirty="0">
                <a:solidFill>
                  <a:srgbClr val="000000"/>
                </a:solidFill>
              </a:rPr>
              <a:t> </a:t>
            </a:r>
            <a:r>
              <a:rPr lang="en-US" dirty="0">
                <a:solidFill>
                  <a:srgbClr val="000000"/>
                </a:solidFill>
              </a:rPr>
              <a:t>= 1 bar</a:t>
            </a:r>
          </a:p>
        </p:txBody>
      </p:sp>
    </p:spTree>
    <p:extLst>
      <p:ext uri="{BB962C8B-B14F-4D97-AF65-F5344CB8AC3E}">
        <p14:creationId xmlns:p14="http://schemas.microsoft.com/office/powerpoint/2010/main" val="1150065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69680" cy="1143000"/>
          </a:xfrm>
        </p:spPr>
        <p:txBody>
          <a:bodyPr>
            <a:normAutofit/>
          </a:bodyPr>
          <a:lstStyle/>
          <a:p>
            <a:r>
              <a:rPr lang="en-US" sz="3600" b="1" dirty="0"/>
              <a:t>Charge balance</a:t>
            </a:r>
          </a:p>
        </p:txBody>
      </p:sp>
      <p:sp>
        <p:nvSpPr>
          <p:cNvPr id="3" name="Content Placeholder 2"/>
          <p:cNvSpPr>
            <a:spLocks noGrp="1"/>
          </p:cNvSpPr>
          <p:nvPr>
            <p:ph idx="1"/>
          </p:nvPr>
        </p:nvSpPr>
        <p:spPr/>
        <p:txBody>
          <a:bodyPr>
            <a:normAutofit fontScale="92500" lnSpcReduction="20000"/>
          </a:bodyPr>
          <a:lstStyle/>
          <a:p>
            <a:r>
              <a:rPr lang="en-US" dirty="0"/>
              <a:t>Sum of the positive charges in solution must equal the sum of the negative charges</a:t>
            </a:r>
          </a:p>
          <a:p>
            <a:r>
              <a:rPr lang="en-US" dirty="0" err="1">
                <a:latin typeface="Symbol" charset="2"/>
                <a:cs typeface="Symbol" charset="2"/>
              </a:rPr>
              <a:t>S</a:t>
            </a:r>
            <a:r>
              <a:rPr lang="en-US" dirty="0" err="1"/>
              <a:t>m</a:t>
            </a:r>
            <a:r>
              <a:rPr lang="en-US" baseline="-25000" dirty="0" err="1"/>
              <a:t>i</a:t>
            </a:r>
            <a:r>
              <a:rPr lang="en-US" baseline="30000" dirty="0" err="1"/>
              <a:t>+</a:t>
            </a:r>
            <a:r>
              <a:rPr lang="en-US" dirty="0" err="1"/>
              <a:t>z</a:t>
            </a:r>
            <a:r>
              <a:rPr lang="en-US" baseline="-25000" dirty="0" err="1"/>
              <a:t>i</a:t>
            </a:r>
            <a:r>
              <a:rPr lang="en-US" baseline="30000" dirty="0"/>
              <a:t>+</a:t>
            </a:r>
            <a:r>
              <a:rPr lang="en-US" dirty="0"/>
              <a:t> = </a:t>
            </a:r>
            <a:r>
              <a:rPr lang="en-US" dirty="0" err="1">
                <a:latin typeface="Symbol" charset="2"/>
                <a:cs typeface="Symbol" charset="2"/>
              </a:rPr>
              <a:t>S</a:t>
            </a:r>
            <a:r>
              <a:rPr lang="en-US" dirty="0" err="1"/>
              <a:t>m</a:t>
            </a:r>
            <a:r>
              <a:rPr lang="en-US" baseline="-25000" dirty="0" err="1"/>
              <a:t>i</a:t>
            </a:r>
            <a:r>
              <a:rPr lang="en-US" baseline="30000" dirty="0" err="1"/>
              <a:t>-</a:t>
            </a:r>
            <a:r>
              <a:rPr lang="en-US" dirty="0" err="1"/>
              <a:t>z</a:t>
            </a:r>
            <a:r>
              <a:rPr lang="en-US" baseline="-25000" dirty="0" err="1"/>
              <a:t>i</a:t>
            </a:r>
            <a:r>
              <a:rPr lang="en-US" baseline="30000" dirty="0"/>
              <a:t>-</a:t>
            </a:r>
            <a:r>
              <a:rPr lang="en-US" dirty="0"/>
              <a:t> </a:t>
            </a:r>
          </a:p>
          <a:p>
            <a:r>
              <a:rPr lang="en-US" dirty="0" err="1">
                <a:latin typeface="Symbol" charset="2"/>
                <a:cs typeface="Symbol" charset="2"/>
              </a:rPr>
              <a:t>S</a:t>
            </a:r>
            <a:r>
              <a:rPr lang="en-US" dirty="0" err="1"/>
              <a:t>m</a:t>
            </a:r>
            <a:r>
              <a:rPr lang="en-US" baseline="-25000" dirty="0" err="1"/>
              <a:t>i</a:t>
            </a:r>
            <a:r>
              <a:rPr lang="en-US" dirty="0" err="1"/>
              <a:t>z</a:t>
            </a:r>
            <a:r>
              <a:rPr lang="en-US" baseline="-25000" dirty="0" err="1"/>
              <a:t>i</a:t>
            </a:r>
            <a:r>
              <a:rPr lang="en-US" dirty="0"/>
              <a:t> = 0</a:t>
            </a:r>
          </a:p>
          <a:p>
            <a:pPr marL="0" indent="0">
              <a:buNone/>
            </a:pPr>
            <a:endParaRPr lang="en-US" dirty="0"/>
          </a:p>
          <a:p>
            <a:pPr marL="0" indent="0">
              <a:buNone/>
            </a:pPr>
            <a:r>
              <a:rPr lang="en-US" b="1" dirty="0"/>
              <a:t>Charge balance for natural waters:</a:t>
            </a:r>
          </a:p>
          <a:p>
            <a:pPr marL="0" indent="0">
              <a:buNone/>
            </a:pPr>
            <a:r>
              <a:rPr lang="en-US" dirty="0"/>
              <a:t>2m</a:t>
            </a:r>
            <a:r>
              <a:rPr lang="en-US" baseline="-25000" dirty="0"/>
              <a:t>Ca2+</a:t>
            </a:r>
            <a:r>
              <a:rPr lang="en-US" dirty="0"/>
              <a:t> + 2m</a:t>
            </a:r>
            <a:r>
              <a:rPr lang="en-US" baseline="-25000" dirty="0"/>
              <a:t>Mg2+</a:t>
            </a:r>
            <a:r>
              <a:rPr lang="en-US" dirty="0"/>
              <a:t>  +</a:t>
            </a:r>
            <a:r>
              <a:rPr lang="en-US" dirty="0" err="1"/>
              <a:t>m</a:t>
            </a:r>
            <a:r>
              <a:rPr lang="en-US" baseline="-25000" dirty="0" err="1"/>
              <a:t>Na</a:t>
            </a:r>
            <a:r>
              <a:rPr lang="en-US" baseline="-25000" dirty="0"/>
              <a:t>+</a:t>
            </a:r>
            <a:r>
              <a:rPr lang="en-US" dirty="0"/>
              <a:t> + </a:t>
            </a:r>
            <a:r>
              <a:rPr lang="en-US" dirty="0" err="1"/>
              <a:t>m</a:t>
            </a:r>
            <a:r>
              <a:rPr lang="en-US" baseline="-25000" dirty="0" err="1"/>
              <a:t>K</a:t>
            </a:r>
            <a:r>
              <a:rPr lang="en-US" baseline="-25000" dirty="0"/>
              <a:t>+</a:t>
            </a:r>
            <a:r>
              <a:rPr lang="en-US" dirty="0"/>
              <a:t> + </a:t>
            </a:r>
            <a:r>
              <a:rPr lang="en-US" dirty="0" err="1"/>
              <a:t>m</a:t>
            </a:r>
            <a:r>
              <a:rPr lang="en-US" baseline="-25000" dirty="0" err="1"/>
              <a:t>H</a:t>
            </a:r>
            <a:r>
              <a:rPr lang="en-US" baseline="-25000" dirty="0"/>
              <a:t>+</a:t>
            </a:r>
            <a:r>
              <a:rPr lang="en-US" dirty="0"/>
              <a:t> =</a:t>
            </a:r>
          </a:p>
          <a:p>
            <a:pPr marL="0" indent="0">
              <a:buNone/>
            </a:pPr>
            <a:r>
              <a:rPr lang="en-US" dirty="0" err="1"/>
              <a:t>m</a:t>
            </a:r>
            <a:r>
              <a:rPr lang="en-US" baseline="-25000" dirty="0" err="1"/>
              <a:t>Cl</a:t>
            </a:r>
            <a:r>
              <a:rPr lang="en-US" baseline="-25000" dirty="0"/>
              <a:t>-</a:t>
            </a:r>
            <a:r>
              <a:rPr lang="en-US" dirty="0"/>
              <a:t> + 2m</a:t>
            </a:r>
            <a:r>
              <a:rPr lang="en-US" baseline="-25000" dirty="0"/>
              <a:t>SO42-</a:t>
            </a:r>
            <a:r>
              <a:rPr lang="en-US" dirty="0"/>
              <a:t> + m</a:t>
            </a:r>
            <a:r>
              <a:rPr lang="en-US" baseline="-25000" dirty="0"/>
              <a:t>HCO3-</a:t>
            </a:r>
            <a:r>
              <a:rPr lang="en-US" dirty="0"/>
              <a:t> + 2m</a:t>
            </a:r>
            <a:r>
              <a:rPr lang="en-US" baseline="-25000" dirty="0"/>
              <a:t>CO32-</a:t>
            </a:r>
            <a:r>
              <a:rPr lang="en-US" dirty="0"/>
              <a:t> + </a:t>
            </a:r>
            <a:r>
              <a:rPr lang="en-US" dirty="0" err="1"/>
              <a:t>m</a:t>
            </a:r>
            <a:r>
              <a:rPr lang="en-US" baseline="-25000" dirty="0" err="1"/>
              <a:t>OH</a:t>
            </a:r>
            <a:r>
              <a:rPr lang="en-US" baseline="-25000" dirty="0"/>
              <a:t>-</a:t>
            </a:r>
            <a:r>
              <a:rPr lang="en-US" dirty="0"/>
              <a:t> +….. </a:t>
            </a:r>
          </a:p>
          <a:p>
            <a:pPr marL="0" indent="0">
              <a:buNone/>
            </a:pPr>
            <a:endParaRPr lang="en-US" dirty="0"/>
          </a:p>
          <a:p>
            <a:pPr marL="0" indent="0">
              <a:buNone/>
            </a:pPr>
            <a:r>
              <a:rPr lang="en-US" b="1" dirty="0"/>
              <a:t>For CO</a:t>
            </a:r>
            <a:r>
              <a:rPr lang="en-US" b="1" baseline="-25000" dirty="0"/>
              <a:t>2</a:t>
            </a:r>
            <a:r>
              <a:rPr lang="en-US" b="1" dirty="0"/>
              <a:t>-H</a:t>
            </a:r>
            <a:r>
              <a:rPr lang="en-US" b="1" baseline="-25000" dirty="0"/>
              <a:t>2</a:t>
            </a:r>
            <a:r>
              <a:rPr lang="en-US" b="1" dirty="0"/>
              <a:t>O system:</a:t>
            </a:r>
          </a:p>
          <a:p>
            <a:pPr marL="0" indent="0">
              <a:buNone/>
            </a:pPr>
            <a:r>
              <a:rPr lang="en-US" b="1" dirty="0"/>
              <a:t> </a:t>
            </a:r>
            <a:r>
              <a:rPr lang="en-US" dirty="0" err="1"/>
              <a:t>m</a:t>
            </a:r>
            <a:r>
              <a:rPr lang="en-US" baseline="-25000" dirty="0" err="1"/>
              <a:t>H</a:t>
            </a:r>
            <a:r>
              <a:rPr lang="en-US" baseline="-25000" dirty="0"/>
              <a:t>+</a:t>
            </a:r>
            <a:r>
              <a:rPr lang="en-US" dirty="0"/>
              <a:t> = m</a:t>
            </a:r>
            <a:r>
              <a:rPr lang="en-US" baseline="-25000" dirty="0"/>
              <a:t>HCO3-</a:t>
            </a:r>
            <a:r>
              <a:rPr lang="en-US" dirty="0"/>
              <a:t> + 2m</a:t>
            </a:r>
            <a:r>
              <a:rPr lang="en-US" baseline="-25000" dirty="0"/>
              <a:t>CO32-</a:t>
            </a:r>
            <a:r>
              <a:rPr lang="en-US" dirty="0"/>
              <a:t> + </a:t>
            </a:r>
            <a:r>
              <a:rPr lang="en-US" dirty="0" err="1"/>
              <a:t>m</a:t>
            </a:r>
            <a:r>
              <a:rPr lang="en-US" baseline="-25000" dirty="0" err="1"/>
              <a:t>OH</a:t>
            </a:r>
            <a:r>
              <a:rPr lang="en-US" baseline="-25000" dirty="0"/>
              <a:t>-</a:t>
            </a:r>
            <a:endParaRPr lang="en-US" dirty="0"/>
          </a:p>
          <a:p>
            <a:pPr marL="0" indent="0">
              <a:buNone/>
            </a:pPr>
            <a:endParaRPr lang="en-US" dirty="0"/>
          </a:p>
          <a:p>
            <a:pPr marL="0" indent="0">
              <a:buNone/>
            </a:pPr>
            <a:endParaRPr lang="en-US" dirty="0"/>
          </a:p>
          <a:p>
            <a:endParaRPr lang="en-US" dirty="0"/>
          </a:p>
          <a:p>
            <a:endParaRPr lang="en-US" dirty="0"/>
          </a:p>
        </p:txBody>
      </p:sp>
      <p:sp>
        <p:nvSpPr>
          <p:cNvPr id="4" name="Content Placeholder 2"/>
          <p:cNvSpPr txBox="1">
            <a:spLocks/>
          </p:cNvSpPr>
          <p:nvPr/>
        </p:nvSpPr>
        <p:spPr>
          <a:xfrm>
            <a:off x="457200" y="5083050"/>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endParaRPr lang="en-US" dirty="0">
              <a:solidFill>
                <a:srgbClr val="FF0000"/>
              </a:solidFill>
            </a:endParaRPr>
          </a:p>
        </p:txBody>
      </p:sp>
      <p:pic>
        <p:nvPicPr>
          <p:cNvPr id="6" name="Picture 5" descr="A black background with white text&#10;&#10;Description automatically generated">
            <a:extLst>
              <a:ext uri="{FF2B5EF4-FFF2-40B4-BE49-F238E27FC236}">
                <a16:creationId xmlns:a16="http://schemas.microsoft.com/office/drawing/2014/main" id="{0C2F1AAF-3743-D084-AA32-1D3C756BA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8192" y="5943600"/>
            <a:ext cx="6172200" cy="914400"/>
          </a:xfrm>
          <a:prstGeom prst="rect">
            <a:avLst/>
          </a:prstGeom>
        </p:spPr>
      </p:pic>
    </p:spTree>
    <p:extLst>
      <p:ext uri="{BB962C8B-B14F-4D97-AF65-F5344CB8AC3E}">
        <p14:creationId xmlns:p14="http://schemas.microsoft.com/office/powerpoint/2010/main" val="1617299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9818"/>
            <a:ext cx="8229600" cy="1143000"/>
          </a:xfrm>
        </p:spPr>
        <p:txBody>
          <a:bodyPr>
            <a:normAutofit/>
          </a:bodyPr>
          <a:lstStyle/>
          <a:p>
            <a:r>
              <a:rPr lang="en-US" b="1" dirty="0"/>
              <a:t>Rising atmospheric CO</a:t>
            </a:r>
            <a:r>
              <a:rPr lang="en-US" b="1" baseline="-25000" dirty="0"/>
              <a:t>2</a:t>
            </a:r>
            <a:r>
              <a:rPr lang="en-US" b="1" dirty="0"/>
              <a:t> </a:t>
            </a:r>
            <a:endParaRPr lang="en-US" b="1" baseline="-25000" dirty="0"/>
          </a:p>
        </p:txBody>
      </p:sp>
      <p:pic>
        <p:nvPicPr>
          <p:cNvPr id="4" name="Picture 3" descr="875px-Mauna_Loa_Carbon_Dioxide_Apr2013.svg.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0500" y="983182"/>
            <a:ext cx="8356600" cy="5615635"/>
          </a:xfrm>
          <a:prstGeom prst="rect">
            <a:avLst/>
          </a:prstGeom>
        </p:spPr>
      </p:pic>
      <p:sp>
        <p:nvSpPr>
          <p:cNvPr id="5" name="TextBox 4"/>
          <p:cNvSpPr txBox="1"/>
          <p:nvPr/>
        </p:nvSpPr>
        <p:spPr>
          <a:xfrm>
            <a:off x="1501706" y="2337449"/>
            <a:ext cx="3253180" cy="461665"/>
          </a:xfrm>
          <a:prstGeom prst="rect">
            <a:avLst/>
          </a:prstGeom>
          <a:noFill/>
        </p:spPr>
        <p:txBody>
          <a:bodyPr wrap="square" rtlCol="0">
            <a:spAutoFit/>
          </a:bodyPr>
          <a:lstStyle/>
          <a:p>
            <a:r>
              <a:rPr lang="en-US" sz="2400" b="1" dirty="0">
                <a:solidFill>
                  <a:srgbClr val="FF0000"/>
                </a:solidFill>
              </a:rPr>
              <a:t>Currently ~400 ppm</a:t>
            </a:r>
          </a:p>
        </p:txBody>
      </p:sp>
      <p:sp>
        <p:nvSpPr>
          <p:cNvPr id="6" name="TextBox 5"/>
          <p:cNvSpPr txBox="1"/>
          <p:nvPr/>
        </p:nvSpPr>
        <p:spPr>
          <a:xfrm>
            <a:off x="1849412" y="4270767"/>
            <a:ext cx="1476624" cy="369332"/>
          </a:xfrm>
          <a:prstGeom prst="rect">
            <a:avLst/>
          </a:prstGeom>
          <a:noFill/>
        </p:spPr>
        <p:txBody>
          <a:bodyPr wrap="square" rtlCol="0">
            <a:spAutoFit/>
          </a:bodyPr>
          <a:lstStyle/>
          <a:p>
            <a:r>
              <a:rPr lang="en-US" dirty="0"/>
              <a:t>co2now.org</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6006" y="2761196"/>
            <a:ext cx="1943435" cy="1481066"/>
          </a:xfrm>
          <a:prstGeom prst="rect">
            <a:avLst/>
          </a:prstGeom>
        </p:spPr>
      </p:pic>
    </p:spTree>
    <p:extLst>
      <p:ext uri="{BB962C8B-B14F-4D97-AF65-F5344CB8AC3E}">
        <p14:creationId xmlns:p14="http://schemas.microsoft.com/office/powerpoint/2010/main" val="2060656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193" y="2727064"/>
            <a:ext cx="8685614" cy="1143000"/>
          </a:xfrm>
        </p:spPr>
        <p:txBody>
          <a:bodyPr>
            <a:noAutofit/>
          </a:bodyPr>
          <a:lstStyle/>
          <a:p>
            <a:r>
              <a:rPr lang="en-US" sz="4000" b="1" dirty="0">
                <a:solidFill>
                  <a:srgbClr val="FF0000"/>
                </a:solidFill>
              </a:rPr>
              <a:t>Quiz 3a. </a:t>
            </a:r>
            <a:r>
              <a:rPr lang="en-US" sz="4000" dirty="0">
                <a:solidFill>
                  <a:srgbClr val="FF0000"/>
                </a:solidFill>
              </a:rPr>
              <a:t>Calculate the concentration of carbonic acid in rainwater in equilibrium with 400 ppm CO</a:t>
            </a:r>
            <a:r>
              <a:rPr lang="en-US" sz="4000" baseline="-25000" dirty="0">
                <a:solidFill>
                  <a:srgbClr val="FF0000"/>
                </a:solidFill>
              </a:rPr>
              <a:t>2</a:t>
            </a:r>
            <a:r>
              <a:rPr lang="en-US" sz="4000" dirty="0">
                <a:solidFill>
                  <a:srgbClr val="FF0000"/>
                </a:solidFill>
              </a:rPr>
              <a:t> in the atmosphere.</a:t>
            </a:r>
            <a:br>
              <a:rPr lang="en-US" sz="4000" dirty="0">
                <a:solidFill>
                  <a:srgbClr val="FF0000"/>
                </a:solidFill>
              </a:rPr>
            </a:br>
            <a:br>
              <a:rPr lang="en-US" sz="4000" dirty="0">
                <a:solidFill>
                  <a:srgbClr val="FF0000"/>
                </a:solidFill>
              </a:rPr>
            </a:br>
            <a:br>
              <a:rPr lang="en-US" sz="4000" dirty="0">
                <a:solidFill>
                  <a:srgbClr val="FF0000"/>
                </a:solidFill>
              </a:rPr>
            </a:br>
            <a:r>
              <a:rPr lang="en-US" sz="4000" b="1" dirty="0">
                <a:solidFill>
                  <a:srgbClr val="FF0000"/>
                </a:solidFill>
              </a:rPr>
              <a:t>Quiz 3b. </a:t>
            </a:r>
            <a:r>
              <a:rPr lang="en-US" sz="4000" dirty="0">
                <a:solidFill>
                  <a:srgbClr val="FF0000"/>
                </a:solidFill>
              </a:rPr>
              <a:t>Calculate</a:t>
            </a:r>
            <a:r>
              <a:rPr lang="en-US" sz="4000" b="1" dirty="0">
                <a:solidFill>
                  <a:srgbClr val="FF0000"/>
                </a:solidFill>
              </a:rPr>
              <a:t> </a:t>
            </a:r>
            <a:r>
              <a:rPr lang="en-US" sz="4000" dirty="0">
                <a:solidFill>
                  <a:srgbClr val="FF0000"/>
                </a:solidFill>
              </a:rPr>
              <a:t>the pH of rainwater in equilibrium with 400 ppm CO</a:t>
            </a:r>
            <a:r>
              <a:rPr lang="en-US" sz="4000" baseline="-25000" dirty="0">
                <a:solidFill>
                  <a:srgbClr val="FF0000"/>
                </a:solidFill>
              </a:rPr>
              <a:t>2</a:t>
            </a:r>
            <a:r>
              <a:rPr lang="en-US" sz="4000" dirty="0">
                <a:solidFill>
                  <a:srgbClr val="FF0000"/>
                </a:solidFill>
              </a:rPr>
              <a:t> in the atmosphere.</a:t>
            </a:r>
          </a:p>
        </p:txBody>
      </p:sp>
    </p:spTree>
    <p:extLst>
      <p:ext uri="{BB962C8B-B14F-4D97-AF65-F5344CB8AC3E}">
        <p14:creationId xmlns:p14="http://schemas.microsoft.com/office/powerpoint/2010/main" val="15096196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14171</TotalTime>
  <Words>822</Words>
  <Application>Microsoft Macintosh PowerPoint</Application>
  <PresentationFormat>On-screen Show (4:3)</PresentationFormat>
  <Paragraphs>111</Paragraphs>
  <Slides>21</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Cambria (Body)</vt:lpstr>
      <vt:lpstr>Symbol</vt:lpstr>
      <vt:lpstr>Times New Roman</vt:lpstr>
      <vt:lpstr>Office Theme</vt:lpstr>
      <vt:lpstr>PowerPoint Presentation</vt:lpstr>
      <vt:lpstr>Acids and Bases </vt:lpstr>
      <vt:lpstr>Dissociation constants</vt:lpstr>
      <vt:lpstr>pH of aqueous solution</vt:lpstr>
      <vt:lpstr>PowerPoint Presentation</vt:lpstr>
      <vt:lpstr>PowerPoint Presentation</vt:lpstr>
      <vt:lpstr>PowerPoint Presentation</vt:lpstr>
      <vt:lpstr>PowerPoint Presentation</vt:lpstr>
      <vt:lpstr>Carbonic acid as polyprotic acid </vt:lpstr>
      <vt:lpstr>Dissociation of water and pH</vt:lpstr>
      <vt:lpstr>PowerPoint Presentation</vt:lpstr>
      <vt:lpstr>Common acids in nature</vt:lpstr>
      <vt:lpstr>Henry’s Law of Gases</vt:lpstr>
      <vt:lpstr>Carbonic acid I</vt:lpstr>
      <vt:lpstr>PowerPoint Presentation</vt:lpstr>
      <vt:lpstr>Carbonic acid II</vt:lpstr>
      <vt:lpstr>PowerPoint Presentation</vt:lpstr>
      <vt:lpstr>Converting ppm of gas to bars  </vt:lpstr>
      <vt:lpstr>Charge balance</vt:lpstr>
      <vt:lpstr>Rising atmospheric CO2 </vt:lpstr>
      <vt:lpstr>Quiz 3a. Calculate the concentration of carbonic acid in rainwater in equilibrium with 400 ppm CO2 in the atmosphere.   Quiz 3b. Calculate the pH of rainwater in equilibrium with 400 ppm CO2 in the atmosphere.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Carlos Pinilla</cp:lastModifiedBy>
  <cp:revision>1391</cp:revision>
  <cp:lastPrinted>2016-09-25T12:02:10Z</cp:lastPrinted>
  <dcterms:created xsi:type="dcterms:W3CDTF">1601-01-01T00:00:00Z</dcterms:created>
  <dcterms:modified xsi:type="dcterms:W3CDTF">2026-04-02T21:43:38Z</dcterms:modified>
</cp:coreProperties>
</file>