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94658"/>
  </p:normalViewPr>
  <p:slideViewPr>
    <p:cSldViewPr>
      <p:cViewPr varScale="1">
        <p:scale>
          <a:sx n="120" d="100"/>
          <a:sy n="120" d="100"/>
        </p:scale>
        <p:origin x="552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4EFE0-6DE0-014B-B277-297D0EEFC0BE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66F9B-2D42-674B-8205-6E7171CE8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4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411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82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39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86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028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14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669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10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14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116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001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7146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046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015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934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531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08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876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2575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eraider@quanah.hpcc.ttu.edu" TargetMode="External"/><Relationship Id="rId2" Type="http://schemas.openxmlformats.org/officeDocument/2006/relationships/hyperlink" Target="mailto:eraider@login.hpcc.ttu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utty.org/" TargetMode="External"/><Relationship Id="rId4" Type="http://schemas.openxmlformats.org/officeDocument/2006/relationships/hyperlink" Target="https://mobaxterm.mobatek.net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54115"/>
            <a:ext cx="9404723" cy="1400530"/>
          </a:xfr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GB" sz="5400" b="0" i="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Introduction</a:t>
            </a:r>
            <a:r>
              <a:rPr lang="en-GB" sz="5400" b="0" i="0" spc="-13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 </a:t>
            </a:r>
            <a:r>
              <a:rPr lang="en-GB" sz="5400" b="0" i="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to</a:t>
            </a:r>
            <a:r>
              <a:rPr lang="en-GB" sz="5400" b="0" i="0" spc="-145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 </a:t>
            </a:r>
            <a:r>
              <a:rPr lang="en-GB" sz="5400" b="0" i="0" spc="-1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Linux</a:t>
            </a:r>
            <a:endParaRPr lang="en-GB" sz="5400" b="0" i="0" dirty="0">
              <a:solidFill>
                <a:schemeClr val="tx1"/>
              </a:solidFill>
              <a:latin typeface="Times New Roman"/>
              <a:ea typeface="+mj-ea"/>
              <a:cs typeface="Times New Roman"/>
            </a:endParaRPr>
          </a:p>
          <a:p>
            <a:pPr marL="635">
              <a:lnSpc>
                <a:spcPct val="90000"/>
              </a:lnSpc>
              <a:spcBef>
                <a:spcPts val="80"/>
              </a:spcBef>
            </a:pPr>
            <a:r>
              <a:rPr lang="en-GB" sz="5400" b="0" i="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(Part</a:t>
            </a:r>
            <a:r>
              <a:rPr lang="en-GB" sz="5400" b="0" i="0" spc="-5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 </a:t>
            </a:r>
            <a:r>
              <a:rPr lang="en-GB" sz="5400" b="0" i="0" spc="-2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1/2)</a:t>
            </a:r>
            <a:endParaRPr lang="en-GB" sz="5400" b="0" i="0" dirty="0">
              <a:solidFill>
                <a:schemeClr val="tx1"/>
              </a:solidFill>
              <a:latin typeface="Times New Roman"/>
              <a:ea typeface="+mj-ea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324600" y="3581400"/>
            <a:ext cx="5303520" cy="290322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>
              <a:spcBef>
                <a:spcPts val="100"/>
              </a:spcBef>
            </a:pPr>
            <a:r>
              <a:rPr lang="en-US" sz="3600" b="0" i="0" spc="-1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Carlos Pinilla</a:t>
            </a:r>
            <a:endParaRPr lang="en-US" sz="3600" b="0" i="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>
              <a:spcBef>
                <a:spcPts val="15"/>
              </a:spcBef>
            </a:pPr>
            <a:r>
              <a:rPr lang="en-US" sz="3600" b="0" i="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Physics and Geosciences Dept. </a:t>
            </a:r>
          </a:p>
          <a:p>
            <a:r>
              <a:rPr lang="en-US" sz="3600" b="0" i="0" spc="-2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2026-10</a:t>
            </a:r>
            <a:endParaRPr lang="en-US" sz="3600" b="0" i="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  <p:pic>
        <p:nvPicPr>
          <p:cNvPr id="1026" name="Picture 2" descr="Uninorte, Universidad del Norte - Un proyecto iconico">
            <a:extLst>
              <a:ext uri="{FF2B5EF4-FFF2-40B4-BE49-F238E27FC236}">
                <a16:creationId xmlns:a16="http://schemas.microsoft.com/office/drawing/2014/main" id="{14819737-47B0-707D-E303-E7C145DFD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98987"/>
            <a:ext cx="5853882" cy="389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463" y="376095"/>
            <a:ext cx="51511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About</a:t>
            </a:r>
            <a:r>
              <a:rPr spc="-55" dirty="0"/>
              <a:t> </a:t>
            </a:r>
            <a:r>
              <a:rPr dirty="0"/>
              <a:t>this</a:t>
            </a:r>
            <a:r>
              <a:rPr spc="-70" dirty="0"/>
              <a:t> </a:t>
            </a:r>
            <a:r>
              <a:rPr spc="-10" dirty="0"/>
              <a:t>Training</a:t>
            </a:r>
            <a:r>
              <a:rPr spc="-120" dirty="0"/>
              <a:t> </a:t>
            </a:r>
            <a:r>
              <a:rPr spc="-10" dirty="0"/>
              <a:t>Workshop?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619505"/>
            <a:ext cx="10095865" cy="3909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21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hands-</a:t>
            </a:r>
            <a:r>
              <a:rPr sz="3400" dirty="0">
                <a:latin typeface="Times New Roman"/>
                <a:cs typeface="Times New Roman"/>
              </a:rPr>
              <a:t>on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training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that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covers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essential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Linux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topics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for: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34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00000"/>
              </a:lnSpc>
              <a:buClr>
                <a:srgbClr val="CC0000"/>
              </a:buClr>
              <a:buSzPct val="89285"/>
              <a:buFont typeface="Wingdings"/>
              <a:buChar char=""/>
              <a:tabLst>
                <a:tab pos="759460" algn="l"/>
              </a:tabLst>
            </a:pPr>
            <a:r>
              <a:rPr sz="2800" dirty="0">
                <a:latin typeface="Times New Roman"/>
                <a:cs typeface="Times New Roman"/>
              </a:rPr>
              <a:t>HPCC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basic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understanding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Linux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commands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daily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task.</a:t>
            </a:r>
            <a:endParaRPr sz="2800">
              <a:latin typeface="Times New Roman"/>
              <a:cs typeface="Times New Roman"/>
            </a:endParaRPr>
          </a:p>
          <a:p>
            <a:pPr marL="759460" marR="87630" indent="-387350">
              <a:lnSpc>
                <a:spcPct val="100000"/>
              </a:lnSpc>
              <a:spcBef>
                <a:spcPts val="187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9460" algn="l"/>
              </a:tabLst>
            </a:pPr>
            <a:r>
              <a:rPr sz="2800" spc="-20" dirty="0">
                <a:latin typeface="Times New Roman"/>
                <a:cs typeface="Times New Roman"/>
              </a:rPr>
              <a:t>Non-</a:t>
            </a:r>
            <a:r>
              <a:rPr sz="2800" dirty="0">
                <a:latin typeface="Times New Roman"/>
                <a:cs typeface="Times New Roman"/>
              </a:rPr>
              <a:t>HPCC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willing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join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HPCC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leverage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TTU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supercomputing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facilities.</a:t>
            </a:r>
            <a:endParaRPr sz="28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87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spc="-20" dirty="0">
                <a:latin typeface="Times New Roman"/>
                <a:cs typeface="Times New Roman"/>
              </a:rPr>
              <a:t>Non-</a:t>
            </a:r>
            <a:r>
              <a:rPr sz="2800" dirty="0">
                <a:latin typeface="Times New Roman"/>
                <a:cs typeface="Times New Roman"/>
              </a:rPr>
              <a:t>HPCC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just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Linux.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463" y="376095"/>
            <a:ext cx="51511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About</a:t>
            </a:r>
            <a:r>
              <a:rPr spc="-55" dirty="0"/>
              <a:t> </a:t>
            </a:r>
            <a:r>
              <a:rPr dirty="0"/>
              <a:t>this</a:t>
            </a:r>
            <a:r>
              <a:rPr spc="-70" dirty="0"/>
              <a:t> </a:t>
            </a:r>
            <a:r>
              <a:rPr spc="-10" dirty="0"/>
              <a:t>Training</a:t>
            </a:r>
            <a:r>
              <a:rPr spc="-120" dirty="0"/>
              <a:t> </a:t>
            </a:r>
            <a:r>
              <a:rPr spc="-10" dirty="0"/>
              <a:t>Workshop?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617981"/>
            <a:ext cx="9998075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How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make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best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out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this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Training?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297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spc="-20" dirty="0">
                <a:latin typeface="Times New Roman"/>
                <a:cs typeface="Times New Roman"/>
              </a:rPr>
              <a:t>Take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sessions,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many!</a:t>
            </a:r>
            <a:endParaRPr sz="2800">
              <a:latin typeface="Times New Roman"/>
              <a:cs typeface="Times New Roman"/>
            </a:endParaRPr>
          </a:p>
          <a:p>
            <a:pPr marL="759460" marR="207010" indent="-387350">
              <a:lnSpc>
                <a:spcPct val="150000"/>
              </a:lnSpc>
              <a:spcBef>
                <a:spcPts val="187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9460" algn="l"/>
              </a:tabLst>
            </a:pPr>
            <a:r>
              <a:rPr sz="2800" dirty="0">
                <a:latin typeface="Times New Roman"/>
                <a:cs typeface="Times New Roman"/>
              </a:rPr>
              <a:t>Follow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instructor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Linux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your </a:t>
            </a:r>
            <a:r>
              <a:rPr sz="2800" dirty="0">
                <a:latin typeface="Times New Roman"/>
                <a:cs typeface="Times New Roman"/>
              </a:rPr>
              <a:t>Linux/Mac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console.</a:t>
            </a:r>
            <a:endParaRPr sz="28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50000"/>
              </a:lnSpc>
              <a:spcBef>
                <a:spcPts val="187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9460" algn="l"/>
              </a:tabLst>
            </a:pP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few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exercises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session,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will </a:t>
            </a:r>
            <a:r>
              <a:rPr sz="2800" dirty="0">
                <a:latin typeface="Times New Roman"/>
                <a:cs typeface="Times New Roman"/>
              </a:rPr>
              <a:t>help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learn.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180" dirty="0"/>
              <a:t> </a:t>
            </a:r>
            <a:r>
              <a:rPr spc="-10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7948"/>
            <a:ext cx="8165465" cy="3544570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sz="3600" b="1" dirty="0">
                <a:latin typeface="Times New Roman"/>
                <a:cs typeface="Times New Roman"/>
              </a:rPr>
              <a:t>Part</a:t>
            </a:r>
            <a:r>
              <a:rPr sz="3600" b="1" spc="-4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1: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Introduction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basic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topics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Linux</a:t>
            </a:r>
            <a:endParaRPr sz="3600">
              <a:latin typeface="Times New Roman"/>
              <a:cs typeface="Times New Roman"/>
            </a:endParaRPr>
          </a:p>
          <a:p>
            <a:pPr marL="932815" indent="-560705">
              <a:lnSpc>
                <a:spcPct val="100000"/>
              </a:lnSpc>
              <a:spcBef>
                <a:spcPts val="1889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932815" algn="l"/>
              </a:tabLst>
            </a:pPr>
            <a:r>
              <a:rPr sz="2800" dirty="0">
                <a:latin typeface="Times New Roman"/>
                <a:cs typeface="Times New Roman"/>
              </a:rPr>
              <a:t>Getting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Started</a:t>
            </a:r>
            <a:endParaRPr sz="2800">
              <a:latin typeface="Times New Roman"/>
              <a:cs typeface="Times New Roman"/>
            </a:endParaRPr>
          </a:p>
          <a:p>
            <a:pPr marL="932815" indent="-560705">
              <a:lnSpc>
                <a:spcPct val="100000"/>
              </a:lnSpc>
              <a:spcBef>
                <a:spcPts val="1875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932815" algn="l"/>
              </a:tabLst>
            </a:pP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Linux</a:t>
            </a:r>
            <a:endParaRPr sz="2800">
              <a:latin typeface="Times New Roman"/>
              <a:cs typeface="Times New Roman"/>
            </a:endParaRPr>
          </a:p>
          <a:p>
            <a:pPr marL="932815" indent="-560705">
              <a:lnSpc>
                <a:spcPct val="100000"/>
              </a:lnSpc>
              <a:spcBef>
                <a:spcPts val="1870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932815" algn="l"/>
              </a:tabLst>
            </a:pPr>
            <a:r>
              <a:rPr sz="2800" spc="-25" dirty="0">
                <a:latin typeface="Times New Roman"/>
                <a:cs typeface="Times New Roman"/>
              </a:rPr>
              <a:t>Working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Directories</a:t>
            </a:r>
            <a:endParaRPr sz="2800">
              <a:latin typeface="Times New Roman"/>
              <a:cs typeface="Times New Roman"/>
            </a:endParaRPr>
          </a:p>
          <a:p>
            <a:pPr marL="932815" indent="-560705">
              <a:lnSpc>
                <a:spcPct val="100000"/>
              </a:lnSpc>
              <a:spcBef>
                <a:spcPts val="1875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932815" algn="l"/>
              </a:tabLst>
            </a:pPr>
            <a:r>
              <a:rPr sz="2800" dirty="0">
                <a:latin typeface="Times New Roman"/>
                <a:cs typeface="Times New Roman"/>
              </a:rPr>
              <a:t>Linux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Essential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(Part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Getting</a:t>
            </a:r>
            <a:r>
              <a:rPr spc="-35" dirty="0"/>
              <a:t> </a:t>
            </a:r>
            <a:r>
              <a:rPr spc="-10" dirty="0"/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35952"/>
            <a:ext cx="7975600" cy="4134464"/>
          </a:xfrm>
          <a:prstGeom prst="rect">
            <a:avLst/>
          </a:prstGeom>
        </p:spPr>
        <p:txBody>
          <a:bodyPr vert="horz" wrap="square" lIns="0" tIns="2082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2900" dirty="0">
                <a:latin typeface="Times New Roman"/>
                <a:cs typeface="Times New Roman"/>
              </a:rPr>
              <a:t>Logging</a:t>
            </a:r>
            <a:r>
              <a:rPr sz="2900" spc="-6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into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HPCC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Resources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(HPCC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Users):</a:t>
            </a:r>
            <a:endParaRPr sz="2900" dirty="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89130"/>
              <a:buFont typeface="Wingdings"/>
              <a:buChar char=""/>
              <a:tabLst>
                <a:tab pos="758825" algn="l"/>
              </a:tabLst>
            </a:pPr>
            <a:r>
              <a:rPr sz="2300" dirty="0">
                <a:latin typeface="Times New Roman"/>
                <a:cs typeface="Times New Roman"/>
              </a:rPr>
              <a:t>Linux/Mac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Users:</a:t>
            </a:r>
            <a:endParaRPr sz="2300" dirty="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230"/>
              </a:spcBef>
              <a:buFont typeface="Arial MT"/>
              <a:buChar char="•"/>
              <a:tabLst>
                <a:tab pos="1292225" algn="l"/>
              </a:tabLst>
            </a:pPr>
            <a:r>
              <a:rPr sz="1500" b="1" dirty="0">
                <a:latin typeface="Times New Roman"/>
                <a:cs typeface="Times New Roman"/>
              </a:rPr>
              <a:t>SSH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(Secure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Shell):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Freely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available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Linux/Unix/MacOS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via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Terminal.</a:t>
            </a:r>
            <a:endParaRPr sz="1500" dirty="0">
              <a:latin typeface="Times New Roman"/>
              <a:cs typeface="Times New Roman"/>
            </a:endParaRPr>
          </a:p>
          <a:p>
            <a:pPr marL="1901825" lvl="2" indent="-386715">
              <a:lnSpc>
                <a:spcPct val="100000"/>
              </a:lnSpc>
              <a:spcBef>
                <a:spcPts val="1165"/>
              </a:spcBef>
              <a:buFont typeface="Arial MT"/>
              <a:buChar char="–"/>
              <a:tabLst>
                <a:tab pos="1901825" algn="l"/>
              </a:tabLst>
            </a:pPr>
            <a:r>
              <a:rPr sz="1500" dirty="0">
                <a:latin typeface="Courier New"/>
                <a:cs typeface="Courier New"/>
              </a:rPr>
              <a:t>ssh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  <a:hlinkClick r:id="rId2"/>
              </a:rPr>
              <a:t>eraider</a:t>
            </a:r>
            <a:r>
              <a:rPr sz="1500" spc="-10" dirty="0">
                <a:latin typeface="Courier New"/>
                <a:cs typeface="Courier New"/>
                <a:hlinkClick r:id="rId2"/>
              </a:rPr>
              <a:t>@login.hpcc.ttu.edu</a:t>
            </a:r>
            <a:endParaRPr sz="1500" dirty="0">
              <a:latin typeface="Courier New"/>
              <a:cs typeface="Courier New"/>
            </a:endParaRPr>
          </a:p>
          <a:p>
            <a:pPr marL="1901825" lvl="2" indent="-386715">
              <a:lnSpc>
                <a:spcPct val="100000"/>
              </a:lnSpc>
              <a:spcBef>
                <a:spcPts val="1200"/>
              </a:spcBef>
              <a:buFont typeface="Arial MT"/>
              <a:buChar char="–"/>
              <a:tabLst>
                <a:tab pos="1901825" algn="l"/>
              </a:tabLst>
            </a:pPr>
            <a:r>
              <a:rPr sz="1500" dirty="0">
                <a:latin typeface="Courier New"/>
                <a:cs typeface="Courier New"/>
              </a:rPr>
              <a:t>ssh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  <a:hlinkClick r:id="rId3"/>
              </a:rPr>
              <a:t>eraider</a:t>
            </a:r>
            <a:r>
              <a:rPr sz="1500" spc="-10" dirty="0">
                <a:latin typeface="Courier New"/>
                <a:cs typeface="Courier New"/>
                <a:hlinkClick r:id="rId3"/>
              </a:rPr>
              <a:t>@quanah.hpcc.ttu.edu</a:t>
            </a:r>
            <a:endParaRPr sz="1500" dirty="0">
              <a:latin typeface="Courier New"/>
              <a:cs typeface="Courier New"/>
            </a:endParaRPr>
          </a:p>
          <a:p>
            <a:pPr marL="758825" indent="-386715">
              <a:lnSpc>
                <a:spcPct val="100000"/>
              </a:lnSpc>
              <a:spcBef>
                <a:spcPts val="1205"/>
              </a:spcBef>
              <a:buClr>
                <a:srgbClr val="CC0000"/>
              </a:buClr>
              <a:buSzPct val="89130"/>
              <a:buFont typeface="Wingdings"/>
              <a:buChar char=""/>
              <a:tabLst>
                <a:tab pos="758825" algn="l"/>
              </a:tabLst>
            </a:pPr>
            <a:r>
              <a:rPr sz="2300" spc="-10" dirty="0">
                <a:latin typeface="Times New Roman"/>
                <a:cs typeface="Times New Roman"/>
              </a:rPr>
              <a:t>Windows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Users:</a:t>
            </a:r>
            <a:endParaRPr sz="2300" dirty="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230"/>
              </a:spcBef>
              <a:buFont typeface="Arial MT"/>
              <a:buChar char="•"/>
              <a:tabLst>
                <a:tab pos="1292225" algn="l"/>
              </a:tabLst>
            </a:pPr>
            <a:r>
              <a:rPr sz="1500" b="1" dirty="0">
                <a:latin typeface="Times New Roman"/>
                <a:cs typeface="Times New Roman"/>
              </a:rPr>
              <a:t>MobaXterm</a:t>
            </a:r>
            <a:r>
              <a:rPr sz="1500" b="1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(Recommended):</a:t>
            </a:r>
            <a:endParaRPr sz="1500" dirty="0">
              <a:latin typeface="Times New Roman"/>
              <a:cs typeface="Times New Roman"/>
            </a:endParaRPr>
          </a:p>
          <a:p>
            <a:pPr marL="1901825" lvl="2" indent="-38671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 MT"/>
              <a:buChar char="–"/>
              <a:tabLst>
                <a:tab pos="1901825" algn="l"/>
              </a:tabLst>
            </a:pPr>
            <a:r>
              <a:rPr sz="1500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https://mobaxterm.mobatek.net</a:t>
            </a:r>
            <a:endParaRPr sz="1500" dirty="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292225" algn="l"/>
              </a:tabLst>
            </a:pPr>
            <a:r>
              <a:rPr sz="1500" b="1" spc="-10" dirty="0">
                <a:latin typeface="Times New Roman"/>
                <a:cs typeface="Times New Roman"/>
              </a:rPr>
              <a:t>Putty</a:t>
            </a:r>
            <a:r>
              <a:rPr sz="1500" spc="-10" dirty="0">
                <a:latin typeface="Times New Roman"/>
                <a:cs typeface="Times New Roman"/>
              </a:rPr>
              <a:t>:</a:t>
            </a:r>
            <a:endParaRPr sz="1500" dirty="0">
              <a:latin typeface="Times New Roman"/>
              <a:cs typeface="Times New Roman"/>
            </a:endParaRPr>
          </a:p>
          <a:p>
            <a:pPr marL="1901825" lvl="2" indent="-38671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 MT"/>
              <a:buChar char="–"/>
              <a:tabLst>
                <a:tab pos="1901825" algn="l"/>
              </a:tabLst>
            </a:pPr>
            <a:r>
              <a:rPr sz="1500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5"/>
              </a:rPr>
              <a:t>https://www.putty.org</a:t>
            </a:r>
            <a:endParaRPr sz="1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3854" y="2557645"/>
            <a:ext cx="4866640" cy="970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200" dirty="0">
                <a:solidFill>
                  <a:srgbClr val="000000"/>
                </a:solidFill>
              </a:rPr>
              <a:t>About</a:t>
            </a:r>
            <a:r>
              <a:rPr sz="6200" spc="-10" dirty="0">
                <a:solidFill>
                  <a:srgbClr val="000000"/>
                </a:solidFill>
              </a:rPr>
              <a:t> Linux…</a:t>
            </a:r>
            <a:endParaRPr sz="6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180" dirty="0"/>
              <a:t> </a:t>
            </a:r>
            <a:r>
              <a:rPr dirty="0"/>
              <a:t>brief</a:t>
            </a:r>
            <a:r>
              <a:rPr spc="-35" dirty="0"/>
              <a:t> </a:t>
            </a:r>
            <a:r>
              <a:rPr dirty="0"/>
              <a:t>history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3" y="1619606"/>
            <a:ext cx="8117840" cy="4847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GNU</a:t>
            </a:r>
            <a:r>
              <a:rPr sz="3200" spc="-10" dirty="0">
                <a:latin typeface="Times New Roman"/>
                <a:cs typeface="Times New Roman"/>
              </a:rPr>
              <a:t> Project:</a:t>
            </a:r>
            <a:endParaRPr sz="32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9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Richard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Stallman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GNU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1983</a:t>
            </a:r>
            <a:endParaRPr sz="24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1292225" algn="l"/>
              </a:tabLst>
            </a:pPr>
            <a:r>
              <a:rPr sz="1800" spc="-10" dirty="0">
                <a:latin typeface="Times New Roman"/>
                <a:cs typeface="Times New Roman"/>
              </a:rPr>
              <a:t>After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AT&amp;T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imposed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commercial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licensing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Unix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30"/>
              </a:spcBef>
              <a:buFont typeface="Arial MT"/>
              <a:buChar char="•"/>
              <a:tabLst>
                <a:tab pos="1292225" algn="l"/>
              </a:tabLst>
            </a:pPr>
            <a:r>
              <a:rPr sz="1800" dirty="0">
                <a:latin typeface="Times New Roman"/>
                <a:cs typeface="Times New Roman"/>
              </a:rPr>
              <a:t>Reprogrammed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some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Unix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Tools.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running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small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kernel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(TRIX)</a:t>
            </a:r>
            <a:endParaRPr sz="18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35"/>
              </a:spcBef>
              <a:buFont typeface="Arial MT"/>
              <a:buChar char="•"/>
              <a:tabLst>
                <a:tab pos="1292225" algn="l"/>
              </a:tabLst>
            </a:pPr>
            <a:r>
              <a:rPr sz="1800" dirty="0">
                <a:latin typeface="Times New Roman"/>
                <a:cs typeface="Times New Roman"/>
              </a:rPr>
              <a:t>Needed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advanced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reliable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Kernel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programs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0" dirty="0">
                <a:latin typeface="Times New Roman"/>
                <a:cs typeface="Times New Roman"/>
              </a:rPr>
              <a:t>Linux:</a:t>
            </a:r>
            <a:endParaRPr sz="32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80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Linus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Torvalds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kernel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1990s</a:t>
            </a:r>
            <a:endParaRPr sz="24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1292225" algn="l"/>
              </a:tabLst>
            </a:pPr>
            <a:r>
              <a:rPr sz="1800" dirty="0">
                <a:latin typeface="Times New Roman"/>
                <a:cs typeface="Times New Roman"/>
              </a:rPr>
              <a:t>Linus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released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first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kernel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GPL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(General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Public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License)</a:t>
            </a:r>
            <a:endParaRPr sz="1800">
              <a:latin typeface="Times New Roman"/>
              <a:cs typeface="Times New Roman"/>
            </a:endParaRPr>
          </a:p>
          <a:p>
            <a:pPr marL="1515110">
              <a:lnSpc>
                <a:spcPct val="100000"/>
              </a:lnSpc>
              <a:spcBef>
                <a:spcPts val="1630"/>
              </a:spcBef>
              <a:tabLst>
                <a:tab pos="1901825" algn="l"/>
              </a:tabLst>
            </a:pPr>
            <a:r>
              <a:rPr sz="1800" spc="-50" dirty="0">
                <a:latin typeface="Arial MT"/>
                <a:cs typeface="Arial MT"/>
              </a:rPr>
              <a:t>–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Requires</a:t>
            </a:r>
            <a:r>
              <a:rPr sz="1800" i="1" spc="-6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that</a:t>
            </a:r>
            <a:r>
              <a:rPr sz="1800" i="1" spc="-5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the</a:t>
            </a:r>
            <a:r>
              <a:rPr sz="1800" i="1" spc="-6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source</a:t>
            </a:r>
            <a:r>
              <a:rPr sz="1800" i="1" spc="-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code</a:t>
            </a:r>
            <a:r>
              <a:rPr sz="1800" i="1" spc="-6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remains</a:t>
            </a:r>
            <a:r>
              <a:rPr sz="1800" i="1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freely</a:t>
            </a:r>
            <a:r>
              <a:rPr sz="1800" i="1" spc="-6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available</a:t>
            </a:r>
            <a:r>
              <a:rPr sz="1800" i="1" spc="-7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to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everyone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25" dirty="0"/>
              <a:t> </a:t>
            </a:r>
            <a:r>
              <a:rPr spc="-10" dirty="0"/>
              <a:t>Distributions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7948"/>
            <a:ext cx="7569834" cy="1551305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sz="3600" dirty="0">
                <a:latin typeface="Times New Roman"/>
                <a:cs typeface="Times New Roman"/>
              </a:rPr>
              <a:t>Linux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has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various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distributions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(Distros):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889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dirty="0">
                <a:latin typeface="Times New Roman"/>
                <a:cs typeface="Times New Roman"/>
              </a:rPr>
              <a:t>Why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distributions?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529" y="2913991"/>
            <a:ext cx="2996565" cy="135128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399415" algn="l"/>
              </a:tabLst>
            </a:pP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vs.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Desktop</a:t>
            </a:r>
            <a:endParaRPr sz="200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399415" algn="l"/>
              </a:tabLst>
            </a:pPr>
            <a:r>
              <a:rPr sz="2000" dirty="0">
                <a:latin typeface="Times New Roman"/>
                <a:cs typeface="Times New Roman"/>
              </a:rPr>
              <a:t>Commercial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support</a:t>
            </a:r>
            <a:endParaRPr sz="200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399415" algn="l"/>
              </a:tabLst>
            </a:pPr>
            <a:r>
              <a:rPr sz="2000" dirty="0">
                <a:latin typeface="Times New Roman"/>
                <a:cs typeface="Times New Roman"/>
              </a:rPr>
              <a:t>Special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support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129" y="5144517"/>
            <a:ext cx="8585200" cy="974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spc="-10" dirty="0">
                <a:latin typeface="Times New Roman"/>
                <a:cs typeface="Times New Roman"/>
              </a:rPr>
              <a:t>Debian/RedHat/SUSE/…</a:t>
            </a:r>
            <a:endParaRPr sz="28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1710"/>
              </a:spcBef>
              <a:buFont typeface="Arial MT"/>
              <a:buChar char="•"/>
              <a:tabLst>
                <a:tab pos="93281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major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distros.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6984" y="2325623"/>
            <a:ext cx="5699759" cy="22067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Structure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Linux</a:t>
            </a:r>
            <a:r>
              <a:rPr spc="-30" dirty="0"/>
              <a:t> </a:t>
            </a:r>
            <a:r>
              <a:rPr spc="-25" dirty="0"/>
              <a:t>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43655" y="1344167"/>
            <a:ext cx="5504815" cy="5504815"/>
            <a:chOff x="3343655" y="1344167"/>
            <a:chExt cx="5504815" cy="55048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3655" y="1344167"/>
              <a:ext cx="5504687" cy="55046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5920" y="1812036"/>
              <a:ext cx="1280159" cy="5471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6328" y="1373124"/>
              <a:ext cx="5419344" cy="54102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617367" y="1873952"/>
            <a:ext cx="956944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Linux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Shell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86200" y="2427732"/>
            <a:ext cx="4419600" cy="4421505"/>
            <a:chOff x="3886200" y="2427732"/>
            <a:chExt cx="4419600" cy="442150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6200" y="2427732"/>
              <a:ext cx="4419599" cy="44211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4188" y="2749296"/>
              <a:ext cx="1607819" cy="7833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28872" y="2452624"/>
              <a:ext cx="4334256" cy="43307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475667" y="2812006"/>
            <a:ext cx="1242060" cy="5219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24154" marR="5080" indent="-212090">
              <a:lnSpc>
                <a:spcPts val="1860"/>
              </a:lnSpc>
              <a:spcBef>
                <a:spcPts val="315"/>
              </a:spcBef>
            </a:pPr>
            <a:r>
              <a:rPr sz="1700" spc="-10" dirty="0">
                <a:latin typeface="Calibri"/>
                <a:cs typeface="Calibri"/>
              </a:rPr>
              <a:t>Supplemental Software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27220" y="3512820"/>
            <a:ext cx="3337560" cy="3336290"/>
            <a:chOff x="4427220" y="3512820"/>
            <a:chExt cx="3337560" cy="333629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27220" y="3512820"/>
              <a:ext cx="3337559" cy="33360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60492" y="3793236"/>
              <a:ext cx="1316735" cy="7833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69892" y="3532632"/>
              <a:ext cx="3252216" cy="325069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621939" y="3855100"/>
            <a:ext cx="946785" cy="5219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8920" marR="5080" indent="-236854">
              <a:lnSpc>
                <a:spcPts val="1860"/>
              </a:lnSpc>
              <a:spcBef>
                <a:spcPts val="315"/>
              </a:spcBef>
            </a:pPr>
            <a:r>
              <a:rPr sz="1700" dirty="0">
                <a:latin typeface="Calibri"/>
                <a:cs typeface="Calibri"/>
              </a:rPr>
              <a:t>Core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Linux Tools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69763" y="4596383"/>
            <a:ext cx="2252980" cy="2252980"/>
            <a:chOff x="4969763" y="4596383"/>
            <a:chExt cx="2252980" cy="2252980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69763" y="4596383"/>
              <a:ext cx="2252471" cy="225247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84291" y="5469636"/>
              <a:ext cx="1423415" cy="5471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12436" y="4616196"/>
              <a:ext cx="2167128" cy="216712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546120" y="5531552"/>
            <a:ext cx="10998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Linux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Kernel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39840" y="5119115"/>
            <a:ext cx="5430520" cy="1580515"/>
            <a:chOff x="6339840" y="5119115"/>
            <a:chExt cx="5430520" cy="1580515"/>
          </a:xfrm>
        </p:grpSpPr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39840" y="5120639"/>
              <a:ext cx="5430011" cy="15788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95588" y="5119115"/>
              <a:ext cx="2839211" cy="15087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43594" y="5161025"/>
              <a:ext cx="2731007" cy="144322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520406" y="5431629"/>
              <a:ext cx="2195830" cy="678180"/>
            </a:xfrm>
            <a:custGeom>
              <a:avLst/>
              <a:gdLst/>
              <a:ahLst/>
              <a:cxnLst/>
              <a:rect l="l" t="t" r="r" b="b"/>
              <a:pathLst>
                <a:path w="2195829" h="678179">
                  <a:moveTo>
                    <a:pt x="2195614" y="0"/>
                  </a:moveTo>
                  <a:lnTo>
                    <a:pt x="1968017" y="0"/>
                  </a:lnTo>
                  <a:lnTo>
                    <a:pt x="0" y="677659"/>
                  </a:lnTo>
                </a:path>
              </a:pathLst>
            </a:custGeom>
            <a:ln w="28575">
              <a:solidFill>
                <a:srgbClr val="449B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52863" y="6064108"/>
              <a:ext cx="95250" cy="81280"/>
            </a:xfrm>
            <a:custGeom>
              <a:avLst/>
              <a:gdLst/>
              <a:ahLst/>
              <a:cxnLst/>
              <a:rect l="l" t="t" r="r" b="b"/>
              <a:pathLst>
                <a:path w="95250" h="81279">
                  <a:moveTo>
                    <a:pt x="67094" y="0"/>
                  </a:moveTo>
                  <a:lnTo>
                    <a:pt x="0" y="68440"/>
                  </a:lnTo>
                  <a:lnTo>
                    <a:pt x="95008" y="81051"/>
                  </a:lnTo>
                  <a:lnTo>
                    <a:pt x="67094" y="0"/>
                  </a:lnTo>
                  <a:close/>
                </a:path>
              </a:pathLst>
            </a:custGeom>
            <a:solidFill>
              <a:srgbClr val="449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943593" y="5161026"/>
            <a:ext cx="2731135" cy="1443355"/>
          </a:xfrm>
          <a:prstGeom prst="rect">
            <a:avLst/>
          </a:prstGeom>
          <a:ln w="28575">
            <a:solidFill>
              <a:srgbClr val="449BB3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77825" indent="-28702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377825" algn="l"/>
              </a:tabLst>
            </a:pPr>
            <a:r>
              <a:rPr sz="1600" spc="-10" dirty="0">
                <a:latin typeface="Calibri"/>
                <a:cs typeface="Calibri"/>
              </a:rPr>
              <a:t>Process/Thread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scheduling</a:t>
            </a:r>
            <a:endParaRPr sz="1600">
              <a:latin typeface="Calibri"/>
              <a:cs typeface="Calibri"/>
            </a:endParaRPr>
          </a:p>
          <a:p>
            <a:pPr marL="377825" indent="-287020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sz="1600" dirty="0">
                <a:latin typeface="Calibri"/>
                <a:cs typeface="Calibri"/>
              </a:rPr>
              <a:t>Memory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Management</a:t>
            </a:r>
            <a:endParaRPr sz="1600">
              <a:latin typeface="Calibri"/>
              <a:cs typeface="Calibri"/>
            </a:endParaRPr>
          </a:p>
          <a:p>
            <a:pPr marL="377825" indent="-287020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sz="1600" dirty="0">
                <a:latin typeface="Calibri"/>
                <a:cs typeface="Calibri"/>
              </a:rPr>
              <a:t>File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I/O</a:t>
            </a:r>
            <a:r>
              <a:rPr sz="1600" spc="-10" dirty="0">
                <a:latin typeface="Calibri"/>
                <a:cs typeface="Calibri"/>
              </a:rPr>
              <a:t> management</a:t>
            </a:r>
            <a:endParaRPr sz="1600">
              <a:latin typeface="Calibri"/>
              <a:cs typeface="Calibri"/>
            </a:endParaRPr>
          </a:p>
          <a:p>
            <a:pPr marL="377825" indent="-287020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sz="1600" dirty="0">
                <a:latin typeface="Calibri"/>
                <a:cs typeface="Calibri"/>
              </a:rPr>
              <a:t>Device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drivers</a:t>
            </a:r>
            <a:endParaRPr sz="1600">
              <a:latin typeface="Calibri"/>
              <a:cs typeface="Calibri"/>
            </a:endParaRPr>
          </a:p>
          <a:p>
            <a:pPr marL="377825" indent="-287020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calls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76784" y="4629911"/>
            <a:ext cx="5317490" cy="1333500"/>
            <a:chOff x="176784" y="4629911"/>
            <a:chExt cx="5317490" cy="1333500"/>
          </a:xfrm>
        </p:grpSpPr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4403" y="4629911"/>
              <a:ext cx="5309615" cy="13334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6784" y="4704587"/>
              <a:ext cx="2467355" cy="124358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1553" y="4740401"/>
              <a:ext cx="2729484" cy="11430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019049" y="4762089"/>
              <a:ext cx="2279650" cy="828040"/>
            </a:xfrm>
            <a:custGeom>
              <a:avLst/>
              <a:gdLst/>
              <a:ahLst/>
              <a:cxnLst/>
              <a:rect l="l" t="t" r="r" b="b"/>
              <a:pathLst>
                <a:path w="2279650" h="828039">
                  <a:moveTo>
                    <a:pt x="0" y="827468"/>
                  </a:moveTo>
                  <a:lnTo>
                    <a:pt x="185737" y="817549"/>
                  </a:lnTo>
                  <a:lnTo>
                    <a:pt x="2279154" y="0"/>
                  </a:lnTo>
                </a:path>
              </a:pathLst>
            </a:custGeom>
            <a:ln w="2857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69298" y="4727357"/>
              <a:ext cx="95885" cy="80010"/>
            </a:xfrm>
            <a:custGeom>
              <a:avLst/>
              <a:gdLst/>
              <a:ahLst/>
              <a:cxnLst/>
              <a:rect l="l" t="t" r="r" b="b"/>
              <a:pathLst>
                <a:path w="95885" h="80010">
                  <a:moveTo>
                    <a:pt x="0" y="0"/>
                  </a:moveTo>
                  <a:lnTo>
                    <a:pt x="31178" y="79857"/>
                  </a:lnTo>
                  <a:lnTo>
                    <a:pt x="95440" y="8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41554" y="4740402"/>
            <a:ext cx="2729865" cy="1143000"/>
          </a:xfrm>
          <a:prstGeom prst="rect">
            <a:avLst/>
          </a:prstGeom>
          <a:ln w="28575">
            <a:solidFill>
              <a:srgbClr val="497DB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75920" indent="-28638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375920" algn="l"/>
              </a:tabLst>
            </a:pPr>
            <a:r>
              <a:rPr sz="1600" dirty="0">
                <a:latin typeface="Calibri"/>
                <a:cs typeface="Calibri"/>
              </a:rPr>
              <a:t>OS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commands</a:t>
            </a:r>
            <a:endParaRPr sz="1600">
              <a:latin typeface="Calibri"/>
              <a:cs typeface="Calibri"/>
            </a:endParaRPr>
          </a:p>
          <a:p>
            <a:pPr marL="375920" indent="-286385">
              <a:lnSpc>
                <a:spcPct val="100000"/>
              </a:lnSpc>
              <a:buFont typeface="Arial MT"/>
              <a:buChar char="•"/>
              <a:tabLst>
                <a:tab pos="375920" algn="l"/>
              </a:tabLst>
            </a:pPr>
            <a:r>
              <a:rPr sz="1600" spc="-25" dirty="0">
                <a:latin typeface="Calibri"/>
                <a:cs typeface="Calibri"/>
              </a:rPr>
              <a:t>System-</a:t>
            </a:r>
            <a:r>
              <a:rPr sz="1600" dirty="0">
                <a:latin typeface="Calibri"/>
                <a:cs typeface="Calibri"/>
              </a:rPr>
              <a:t>level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programs</a:t>
            </a:r>
            <a:endParaRPr sz="1600">
              <a:latin typeface="Calibri"/>
              <a:cs typeface="Calibri"/>
            </a:endParaRPr>
          </a:p>
          <a:p>
            <a:pPr marL="375920" indent="-286385">
              <a:lnSpc>
                <a:spcPct val="100000"/>
              </a:lnSpc>
              <a:buFont typeface="Arial MT"/>
              <a:buChar char="•"/>
              <a:tabLst>
                <a:tab pos="375920" algn="l"/>
              </a:tabLst>
            </a:pPr>
            <a:r>
              <a:rPr sz="1600" dirty="0">
                <a:latin typeface="Calibri"/>
                <a:cs typeface="Calibri"/>
              </a:rPr>
              <a:t>GNU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tools</a:t>
            </a:r>
            <a:endParaRPr sz="1600">
              <a:latin typeface="Calibri"/>
              <a:cs typeface="Calibri"/>
            </a:endParaRPr>
          </a:p>
          <a:p>
            <a:pPr marL="375920" indent="-286385">
              <a:lnSpc>
                <a:spcPct val="100000"/>
              </a:lnSpc>
              <a:buFont typeface="Arial MT"/>
              <a:buChar char="•"/>
              <a:tabLst>
                <a:tab pos="375920" algn="l"/>
              </a:tabLst>
            </a:pPr>
            <a:r>
              <a:rPr sz="1600" spc="-10" dirty="0">
                <a:latin typeface="Calibri"/>
                <a:cs typeface="Calibri"/>
              </a:rPr>
              <a:t>Compilers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704076" y="2217420"/>
            <a:ext cx="5066030" cy="1280160"/>
            <a:chOff x="6704076" y="2217420"/>
            <a:chExt cx="5066030" cy="1280160"/>
          </a:xfrm>
        </p:grpSpPr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04076" y="2218944"/>
              <a:ext cx="5065775" cy="127863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95588" y="2217420"/>
              <a:ext cx="2275331" cy="102107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943594" y="2259330"/>
              <a:ext cx="2731007" cy="11430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882457" y="2473641"/>
              <a:ext cx="1833880" cy="645160"/>
            </a:xfrm>
            <a:custGeom>
              <a:avLst/>
              <a:gdLst/>
              <a:ahLst/>
              <a:cxnLst/>
              <a:rect l="l" t="t" r="r" b="b"/>
              <a:pathLst>
                <a:path w="1833879" h="645160">
                  <a:moveTo>
                    <a:pt x="1833562" y="0"/>
                  </a:moveTo>
                  <a:lnTo>
                    <a:pt x="1605965" y="0"/>
                  </a:lnTo>
                  <a:lnTo>
                    <a:pt x="0" y="644842"/>
                  </a:lnTo>
                </a:path>
              </a:pathLst>
            </a:custGeom>
            <a:ln w="28575">
              <a:solidFill>
                <a:srgbClr val="4B7A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16163" y="3073384"/>
              <a:ext cx="95885" cy="80010"/>
            </a:xfrm>
            <a:custGeom>
              <a:avLst/>
              <a:gdLst/>
              <a:ahLst/>
              <a:cxnLst/>
              <a:rect l="l" t="t" r="r" b="b"/>
              <a:pathLst>
                <a:path w="95884" h="80010">
                  <a:moveTo>
                    <a:pt x="63576" y="0"/>
                  </a:moveTo>
                  <a:lnTo>
                    <a:pt x="0" y="71729"/>
                  </a:lnTo>
                  <a:lnTo>
                    <a:pt x="95529" y="79552"/>
                  </a:lnTo>
                  <a:lnTo>
                    <a:pt x="63576" y="0"/>
                  </a:lnTo>
                  <a:close/>
                </a:path>
              </a:pathLst>
            </a:custGeom>
            <a:solidFill>
              <a:srgbClr val="4B7A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943593" y="2259329"/>
            <a:ext cx="2731135" cy="1143000"/>
          </a:xfrm>
          <a:prstGeom prst="rect">
            <a:avLst/>
          </a:prstGeom>
          <a:ln w="28575">
            <a:solidFill>
              <a:srgbClr val="4B7AB1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77825" marR="831850" indent="-28702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377825" algn="l"/>
              </a:tabLst>
            </a:pPr>
            <a:r>
              <a:rPr sz="1600" dirty="0">
                <a:latin typeface="Calibri"/>
                <a:cs typeface="Calibri"/>
              </a:rPr>
              <a:t>User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software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spc="-10" dirty="0">
                <a:latin typeface="Calibri"/>
                <a:cs typeface="Calibri"/>
              </a:rPr>
              <a:t>applications</a:t>
            </a:r>
            <a:endParaRPr sz="1600">
              <a:latin typeface="Calibri"/>
              <a:cs typeface="Calibri"/>
            </a:endParaRPr>
          </a:p>
          <a:p>
            <a:pPr marL="377825" indent="-287020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sz="1600" spc="-10" dirty="0">
                <a:latin typeface="Calibri"/>
                <a:cs typeface="Calibri"/>
              </a:rPr>
              <a:t>High-</a:t>
            </a:r>
            <a:r>
              <a:rPr sz="1600" dirty="0">
                <a:latin typeface="Calibri"/>
                <a:cs typeface="Calibri"/>
              </a:rPr>
              <a:t>level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programs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2023" y="2170176"/>
            <a:ext cx="5339080" cy="1355090"/>
            <a:chOff x="192023" y="2170176"/>
            <a:chExt cx="5339080" cy="1355090"/>
          </a:xfrm>
        </p:grpSpPr>
        <p:pic>
          <p:nvPicPr>
            <p:cNvPr id="45" name="object 4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01167" y="2170176"/>
              <a:ext cx="5329427" cy="135483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2023" y="2244852"/>
              <a:ext cx="2610611" cy="102107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1553" y="2286762"/>
              <a:ext cx="2729484" cy="11430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019049" y="2308449"/>
              <a:ext cx="2279650" cy="828040"/>
            </a:xfrm>
            <a:custGeom>
              <a:avLst/>
              <a:gdLst/>
              <a:ahLst/>
              <a:cxnLst/>
              <a:rect l="l" t="t" r="r" b="b"/>
              <a:pathLst>
                <a:path w="2279650" h="828039">
                  <a:moveTo>
                    <a:pt x="0" y="827468"/>
                  </a:moveTo>
                  <a:lnTo>
                    <a:pt x="185737" y="817549"/>
                  </a:lnTo>
                  <a:lnTo>
                    <a:pt x="2279154" y="0"/>
                  </a:lnTo>
                </a:path>
              </a:pathLst>
            </a:custGeom>
            <a:ln w="28574">
              <a:solidFill>
                <a:srgbClr val="7B61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269298" y="2273717"/>
              <a:ext cx="95885" cy="80010"/>
            </a:xfrm>
            <a:custGeom>
              <a:avLst/>
              <a:gdLst/>
              <a:ahLst/>
              <a:cxnLst/>
              <a:rect l="l" t="t" r="r" b="b"/>
              <a:pathLst>
                <a:path w="95885" h="80010">
                  <a:moveTo>
                    <a:pt x="0" y="0"/>
                  </a:moveTo>
                  <a:lnTo>
                    <a:pt x="31178" y="79857"/>
                  </a:lnTo>
                  <a:lnTo>
                    <a:pt x="95440" y="8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61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41554" y="2286761"/>
            <a:ext cx="2729865" cy="1143000"/>
          </a:xfrm>
          <a:prstGeom prst="rect">
            <a:avLst/>
          </a:prstGeom>
          <a:ln w="28575">
            <a:solidFill>
              <a:srgbClr val="7B619B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76555" marR="429895" indent="-28702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376555" algn="l"/>
              </a:tabLst>
            </a:pPr>
            <a:r>
              <a:rPr sz="1600" dirty="0">
                <a:latin typeface="Calibri"/>
                <a:cs typeface="Calibri"/>
              </a:rPr>
              <a:t>Here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start </a:t>
            </a:r>
            <a:r>
              <a:rPr sz="1600" spc="-10" dirty="0">
                <a:latin typeface="Calibri"/>
                <a:cs typeface="Calibri"/>
              </a:rPr>
              <a:t>interacting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OS</a:t>
            </a:r>
            <a:endParaRPr sz="1600">
              <a:latin typeface="Calibri"/>
              <a:cs typeface="Calibri"/>
            </a:endParaRPr>
          </a:p>
          <a:p>
            <a:pPr marL="375920" indent="-286385">
              <a:lnSpc>
                <a:spcPct val="100000"/>
              </a:lnSpc>
              <a:buFont typeface="Arial MT"/>
              <a:buChar char="•"/>
              <a:tabLst>
                <a:tab pos="375920" algn="l"/>
              </a:tabLst>
            </a:pPr>
            <a:r>
              <a:rPr sz="1600" dirty="0">
                <a:latin typeface="Calibri"/>
                <a:cs typeface="Calibri"/>
              </a:rPr>
              <a:t>Multiuser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25" dirty="0"/>
              <a:t> </a:t>
            </a:r>
            <a:r>
              <a:rPr spc="-20" dirty="0"/>
              <a:t>Shell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278294"/>
            <a:ext cx="10020935" cy="275971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shell?</a:t>
            </a:r>
            <a:endParaRPr sz="30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00000"/>
              </a:lnSpc>
              <a:spcBef>
                <a:spcPts val="1160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946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shell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commands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user’s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keyboard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them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execute.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dirty="0">
                <a:latin typeface="Times New Roman"/>
                <a:cs typeface="Times New Roman"/>
              </a:rPr>
              <a:t>Many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shell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programs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available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Linux:</a:t>
            </a:r>
            <a:endParaRPr sz="19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dirty="0">
                <a:latin typeface="Times New Roman"/>
                <a:cs typeface="Times New Roman"/>
              </a:rPr>
              <a:t>bash,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csh,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tcsh,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ksh,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zsh,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…</a:t>
            </a:r>
            <a:endParaRPr sz="19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this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tutorial,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will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Courier New"/>
                <a:cs typeface="Courier New"/>
              </a:rPr>
              <a:t>bash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but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other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shells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conceptually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similar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465" y="5258977"/>
            <a:ext cx="10032365" cy="116713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Terminal?</a:t>
            </a:r>
            <a:endParaRPr sz="30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160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8825" algn="l"/>
              </a:tabLst>
            </a:pPr>
            <a:r>
              <a:rPr sz="2200" spc="-20" dirty="0">
                <a:latin typeface="Times New Roman"/>
                <a:cs typeface="Times New Roman"/>
              </a:rPr>
              <a:t>Terminal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opens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window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interact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shell.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05484" y="4264152"/>
            <a:ext cx="9592310" cy="771525"/>
            <a:chOff x="1205484" y="4264152"/>
            <a:chExt cx="9592310" cy="7715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6632" y="4264152"/>
              <a:ext cx="9550907" cy="7711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484" y="4401312"/>
              <a:ext cx="2548127" cy="56540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93875" y="4288535"/>
            <a:ext cx="9456420" cy="67691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36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ourier New"/>
                <a:cs typeface="Courier New"/>
              </a:rPr>
              <a:t>command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6223" y="2473825"/>
            <a:ext cx="6055360" cy="167640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 marR="5080" indent="1024255">
              <a:lnSpc>
                <a:spcPts val="6160"/>
              </a:lnSpc>
              <a:spcBef>
                <a:spcPts val="869"/>
              </a:spcBef>
            </a:pPr>
            <a:r>
              <a:rPr sz="5700" spc="-35" dirty="0">
                <a:solidFill>
                  <a:srgbClr val="000000"/>
                </a:solidFill>
              </a:rPr>
              <a:t>Working</a:t>
            </a:r>
            <a:r>
              <a:rPr sz="5700" spc="-315" dirty="0">
                <a:solidFill>
                  <a:srgbClr val="000000"/>
                </a:solidFill>
              </a:rPr>
              <a:t> </a:t>
            </a:r>
            <a:r>
              <a:rPr sz="5700" spc="-20" dirty="0">
                <a:solidFill>
                  <a:srgbClr val="000000"/>
                </a:solidFill>
              </a:rPr>
              <a:t>with </a:t>
            </a:r>
            <a:r>
              <a:rPr sz="5700" dirty="0">
                <a:solidFill>
                  <a:srgbClr val="000000"/>
                </a:solidFill>
              </a:rPr>
              <a:t>Files</a:t>
            </a:r>
            <a:r>
              <a:rPr sz="5700" spc="-65" dirty="0">
                <a:solidFill>
                  <a:srgbClr val="000000"/>
                </a:solidFill>
              </a:rPr>
              <a:t> </a:t>
            </a:r>
            <a:r>
              <a:rPr sz="5700" dirty="0">
                <a:solidFill>
                  <a:srgbClr val="000000"/>
                </a:solidFill>
              </a:rPr>
              <a:t>and</a:t>
            </a:r>
            <a:r>
              <a:rPr sz="5700" spc="-85" dirty="0">
                <a:solidFill>
                  <a:srgbClr val="000000"/>
                </a:solidFill>
              </a:rPr>
              <a:t> </a:t>
            </a:r>
            <a:r>
              <a:rPr sz="5700" spc="-10" dirty="0">
                <a:solidFill>
                  <a:srgbClr val="000000"/>
                </a:solidFill>
              </a:rPr>
              <a:t>Directories</a:t>
            </a:r>
            <a:endParaRPr sz="5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Understanding</a:t>
            </a:r>
            <a:r>
              <a:rPr spc="-55" dirty="0"/>
              <a:t> </a:t>
            </a:r>
            <a:r>
              <a:rPr dirty="0"/>
              <a:t>Linux</a:t>
            </a:r>
            <a:r>
              <a:rPr spc="-35" dirty="0"/>
              <a:t> </a:t>
            </a:r>
            <a:r>
              <a:rPr dirty="0"/>
              <a:t>Directory</a:t>
            </a:r>
            <a:r>
              <a:rPr spc="-50" dirty="0"/>
              <a:t> </a:t>
            </a:r>
            <a:r>
              <a:rPr spc="-10" dirty="0"/>
              <a:t>Structure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20339" y="1403604"/>
            <a:ext cx="1434465" cy="5240655"/>
            <a:chOff x="2720339" y="1403604"/>
            <a:chExt cx="1434465" cy="5240655"/>
          </a:xfrm>
        </p:grpSpPr>
        <p:sp>
          <p:nvSpPr>
            <p:cNvPr id="4" name="object 4"/>
            <p:cNvSpPr/>
            <p:nvPr/>
          </p:nvSpPr>
          <p:spPr>
            <a:xfrm>
              <a:off x="2900933" y="1800606"/>
              <a:ext cx="201930" cy="4831080"/>
            </a:xfrm>
            <a:custGeom>
              <a:avLst/>
              <a:gdLst/>
              <a:ahLst/>
              <a:cxnLst/>
              <a:rect l="l" t="t" r="r" b="b"/>
              <a:pathLst>
                <a:path w="201930" h="4831080">
                  <a:moveTo>
                    <a:pt x="0" y="0"/>
                  </a:moveTo>
                  <a:lnTo>
                    <a:pt x="0" y="4830737"/>
                  </a:lnTo>
                  <a:lnTo>
                    <a:pt x="201739" y="4830737"/>
                  </a:lnTo>
                </a:path>
              </a:pathLst>
            </a:custGeom>
            <a:ln w="25400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6213" y="5534405"/>
              <a:ext cx="201930" cy="681355"/>
            </a:xfrm>
            <a:custGeom>
              <a:avLst/>
              <a:gdLst/>
              <a:ahLst/>
              <a:cxnLst/>
              <a:rect l="l" t="t" r="r" b="b"/>
              <a:pathLst>
                <a:path w="201929" h="681354">
                  <a:moveTo>
                    <a:pt x="0" y="0"/>
                  </a:moveTo>
                  <a:lnTo>
                    <a:pt x="0" y="680923"/>
                  </a:lnTo>
                  <a:lnTo>
                    <a:pt x="201739" y="680923"/>
                  </a:lnTo>
                </a:path>
                <a:path w="201929" h="681354">
                  <a:moveTo>
                    <a:pt x="0" y="0"/>
                  </a:moveTo>
                  <a:lnTo>
                    <a:pt x="0" y="265938"/>
                  </a:lnTo>
                  <a:lnTo>
                    <a:pt x="201739" y="265938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00933" y="1800606"/>
              <a:ext cx="201930" cy="3585845"/>
            </a:xfrm>
            <a:custGeom>
              <a:avLst/>
              <a:gdLst/>
              <a:ahLst/>
              <a:cxnLst/>
              <a:rect l="l" t="t" r="r" b="b"/>
              <a:pathLst>
                <a:path w="201930" h="3585845">
                  <a:moveTo>
                    <a:pt x="0" y="0"/>
                  </a:moveTo>
                  <a:lnTo>
                    <a:pt x="0" y="3585794"/>
                  </a:lnTo>
                  <a:lnTo>
                    <a:pt x="201739" y="3585794"/>
                  </a:lnTo>
                </a:path>
                <a:path w="201930" h="3585845">
                  <a:moveTo>
                    <a:pt x="0" y="0"/>
                  </a:moveTo>
                  <a:lnTo>
                    <a:pt x="0" y="3170809"/>
                  </a:lnTo>
                  <a:lnTo>
                    <a:pt x="201739" y="3170809"/>
                  </a:lnTo>
                </a:path>
              </a:pathLst>
            </a:custGeom>
            <a:ln w="25400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36213" y="3460242"/>
              <a:ext cx="201930" cy="1096010"/>
            </a:xfrm>
            <a:custGeom>
              <a:avLst/>
              <a:gdLst/>
              <a:ahLst/>
              <a:cxnLst/>
              <a:rect l="l" t="t" r="r" b="b"/>
              <a:pathLst>
                <a:path w="201929" h="1096010">
                  <a:moveTo>
                    <a:pt x="0" y="0"/>
                  </a:moveTo>
                  <a:lnTo>
                    <a:pt x="0" y="1095908"/>
                  </a:lnTo>
                  <a:lnTo>
                    <a:pt x="201739" y="1095908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06545" y="3874770"/>
              <a:ext cx="253365" cy="266065"/>
            </a:xfrm>
            <a:custGeom>
              <a:avLst/>
              <a:gdLst/>
              <a:ahLst/>
              <a:cxnLst/>
              <a:rect l="l" t="t" r="r" b="b"/>
              <a:pathLst>
                <a:path w="253364" h="266064">
                  <a:moveTo>
                    <a:pt x="0" y="0"/>
                  </a:moveTo>
                  <a:lnTo>
                    <a:pt x="0" y="265937"/>
                  </a:lnTo>
                  <a:lnTo>
                    <a:pt x="253085" y="265937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36213" y="3460242"/>
              <a:ext cx="201930" cy="266065"/>
            </a:xfrm>
            <a:custGeom>
              <a:avLst/>
              <a:gdLst/>
              <a:ahLst/>
              <a:cxnLst/>
              <a:rect l="l" t="t" r="r" b="b"/>
              <a:pathLst>
                <a:path w="201929" h="266064">
                  <a:moveTo>
                    <a:pt x="0" y="0"/>
                  </a:moveTo>
                  <a:lnTo>
                    <a:pt x="0" y="265938"/>
                  </a:lnTo>
                  <a:lnTo>
                    <a:pt x="201739" y="265938"/>
                  </a:lnTo>
                </a:path>
              </a:pathLst>
            </a:custGeom>
            <a:ln w="25400">
              <a:solidFill>
                <a:srgbClr val="4674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00933" y="1800606"/>
              <a:ext cx="201930" cy="1511300"/>
            </a:xfrm>
            <a:custGeom>
              <a:avLst/>
              <a:gdLst/>
              <a:ahLst/>
              <a:cxnLst/>
              <a:rect l="l" t="t" r="r" b="b"/>
              <a:pathLst>
                <a:path w="201930" h="1511300">
                  <a:moveTo>
                    <a:pt x="0" y="0"/>
                  </a:moveTo>
                  <a:lnTo>
                    <a:pt x="0" y="1510880"/>
                  </a:lnTo>
                  <a:lnTo>
                    <a:pt x="201739" y="1510880"/>
                  </a:lnTo>
                </a:path>
                <a:path w="201930" h="1511300">
                  <a:moveTo>
                    <a:pt x="0" y="0"/>
                  </a:moveTo>
                  <a:lnTo>
                    <a:pt x="0" y="1095908"/>
                  </a:lnTo>
                  <a:lnTo>
                    <a:pt x="201739" y="1095908"/>
                  </a:lnTo>
                </a:path>
                <a:path w="201930" h="1511300">
                  <a:moveTo>
                    <a:pt x="0" y="0"/>
                  </a:moveTo>
                  <a:lnTo>
                    <a:pt x="0" y="680923"/>
                  </a:lnTo>
                  <a:lnTo>
                    <a:pt x="201739" y="680923"/>
                  </a:lnTo>
                </a:path>
                <a:path w="201930" h="1511300">
                  <a:moveTo>
                    <a:pt x="0" y="0"/>
                  </a:moveTo>
                  <a:lnTo>
                    <a:pt x="0" y="265938"/>
                  </a:lnTo>
                  <a:lnTo>
                    <a:pt x="201739" y="265938"/>
                  </a:lnTo>
                </a:path>
              </a:pathLst>
            </a:custGeom>
            <a:ln w="25400">
              <a:solidFill>
                <a:srgbClr val="3C66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0339" y="1403604"/>
              <a:ext cx="1434083" cy="57607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280654" y="1474050"/>
            <a:ext cx="11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/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57144" y="1818132"/>
            <a:ext cx="2112645" cy="2235835"/>
            <a:chOff x="3057144" y="1818132"/>
            <a:chExt cx="2112645" cy="223583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7144" y="1818132"/>
              <a:ext cx="1434083" cy="5760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7144" y="2234183"/>
              <a:ext cx="1434083" cy="5760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7144" y="2648711"/>
              <a:ext cx="1434083" cy="57607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57144" y="3063240"/>
              <a:ext cx="1434083" cy="57607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3948" y="3479292"/>
              <a:ext cx="1775459" cy="57454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565061" y="1748370"/>
            <a:ext cx="1348740" cy="210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89940">
              <a:lnSpc>
                <a:spcPct val="1513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boot </a:t>
            </a:r>
            <a:r>
              <a:rPr sz="1800" spc="-25" dirty="0">
                <a:latin typeface="Calibri"/>
                <a:cs typeface="Calibri"/>
              </a:rPr>
              <a:t>etc tmp </a:t>
            </a:r>
            <a:r>
              <a:rPr sz="1800" spc="-20" dirty="0">
                <a:latin typeface="Calibri"/>
                <a:cs typeface="Calibri"/>
              </a:rPr>
              <a:t>home</a:t>
            </a:r>
            <a:endParaRPr sz="1800">
              <a:latin typeface="Calibri"/>
              <a:cs typeface="Calibri"/>
            </a:endParaRPr>
          </a:p>
          <a:p>
            <a:pPr marL="348615">
              <a:lnSpc>
                <a:spcPct val="100000"/>
              </a:lnSpc>
              <a:spcBef>
                <a:spcPts val="1105"/>
              </a:spcBef>
            </a:pPr>
            <a:r>
              <a:rPr sz="1800" spc="-10" dirty="0">
                <a:latin typeface="Calibri"/>
                <a:cs typeface="Calibri"/>
              </a:rPr>
              <a:t>mahmadia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93947" y="3893820"/>
            <a:ext cx="1854835" cy="990600"/>
            <a:chOff x="3393947" y="3893820"/>
            <a:chExt cx="1854835" cy="99060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6095" y="3893820"/>
              <a:ext cx="1432559" cy="57607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93947" y="4308348"/>
              <a:ext cx="1775459" cy="57607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901286" y="3823281"/>
            <a:ext cx="978535" cy="85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1640">
              <a:lnSpc>
                <a:spcPct val="1513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mydir </a:t>
            </a:r>
            <a:r>
              <a:rPr sz="1800" spc="-10" dirty="0">
                <a:latin typeface="Calibri"/>
                <a:cs typeface="Calibri"/>
              </a:rPr>
              <a:t>eRaider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057144" y="4724400"/>
            <a:ext cx="2112645" cy="1819910"/>
            <a:chOff x="3057144" y="4724400"/>
            <a:chExt cx="2112645" cy="181991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57144" y="4724400"/>
              <a:ext cx="1434083" cy="57454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57144" y="5138928"/>
              <a:ext cx="1434083" cy="57607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93948" y="5553456"/>
              <a:ext cx="1432559" cy="57607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93948" y="5967984"/>
              <a:ext cx="1775459" cy="57607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565061" y="4653243"/>
            <a:ext cx="1019175" cy="168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3075">
              <a:lnSpc>
                <a:spcPct val="1513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var </a:t>
            </a:r>
            <a:r>
              <a:rPr sz="1800" spc="-20" dirty="0">
                <a:latin typeface="Calibri"/>
                <a:cs typeface="Calibri"/>
              </a:rPr>
              <a:t>lustre</a:t>
            </a:r>
            <a:endParaRPr sz="1800">
              <a:latin typeface="Calibri"/>
              <a:cs typeface="Calibri"/>
            </a:endParaRPr>
          </a:p>
          <a:p>
            <a:pPr marL="348615" marR="5080">
              <a:lnSpc>
                <a:spcPct val="151300"/>
              </a:lnSpc>
            </a:pPr>
            <a:r>
              <a:rPr sz="1800" spc="-20" dirty="0">
                <a:latin typeface="Calibri"/>
                <a:cs typeface="Calibri"/>
              </a:rPr>
              <a:t>work </a:t>
            </a:r>
            <a:r>
              <a:rPr sz="1800" spc="-25" dirty="0">
                <a:latin typeface="Calibri"/>
                <a:cs typeface="Calibri"/>
              </a:rPr>
              <a:t>scratch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929128" y="6384035"/>
            <a:ext cx="1562099" cy="473963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100241" y="6453833"/>
            <a:ext cx="199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...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899617" y="1484694"/>
            <a:ext cx="1374140" cy="4865370"/>
            <a:chOff x="2899617" y="1484694"/>
            <a:chExt cx="1374140" cy="4865370"/>
          </a:xfrm>
        </p:grpSpPr>
        <p:sp>
          <p:nvSpPr>
            <p:cNvPr id="33" name="object 33"/>
            <p:cNvSpPr/>
            <p:nvPr/>
          </p:nvSpPr>
          <p:spPr>
            <a:xfrm>
              <a:off x="2906060" y="1491136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69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06060" y="1491138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69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19714" y="1589340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30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19714" y="1589340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30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55997" y="1897715"/>
              <a:ext cx="318770" cy="247015"/>
            </a:xfrm>
            <a:custGeom>
              <a:avLst/>
              <a:gdLst/>
              <a:ahLst/>
              <a:cxnLst/>
              <a:rect l="l" t="t" r="r" b="b"/>
              <a:pathLst>
                <a:path w="318770" h="247014">
                  <a:moveTo>
                    <a:pt x="0" y="247011"/>
                  </a:moveTo>
                  <a:lnTo>
                    <a:pt x="0" y="18642"/>
                  </a:lnTo>
                  <a:lnTo>
                    <a:pt x="1436" y="11403"/>
                  </a:lnTo>
                  <a:lnTo>
                    <a:pt x="5347" y="5476"/>
                  </a:lnTo>
                  <a:lnTo>
                    <a:pt x="11136" y="1470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398"/>
                  </a:lnTo>
                  <a:lnTo>
                    <a:pt x="113782" y="3262"/>
                  </a:lnTo>
                  <a:lnTo>
                    <a:pt x="163846" y="37284"/>
                  </a:lnTo>
                  <a:lnTo>
                    <a:pt x="300385" y="37284"/>
                  </a:lnTo>
                  <a:lnTo>
                    <a:pt x="307454" y="38755"/>
                  </a:lnTo>
                  <a:lnTo>
                    <a:pt x="313243" y="42760"/>
                  </a:lnTo>
                  <a:lnTo>
                    <a:pt x="317154" y="48688"/>
                  </a:lnTo>
                  <a:lnTo>
                    <a:pt x="318591" y="55927"/>
                  </a:lnTo>
                  <a:lnTo>
                    <a:pt x="318591" y="79230"/>
                  </a:lnTo>
                  <a:lnTo>
                    <a:pt x="90570" y="79230"/>
                  </a:lnTo>
                  <a:lnTo>
                    <a:pt x="80408" y="80817"/>
                  </a:lnTo>
                  <a:lnTo>
                    <a:pt x="71398" y="85288"/>
                  </a:lnTo>
                  <a:lnTo>
                    <a:pt x="64009" y="92206"/>
                  </a:lnTo>
                  <a:lnTo>
                    <a:pt x="58711" y="101134"/>
                  </a:lnTo>
                  <a:lnTo>
                    <a:pt x="9173" y="224611"/>
                  </a:lnTo>
                  <a:lnTo>
                    <a:pt x="0" y="247011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55997" y="1897715"/>
              <a:ext cx="318770" cy="247015"/>
            </a:xfrm>
            <a:custGeom>
              <a:avLst/>
              <a:gdLst/>
              <a:ahLst/>
              <a:cxnLst/>
              <a:rect l="l" t="t" r="r" b="b"/>
              <a:pathLst>
                <a:path w="318770" h="247014">
                  <a:moveTo>
                    <a:pt x="90570" y="79230"/>
                  </a:moveTo>
                  <a:lnTo>
                    <a:pt x="318591" y="79230"/>
                  </a:lnTo>
                  <a:lnTo>
                    <a:pt x="318591" y="55927"/>
                  </a:lnTo>
                  <a:lnTo>
                    <a:pt x="317154" y="48688"/>
                  </a:lnTo>
                  <a:lnTo>
                    <a:pt x="313243" y="42760"/>
                  </a:lnTo>
                  <a:lnTo>
                    <a:pt x="307454" y="38755"/>
                  </a:lnTo>
                  <a:lnTo>
                    <a:pt x="300385" y="37284"/>
                  </a:lnTo>
                  <a:lnTo>
                    <a:pt x="163846" y="37284"/>
                  </a:lnTo>
                  <a:lnTo>
                    <a:pt x="113782" y="3262"/>
                  </a:lnTo>
                  <a:lnTo>
                    <a:pt x="110596" y="1398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0"/>
                  </a:lnTo>
                  <a:lnTo>
                    <a:pt x="5347" y="5476"/>
                  </a:lnTo>
                  <a:lnTo>
                    <a:pt x="1436" y="11403"/>
                  </a:lnTo>
                  <a:lnTo>
                    <a:pt x="0" y="18642"/>
                  </a:lnTo>
                  <a:lnTo>
                    <a:pt x="0" y="247011"/>
                  </a:lnTo>
                  <a:lnTo>
                    <a:pt x="9173" y="224611"/>
                  </a:lnTo>
                  <a:lnTo>
                    <a:pt x="29355" y="174422"/>
                  </a:lnTo>
                  <a:lnTo>
                    <a:pt x="49538" y="124059"/>
                  </a:lnTo>
                  <a:lnTo>
                    <a:pt x="58711" y="101134"/>
                  </a:lnTo>
                  <a:lnTo>
                    <a:pt x="64009" y="92206"/>
                  </a:lnTo>
                  <a:lnTo>
                    <a:pt x="71398" y="85288"/>
                  </a:lnTo>
                  <a:lnTo>
                    <a:pt x="80408" y="80817"/>
                  </a:lnTo>
                  <a:lnTo>
                    <a:pt x="90570" y="79230"/>
                  </a:lnTo>
                  <a:close/>
                </a:path>
              </a:pathLst>
            </a:custGeom>
            <a:ln w="128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69651" y="1995587"/>
              <a:ext cx="341630" cy="163195"/>
            </a:xfrm>
            <a:custGeom>
              <a:avLst/>
              <a:gdLst/>
              <a:ahLst/>
              <a:cxnLst/>
              <a:rect l="l" t="t" r="r" b="b"/>
              <a:pathLst>
                <a:path w="341629" h="163194">
                  <a:moveTo>
                    <a:pt x="277629" y="163120"/>
                  </a:moveTo>
                  <a:lnTo>
                    <a:pt x="0" y="163120"/>
                  </a:lnTo>
                  <a:lnTo>
                    <a:pt x="61442" y="10253"/>
                  </a:lnTo>
                  <a:lnTo>
                    <a:pt x="64173" y="4194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2"/>
                  </a:lnTo>
                  <a:lnTo>
                    <a:pt x="341347" y="8855"/>
                  </a:lnTo>
                  <a:lnTo>
                    <a:pt x="341347" y="18642"/>
                  </a:lnTo>
                  <a:lnTo>
                    <a:pt x="341347" y="21438"/>
                  </a:lnTo>
                  <a:lnTo>
                    <a:pt x="340892" y="24235"/>
                  </a:lnTo>
                  <a:lnTo>
                    <a:pt x="339527" y="27031"/>
                  </a:lnTo>
                  <a:lnTo>
                    <a:pt x="277629" y="16312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69651" y="1995587"/>
              <a:ext cx="341630" cy="163195"/>
            </a:xfrm>
            <a:custGeom>
              <a:avLst/>
              <a:gdLst/>
              <a:ahLst/>
              <a:cxnLst/>
              <a:rect l="l" t="t" r="r" b="b"/>
              <a:pathLst>
                <a:path w="341629" h="163194">
                  <a:moveTo>
                    <a:pt x="341347" y="18642"/>
                  </a:moveTo>
                  <a:lnTo>
                    <a:pt x="341347" y="8855"/>
                  </a:lnTo>
                  <a:lnTo>
                    <a:pt x="334520" y="932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194"/>
                  </a:lnTo>
                  <a:lnTo>
                    <a:pt x="61442" y="10253"/>
                  </a:lnTo>
                  <a:lnTo>
                    <a:pt x="0" y="163120"/>
                  </a:lnTo>
                  <a:lnTo>
                    <a:pt x="277629" y="163120"/>
                  </a:lnTo>
                  <a:lnTo>
                    <a:pt x="339527" y="27031"/>
                  </a:lnTo>
                  <a:lnTo>
                    <a:pt x="340892" y="24235"/>
                  </a:lnTo>
                  <a:lnTo>
                    <a:pt x="341347" y="21438"/>
                  </a:lnTo>
                  <a:lnTo>
                    <a:pt x="341347" y="18642"/>
                  </a:lnTo>
                  <a:close/>
                </a:path>
              </a:pathLst>
            </a:custGeom>
            <a:ln w="129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55997" y="2362864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155996" y="2362865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69650" y="2461067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30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69650" y="2461067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30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55997" y="2727101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55996" y="2727101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69650" y="2825303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30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69650" y="2825303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30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55997" y="3155344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155996" y="3155345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69650" y="3253547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69650" y="3253547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08040" y="3579017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08040" y="3579018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21693" y="3677220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21693" y="3677220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10533" y="4011833"/>
              <a:ext cx="320040" cy="248285"/>
            </a:xfrm>
            <a:custGeom>
              <a:avLst/>
              <a:gdLst/>
              <a:ahLst/>
              <a:cxnLst/>
              <a:rect l="l" t="t" r="r" b="b"/>
              <a:pathLst>
                <a:path w="320039" h="248285">
                  <a:moveTo>
                    <a:pt x="0" y="247843"/>
                  </a:moveTo>
                  <a:lnTo>
                    <a:pt x="0" y="18705"/>
                  </a:lnTo>
                  <a:lnTo>
                    <a:pt x="1441" y="11442"/>
                  </a:lnTo>
                  <a:lnTo>
                    <a:pt x="5366" y="5494"/>
                  </a:lnTo>
                  <a:lnTo>
                    <a:pt x="11174" y="1475"/>
                  </a:lnTo>
                  <a:lnTo>
                    <a:pt x="18267" y="0"/>
                  </a:lnTo>
                  <a:lnTo>
                    <a:pt x="107781" y="0"/>
                  </a:lnTo>
                  <a:lnTo>
                    <a:pt x="110978" y="1402"/>
                  </a:lnTo>
                  <a:lnTo>
                    <a:pt x="114174" y="3273"/>
                  </a:lnTo>
                  <a:lnTo>
                    <a:pt x="164411" y="37410"/>
                  </a:lnTo>
                  <a:lnTo>
                    <a:pt x="301421" y="37410"/>
                  </a:lnTo>
                  <a:lnTo>
                    <a:pt x="308514" y="38886"/>
                  </a:lnTo>
                  <a:lnTo>
                    <a:pt x="314323" y="42904"/>
                  </a:lnTo>
                  <a:lnTo>
                    <a:pt x="318248" y="48852"/>
                  </a:lnTo>
                  <a:lnTo>
                    <a:pt x="319689" y="56115"/>
                  </a:lnTo>
                  <a:lnTo>
                    <a:pt x="319689" y="79496"/>
                  </a:lnTo>
                  <a:lnTo>
                    <a:pt x="90883" y="79496"/>
                  </a:lnTo>
                  <a:lnTo>
                    <a:pt x="80685" y="81089"/>
                  </a:lnTo>
                  <a:lnTo>
                    <a:pt x="71644" y="85576"/>
                  </a:lnTo>
                  <a:lnTo>
                    <a:pt x="64230" y="92517"/>
                  </a:lnTo>
                  <a:lnTo>
                    <a:pt x="58914" y="101475"/>
                  </a:lnTo>
                  <a:lnTo>
                    <a:pt x="9205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910533" y="4011833"/>
              <a:ext cx="320040" cy="248285"/>
            </a:xfrm>
            <a:custGeom>
              <a:avLst/>
              <a:gdLst/>
              <a:ahLst/>
              <a:cxnLst/>
              <a:rect l="l" t="t" r="r" b="b"/>
              <a:pathLst>
                <a:path w="320039" h="248285">
                  <a:moveTo>
                    <a:pt x="90883" y="79496"/>
                  </a:moveTo>
                  <a:lnTo>
                    <a:pt x="319689" y="79496"/>
                  </a:lnTo>
                  <a:lnTo>
                    <a:pt x="319689" y="56115"/>
                  </a:lnTo>
                  <a:lnTo>
                    <a:pt x="318248" y="48852"/>
                  </a:lnTo>
                  <a:lnTo>
                    <a:pt x="314323" y="42904"/>
                  </a:lnTo>
                  <a:lnTo>
                    <a:pt x="308514" y="38886"/>
                  </a:lnTo>
                  <a:lnTo>
                    <a:pt x="301421" y="37410"/>
                  </a:lnTo>
                  <a:lnTo>
                    <a:pt x="164411" y="37410"/>
                  </a:lnTo>
                  <a:lnTo>
                    <a:pt x="114174" y="3273"/>
                  </a:lnTo>
                  <a:lnTo>
                    <a:pt x="110978" y="1402"/>
                  </a:lnTo>
                  <a:lnTo>
                    <a:pt x="107781" y="0"/>
                  </a:lnTo>
                  <a:lnTo>
                    <a:pt x="104127" y="0"/>
                  </a:lnTo>
                  <a:lnTo>
                    <a:pt x="18267" y="0"/>
                  </a:lnTo>
                  <a:lnTo>
                    <a:pt x="11174" y="1475"/>
                  </a:lnTo>
                  <a:lnTo>
                    <a:pt x="5366" y="5494"/>
                  </a:lnTo>
                  <a:lnTo>
                    <a:pt x="1441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205" y="225367"/>
                  </a:lnTo>
                  <a:lnTo>
                    <a:pt x="29457" y="175010"/>
                  </a:lnTo>
                  <a:lnTo>
                    <a:pt x="49708" y="124476"/>
                  </a:lnTo>
                  <a:lnTo>
                    <a:pt x="58914" y="101475"/>
                  </a:lnTo>
                  <a:lnTo>
                    <a:pt x="64230" y="92517"/>
                  </a:lnTo>
                  <a:lnTo>
                    <a:pt x="71644" y="85576"/>
                  </a:lnTo>
                  <a:lnTo>
                    <a:pt x="80685" y="81089"/>
                  </a:lnTo>
                  <a:lnTo>
                    <a:pt x="90883" y="79496"/>
                  </a:lnTo>
                  <a:close/>
                </a:path>
              </a:pathLst>
            </a:custGeom>
            <a:ln w="128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24234" y="4110035"/>
              <a:ext cx="342900" cy="163830"/>
            </a:xfrm>
            <a:custGeom>
              <a:avLst/>
              <a:gdLst/>
              <a:ahLst/>
              <a:cxnLst/>
              <a:rect l="l" t="t" r="r" b="b"/>
              <a:pathLst>
                <a:path w="342900" h="163829">
                  <a:moveTo>
                    <a:pt x="278586" y="163670"/>
                  </a:moveTo>
                  <a:lnTo>
                    <a:pt x="0" y="163670"/>
                  </a:lnTo>
                  <a:lnTo>
                    <a:pt x="61654" y="10287"/>
                  </a:lnTo>
                  <a:lnTo>
                    <a:pt x="64394" y="4208"/>
                  </a:lnTo>
                  <a:lnTo>
                    <a:pt x="70331" y="0"/>
                  </a:lnTo>
                  <a:lnTo>
                    <a:pt x="326083" y="0"/>
                  </a:lnTo>
                  <a:lnTo>
                    <a:pt x="335674" y="935"/>
                  </a:lnTo>
                  <a:lnTo>
                    <a:pt x="342524" y="8884"/>
                  </a:lnTo>
                  <a:lnTo>
                    <a:pt x="342524" y="18705"/>
                  </a:lnTo>
                  <a:lnTo>
                    <a:pt x="342524" y="21510"/>
                  </a:lnTo>
                  <a:lnTo>
                    <a:pt x="342068" y="24316"/>
                  </a:lnTo>
                  <a:lnTo>
                    <a:pt x="340697" y="27122"/>
                  </a:lnTo>
                  <a:lnTo>
                    <a:pt x="278586" y="16367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24233" y="4110035"/>
              <a:ext cx="342900" cy="163830"/>
            </a:xfrm>
            <a:custGeom>
              <a:avLst/>
              <a:gdLst/>
              <a:ahLst/>
              <a:cxnLst/>
              <a:rect l="l" t="t" r="r" b="b"/>
              <a:pathLst>
                <a:path w="342900" h="163829">
                  <a:moveTo>
                    <a:pt x="342524" y="18705"/>
                  </a:moveTo>
                  <a:lnTo>
                    <a:pt x="342524" y="8884"/>
                  </a:lnTo>
                  <a:lnTo>
                    <a:pt x="335674" y="935"/>
                  </a:lnTo>
                  <a:lnTo>
                    <a:pt x="326083" y="0"/>
                  </a:lnTo>
                  <a:lnTo>
                    <a:pt x="77182" y="0"/>
                  </a:lnTo>
                  <a:lnTo>
                    <a:pt x="70331" y="0"/>
                  </a:lnTo>
                  <a:lnTo>
                    <a:pt x="64394" y="4208"/>
                  </a:lnTo>
                  <a:lnTo>
                    <a:pt x="61654" y="10287"/>
                  </a:lnTo>
                  <a:lnTo>
                    <a:pt x="0" y="163670"/>
                  </a:lnTo>
                  <a:lnTo>
                    <a:pt x="278586" y="163670"/>
                  </a:lnTo>
                  <a:lnTo>
                    <a:pt x="340697" y="27122"/>
                  </a:lnTo>
                  <a:lnTo>
                    <a:pt x="342068" y="24316"/>
                  </a:lnTo>
                  <a:lnTo>
                    <a:pt x="342524" y="21510"/>
                  </a:lnTo>
                  <a:lnTo>
                    <a:pt x="342524" y="18705"/>
                  </a:lnTo>
                  <a:close/>
                </a:path>
              </a:pathLst>
            </a:custGeom>
            <a:ln w="129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508040" y="4429409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508040" y="4429410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521693" y="4527612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521693" y="4527612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55997" y="4854605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155996" y="4854606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169650" y="4952808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169650" y="4952808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155997" y="5255417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155996" y="5255417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169650" y="5353619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169650" y="5353619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508040" y="5688233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508040" y="5688233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521693" y="5786435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521693" y="5786435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508040" y="6081425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0" y="247843"/>
                  </a:moveTo>
                  <a:lnTo>
                    <a:pt x="0" y="18705"/>
                  </a:lnTo>
                  <a:lnTo>
                    <a:pt x="1436" y="11442"/>
                  </a:lnTo>
                  <a:lnTo>
                    <a:pt x="5347" y="5494"/>
                  </a:lnTo>
                  <a:lnTo>
                    <a:pt x="11136" y="1475"/>
                  </a:lnTo>
                  <a:lnTo>
                    <a:pt x="18205" y="0"/>
                  </a:lnTo>
                  <a:lnTo>
                    <a:pt x="107410" y="0"/>
                  </a:lnTo>
                  <a:lnTo>
                    <a:pt x="110596" y="1402"/>
                  </a:lnTo>
                  <a:lnTo>
                    <a:pt x="113782" y="3273"/>
                  </a:lnTo>
                  <a:lnTo>
                    <a:pt x="163846" y="37410"/>
                  </a:lnTo>
                  <a:lnTo>
                    <a:pt x="300385" y="37410"/>
                  </a:lnTo>
                  <a:lnTo>
                    <a:pt x="307454" y="38886"/>
                  </a:lnTo>
                  <a:lnTo>
                    <a:pt x="313243" y="42904"/>
                  </a:lnTo>
                  <a:lnTo>
                    <a:pt x="317154" y="48852"/>
                  </a:lnTo>
                  <a:lnTo>
                    <a:pt x="318591" y="56115"/>
                  </a:lnTo>
                  <a:lnTo>
                    <a:pt x="318591" y="79496"/>
                  </a:lnTo>
                  <a:lnTo>
                    <a:pt x="90570" y="79496"/>
                  </a:lnTo>
                  <a:lnTo>
                    <a:pt x="80408" y="81089"/>
                  </a:lnTo>
                  <a:lnTo>
                    <a:pt x="71398" y="85576"/>
                  </a:lnTo>
                  <a:lnTo>
                    <a:pt x="64009" y="92517"/>
                  </a:lnTo>
                  <a:lnTo>
                    <a:pt x="58711" y="101475"/>
                  </a:lnTo>
                  <a:lnTo>
                    <a:pt x="9173" y="225367"/>
                  </a:lnTo>
                  <a:lnTo>
                    <a:pt x="0" y="247843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508040" y="6081425"/>
              <a:ext cx="318770" cy="248285"/>
            </a:xfrm>
            <a:custGeom>
              <a:avLst/>
              <a:gdLst/>
              <a:ahLst/>
              <a:cxnLst/>
              <a:rect l="l" t="t" r="r" b="b"/>
              <a:pathLst>
                <a:path w="318770" h="248285">
                  <a:moveTo>
                    <a:pt x="90570" y="79496"/>
                  </a:moveTo>
                  <a:lnTo>
                    <a:pt x="318591" y="79496"/>
                  </a:lnTo>
                  <a:lnTo>
                    <a:pt x="318591" y="56115"/>
                  </a:lnTo>
                  <a:lnTo>
                    <a:pt x="317154" y="48852"/>
                  </a:lnTo>
                  <a:lnTo>
                    <a:pt x="313243" y="42904"/>
                  </a:lnTo>
                  <a:lnTo>
                    <a:pt x="307454" y="38886"/>
                  </a:lnTo>
                  <a:lnTo>
                    <a:pt x="300385" y="37410"/>
                  </a:lnTo>
                  <a:lnTo>
                    <a:pt x="163846" y="37410"/>
                  </a:lnTo>
                  <a:lnTo>
                    <a:pt x="113782" y="3273"/>
                  </a:lnTo>
                  <a:lnTo>
                    <a:pt x="110596" y="1402"/>
                  </a:lnTo>
                  <a:lnTo>
                    <a:pt x="107410" y="0"/>
                  </a:lnTo>
                  <a:lnTo>
                    <a:pt x="103769" y="0"/>
                  </a:lnTo>
                  <a:lnTo>
                    <a:pt x="18205" y="0"/>
                  </a:lnTo>
                  <a:lnTo>
                    <a:pt x="11136" y="1475"/>
                  </a:lnTo>
                  <a:lnTo>
                    <a:pt x="5347" y="5494"/>
                  </a:lnTo>
                  <a:lnTo>
                    <a:pt x="1436" y="11442"/>
                  </a:lnTo>
                  <a:lnTo>
                    <a:pt x="0" y="18705"/>
                  </a:lnTo>
                  <a:lnTo>
                    <a:pt x="0" y="247843"/>
                  </a:lnTo>
                  <a:lnTo>
                    <a:pt x="9173" y="225367"/>
                  </a:lnTo>
                  <a:lnTo>
                    <a:pt x="29355" y="175010"/>
                  </a:lnTo>
                  <a:lnTo>
                    <a:pt x="49538" y="124476"/>
                  </a:lnTo>
                  <a:lnTo>
                    <a:pt x="58711" y="101475"/>
                  </a:lnTo>
                  <a:lnTo>
                    <a:pt x="64009" y="92517"/>
                  </a:lnTo>
                  <a:lnTo>
                    <a:pt x="71398" y="85576"/>
                  </a:lnTo>
                  <a:lnTo>
                    <a:pt x="80408" y="81089"/>
                  </a:lnTo>
                  <a:lnTo>
                    <a:pt x="90570" y="79496"/>
                  </a:lnTo>
                  <a:close/>
                </a:path>
              </a:pathLst>
            </a:custGeom>
            <a:ln w="12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521693" y="6179627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277629" y="163670"/>
                  </a:moveTo>
                  <a:lnTo>
                    <a:pt x="0" y="163670"/>
                  </a:lnTo>
                  <a:lnTo>
                    <a:pt x="61442" y="10287"/>
                  </a:lnTo>
                  <a:lnTo>
                    <a:pt x="64173" y="4208"/>
                  </a:lnTo>
                  <a:lnTo>
                    <a:pt x="70090" y="0"/>
                  </a:lnTo>
                  <a:lnTo>
                    <a:pt x="324962" y="0"/>
                  </a:lnTo>
                  <a:lnTo>
                    <a:pt x="334520" y="935"/>
                  </a:lnTo>
                  <a:lnTo>
                    <a:pt x="341347" y="8884"/>
                  </a:lnTo>
                  <a:lnTo>
                    <a:pt x="341347" y="18705"/>
                  </a:lnTo>
                  <a:lnTo>
                    <a:pt x="341347" y="21510"/>
                  </a:lnTo>
                  <a:lnTo>
                    <a:pt x="340892" y="24316"/>
                  </a:lnTo>
                  <a:lnTo>
                    <a:pt x="339527" y="27122"/>
                  </a:lnTo>
                  <a:lnTo>
                    <a:pt x="277629" y="16367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521693" y="6179627"/>
              <a:ext cx="341630" cy="163830"/>
            </a:xfrm>
            <a:custGeom>
              <a:avLst/>
              <a:gdLst/>
              <a:ahLst/>
              <a:cxnLst/>
              <a:rect l="l" t="t" r="r" b="b"/>
              <a:pathLst>
                <a:path w="341629" h="163829">
                  <a:moveTo>
                    <a:pt x="341347" y="18705"/>
                  </a:moveTo>
                  <a:lnTo>
                    <a:pt x="341347" y="8884"/>
                  </a:lnTo>
                  <a:lnTo>
                    <a:pt x="334520" y="935"/>
                  </a:lnTo>
                  <a:lnTo>
                    <a:pt x="324962" y="0"/>
                  </a:lnTo>
                  <a:lnTo>
                    <a:pt x="76916" y="0"/>
                  </a:lnTo>
                  <a:lnTo>
                    <a:pt x="70090" y="0"/>
                  </a:lnTo>
                  <a:lnTo>
                    <a:pt x="64173" y="4208"/>
                  </a:lnTo>
                  <a:lnTo>
                    <a:pt x="61442" y="10287"/>
                  </a:lnTo>
                  <a:lnTo>
                    <a:pt x="0" y="163670"/>
                  </a:lnTo>
                  <a:lnTo>
                    <a:pt x="277629" y="163670"/>
                  </a:lnTo>
                  <a:lnTo>
                    <a:pt x="339527" y="27122"/>
                  </a:lnTo>
                  <a:lnTo>
                    <a:pt x="340892" y="24316"/>
                  </a:lnTo>
                  <a:lnTo>
                    <a:pt x="341347" y="21510"/>
                  </a:lnTo>
                  <a:lnTo>
                    <a:pt x="341347" y="18705"/>
                  </a:lnTo>
                  <a:close/>
                </a:path>
              </a:pathLst>
            </a:custGeom>
            <a:ln w="12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6852391" y="1643530"/>
            <a:ext cx="3681729" cy="47212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spc="-50" dirty="0">
                <a:latin typeface="Courier New"/>
                <a:cs typeface="Courier New"/>
              </a:rPr>
              <a:t>/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400" spc="-10" dirty="0">
                <a:latin typeface="Courier New"/>
                <a:cs typeface="Courier New"/>
              </a:rPr>
              <a:t>/boot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400" spc="-20" dirty="0">
                <a:latin typeface="Courier New"/>
                <a:cs typeface="Courier New"/>
              </a:rPr>
              <a:t>/etc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400" spc="-20" dirty="0">
                <a:latin typeface="Courier New"/>
                <a:cs typeface="Courier New"/>
              </a:rPr>
              <a:t>/tmp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400" spc="-10" dirty="0">
                <a:latin typeface="Courier New"/>
                <a:cs typeface="Courier New"/>
              </a:rPr>
              <a:t>/home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400" spc="-10" dirty="0">
                <a:latin typeface="Courier New"/>
                <a:cs typeface="Courier New"/>
              </a:rPr>
              <a:t>/home/mahmadia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400" spc="-10" dirty="0">
                <a:latin typeface="Courier New"/>
                <a:cs typeface="Courier New"/>
              </a:rPr>
              <a:t>/home/mahmadia/mydir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400" spc="-10" dirty="0">
                <a:latin typeface="Courier New"/>
                <a:cs typeface="Courier New"/>
              </a:rPr>
              <a:t>/home/eraider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400" spc="-20" dirty="0">
                <a:latin typeface="Courier New"/>
                <a:cs typeface="Courier New"/>
              </a:rPr>
              <a:t>/var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400" spc="-10" dirty="0">
                <a:latin typeface="Courier New"/>
                <a:cs typeface="Courier New"/>
              </a:rPr>
              <a:t>/lustre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400" spc="-10" dirty="0">
                <a:latin typeface="Courier New"/>
                <a:cs typeface="Courier New"/>
              </a:rPr>
              <a:t>/lustre/work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400" spc="-10" dirty="0">
                <a:latin typeface="Courier New"/>
                <a:cs typeface="Courier New"/>
              </a:rPr>
              <a:t>/lustre/scratch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60" dirty="0"/>
              <a:t> </a:t>
            </a:r>
            <a:r>
              <a:rPr dirty="0"/>
              <a:t>Directory</a:t>
            </a:r>
            <a:r>
              <a:rPr spc="-7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35419"/>
            <a:ext cx="6673850" cy="150241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dirty="0">
                <a:latin typeface="Times New Roman"/>
                <a:cs typeface="Times New Roman"/>
              </a:rPr>
              <a:t>Where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am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I?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2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b="1" dirty="0">
                <a:latin typeface="Courier New"/>
                <a:cs typeface="Courier New"/>
              </a:rPr>
              <a:t>pwd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4391661"/>
            <a:ext cx="78644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b="1" dirty="0">
                <a:latin typeface="Courier New"/>
                <a:cs typeface="Courier New"/>
              </a:rPr>
              <a:t>ls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contents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current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directory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8636" y="3066288"/>
            <a:ext cx="9593580" cy="935990"/>
            <a:chOff x="1278636" y="3066288"/>
            <a:chExt cx="9593580" cy="9359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066288"/>
              <a:ext cx="9552431" cy="9250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124200"/>
              <a:ext cx="2275331" cy="87782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67027" y="3090672"/>
            <a:ext cx="9458325" cy="83058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4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pwd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/home/username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8636" y="5049011"/>
            <a:ext cx="9593580" cy="1521460"/>
            <a:chOff x="1278636" y="5049011"/>
            <a:chExt cx="9593580" cy="15214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5049011"/>
              <a:ext cx="9552431" cy="14721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636" y="5067299"/>
              <a:ext cx="1862327" cy="150266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67027" y="5073396"/>
            <a:ext cx="9458325" cy="137795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1440" marR="7855584">
              <a:lnSpc>
                <a:spcPct val="113900"/>
              </a:lnSpc>
              <a:spcBef>
                <a:spcPts val="13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test1.txt </a:t>
            </a:r>
            <a:r>
              <a:rPr sz="1800" spc="-10" dirty="0">
                <a:solidFill>
                  <a:srgbClr val="8EB4E2"/>
                </a:solidFill>
                <a:latin typeface="Courier New"/>
                <a:cs typeface="Courier New"/>
              </a:rPr>
              <a:t>Mydir1 mydir2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60" dirty="0"/>
              <a:t> </a:t>
            </a:r>
            <a:r>
              <a:rPr dirty="0"/>
              <a:t>Directory</a:t>
            </a:r>
            <a:r>
              <a:rPr spc="-7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35419"/>
            <a:ext cx="6848475" cy="150241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dirty="0">
                <a:latin typeface="Times New Roman"/>
                <a:cs typeface="Times New Roman"/>
              </a:rPr>
              <a:t>Make/Remove/Go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into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directory?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2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b="1" dirty="0">
                <a:latin typeface="Courier New"/>
                <a:cs typeface="Courier New"/>
              </a:rPr>
              <a:t>mkdir</a:t>
            </a:r>
            <a:r>
              <a:rPr sz="2800" b="1" spc="-101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3873501"/>
            <a:ext cx="6047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b="1" dirty="0">
                <a:latin typeface="Courier New"/>
                <a:cs typeface="Courier New"/>
              </a:rPr>
              <a:t>cd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129" y="5202429"/>
            <a:ext cx="72586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b="1" dirty="0">
                <a:latin typeface="Courier New"/>
                <a:cs typeface="Courier New"/>
              </a:rPr>
              <a:t>rmdir</a:t>
            </a:r>
            <a:r>
              <a:rPr sz="2800" b="1" spc="-101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remove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empty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directory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8636" y="2868167"/>
            <a:ext cx="9593580" cy="1190625"/>
            <a:chOff x="1278636" y="2868167"/>
            <a:chExt cx="9593580" cy="11906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2891027"/>
              <a:ext cx="9552431" cy="10744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2868167"/>
              <a:ext cx="3777995" cy="119024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7027" y="2915411"/>
            <a:ext cx="9458325" cy="98044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9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mkdir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my_new_dir</a:t>
            </a:r>
            <a:endParaRPr sz="1800">
              <a:latin typeface="Courier New"/>
              <a:cs typeface="Courier New"/>
            </a:endParaRPr>
          </a:p>
          <a:p>
            <a:pPr marL="91440" marR="7855584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 </a:t>
            </a:r>
            <a:r>
              <a:rPr sz="1800" spc="-10" dirty="0">
                <a:solidFill>
                  <a:srgbClr val="8EB4E2"/>
                </a:solidFill>
                <a:latin typeface="Courier New"/>
                <a:cs typeface="Courier New"/>
              </a:rPr>
              <a:t>my_new_dir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78636" y="4410468"/>
            <a:ext cx="9593580" cy="707390"/>
            <a:chOff x="1278636" y="4410468"/>
            <a:chExt cx="9593580" cy="70739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4410468"/>
              <a:ext cx="9552431" cy="7071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636" y="4515612"/>
              <a:ext cx="3368039" cy="56540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67027" y="4434840"/>
            <a:ext cx="9458325" cy="61277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416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1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cd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my_new_dir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78636" y="5739384"/>
            <a:ext cx="9593580" cy="708660"/>
            <a:chOff x="1278636" y="5739384"/>
            <a:chExt cx="9593580" cy="70866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9784" y="5739384"/>
              <a:ext cx="9552431" cy="7086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8636" y="5846064"/>
              <a:ext cx="3777995" cy="56540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67027" y="5763767"/>
            <a:ext cx="9458325" cy="61468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2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9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rmdir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my_new_dir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60" dirty="0"/>
              <a:t> </a:t>
            </a:r>
            <a:r>
              <a:rPr dirty="0"/>
              <a:t>Directory</a:t>
            </a:r>
            <a:r>
              <a:rPr spc="-7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269181"/>
            <a:ext cx="8390255" cy="1568450"/>
          </a:xfrm>
          <a:prstGeom prst="rect">
            <a:avLst/>
          </a:prstGeom>
        </p:spPr>
        <p:txBody>
          <a:bodyPr vert="horz" wrap="square" lIns="0" tIns="332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15"/>
              </a:spcBef>
            </a:pPr>
            <a:r>
              <a:rPr sz="3600" dirty="0">
                <a:latin typeface="Times New Roman"/>
                <a:cs typeface="Times New Roman"/>
              </a:rPr>
              <a:t>More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about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Courier New"/>
                <a:cs typeface="Courier New"/>
              </a:rPr>
              <a:t>ls</a:t>
            </a:r>
            <a:r>
              <a:rPr sz="3600" dirty="0">
                <a:latin typeface="Times New Roman"/>
                <a:cs typeface="Times New Roman"/>
              </a:rPr>
              <a:t>.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(Commands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with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options)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95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b="1" dirty="0">
                <a:latin typeface="Courier New"/>
                <a:cs typeface="Courier New"/>
              </a:rPr>
              <a:t>ls</a:t>
            </a:r>
            <a:r>
              <a:rPr sz="2800" b="1" spc="-6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-a</a:t>
            </a:r>
            <a:r>
              <a:rPr sz="2800" b="1" spc="-5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(--all)</a:t>
            </a:r>
            <a:r>
              <a:rPr sz="2800" b="1" spc="-101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hidden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files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3873501"/>
            <a:ext cx="38944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b="1" dirty="0">
                <a:latin typeface="Courier New"/>
                <a:cs typeface="Courier New"/>
              </a:rPr>
              <a:t>ls</a:t>
            </a:r>
            <a:r>
              <a:rPr sz="2800" b="1" spc="-5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-l</a:t>
            </a:r>
            <a:r>
              <a:rPr sz="2800" b="1" spc="-994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details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129" y="5223765"/>
            <a:ext cx="6358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dirty="0">
                <a:latin typeface="Times New Roman"/>
                <a:cs typeface="Times New Roman"/>
              </a:rPr>
              <a:t>Combine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multiple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options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command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8636" y="3015995"/>
            <a:ext cx="9593580" cy="749935"/>
            <a:chOff x="1278636" y="3015995"/>
            <a:chExt cx="9593580" cy="7499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015995"/>
              <a:ext cx="9552431" cy="7498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142488"/>
              <a:ext cx="2272283" cy="56540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7027" y="3040379"/>
            <a:ext cx="9458325" cy="65532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62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8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78636" y="4477511"/>
            <a:ext cx="9593580" cy="749935"/>
            <a:chOff x="1278636" y="4477511"/>
            <a:chExt cx="9593580" cy="74993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477511"/>
              <a:ext cx="9552431" cy="749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604004"/>
              <a:ext cx="2272283" cy="56540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67027" y="4501896"/>
            <a:ext cx="9458325" cy="65532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8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78636" y="5820155"/>
            <a:ext cx="9593580" cy="908685"/>
            <a:chOff x="1278636" y="5820155"/>
            <a:chExt cx="9593580" cy="90868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5820155"/>
              <a:ext cx="9552431" cy="8686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636" y="5850635"/>
              <a:ext cx="2817875" cy="87782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67027" y="5844540"/>
            <a:ext cx="9458325" cy="77470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1440" marR="7035800">
              <a:lnSpc>
                <a:spcPct val="113900"/>
              </a:lnSpc>
              <a:spcBef>
                <a:spcPts val="22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l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al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Special</a:t>
            </a:r>
            <a:r>
              <a:rPr spc="-70" dirty="0"/>
              <a:t> </a:t>
            </a:r>
            <a:r>
              <a:rPr dirty="0"/>
              <a:t>Directory</a:t>
            </a:r>
            <a:r>
              <a:rPr spc="-70" dirty="0"/>
              <a:t> </a:t>
            </a:r>
            <a:r>
              <a:rPr dirty="0"/>
              <a:t>Names</a:t>
            </a:r>
            <a:r>
              <a:rPr spc="-60" dirty="0"/>
              <a:t> </a:t>
            </a:r>
            <a:r>
              <a:rPr spc="-10" dirty="0"/>
              <a:t>(Characters)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3129" y="1599693"/>
            <a:ext cx="45326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home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directory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(</a:t>
            </a:r>
            <a:r>
              <a:rPr sz="2800" b="1" spc="-25" dirty="0">
                <a:latin typeface="Courier New"/>
                <a:cs typeface="Courier New"/>
              </a:rPr>
              <a:t>~</a:t>
            </a:r>
            <a:r>
              <a:rPr sz="2800" spc="-2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3230373"/>
            <a:ext cx="32848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dirty="0">
                <a:latin typeface="Times New Roman"/>
                <a:cs typeface="Times New Roman"/>
              </a:rPr>
              <a:t>Current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directory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(</a:t>
            </a:r>
            <a:r>
              <a:rPr sz="2800" b="1" spc="-25" dirty="0">
                <a:latin typeface="Times New Roman"/>
                <a:cs typeface="Times New Roman"/>
              </a:rPr>
              <a:t>.</a:t>
            </a:r>
            <a:r>
              <a:rPr sz="2800" spc="-2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129" y="4559301"/>
            <a:ext cx="31959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dirty="0">
                <a:latin typeface="Times New Roman"/>
                <a:cs typeface="Times New Roman"/>
              </a:rPr>
              <a:t>Parent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directory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(</a:t>
            </a:r>
            <a:r>
              <a:rPr sz="2800" b="1" spc="-20" dirty="0">
                <a:latin typeface="Times New Roman"/>
                <a:cs typeface="Times New Roman"/>
              </a:rPr>
              <a:t>..</a:t>
            </a:r>
            <a:r>
              <a:rPr sz="2800" spc="-20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8636" y="2045207"/>
            <a:ext cx="9593580" cy="1239520"/>
            <a:chOff x="1278636" y="2045207"/>
            <a:chExt cx="9593580" cy="12395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2045207"/>
              <a:ext cx="9552431" cy="1219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2093975"/>
              <a:ext cx="2272283" cy="119024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7027" y="2069592"/>
            <a:ext cx="9458325" cy="112522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1440" marR="7446009">
              <a:lnSpc>
                <a:spcPct val="113900"/>
              </a:lnSpc>
              <a:spcBef>
                <a:spcPts val="37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cd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cd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~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cd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~/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78636" y="3758184"/>
            <a:ext cx="9593580" cy="906780"/>
            <a:chOff x="1278636" y="3758184"/>
            <a:chExt cx="9593580" cy="90678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3758184"/>
              <a:ext cx="9552431" cy="8686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636" y="3787140"/>
              <a:ext cx="2272283" cy="87782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67027" y="3782567"/>
            <a:ext cx="9458325" cy="77470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1440" marR="7446009">
              <a:lnSpc>
                <a:spcPct val="113900"/>
              </a:lnSpc>
              <a:spcBef>
                <a:spcPts val="21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.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./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78636" y="5120640"/>
            <a:ext cx="9593580" cy="1522730"/>
            <a:chOff x="1278636" y="5120640"/>
            <a:chExt cx="9593580" cy="152273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9784" y="5120640"/>
              <a:ext cx="9552431" cy="14752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8636" y="5140452"/>
              <a:ext cx="3640835" cy="150266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67028" y="5145024"/>
              <a:ext cx="9458325" cy="1381125"/>
            </a:xfrm>
            <a:custGeom>
              <a:avLst/>
              <a:gdLst/>
              <a:ahLst/>
              <a:cxnLst/>
              <a:rect l="l" t="t" r="r" b="b"/>
              <a:pathLst>
                <a:path w="9458325" h="1381125">
                  <a:moveTo>
                    <a:pt x="9457944" y="0"/>
                  </a:moveTo>
                  <a:lnTo>
                    <a:pt x="0" y="0"/>
                  </a:lnTo>
                  <a:lnTo>
                    <a:pt x="0" y="1380744"/>
                  </a:lnTo>
                  <a:lnTo>
                    <a:pt x="9457944" y="1380744"/>
                  </a:lnTo>
                  <a:lnTo>
                    <a:pt x="9457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67028" y="5145024"/>
              <a:ext cx="9458325" cy="1381125"/>
            </a:xfrm>
            <a:custGeom>
              <a:avLst/>
              <a:gdLst/>
              <a:ahLst/>
              <a:cxnLst/>
              <a:rect l="l" t="t" r="r" b="b"/>
              <a:pathLst>
                <a:path w="9458325" h="1381125">
                  <a:moveTo>
                    <a:pt x="0" y="0"/>
                  </a:moveTo>
                  <a:lnTo>
                    <a:pt x="9457944" y="0"/>
                  </a:lnTo>
                  <a:lnTo>
                    <a:pt x="9457944" y="1380744"/>
                  </a:lnTo>
                  <a:lnTo>
                    <a:pt x="0" y="138074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46162" y="5151096"/>
            <a:ext cx="3307079" cy="127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4865">
              <a:lnSpc>
                <a:spcPct val="113900"/>
              </a:lnSpc>
              <a:spcBef>
                <a:spcPts val="10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cd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..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cd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../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../../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cd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../../mydir/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Absolute</a:t>
            </a:r>
            <a:r>
              <a:rPr spc="-135" dirty="0"/>
              <a:t> </a:t>
            </a:r>
            <a:r>
              <a:rPr dirty="0"/>
              <a:t>VS.</a:t>
            </a:r>
            <a:r>
              <a:rPr spc="-60" dirty="0"/>
              <a:t> </a:t>
            </a:r>
            <a:r>
              <a:rPr dirty="0"/>
              <a:t>Relative</a:t>
            </a:r>
            <a:r>
              <a:rPr spc="-60" dirty="0"/>
              <a:t> </a:t>
            </a:r>
            <a:r>
              <a:rPr spc="-20" dirty="0"/>
              <a:t>path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104293" y="1589433"/>
            <a:ext cx="8946541" cy="4195481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dirty="0"/>
              <a:t>Absolute</a:t>
            </a:r>
            <a:r>
              <a:rPr spc="-40" dirty="0"/>
              <a:t> </a:t>
            </a:r>
            <a:r>
              <a:rPr dirty="0"/>
              <a:t>Path</a:t>
            </a:r>
            <a:r>
              <a:rPr spc="-2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file/directory:</a:t>
            </a:r>
          </a:p>
          <a:p>
            <a:pPr marL="758825" indent="-386715">
              <a:lnSpc>
                <a:spcPct val="100000"/>
              </a:lnSpc>
              <a:spcBef>
                <a:spcPts val="1889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dirty="0"/>
              <a:t>Always</a:t>
            </a:r>
            <a:r>
              <a:rPr sz="2800" spc="-15" dirty="0"/>
              <a:t> </a:t>
            </a:r>
            <a:r>
              <a:rPr sz="2800" dirty="0"/>
              <a:t>starts</a:t>
            </a:r>
            <a:r>
              <a:rPr sz="2800" spc="-35" dirty="0"/>
              <a:t> </a:t>
            </a:r>
            <a:r>
              <a:rPr sz="2800" dirty="0"/>
              <a:t>with</a:t>
            </a:r>
            <a:r>
              <a:rPr sz="2800" spc="-15" dirty="0"/>
              <a:t> </a:t>
            </a:r>
            <a:r>
              <a:rPr sz="2800" b="1" dirty="0">
                <a:latin typeface="Times New Roman"/>
                <a:cs typeface="Times New Roman"/>
              </a:rPr>
              <a:t>/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dirty="0"/>
              <a:t>and</a:t>
            </a:r>
            <a:r>
              <a:rPr sz="2800" spc="-35" dirty="0"/>
              <a:t> </a:t>
            </a:r>
            <a:r>
              <a:rPr sz="2800" dirty="0"/>
              <a:t>goes</a:t>
            </a:r>
            <a:r>
              <a:rPr sz="2800" spc="-20" dirty="0"/>
              <a:t> </a:t>
            </a:r>
            <a:r>
              <a:rPr sz="2800" dirty="0"/>
              <a:t>all</a:t>
            </a:r>
            <a:r>
              <a:rPr sz="2800" spc="-25" dirty="0"/>
              <a:t> </a:t>
            </a:r>
            <a:r>
              <a:rPr sz="2800" dirty="0"/>
              <a:t>the</a:t>
            </a:r>
            <a:r>
              <a:rPr sz="2800" spc="-45" dirty="0"/>
              <a:t> </a:t>
            </a:r>
            <a:r>
              <a:rPr sz="2800" dirty="0"/>
              <a:t>way</a:t>
            </a:r>
            <a:r>
              <a:rPr sz="2800" spc="-10" dirty="0"/>
              <a:t> </a:t>
            </a:r>
            <a:r>
              <a:rPr sz="2800" dirty="0"/>
              <a:t>to</a:t>
            </a:r>
            <a:r>
              <a:rPr sz="2800" spc="-20" dirty="0"/>
              <a:t> </a:t>
            </a:r>
            <a:r>
              <a:rPr sz="2800" dirty="0"/>
              <a:t>the</a:t>
            </a:r>
            <a:r>
              <a:rPr sz="2800" spc="-45" dirty="0"/>
              <a:t> </a:t>
            </a:r>
            <a:r>
              <a:rPr sz="2800" dirty="0"/>
              <a:t>file</a:t>
            </a:r>
            <a:r>
              <a:rPr sz="2800" spc="-30" dirty="0"/>
              <a:t> </a:t>
            </a:r>
            <a:r>
              <a:rPr sz="2800" dirty="0"/>
              <a:t>or</a:t>
            </a:r>
            <a:r>
              <a:rPr sz="2800" spc="-20" dirty="0"/>
              <a:t> </a:t>
            </a:r>
            <a:r>
              <a:rPr sz="2800" spc="-10" dirty="0"/>
              <a:t>directory</a:t>
            </a:r>
            <a:endParaRPr sz="2800" dirty="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1292225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instance: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3791332"/>
            <a:ext cx="7240270" cy="1551305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sz="3600" dirty="0">
                <a:latin typeface="Times New Roman"/>
                <a:cs typeface="Times New Roman"/>
              </a:rPr>
              <a:t>Relative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Path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file/directory:</a:t>
            </a:r>
            <a:endParaRPr sz="3600" dirty="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889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defines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current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directory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6529" y="5348733"/>
            <a:ext cx="173291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99415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instance: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8636" y="3404615"/>
            <a:ext cx="9593580" cy="629920"/>
            <a:chOff x="1278636" y="3404615"/>
            <a:chExt cx="9593580" cy="6299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404615"/>
              <a:ext cx="9552431" cy="6233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468623"/>
              <a:ext cx="6234683" cy="56540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7027" y="3429000"/>
            <a:ext cx="9458325" cy="52895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8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cat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/home/mahmadia/mydir/file1.txt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78636" y="5762244"/>
            <a:ext cx="9593580" cy="629920"/>
            <a:chOff x="1278636" y="5762244"/>
            <a:chExt cx="9593580" cy="6299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5762244"/>
              <a:ext cx="9552431" cy="6248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636" y="5826252"/>
              <a:ext cx="4596383" cy="56540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67027" y="5786628"/>
            <a:ext cx="9458325" cy="53086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cat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../mydir/file1.txt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File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Directory</a:t>
            </a:r>
            <a:r>
              <a:rPr spc="-45" dirty="0"/>
              <a:t> </a:t>
            </a:r>
            <a:r>
              <a:rPr spc="-10" dirty="0"/>
              <a:t>Names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422354"/>
            <a:ext cx="7486650" cy="193802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300" dirty="0">
                <a:latin typeface="Times New Roman"/>
                <a:cs typeface="Times New Roman"/>
              </a:rPr>
              <a:t>Naming:</a:t>
            </a:r>
            <a:r>
              <a:rPr sz="3300" spc="-10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What</a:t>
            </a:r>
            <a:r>
              <a:rPr sz="3300" spc="-2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to</a:t>
            </a:r>
            <a:r>
              <a:rPr sz="3300" spc="-15" dirty="0">
                <a:latin typeface="Times New Roman"/>
                <a:cs typeface="Times New Roman"/>
              </a:rPr>
              <a:t> </a:t>
            </a:r>
            <a:r>
              <a:rPr sz="3300" spc="-20" dirty="0">
                <a:latin typeface="Times New Roman"/>
                <a:cs typeface="Times New Roman"/>
              </a:rPr>
              <a:t>use:</a:t>
            </a:r>
            <a:endParaRPr sz="33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605"/>
              </a:spcBef>
              <a:buClr>
                <a:srgbClr val="CC0000"/>
              </a:buClr>
              <a:buSzPct val="90384"/>
              <a:buFont typeface="Wingdings"/>
              <a:buChar char=""/>
              <a:tabLst>
                <a:tab pos="758825" algn="l"/>
              </a:tabLst>
            </a:pPr>
            <a:r>
              <a:rPr sz="2600" dirty="0">
                <a:latin typeface="Times New Roman"/>
                <a:cs typeface="Times New Roman"/>
              </a:rPr>
              <a:t>Letters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numbers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[</a:t>
            </a:r>
            <a:r>
              <a:rPr sz="2600" spc="-10" dirty="0">
                <a:latin typeface="Courier New"/>
                <a:cs typeface="Courier New"/>
              </a:rPr>
              <a:t>A-</a:t>
            </a:r>
            <a:r>
              <a:rPr sz="2600" dirty="0">
                <a:latin typeface="Courier New"/>
                <a:cs typeface="Courier New"/>
              </a:rPr>
              <a:t>Z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a-</a:t>
            </a:r>
            <a:r>
              <a:rPr sz="2600" dirty="0">
                <a:latin typeface="Courier New"/>
                <a:cs typeface="Courier New"/>
              </a:rPr>
              <a:t>z</a:t>
            </a:r>
            <a:r>
              <a:rPr sz="2600" spc="-5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ourier New"/>
                <a:cs typeface="Courier New"/>
              </a:rPr>
              <a:t>0-</a:t>
            </a:r>
            <a:r>
              <a:rPr sz="2600" spc="-25" dirty="0">
                <a:latin typeface="Courier New"/>
                <a:cs typeface="Courier New"/>
              </a:rPr>
              <a:t>9</a:t>
            </a:r>
            <a:r>
              <a:rPr sz="2600" spc="-25" dirty="0">
                <a:latin typeface="Times New Roman"/>
                <a:cs typeface="Times New Roman"/>
              </a:rPr>
              <a:t>]:</a:t>
            </a:r>
            <a:endParaRPr sz="26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dirty="0">
                <a:latin typeface="Times New Roman"/>
                <a:cs typeface="Times New Roman"/>
              </a:rPr>
              <a:t>File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directory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names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case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sensitive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(e.g.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‘M’</a:t>
            </a:r>
            <a:r>
              <a:rPr sz="1900" spc="-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‘m’)</a:t>
            </a:r>
            <a:endParaRPr sz="19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570"/>
              </a:spcBef>
              <a:buClr>
                <a:srgbClr val="CC0000"/>
              </a:buClr>
              <a:buSzPct val="90384"/>
              <a:buFont typeface="Wingdings"/>
              <a:buChar char=""/>
              <a:tabLst>
                <a:tab pos="758825" algn="l"/>
              </a:tabLst>
            </a:pPr>
            <a:r>
              <a:rPr sz="2600" dirty="0">
                <a:latin typeface="Times New Roman"/>
                <a:cs typeface="Times New Roman"/>
              </a:rPr>
              <a:t>(</a:t>
            </a:r>
            <a:r>
              <a:rPr sz="2600" b="1" dirty="0">
                <a:latin typeface="Times New Roman"/>
                <a:cs typeface="Times New Roman"/>
              </a:rPr>
              <a:t>.</a:t>
            </a:r>
            <a:r>
              <a:rPr sz="2600" dirty="0">
                <a:latin typeface="Times New Roman"/>
                <a:cs typeface="Times New Roman"/>
              </a:rPr>
              <a:t>)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anywhere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file/directory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name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529" y="3337967"/>
            <a:ext cx="6979920" cy="7569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99415" algn="l"/>
              </a:tabLst>
            </a:pPr>
            <a:r>
              <a:rPr sz="1900" dirty="0">
                <a:latin typeface="Times New Roman"/>
                <a:cs typeface="Times New Roman"/>
              </a:rPr>
              <a:t>Using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(.)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beginning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file/directory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name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makes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it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hidden</a:t>
            </a:r>
            <a:endParaRPr sz="190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99415" algn="l"/>
              </a:tabLst>
            </a:pPr>
            <a:r>
              <a:rPr sz="1900" dirty="0">
                <a:latin typeface="Times New Roman"/>
                <a:cs typeface="Times New Roman"/>
              </a:rPr>
              <a:t>Using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(.)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alone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will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considered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current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working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directory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3465" y="3925823"/>
            <a:ext cx="4790440" cy="130873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3300" dirty="0">
                <a:latin typeface="Times New Roman"/>
                <a:cs typeface="Times New Roman"/>
              </a:rPr>
              <a:t>What</a:t>
            </a:r>
            <a:r>
              <a:rPr sz="3300" spc="-2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to</a:t>
            </a:r>
            <a:r>
              <a:rPr sz="3300" spc="-185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Avoid:</a:t>
            </a:r>
            <a:endParaRPr sz="33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340"/>
              </a:spcBef>
              <a:buClr>
                <a:srgbClr val="CC0000"/>
              </a:buClr>
              <a:buSzPct val="90384"/>
              <a:buFont typeface="Wingdings"/>
              <a:buChar char=""/>
              <a:tabLst>
                <a:tab pos="758825" algn="l"/>
              </a:tabLst>
            </a:pPr>
            <a:r>
              <a:rPr sz="2600" spc="-20" dirty="0">
                <a:latin typeface="Times New Roman"/>
                <a:cs typeface="Times New Roman"/>
              </a:rPr>
              <a:t>Avoid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spaces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file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names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3129" y="5234066"/>
            <a:ext cx="6355715" cy="12020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932815" indent="-387350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932815" algn="l"/>
              </a:tabLst>
            </a:pPr>
            <a:r>
              <a:rPr sz="1900" dirty="0">
                <a:latin typeface="Times New Roman"/>
                <a:cs typeface="Times New Roman"/>
              </a:rPr>
              <a:t>“</a:t>
            </a:r>
            <a:r>
              <a:rPr sz="1900" dirty="0">
                <a:latin typeface="Courier New"/>
                <a:cs typeface="Courier New"/>
              </a:rPr>
              <a:t>my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file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name.txt</a:t>
            </a:r>
            <a:r>
              <a:rPr sz="1900" dirty="0">
                <a:latin typeface="Times New Roman"/>
                <a:cs typeface="Times New Roman"/>
              </a:rPr>
              <a:t>”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Wingdings"/>
                <a:cs typeface="Wingdings"/>
              </a:rPr>
              <a:t>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“</a:t>
            </a:r>
            <a:r>
              <a:rPr sz="1900" spc="-10" dirty="0">
                <a:latin typeface="Courier New"/>
                <a:cs typeface="Courier New"/>
              </a:rPr>
              <a:t>my_file_name.txt</a:t>
            </a:r>
            <a:r>
              <a:rPr sz="1900" spc="-10" dirty="0">
                <a:latin typeface="Times New Roman"/>
                <a:cs typeface="Times New Roman"/>
              </a:rPr>
              <a:t>”</a:t>
            </a:r>
            <a:endParaRPr sz="190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spcBef>
                <a:spcPts val="585"/>
              </a:spcBef>
              <a:buClr>
                <a:srgbClr val="CC0000"/>
              </a:buClr>
              <a:buSzPct val="90384"/>
              <a:buFont typeface="Wingdings"/>
              <a:buChar char=""/>
              <a:tabLst>
                <a:tab pos="399415" algn="l"/>
              </a:tabLst>
            </a:pPr>
            <a:r>
              <a:rPr sz="2600" spc="-20" dirty="0">
                <a:latin typeface="Times New Roman"/>
                <a:cs typeface="Times New Roman"/>
              </a:rPr>
              <a:t>Avoid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these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characters:</a:t>
            </a:r>
            <a:endParaRPr sz="26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932815" algn="l"/>
              </a:tabLst>
            </a:pPr>
            <a:r>
              <a:rPr sz="1900" b="1" dirty="0">
                <a:latin typeface="Courier New"/>
                <a:cs typeface="Courier New"/>
              </a:rPr>
              <a:t>()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" ' ?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$ *\</a:t>
            </a:r>
            <a:r>
              <a:rPr sz="1900" b="1" spc="-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/ </a:t>
            </a:r>
            <a:r>
              <a:rPr sz="1900" b="1" spc="-50" dirty="0">
                <a:latin typeface="Courier New"/>
                <a:cs typeface="Courier New"/>
              </a:rPr>
              <a:t>: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145" y="1573530"/>
            <a:ext cx="2430780" cy="2007235"/>
          </a:xfrm>
          <a:prstGeom prst="rect">
            <a:avLst/>
          </a:prstGeom>
          <a:solidFill>
            <a:srgbClr val="9BBA58"/>
          </a:solidFill>
          <a:ln w="25400">
            <a:solidFill>
              <a:srgbClr val="70883E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77190" algn="l"/>
              </a:tabLst>
            </a:pPr>
            <a:r>
              <a:rPr sz="1800" dirty="0">
                <a:latin typeface="Calibri"/>
                <a:cs typeface="Calibri"/>
              </a:rPr>
              <a:t>A-</a:t>
            </a:r>
            <a:r>
              <a:rPr sz="1800" spc="-50" dirty="0"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  <a:p>
            <a:pPr marL="377190" indent="-286385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1800" dirty="0">
                <a:latin typeface="Calibri"/>
                <a:cs typeface="Calibri"/>
              </a:rPr>
              <a:t>A-</a:t>
            </a:r>
            <a:r>
              <a:rPr sz="1800" spc="-50" dirty="0"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  <a:p>
            <a:pPr marL="377190" indent="-286385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1800" spc="-10" dirty="0">
                <a:latin typeface="Calibri"/>
                <a:cs typeface="Calibri"/>
              </a:rPr>
              <a:t>0-</a:t>
            </a:r>
            <a:r>
              <a:rPr sz="1800" spc="-50" dirty="0"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  <a:p>
            <a:pPr marL="377190" indent="-286385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1800" dirty="0">
                <a:latin typeface="Calibri"/>
                <a:cs typeface="Calibri"/>
              </a:rPr>
              <a:t>dot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(.)</a:t>
            </a:r>
            <a:endParaRPr sz="1800">
              <a:latin typeface="Calibri"/>
              <a:cs typeface="Calibri"/>
            </a:endParaRPr>
          </a:p>
          <a:p>
            <a:pPr marL="377190" indent="-286385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1800" dirty="0">
                <a:latin typeface="Calibri"/>
                <a:cs typeface="Calibri"/>
              </a:rPr>
              <a:t>dash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(-</a:t>
            </a:r>
            <a:r>
              <a:rPr sz="1800" spc="-5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377190" indent="-286385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1800" spc="-10" dirty="0">
                <a:latin typeface="Calibri"/>
                <a:cs typeface="Calibri"/>
              </a:rPr>
              <a:t>underscore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(_)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156445" y="3932173"/>
            <a:ext cx="2456180" cy="2700020"/>
            <a:chOff x="9156445" y="3932173"/>
            <a:chExt cx="2456180" cy="2700020"/>
          </a:xfrm>
        </p:grpSpPr>
        <p:sp>
          <p:nvSpPr>
            <p:cNvPr id="9" name="object 9"/>
            <p:cNvSpPr/>
            <p:nvPr/>
          </p:nvSpPr>
          <p:spPr>
            <a:xfrm>
              <a:off x="9169145" y="3944873"/>
              <a:ext cx="2430780" cy="2674620"/>
            </a:xfrm>
            <a:custGeom>
              <a:avLst/>
              <a:gdLst/>
              <a:ahLst/>
              <a:cxnLst/>
              <a:rect l="l" t="t" r="r" b="b"/>
              <a:pathLst>
                <a:path w="2430779" h="2674620">
                  <a:moveTo>
                    <a:pt x="2430779" y="0"/>
                  </a:moveTo>
                  <a:lnTo>
                    <a:pt x="0" y="0"/>
                  </a:lnTo>
                  <a:lnTo>
                    <a:pt x="0" y="2674620"/>
                  </a:lnTo>
                  <a:lnTo>
                    <a:pt x="2430779" y="2674620"/>
                  </a:lnTo>
                  <a:lnTo>
                    <a:pt x="2430779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69145" y="3944873"/>
              <a:ext cx="2430780" cy="2674620"/>
            </a:xfrm>
            <a:custGeom>
              <a:avLst/>
              <a:gdLst/>
              <a:ahLst/>
              <a:cxnLst/>
              <a:rect l="l" t="t" r="r" b="b"/>
              <a:pathLst>
                <a:path w="2430779" h="2674620">
                  <a:moveTo>
                    <a:pt x="0" y="0"/>
                  </a:moveTo>
                  <a:lnTo>
                    <a:pt x="2430779" y="0"/>
                  </a:lnTo>
                  <a:lnTo>
                    <a:pt x="2430779" y="2674620"/>
                  </a:lnTo>
                  <a:lnTo>
                    <a:pt x="0" y="267462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357C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260489" y="3961986"/>
            <a:ext cx="193675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5750" algn="l"/>
              </a:tabLst>
            </a:pPr>
            <a:r>
              <a:rPr sz="1800" dirty="0">
                <a:latin typeface="Calibri"/>
                <a:cs typeface="Calibri"/>
              </a:rPr>
              <a:t>()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parenthesis</a:t>
            </a:r>
            <a:endParaRPr sz="1800">
              <a:latin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buFont typeface="Arial MT"/>
              <a:buChar char="•"/>
              <a:tabLst>
                <a:tab pos="285750" algn="l"/>
                <a:tab pos="535940" algn="l"/>
              </a:tabLst>
            </a:pPr>
            <a:r>
              <a:rPr sz="1800" spc="-50" dirty="0">
                <a:latin typeface="Calibri"/>
                <a:cs typeface="Calibri"/>
              </a:rPr>
              <a:t>"</a:t>
            </a:r>
            <a:r>
              <a:rPr sz="1800" dirty="0">
                <a:latin typeface="Calibri"/>
                <a:cs typeface="Calibri"/>
              </a:rPr>
              <a:t>	double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quotes</a:t>
            </a:r>
            <a:endParaRPr sz="1800">
              <a:latin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buFont typeface="Arial MT"/>
              <a:buChar char="•"/>
              <a:tabLst>
                <a:tab pos="285750" algn="l"/>
                <a:tab pos="546735" algn="l"/>
              </a:tabLst>
            </a:pPr>
            <a:r>
              <a:rPr sz="1800" spc="-50" dirty="0">
                <a:latin typeface="Calibri"/>
                <a:cs typeface="Calibri"/>
              </a:rPr>
              <a:t>'</a:t>
            </a:r>
            <a:r>
              <a:rPr sz="1800" dirty="0">
                <a:latin typeface="Calibri"/>
                <a:cs typeface="Calibri"/>
              </a:rPr>
              <a:t>	single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quote</a:t>
            </a:r>
            <a:endParaRPr sz="1800">
              <a:latin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buFont typeface="Arial MT"/>
              <a:buChar char="•"/>
              <a:tabLst>
                <a:tab pos="285750" algn="l"/>
                <a:tab pos="549910" algn="l"/>
              </a:tabLst>
            </a:pPr>
            <a:r>
              <a:rPr sz="1800" spc="-50" dirty="0">
                <a:latin typeface="Calibri"/>
                <a:cs typeface="Calibri"/>
              </a:rPr>
              <a:t>?</a:t>
            </a:r>
            <a:r>
              <a:rPr sz="1800" dirty="0">
                <a:latin typeface="Calibri"/>
                <a:cs typeface="Calibri"/>
              </a:rPr>
              <a:t>	Question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mark</a:t>
            </a:r>
            <a:endParaRPr sz="1800">
              <a:latin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buFont typeface="Arial MT"/>
              <a:buChar char="•"/>
              <a:tabLst>
                <a:tab pos="285750" algn="l"/>
                <a:tab pos="558800" algn="l"/>
              </a:tabLst>
            </a:pPr>
            <a:r>
              <a:rPr sz="1800" spc="-50" dirty="0">
                <a:latin typeface="Calibri"/>
                <a:cs typeface="Calibri"/>
              </a:rPr>
              <a:t>$</a:t>
            </a:r>
            <a:r>
              <a:rPr sz="1800" dirty="0">
                <a:latin typeface="Calibri"/>
                <a:cs typeface="Calibri"/>
              </a:rPr>
              <a:t>	dollar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sign</a:t>
            </a:r>
            <a:endParaRPr sz="1800">
              <a:latin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buFont typeface="Arial MT"/>
              <a:buChar char="•"/>
              <a:tabLst>
                <a:tab pos="285750" algn="l"/>
                <a:tab pos="557530" algn="l"/>
              </a:tabLst>
            </a:pPr>
            <a:r>
              <a:rPr sz="1800" spc="-50" dirty="0">
                <a:latin typeface="Calibri"/>
                <a:cs typeface="Calibri"/>
              </a:rPr>
              <a:t>*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asterisk</a:t>
            </a:r>
            <a:endParaRPr sz="1800">
              <a:latin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buFont typeface="Arial MT"/>
              <a:buChar char="•"/>
              <a:tabLst>
                <a:tab pos="285750" algn="l"/>
                <a:tab pos="531495" algn="l"/>
              </a:tabLst>
            </a:pPr>
            <a:r>
              <a:rPr sz="1800" spc="-50" dirty="0">
                <a:latin typeface="Calibri"/>
                <a:cs typeface="Calibri"/>
              </a:rPr>
              <a:t>\</a:t>
            </a:r>
            <a:r>
              <a:rPr sz="1800" dirty="0">
                <a:latin typeface="Calibri"/>
                <a:cs typeface="Calibri"/>
              </a:rPr>
              <a:t>	back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slash</a:t>
            </a:r>
            <a:endParaRPr sz="1800">
              <a:latin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buFont typeface="Arial MT"/>
              <a:buChar char="•"/>
              <a:tabLst>
                <a:tab pos="285750" algn="l"/>
                <a:tab pos="531495" algn="l"/>
              </a:tabLst>
            </a:pPr>
            <a:r>
              <a:rPr sz="1800" spc="-50" dirty="0">
                <a:latin typeface="Calibri"/>
                <a:cs typeface="Calibri"/>
              </a:rPr>
              <a:t>/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slash</a:t>
            </a:r>
            <a:endParaRPr sz="1800">
              <a:latin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buFont typeface="Arial MT"/>
              <a:buChar char="•"/>
              <a:tabLst>
                <a:tab pos="285750" algn="l"/>
                <a:tab pos="557530" algn="l"/>
              </a:tabLst>
            </a:pPr>
            <a:r>
              <a:rPr sz="1800" spc="-50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colon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200" dirty="0"/>
              <a:t> </a:t>
            </a:r>
            <a:r>
              <a:rPr dirty="0"/>
              <a:t>few</a:t>
            </a:r>
            <a:r>
              <a:rPr spc="-60" dirty="0"/>
              <a:t> </a:t>
            </a:r>
            <a:r>
              <a:rPr dirty="0"/>
              <a:t>Basic</a:t>
            </a:r>
            <a:r>
              <a:rPr spc="-25" dirty="0"/>
              <a:t> </a:t>
            </a:r>
            <a:r>
              <a:rPr dirty="0"/>
              <a:t>File</a:t>
            </a:r>
            <a:r>
              <a:rPr spc="-4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0227"/>
            <a:ext cx="9371330" cy="1469390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3600" spc="-10" dirty="0">
                <a:latin typeface="Times New Roman"/>
                <a:cs typeface="Times New Roman"/>
              </a:rPr>
              <a:t>Let’s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learn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few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operations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before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Exercise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#1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7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dirty="0">
                <a:latin typeface="Courier New"/>
                <a:cs typeface="Courier New"/>
              </a:rPr>
              <a:t>touch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empty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primary</a:t>
            </a:r>
            <a:r>
              <a:rPr sz="2400" spc="-10" dirty="0">
                <a:latin typeface="Times New Roman"/>
                <a:cs typeface="Times New Roman"/>
              </a:rPr>
              <a:t> job!)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4068573"/>
            <a:ext cx="8518525" cy="188087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7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399415" algn="l"/>
              </a:tabLst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output</a:t>
            </a:r>
            <a:endParaRPr sz="2400" dirty="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spcBef>
                <a:spcPts val="87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399415" algn="l"/>
                <a:tab pos="871855" algn="l"/>
              </a:tabLst>
            </a:pPr>
            <a:r>
              <a:rPr sz="2400" b="1" spc="-50" dirty="0">
                <a:latin typeface="Courier New"/>
                <a:cs typeface="Courier New"/>
              </a:rPr>
              <a:t>&gt;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redirects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(Creates/Rewrite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file)</a:t>
            </a:r>
            <a:endParaRPr sz="2400" dirty="0">
              <a:latin typeface="Times New Roman"/>
              <a:cs typeface="Times New Roman"/>
            </a:endParaRPr>
          </a:p>
          <a:p>
            <a:pPr marL="399415" indent="-386715">
              <a:lnSpc>
                <a:spcPct val="100000"/>
              </a:lnSpc>
              <a:spcBef>
                <a:spcPts val="87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399415" algn="l"/>
              </a:tabLst>
            </a:pPr>
            <a:r>
              <a:rPr sz="2400" b="1" spc="-10" dirty="0">
                <a:latin typeface="Courier New"/>
                <a:cs typeface="Courier New"/>
              </a:rPr>
              <a:t>&gt;&gt;</a:t>
            </a:r>
            <a:r>
              <a:rPr sz="2400" b="1" spc="-60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redirects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file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(Append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file)</a:t>
            </a:r>
            <a:endParaRPr sz="2400" dirty="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932815" algn="l"/>
              </a:tabLst>
            </a:pPr>
            <a:r>
              <a:rPr sz="2000" dirty="0">
                <a:solidFill>
                  <a:srgbClr val="FFFF00"/>
                </a:solidFill>
                <a:latin typeface="Times New Roman"/>
                <a:cs typeface="Times New Roman"/>
              </a:rPr>
              <a:t>More</a:t>
            </a:r>
            <a:r>
              <a:rPr sz="2000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00"/>
                </a:solidFill>
                <a:latin typeface="Times New Roman"/>
                <a:cs typeface="Times New Roman"/>
              </a:rPr>
              <a:t>details</a:t>
            </a:r>
            <a:r>
              <a:rPr sz="20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00"/>
                </a:solidFill>
                <a:latin typeface="Times New Roman"/>
                <a:cs typeface="Times New Roman"/>
              </a:rPr>
              <a:t>on</a:t>
            </a:r>
            <a:r>
              <a:rPr sz="20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00"/>
                </a:solidFill>
                <a:latin typeface="Times New Roman"/>
                <a:cs typeface="Times New Roman"/>
              </a:rPr>
              <a:t>output</a:t>
            </a:r>
            <a:r>
              <a:rPr sz="2000" spc="-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00"/>
                </a:solidFill>
                <a:latin typeface="Times New Roman"/>
                <a:cs typeface="Times New Roman"/>
              </a:rPr>
              <a:t>redirects</a:t>
            </a:r>
            <a:r>
              <a:rPr sz="2000" spc="-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00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00"/>
                </a:solidFill>
                <a:latin typeface="Times New Roman"/>
                <a:cs typeface="Times New Roman"/>
              </a:rPr>
              <a:t>next</a:t>
            </a:r>
            <a:r>
              <a:rPr sz="2000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00"/>
                </a:solidFill>
                <a:latin typeface="Times New Roman"/>
                <a:cs typeface="Times New Roman"/>
              </a:rPr>
              <a:t>few</a:t>
            </a:r>
            <a:r>
              <a:rPr sz="2000" spc="-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00"/>
                </a:solidFill>
                <a:latin typeface="Times New Roman"/>
                <a:cs typeface="Times New Roman"/>
              </a:rPr>
              <a:t>slides</a:t>
            </a:r>
            <a:endParaRPr sz="2000" dirty="0">
              <a:solidFill>
                <a:srgbClr val="FFFF00"/>
              </a:solidFill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8636" y="2903220"/>
            <a:ext cx="9593580" cy="1191895"/>
            <a:chOff x="1278636" y="2903220"/>
            <a:chExt cx="9593580" cy="11918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2903220"/>
              <a:ext cx="9552431" cy="11247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2904744"/>
              <a:ext cx="3368039" cy="119024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67027" y="2927604"/>
            <a:ext cx="9458325" cy="103060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 marR="6350000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9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touch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my_file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my_file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8636" y="5971032"/>
            <a:ext cx="9593580" cy="887094"/>
            <a:chOff x="1278636" y="5971032"/>
            <a:chExt cx="9593580" cy="887094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5971032"/>
              <a:ext cx="9552431" cy="8823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636" y="6007607"/>
              <a:ext cx="5824727" cy="85039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67027" y="5995415"/>
            <a:ext cx="9458325" cy="78803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 marR="3891915">
              <a:lnSpc>
                <a:spcPct val="113900"/>
              </a:lnSpc>
              <a:spcBef>
                <a:spcPts val="27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echo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"hello</a:t>
            </a:r>
            <a:r>
              <a:rPr sz="18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world!"</a:t>
            </a:r>
            <a:r>
              <a:rPr sz="18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&gt;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hello.txt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echo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"second</a:t>
            </a:r>
            <a:r>
              <a:rPr sz="18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line"</a:t>
            </a:r>
            <a:r>
              <a:rPr sz="18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&gt;&gt;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hello.txt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200" dirty="0"/>
              <a:t> </a:t>
            </a:r>
            <a:r>
              <a:rPr dirty="0"/>
              <a:t>few</a:t>
            </a:r>
            <a:r>
              <a:rPr spc="-50" dirty="0"/>
              <a:t> </a:t>
            </a:r>
            <a:r>
              <a:rPr dirty="0"/>
              <a:t>Basic</a:t>
            </a:r>
            <a:r>
              <a:rPr spc="-20" dirty="0"/>
              <a:t> </a:t>
            </a:r>
            <a:r>
              <a:rPr dirty="0"/>
              <a:t>File</a:t>
            </a:r>
            <a:r>
              <a:rPr spc="-35" dirty="0"/>
              <a:t> </a:t>
            </a:r>
            <a:r>
              <a:rPr dirty="0"/>
              <a:t>Operations</a:t>
            </a:r>
            <a:r>
              <a:rPr spc="-6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0227"/>
            <a:ext cx="9333230" cy="1469390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3600" spc="-10" dirty="0">
                <a:latin typeface="Times New Roman"/>
                <a:cs typeface="Times New Roman"/>
              </a:rPr>
              <a:t>Let’s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learn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some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operations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before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Exercise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#1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7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spc="-10" dirty="0">
                <a:latin typeface="Courier New"/>
                <a:cs typeface="Courier New"/>
              </a:rPr>
              <a:t>cat</a:t>
            </a:r>
            <a:r>
              <a:rPr sz="2400" b="1" spc="-85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file(s)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4179825"/>
            <a:ext cx="79762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399415" algn="l"/>
              </a:tabLst>
            </a:pPr>
            <a:r>
              <a:rPr sz="2400" b="1" spc="-10" dirty="0">
                <a:latin typeface="Courier New"/>
                <a:cs typeface="Courier New"/>
              </a:rPr>
              <a:t>wc</a:t>
            </a:r>
            <a:r>
              <a:rPr sz="2400" b="1" spc="-844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counts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 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characters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8636" y="2903220"/>
            <a:ext cx="9593580" cy="1191895"/>
            <a:chOff x="1278636" y="2903220"/>
            <a:chExt cx="9593580" cy="11918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2903220"/>
              <a:ext cx="9552431" cy="11247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2904744"/>
              <a:ext cx="3368039" cy="119024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67027" y="2927604"/>
            <a:ext cx="9458325" cy="103060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 marR="6350000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cat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hello.txt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Hello</a:t>
            </a:r>
            <a:r>
              <a:rPr sz="18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world!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second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line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8636" y="4663440"/>
            <a:ext cx="9593580" cy="2127885"/>
            <a:chOff x="1278636" y="4663440"/>
            <a:chExt cx="9593580" cy="21278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4698492"/>
              <a:ext cx="9552431" cy="199034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636" y="4663440"/>
              <a:ext cx="3640835" cy="212750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67027" y="4722876"/>
            <a:ext cx="9458325" cy="189611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wc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hello.txt</a:t>
            </a:r>
            <a:endParaRPr sz="1800">
              <a:latin typeface="Courier New"/>
              <a:cs typeface="Courier New"/>
            </a:endParaRPr>
          </a:p>
          <a:p>
            <a:pPr marL="91440" marR="6077585" indent="137160">
              <a:lnSpc>
                <a:spcPct val="113900"/>
              </a:lnSpc>
              <a:tabLst>
                <a:tab pos="638175" algn="l"/>
              </a:tabLst>
            </a:pP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4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25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hello.txt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wc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hello.txt</a:t>
            </a:r>
            <a:endParaRPr sz="1800">
              <a:latin typeface="Courier New"/>
              <a:cs typeface="Courier New"/>
            </a:endParaRPr>
          </a:p>
          <a:p>
            <a:pPr marL="227965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hello.txt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wc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hello.txt</a:t>
            </a:r>
            <a:endParaRPr sz="1800">
              <a:latin typeface="Courier New"/>
              <a:cs typeface="Courier New"/>
            </a:endParaRPr>
          </a:p>
          <a:p>
            <a:pPr marL="227965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4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hello.txt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Exercise</a:t>
            </a:r>
            <a:r>
              <a:rPr spc="-70" dirty="0"/>
              <a:t> </a:t>
            </a:r>
            <a:r>
              <a:rPr spc="-25" dirty="0"/>
              <a:t>#1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3129" y="1480211"/>
            <a:ext cx="9740265" cy="475488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88636"/>
              <a:buAutoNum type="arabicPeriod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Return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home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directory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30"/>
              </a:spcBef>
              <a:buClr>
                <a:srgbClr val="CC0000"/>
              </a:buClr>
              <a:buSzPct val="88636"/>
              <a:buAutoNum type="arabicPeriod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directory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name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“exercise1”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30"/>
              </a:spcBef>
              <a:buClr>
                <a:srgbClr val="CC0000"/>
              </a:buClr>
              <a:buSzPct val="88636"/>
              <a:buAutoNum type="arabicPeriod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Go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“exercise1”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directory</a:t>
            </a:r>
            <a:endParaRPr sz="2200">
              <a:latin typeface="Times New Roman"/>
              <a:cs typeface="Times New Roman"/>
            </a:endParaRPr>
          </a:p>
          <a:p>
            <a:pPr marL="469265" marR="26670" indent="-457200">
              <a:lnSpc>
                <a:spcPct val="100000"/>
              </a:lnSpc>
              <a:spcBef>
                <a:spcPts val="1125"/>
              </a:spcBef>
              <a:buClr>
                <a:srgbClr val="CC0000"/>
              </a:buClr>
              <a:buSzPct val="88636"/>
              <a:buAutoNum type="arabicPeriod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text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name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“test1.txt”.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file:</a:t>
            </a:r>
            <a:endParaRPr sz="2200">
              <a:latin typeface="Times New Roman"/>
              <a:cs typeface="Times New Roman"/>
            </a:endParaRPr>
          </a:p>
          <a:p>
            <a:pPr marL="871855">
              <a:lnSpc>
                <a:spcPct val="100000"/>
              </a:lnSpc>
              <a:spcBef>
                <a:spcPts val="530"/>
              </a:spcBef>
            </a:pPr>
            <a:r>
              <a:rPr sz="1900" dirty="0">
                <a:latin typeface="Courier New"/>
                <a:cs typeface="Courier New"/>
              </a:rPr>
              <a:t>Exercise</a:t>
            </a:r>
            <a:r>
              <a:rPr sz="1900" spc="-25" dirty="0">
                <a:latin typeface="Courier New"/>
                <a:cs typeface="Courier New"/>
              </a:rPr>
              <a:t> #1:</a:t>
            </a:r>
            <a:endParaRPr sz="1900">
              <a:latin typeface="Courier New"/>
              <a:cs typeface="Courier New"/>
            </a:endParaRPr>
          </a:p>
          <a:p>
            <a:pPr marL="871855" marR="5826760">
              <a:lnSpc>
                <a:spcPct val="110000"/>
              </a:lnSpc>
              <a:spcBef>
                <a:spcPts val="550"/>
              </a:spcBef>
            </a:pPr>
            <a:r>
              <a:rPr sz="1900" dirty="0">
                <a:latin typeface="Courier New"/>
                <a:cs typeface="Courier New"/>
              </a:rPr>
              <a:t>This</a:t>
            </a:r>
            <a:r>
              <a:rPr sz="1900" spc="-2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is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 test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file </a:t>
            </a:r>
            <a:r>
              <a:rPr sz="1900" dirty="0">
                <a:latin typeface="Courier New"/>
                <a:cs typeface="Courier New"/>
              </a:rPr>
              <a:t>here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is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the last</a:t>
            </a:r>
            <a:r>
              <a:rPr sz="1900" spc="-25" dirty="0">
                <a:latin typeface="Courier New"/>
                <a:cs typeface="Courier New"/>
              </a:rPr>
              <a:t> </a:t>
            </a:r>
            <a:r>
              <a:rPr sz="1900" spc="-20" dirty="0">
                <a:latin typeface="Courier New"/>
                <a:cs typeface="Courier New"/>
              </a:rPr>
              <a:t>line</a:t>
            </a:r>
            <a:endParaRPr sz="19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975"/>
              </a:spcBef>
              <a:buClr>
                <a:srgbClr val="CC0000"/>
              </a:buClr>
              <a:buSzPct val="88636"/>
              <a:buAutoNum type="arabicPeriod" startAt="5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Now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directory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“exercise1”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directory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“subdir1”.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25"/>
              </a:spcBef>
              <a:buClr>
                <a:srgbClr val="CC0000"/>
              </a:buClr>
              <a:buSzPct val="88636"/>
              <a:buAutoNum type="arabicPeriod" startAt="5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Go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“subdir1”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“test1.txt”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terminal.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30"/>
              </a:spcBef>
              <a:buClr>
                <a:srgbClr val="CC0000"/>
              </a:buClr>
              <a:buSzPct val="88636"/>
              <a:buAutoNum type="arabicPeriod" startAt="5"/>
              <a:tabLst>
                <a:tab pos="469265" algn="l"/>
              </a:tabLst>
            </a:pPr>
            <a:r>
              <a:rPr sz="2200" dirty="0">
                <a:latin typeface="Times New Roman"/>
                <a:cs typeface="Times New Roman"/>
              </a:rPr>
              <a:t>Return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“exercise1”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directory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count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“test1.txt”.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File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Directory</a:t>
            </a:r>
            <a:r>
              <a:rPr spc="-4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35419"/>
            <a:ext cx="8993505" cy="2098675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dirty="0">
                <a:latin typeface="Times New Roman"/>
                <a:cs typeface="Times New Roman"/>
              </a:rPr>
              <a:t>Copy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0" dirty="0">
                <a:latin typeface="Times New Roman"/>
                <a:cs typeface="Times New Roman"/>
              </a:rPr>
              <a:t> Directories: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2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b="1" dirty="0">
                <a:latin typeface="Courier New"/>
                <a:cs typeface="Courier New"/>
              </a:rPr>
              <a:t>cp</a:t>
            </a:r>
            <a:r>
              <a:rPr sz="2800" b="1" spc="-101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copy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file(s)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directory(s)</a:t>
            </a:r>
            <a:endParaRPr sz="28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820"/>
              </a:spcBef>
              <a:buFont typeface="Arial MT"/>
              <a:buChar char="•"/>
              <a:tabLst>
                <a:tab pos="1292225" algn="l"/>
              </a:tabLst>
            </a:pPr>
            <a:r>
              <a:rPr sz="2400" b="1" spc="-10" dirty="0">
                <a:latin typeface="Courier New"/>
                <a:cs typeface="Courier New"/>
              </a:rPr>
              <a:t>-</a:t>
            </a:r>
            <a:r>
              <a:rPr sz="2400" b="1" dirty="0">
                <a:latin typeface="Courier New"/>
                <a:cs typeface="Courier New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Recursively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directories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subdirectories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well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3685032"/>
            <a:ext cx="9593580" cy="2766060"/>
            <a:chOff x="1278636" y="3685032"/>
            <a:chExt cx="9593580" cy="27660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685032"/>
              <a:ext cx="9552431" cy="27111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698748"/>
              <a:ext cx="5141975" cy="27523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3709415"/>
            <a:ext cx="9458325" cy="261683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91440" marR="7855584">
              <a:lnSpc>
                <a:spcPct val="113900"/>
              </a:lnSpc>
              <a:spcBef>
                <a:spcPts val="9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file1.txt</a:t>
            </a:r>
            <a:endParaRPr sz="1800">
              <a:latin typeface="Courier New"/>
              <a:cs typeface="Courier New"/>
            </a:endParaRPr>
          </a:p>
          <a:p>
            <a:pPr marL="91440" marR="5120005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cp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file1.txt</a:t>
            </a:r>
            <a:r>
              <a:rPr sz="18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file2.txt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endParaRPr sz="1800">
              <a:latin typeface="Courier New"/>
              <a:cs typeface="Courier New"/>
            </a:endParaRPr>
          </a:p>
          <a:p>
            <a:pPr marL="91440" marR="5807075">
              <a:lnSpc>
                <a:spcPct val="113900"/>
              </a:lnSpc>
              <a:tabLst>
                <a:tab pos="1593850" algn="l"/>
              </a:tabLst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file1.txt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file2.txt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cp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../mydir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./</a:t>
            </a:r>
            <a:endParaRPr sz="1800">
              <a:latin typeface="Courier New"/>
              <a:cs typeface="Courier New"/>
            </a:endParaRPr>
          </a:p>
          <a:p>
            <a:pPr marL="91440" marR="4574540">
              <a:lnSpc>
                <a:spcPct val="113900"/>
              </a:lnSpc>
              <a:tabLst>
                <a:tab pos="2959735" algn="l"/>
                <a:tab pos="3505200" algn="l"/>
              </a:tabLst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cp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../mydir2/*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/home/bob/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cp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./*.txt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~/text_dir/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File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Directory</a:t>
            </a:r>
            <a:r>
              <a:rPr spc="-4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35419"/>
            <a:ext cx="10149840" cy="254381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dirty="0">
                <a:latin typeface="Times New Roman"/>
                <a:cs typeface="Times New Roman"/>
              </a:rPr>
              <a:t>Move/Rename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Files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Directories:</a:t>
            </a:r>
            <a:endParaRPr sz="36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05000"/>
              </a:lnSpc>
              <a:spcBef>
                <a:spcPts val="155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9460" algn="l"/>
              </a:tabLst>
            </a:pPr>
            <a:r>
              <a:rPr sz="2800" b="1" dirty="0">
                <a:latin typeface="Courier New"/>
                <a:cs typeface="Courier New"/>
              </a:rPr>
              <a:t>mv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copy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source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file(s)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directory(s)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destination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remove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source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end.</a:t>
            </a:r>
            <a:endParaRPr sz="28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89"/>
              </a:spcBef>
              <a:buFont typeface="Arial MT"/>
              <a:buChar char="•"/>
              <a:tabLst>
                <a:tab pos="1292225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renaming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file/directory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well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4081271"/>
            <a:ext cx="9593580" cy="2493645"/>
            <a:chOff x="1278636" y="4081271"/>
            <a:chExt cx="9593580" cy="2493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081271"/>
              <a:ext cx="9552431" cy="24780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134611"/>
              <a:ext cx="4596383" cy="243992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4105655"/>
            <a:ext cx="9458325" cy="238379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91440" marR="7855584">
              <a:lnSpc>
                <a:spcPct val="113900"/>
              </a:lnSpc>
              <a:spcBef>
                <a:spcPts val="40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file1.txt</a:t>
            </a:r>
            <a:endParaRPr sz="1800">
              <a:latin typeface="Courier New"/>
              <a:cs typeface="Courier New"/>
            </a:endParaRPr>
          </a:p>
          <a:p>
            <a:pPr marL="91440" marR="5120005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mv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file1.txt</a:t>
            </a:r>
            <a:r>
              <a:rPr sz="18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file2.txt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file2.txt</a:t>
            </a:r>
            <a:endParaRPr sz="1800">
              <a:latin typeface="Courier New"/>
              <a:cs typeface="Courier New"/>
            </a:endParaRPr>
          </a:p>
          <a:p>
            <a:pPr marL="91440" marR="5397500">
              <a:lnSpc>
                <a:spcPct val="113900"/>
              </a:lnSpc>
              <a:spcBef>
                <a:spcPts val="5"/>
              </a:spcBef>
              <a:tabLst>
                <a:tab pos="2822575" algn="l"/>
                <a:tab pos="3777615" algn="l"/>
              </a:tabLst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mv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mydir/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../temp/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mv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../docs/*.pdf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./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File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Directory</a:t>
            </a:r>
            <a:r>
              <a:rPr spc="-4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35419"/>
            <a:ext cx="9941560" cy="2954655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dirty="0">
                <a:latin typeface="Times New Roman"/>
                <a:cs typeface="Times New Roman"/>
              </a:rPr>
              <a:t>Deleting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Files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Directories: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2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b="1" dirty="0">
                <a:latin typeface="Courier New"/>
                <a:cs typeface="Courier New"/>
              </a:rPr>
              <a:t>rm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remove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file(s)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directory(s)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permanently</a:t>
            </a:r>
            <a:endParaRPr sz="2800">
              <a:latin typeface="Times New Roman"/>
              <a:cs typeface="Times New Roman"/>
            </a:endParaRPr>
          </a:p>
          <a:p>
            <a:pPr marL="1292860" marR="5080" lvl="1" indent="-387350">
              <a:lnSpc>
                <a:spcPts val="2510"/>
              </a:lnSpc>
              <a:spcBef>
                <a:spcPts val="2115"/>
              </a:spcBef>
              <a:buFont typeface="Arial MT"/>
              <a:buChar char="•"/>
              <a:tabLst>
                <a:tab pos="1292860" algn="l"/>
              </a:tabLst>
            </a:pPr>
            <a:r>
              <a:rPr sz="2200" dirty="0">
                <a:latin typeface="Times New Roman"/>
                <a:cs typeface="Times New Roman"/>
              </a:rPr>
              <a:t>Removing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directories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recovered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easily </a:t>
            </a:r>
            <a:r>
              <a:rPr sz="2200" dirty="0">
                <a:latin typeface="Times New Roman"/>
                <a:cs typeface="Times New Roman"/>
              </a:rPr>
              <a:t>(This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exception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urier New"/>
                <a:cs typeface="Courier New"/>
              </a:rPr>
              <a:t>/home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directory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HPCC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clusters)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65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spc="-2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: </a:t>
            </a:r>
            <a:r>
              <a:rPr sz="2000" dirty="0">
                <a:latin typeface="Times New Roman"/>
                <a:cs typeface="Times New Roman"/>
              </a:rPr>
              <a:t>Recursively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directories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subdirectories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well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4381500"/>
            <a:ext cx="9593580" cy="2440305"/>
            <a:chOff x="1278636" y="4381500"/>
            <a:chExt cx="9593580" cy="2440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384547"/>
              <a:ext cx="9552431" cy="23667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381500"/>
              <a:ext cx="3640835" cy="243992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4408932"/>
            <a:ext cx="9458325" cy="227266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91440" marR="6485890">
              <a:lnSpc>
                <a:spcPts val="2460"/>
              </a:lnSpc>
              <a:spcBef>
                <a:spcPts val="100"/>
              </a:spcBef>
              <a:tabLst>
                <a:tab pos="1593850" algn="l"/>
              </a:tabLst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800" spc="5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file1.txt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file2.txt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rm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file1.txt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r>
              <a:rPr sz="1800" spc="5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file2.txt</a:t>
            </a:r>
            <a:endParaRPr sz="1800">
              <a:latin typeface="Courier New"/>
              <a:cs typeface="Courier New"/>
            </a:endParaRPr>
          </a:p>
          <a:p>
            <a:pPr marL="91440" marR="6076950">
              <a:lnSpc>
                <a:spcPts val="246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rm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../mydir/*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rm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../mydir/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Output</a:t>
            </a:r>
            <a:r>
              <a:rPr spc="-25" dirty="0"/>
              <a:t> </a:t>
            </a:r>
            <a:r>
              <a:rPr spc="-10" dirty="0"/>
              <a:t>Redirection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3129" y="1621029"/>
            <a:ext cx="9091295" cy="4290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marR="5080" indent="-38735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far,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screen.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We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Linux:</a:t>
            </a:r>
            <a:endParaRPr sz="28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1620"/>
              </a:spcBef>
              <a:buFont typeface="Arial MT"/>
              <a:buChar char="•"/>
              <a:tabLst>
                <a:tab pos="932815" algn="l"/>
                <a:tab pos="1758950" algn="l"/>
              </a:tabLst>
            </a:pPr>
            <a:r>
              <a:rPr sz="2200" b="1" spc="-50" dirty="0">
                <a:latin typeface="Courier New"/>
                <a:cs typeface="Courier New"/>
              </a:rPr>
              <a:t>&lt;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redirects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input</a:t>
            </a:r>
            <a:endParaRPr sz="22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932815" algn="l"/>
                <a:tab pos="1758950" algn="l"/>
              </a:tabLst>
            </a:pPr>
            <a:r>
              <a:rPr sz="2200" b="1" spc="-50" dirty="0">
                <a:latin typeface="Courier New"/>
                <a:cs typeface="Courier New"/>
              </a:rPr>
              <a:t>&gt;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redirects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output</a:t>
            </a:r>
            <a:endParaRPr sz="22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932815" algn="l"/>
                <a:tab pos="1758314" algn="l"/>
              </a:tabLst>
            </a:pPr>
            <a:r>
              <a:rPr sz="2200" b="1" spc="-25" dirty="0">
                <a:latin typeface="Courier New"/>
                <a:cs typeface="Courier New"/>
              </a:rPr>
              <a:t>&gt;&gt;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appends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output</a:t>
            </a:r>
            <a:endParaRPr sz="22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932815" algn="l"/>
                <a:tab pos="1758314" algn="l"/>
              </a:tabLst>
            </a:pPr>
            <a:r>
              <a:rPr sz="2200" b="1" spc="-25" dirty="0">
                <a:latin typeface="Courier New"/>
                <a:cs typeface="Courier New"/>
              </a:rPr>
              <a:t>1&gt;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redirects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output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(equals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Courier New"/>
                <a:cs typeface="Courier New"/>
              </a:rPr>
              <a:t>&gt;</a:t>
            </a:r>
            <a:r>
              <a:rPr sz="2200" spc="-25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932815" algn="l"/>
                <a:tab pos="1758314" algn="l"/>
              </a:tabLst>
            </a:pPr>
            <a:r>
              <a:rPr sz="2200" b="1" spc="-25" dirty="0">
                <a:latin typeface="Courier New"/>
                <a:cs typeface="Courier New"/>
              </a:rPr>
              <a:t>2&gt;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redirects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error</a:t>
            </a:r>
            <a:endParaRPr sz="22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932815" algn="l"/>
                <a:tab pos="1758314" algn="l"/>
              </a:tabLst>
            </a:pPr>
            <a:r>
              <a:rPr sz="2200" b="1" spc="-25" dirty="0">
                <a:latin typeface="Courier New"/>
                <a:cs typeface="Courier New"/>
              </a:rPr>
              <a:t>&amp;&gt;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redirects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output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error</a:t>
            </a:r>
            <a:endParaRPr sz="22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932815" algn="l"/>
                <a:tab pos="1758950" algn="l"/>
              </a:tabLst>
            </a:pPr>
            <a:r>
              <a:rPr sz="2200" b="1" spc="-50" dirty="0">
                <a:latin typeface="Courier New"/>
                <a:cs typeface="Courier New"/>
              </a:rPr>
              <a:t>|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(pipe)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output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command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another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Exercise</a:t>
            </a:r>
            <a:r>
              <a:rPr spc="-70" dirty="0"/>
              <a:t> </a:t>
            </a:r>
            <a:r>
              <a:rPr spc="-25" dirty="0"/>
              <a:t>#2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3129" y="1466191"/>
            <a:ext cx="9664065" cy="483552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20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Return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home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directory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Create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new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directory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name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10" dirty="0">
                <a:latin typeface="Times New Roman"/>
                <a:cs typeface="Times New Roman"/>
              </a:rPr>
              <a:t> “exercise2”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Go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“exercise2”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directory</a:t>
            </a:r>
            <a:endParaRPr sz="2600">
              <a:latin typeface="Times New Roman"/>
              <a:cs typeface="Times New Roman"/>
            </a:endParaRPr>
          </a:p>
          <a:p>
            <a:pPr marL="469265" marR="1101090" indent="-457200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Copy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“test1.txt”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“exercise1”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directory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“exercise2”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directory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Make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new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directory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under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“exercise2”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name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“subdir2”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0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Rename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file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“test1.txt”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“test2.txt”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List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contents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“exercise2”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redirect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output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“ls.out”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file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Remove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everything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under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“exercise2”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directory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5742" y="1436912"/>
            <a:ext cx="8931275" cy="210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File/Directory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Ownership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Permissions:</a:t>
            </a:r>
            <a:endParaRPr sz="3600">
              <a:latin typeface="Times New Roman"/>
              <a:cs typeface="Times New Roman"/>
            </a:endParaRPr>
          </a:p>
          <a:p>
            <a:pPr marL="758825" indent="-385445">
              <a:lnSpc>
                <a:spcPct val="100000"/>
              </a:lnSpc>
              <a:spcBef>
                <a:spcPts val="181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file/directory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belongs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users</a:t>
            </a:r>
            <a:endParaRPr sz="2400">
              <a:latin typeface="Times New Roman"/>
              <a:cs typeface="Times New Roman"/>
            </a:endParaRPr>
          </a:p>
          <a:p>
            <a:pPr marL="758825" indent="-385445">
              <a:lnSpc>
                <a:spcPts val="2850"/>
              </a:lnSpc>
              <a:spcBef>
                <a:spcPts val="163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user/group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urier New"/>
                <a:cs typeface="Courier New"/>
              </a:rPr>
              <a:t>read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urier New"/>
                <a:cs typeface="Courier New"/>
              </a:rPr>
              <a:t>write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and/or</a:t>
            </a:r>
            <a:endParaRPr sz="2400">
              <a:latin typeface="Times New Roman"/>
              <a:cs typeface="Times New Roman"/>
            </a:endParaRPr>
          </a:p>
          <a:p>
            <a:pPr marL="759460">
              <a:lnSpc>
                <a:spcPts val="2850"/>
              </a:lnSpc>
            </a:pPr>
            <a:r>
              <a:rPr sz="2400" spc="-10" dirty="0">
                <a:latin typeface="Courier New"/>
                <a:cs typeface="Courier New"/>
              </a:rPr>
              <a:t>execute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6930" y="4919252"/>
            <a:ext cx="852868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8145" indent="-385445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SzPct val="90000"/>
              <a:buFont typeface="Wingdings"/>
              <a:buChar char=""/>
              <a:tabLst>
                <a:tab pos="39814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write</a:t>
            </a:r>
            <a:r>
              <a:rPr sz="2000" b="1" spc="-715" dirty="0">
                <a:latin typeface="Courier New"/>
                <a:cs typeface="Courier New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permission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directory,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(create/delete)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entries</a:t>
            </a:r>
            <a:endParaRPr sz="2000">
              <a:latin typeface="Times New Roman"/>
              <a:cs typeface="Times New Roman"/>
            </a:endParaRPr>
          </a:p>
          <a:p>
            <a:pPr marL="398145" indent="-385445">
              <a:lnSpc>
                <a:spcPct val="100000"/>
              </a:lnSpc>
              <a:spcBef>
                <a:spcPts val="1680"/>
              </a:spcBef>
              <a:buClr>
                <a:srgbClr val="CC0000"/>
              </a:buClr>
              <a:buSzPct val="90000"/>
              <a:buFont typeface="Wingdings"/>
              <a:buChar char=""/>
              <a:tabLst>
                <a:tab pos="39814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read</a:t>
            </a:r>
            <a:r>
              <a:rPr sz="2000" b="1" spc="-715" dirty="0">
                <a:latin typeface="Courier New"/>
                <a:cs typeface="Courier New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permission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directory,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(ls)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contents</a:t>
            </a:r>
            <a:endParaRPr sz="2000">
              <a:latin typeface="Times New Roman"/>
              <a:cs typeface="Times New Roman"/>
            </a:endParaRPr>
          </a:p>
          <a:p>
            <a:pPr marL="398145" indent="-385445">
              <a:lnSpc>
                <a:spcPct val="100000"/>
              </a:lnSpc>
              <a:spcBef>
                <a:spcPts val="1680"/>
              </a:spcBef>
              <a:buClr>
                <a:srgbClr val="CC0000"/>
              </a:buClr>
              <a:buSzPct val="90000"/>
              <a:buFont typeface="Wingdings"/>
              <a:buChar char=""/>
              <a:tabLst>
                <a:tab pos="39814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execute</a:t>
            </a:r>
            <a:r>
              <a:rPr sz="2000" b="1" spc="-715" dirty="0">
                <a:latin typeface="Courier New"/>
                <a:cs typeface="Courier New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permission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directory,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(cd)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directory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1435" y="3591952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6932" y="3591952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45938" y="3591952"/>
          <a:ext cx="6827520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4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ser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roup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ther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x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x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x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617981"/>
            <a:ext cx="9700260" cy="3434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File/Directory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Ownership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Permission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Examples:</a:t>
            </a:r>
            <a:endParaRPr sz="3600">
              <a:latin typeface="Times New Roman"/>
              <a:cs typeface="Times New Roman"/>
            </a:endParaRPr>
          </a:p>
          <a:p>
            <a:pPr marL="758825" indent="-385445">
              <a:lnSpc>
                <a:spcPct val="100000"/>
              </a:lnSpc>
              <a:spcBef>
                <a:spcPts val="1639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8825" algn="l"/>
              </a:tabLst>
            </a:pPr>
            <a:r>
              <a:rPr sz="2200" b="1" spc="-20" dirty="0">
                <a:latin typeface="Courier New"/>
                <a:cs typeface="Courier New"/>
              </a:rPr>
              <a:t>chmod</a:t>
            </a:r>
            <a:r>
              <a:rPr sz="2200" b="1" spc="-74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changes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rwx</a:t>
            </a:r>
            <a:r>
              <a:rPr sz="2200" spc="-75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directory</a:t>
            </a:r>
            <a:endParaRPr sz="2200">
              <a:latin typeface="Times New Roman"/>
              <a:cs typeface="Times New Roman"/>
            </a:endParaRPr>
          </a:p>
          <a:p>
            <a:pPr marL="905510">
              <a:lnSpc>
                <a:spcPct val="100000"/>
              </a:lnSpc>
              <a:spcBef>
                <a:spcPts val="1725"/>
              </a:spcBef>
              <a:tabLst>
                <a:tab pos="1290955" algn="l"/>
              </a:tabLst>
            </a:pPr>
            <a:r>
              <a:rPr sz="2200" spc="-50" dirty="0">
                <a:latin typeface="Arial MT"/>
                <a:cs typeface="Arial MT"/>
              </a:rPr>
              <a:t>•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b="1" spc="-20" dirty="0">
                <a:latin typeface="Courier New"/>
                <a:cs typeface="Courier New"/>
              </a:rPr>
              <a:t>+/-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removes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</a:t>
            </a:r>
            <a:r>
              <a:rPr sz="2200" spc="-20" dirty="0">
                <a:latin typeface="Times New Roman"/>
                <a:cs typeface="Times New Roman"/>
              </a:rPr>
              <a:t> bits</a:t>
            </a:r>
            <a:endParaRPr sz="2200">
              <a:latin typeface="Times New Roman"/>
              <a:cs typeface="Times New Roman"/>
            </a:endParaRPr>
          </a:p>
          <a:p>
            <a:pPr marL="1290955" lvl="1" indent="-38544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1290955" algn="l"/>
                <a:tab pos="1676400" algn="l"/>
              </a:tabLst>
            </a:pPr>
            <a:r>
              <a:rPr sz="2200" b="1" spc="-25" dirty="0">
                <a:latin typeface="Courier New"/>
                <a:cs typeface="Courier New"/>
              </a:rPr>
              <a:t>u</a:t>
            </a:r>
            <a:r>
              <a:rPr sz="2200" spc="-25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	Sets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permissions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owner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file/directory</a:t>
            </a:r>
            <a:endParaRPr sz="2200">
              <a:latin typeface="Times New Roman"/>
              <a:cs typeface="Times New Roman"/>
            </a:endParaRPr>
          </a:p>
          <a:p>
            <a:pPr marL="1290955" lvl="1" indent="-38544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1290955" algn="l"/>
                <a:tab pos="1676400" algn="l"/>
              </a:tabLst>
            </a:pPr>
            <a:r>
              <a:rPr sz="2200" b="1" spc="-25" dirty="0">
                <a:latin typeface="Courier New"/>
                <a:cs typeface="Courier New"/>
              </a:rPr>
              <a:t>g</a:t>
            </a:r>
            <a:r>
              <a:rPr sz="2200" spc="-25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	Sets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permissions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group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owner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belongs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 marL="1290955" lvl="1" indent="-385445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1290955" algn="l"/>
                <a:tab pos="1676400" algn="l"/>
              </a:tabLst>
            </a:pPr>
            <a:r>
              <a:rPr sz="2200" b="1" spc="-25" dirty="0">
                <a:latin typeface="Courier New"/>
                <a:cs typeface="Courier New"/>
              </a:rPr>
              <a:t>o</a:t>
            </a:r>
            <a:r>
              <a:rPr sz="2200" spc="-25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	Sets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permissions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users</a:t>
            </a:r>
            <a:endParaRPr sz="2200">
              <a:latin typeface="Times New Roman"/>
              <a:cs typeface="Times New Roman"/>
            </a:endParaRPr>
          </a:p>
          <a:p>
            <a:pPr marL="1290955" lvl="1" indent="-38544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1290955" algn="l"/>
                <a:tab pos="1676400" algn="l"/>
              </a:tabLst>
            </a:pPr>
            <a:r>
              <a:rPr sz="2200" b="1" spc="-25" dirty="0">
                <a:latin typeface="Courier New"/>
                <a:cs typeface="Courier New"/>
              </a:rPr>
              <a:t>a</a:t>
            </a:r>
            <a:r>
              <a:rPr sz="2200" spc="-25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	Sets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permissions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user/group/other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5132844"/>
            <a:ext cx="9593580" cy="1658620"/>
            <a:chOff x="1278636" y="5132844"/>
            <a:chExt cx="9593580" cy="16586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5132844"/>
              <a:ext cx="9552431" cy="16580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5245608"/>
              <a:ext cx="4460747" cy="150266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67027" y="5157216"/>
              <a:ext cx="9458325" cy="1564005"/>
            </a:xfrm>
            <a:custGeom>
              <a:avLst/>
              <a:gdLst/>
              <a:ahLst/>
              <a:cxnLst/>
              <a:rect l="l" t="t" r="r" b="b"/>
              <a:pathLst>
                <a:path w="9458325" h="1564004">
                  <a:moveTo>
                    <a:pt x="9457944" y="0"/>
                  </a:moveTo>
                  <a:lnTo>
                    <a:pt x="0" y="0"/>
                  </a:lnTo>
                  <a:lnTo>
                    <a:pt x="0" y="1563623"/>
                  </a:lnTo>
                  <a:lnTo>
                    <a:pt x="9457944" y="1563623"/>
                  </a:lnTo>
                  <a:lnTo>
                    <a:pt x="9457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7027" y="5157216"/>
              <a:ext cx="9458325" cy="1564005"/>
            </a:xfrm>
            <a:custGeom>
              <a:avLst/>
              <a:gdLst/>
              <a:ahLst/>
              <a:cxnLst/>
              <a:rect l="l" t="t" r="r" b="b"/>
              <a:pathLst>
                <a:path w="9458325" h="1564004">
                  <a:moveTo>
                    <a:pt x="0" y="0"/>
                  </a:moveTo>
                  <a:lnTo>
                    <a:pt x="9457944" y="0"/>
                  </a:lnTo>
                  <a:lnTo>
                    <a:pt x="9457944" y="1563623"/>
                  </a:lnTo>
                  <a:lnTo>
                    <a:pt x="0" y="156362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27114" y="5344326"/>
          <a:ext cx="4164965" cy="119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4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115">
                <a:tc>
                  <a:txBody>
                    <a:bodyPr/>
                    <a:lstStyle/>
                    <a:p>
                      <a:pPr marR="26034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solidFill>
                            <a:srgbClr val="00FF00"/>
                          </a:solidFill>
                          <a:latin typeface="Courier New"/>
                          <a:cs typeface="Courier New"/>
                        </a:rPr>
                        <a:t>quanah:$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chmod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6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+x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script.sh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R="26034"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00FF00"/>
                          </a:solidFill>
                          <a:latin typeface="Courier New"/>
                          <a:cs typeface="Courier New"/>
                        </a:rPr>
                        <a:t>quanah:$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chmod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g+rx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my_program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R="26034"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00FF00"/>
                          </a:solidFill>
                          <a:latin typeface="Courier New"/>
                          <a:cs typeface="Courier New"/>
                        </a:rPr>
                        <a:t>quanah:$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chmod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a-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my_docs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R="26034"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00FF00"/>
                          </a:solidFill>
                          <a:latin typeface="Courier New"/>
                          <a:cs typeface="Courier New"/>
                        </a:rPr>
                        <a:t>quanah:$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chmod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755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./mydir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0227"/>
            <a:ext cx="9442450" cy="3749675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3600" dirty="0">
                <a:latin typeface="Times New Roman"/>
                <a:cs typeface="Times New Roman"/>
              </a:rPr>
              <a:t>File/Directory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Ownership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Permission:</a:t>
            </a:r>
            <a:endParaRPr sz="36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05000"/>
              </a:lnSpc>
              <a:spcBef>
                <a:spcPts val="152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9460" algn="l"/>
                <a:tab pos="1537970" algn="l"/>
                <a:tab pos="2886710" algn="l"/>
              </a:tabLst>
            </a:pP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dirty="0">
                <a:latin typeface="Courier New"/>
                <a:cs typeface="Courier New"/>
              </a:rPr>
              <a:t>stat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dirty="0">
                <a:latin typeface="Courier New"/>
                <a:cs typeface="Courier New"/>
              </a:rPr>
              <a:t>ls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–l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ownership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directory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0"/>
              </a:spcBef>
              <a:buClr>
                <a:srgbClr val="CC0000"/>
              </a:buClr>
              <a:buFont typeface="Wingdings"/>
              <a:buChar char=""/>
            </a:pPr>
            <a:endParaRPr sz="24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spc="-10" dirty="0">
                <a:latin typeface="Courier New"/>
                <a:cs typeface="Courier New"/>
              </a:rPr>
              <a:t>whoami</a:t>
            </a:r>
            <a:r>
              <a:rPr sz="2400" b="1" spc="-85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Displays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username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user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Wingdings"/>
              <a:buChar char=""/>
            </a:pPr>
            <a:endParaRPr sz="24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spc="-10" dirty="0">
                <a:latin typeface="Courier New"/>
                <a:cs typeface="Courier New"/>
              </a:rPr>
              <a:t>groups</a:t>
            </a:r>
            <a:r>
              <a:rPr sz="2400" b="1" spc="-85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groups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belongs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418" y="2381118"/>
            <a:ext cx="8028940" cy="1729739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5700" dirty="0">
                <a:solidFill>
                  <a:srgbClr val="000000"/>
                </a:solidFill>
              </a:rPr>
              <a:t>Linux</a:t>
            </a:r>
            <a:r>
              <a:rPr sz="5700" spc="-105" dirty="0">
                <a:solidFill>
                  <a:srgbClr val="000000"/>
                </a:solidFill>
              </a:rPr>
              <a:t> </a:t>
            </a:r>
            <a:r>
              <a:rPr sz="5700" dirty="0">
                <a:solidFill>
                  <a:srgbClr val="000000"/>
                </a:solidFill>
              </a:rPr>
              <a:t>Essential</a:t>
            </a:r>
            <a:r>
              <a:rPr sz="5700" spc="-105" dirty="0">
                <a:solidFill>
                  <a:srgbClr val="000000"/>
                </a:solidFill>
              </a:rPr>
              <a:t> </a:t>
            </a:r>
            <a:r>
              <a:rPr sz="5700" spc="-10" dirty="0">
                <a:solidFill>
                  <a:srgbClr val="000000"/>
                </a:solidFill>
              </a:rPr>
              <a:t>Commands</a:t>
            </a:r>
            <a:endParaRPr sz="5700"/>
          </a:p>
          <a:p>
            <a:pPr marL="635" algn="ctr">
              <a:lnSpc>
                <a:spcPct val="100000"/>
              </a:lnSpc>
              <a:spcBef>
                <a:spcPts val="565"/>
              </a:spcBef>
            </a:pPr>
            <a:r>
              <a:rPr sz="4400" dirty="0">
                <a:solidFill>
                  <a:srgbClr val="000000"/>
                </a:solidFill>
              </a:rPr>
              <a:t>(Part</a:t>
            </a:r>
            <a:r>
              <a:rPr sz="4400" spc="-35" dirty="0">
                <a:solidFill>
                  <a:srgbClr val="000000"/>
                </a:solidFill>
              </a:rPr>
              <a:t> </a:t>
            </a:r>
            <a:r>
              <a:rPr sz="4400" spc="-25" dirty="0">
                <a:solidFill>
                  <a:srgbClr val="000000"/>
                </a:solidFill>
              </a:rPr>
              <a:t>1)</a:t>
            </a:r>
            <a:endParaRPr sz="4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35419"/>
            <a:ext cx="9627235" cy="195072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dirty="0">
                <a:latin typeface="Times New Roman"/>
                <a:cs typeface="Times New Roman"/>
              </a:rPr>
              <a:t>Check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manual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page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command:</a:t>
            </a:r>
            <a:endParaRPr sz="36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05000"/>
              </a:lnSpc>
              <a:spcBef>
                <a:spcPts val="155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9460" algn="l"/>
              </a:tabLst>
            </a:pPr>
            <a:r>
              <a:rPr sz="2800" b="1" dirty="0">
                <a:latin typeface="Courier New"/>
                <a:cs typeface="Courier New"/>
              </a:rPr>
              <a:t>man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search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Linux command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3279647"/>
            <a:ext cx="9593580" cy="922019"/>
            <a:chOff x="1278636" y="3279647"/>
            <a:chExt cx="9593580" cy="92201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279647"/>
              <a:ext cx="9552431" cy="899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323843"/>
              <a:ext cx="2409443" cy="8778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67027" y="3304031"/>
              <a:ext cx="9458325" cy="805180"/>
            </a:xfrm>
            <a:custGeom>
              <a:avLst/>
              <a:gdLst/>
              <a:ahLst/>
              <a:cxnLst/>
              <a:rect l="l" t="t" r="r" b="b"/>
              <a:pathLst>
                <a:path w="9458325" h="805179">
                  <a:moveTo>
                    <a:pt x="9457944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9457944" y="804672"/>
                  </a:lnTo>
                  <a:lnTo>
                    <a:pt x="9457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7027" y="3304031"/>
              <a:ext cx="9458325" cy="805180"/>
            </a:xfrm>
            <a:custGeom>
              <a:avLst/>
              <a:gdLst/>
              <a:ahLst/>
              <a:cxnLst/>
              <a:rect l="l" t="t" r="r" b="b"/>
              <a:pathLst>
                <a:path w="9458325" h="805179">
                  <a:moveTo>
                    <a:pt x="0" y="0"/>
                  </a:moveTo>
                  <a:lnTo>
                    <a:pt x="9457944" y="0"/>
                  </a:lnTo>
                  <a:lnTo>
                    <a:pt x="9457944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46164" y="3334461"/>
            <a:ext cx="6515100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45000">
              <a:lnSpc>
                <a:spcPct val="113900"/>
              </a:lnSpc>
              <a:spcBef>
                <a:spcPts val="10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man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man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cp</a:t>
            </a:r>
            <a:endParaRPr sz="1800">
              <a:latin typeface="Courier New"/>
              <a:cs typeface="Courier New"/>
            </a:endParaRPr>
          </a:p>
          <a:p>
            <a:pPr marL="829944" indent="-387350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829944" algn="l"/>
                <a:tab pos="2007870" algn="l"/>
              </a:tabLst>
            </a:pPr>
            <a:r>
              <a:rPr sz="2200" b="1" spc="-10" dirty="0">
                <a:latin typeface="Courier New"/>
                <a:cs typeface="Courier New"/>
              </a:rPr>
              <a:t>/word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page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text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‘</a:t>
            </a:r>
            <a:r>
              <a:rPr sz="2200" spc="-10" dirty="0">
                <a:latin typeface="Courier New"/>
                <a:cs typeface="Courier New"/>
              </a:rPr>
              <a:t>word</a:t>
            </a:r>
            <a:r>
              <a:rPr sz="2200" spc="-10" dirty="0">
                <a:latin typeface="Times New Roman"/>
                <a:cs typeface="Times New Roman"/>
              </a:rPr>
              <a:t>’</a:t>
            </a:r>
            <a:endParaRPr sz="2200">
              <a:latin typeface="Times New Roman"/>
              <a:cs typeface="Times New Roman"/>
            </a:endParaRPr>
          </a:p>
          <a:p>
            <a:pPr marL="829944" indent="-38735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829944" algn="l"/>
                <a:tab pos="1277620" algn="l"/>
              </a:tabLst>
            </a:pPr>
            <a:r>
              <a:rPr sz="2200" b="1" spc="-50" dirty="0">
                <a:latin typeface="Courier New"/>
                <a:cs typeface="Courier New"/>
              </a:rPr>
              <a:t>n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next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found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match</a:t>
            </a:r>
            <a:endParaRPr sz="2200">
              <a:latin typeface="Times New Roman"/>
              <a:cs typeface="Times New Roman"/>
            </a:endParaRPr>
          </a:p>
          <a:p>
            <a:pPr marL="829944" indent="-387350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829944" algn="l"/>
                <a:tab pos="1277620" algn="l"/>
              </a:tabLst>
            </a:pPr>
            <a:r>
              <a:rPr sz="2200" b="1" spc="-50" dirty="0">
                <a:latin typeface="Courier New"/>
                <a:cs typeface="Courier New"/>
              </a:rPr>
              <a:t>N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previous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found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match</a:t>
            </a:r>
            <a:endParaRPr sz="2200">
              <a:latin typeface="Times New Roman"/>
              <a:cs typeface="Times New Roman"/>
            </a:endParaRPr>
          </a:p>
          <a:p>
            <a:pPr marL="829944" indent="-38735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829944" algn="l"/>
                <a:tab pos="1277620" algn="l"/>
              </a:tabLst>
            </a:pPr>
            <a:r>
              <a:rPr sz="2200" b="1" spc="-50" dirty="0">
                <a:latin typeface="Courier New"/>
                <a:cs typeface="Courier New"/>
              </a:rPr>
              <a:t>g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Go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beginning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manual</a:t>
            </a:r>
            <a:r>
              <a:rPr sz="2200" spc="-20" dirty="0">
                <a:latin typeface="Times New Roman"/>
                <a:cs typeface="Times New Roman"/>
              </a:rPr>
              <a:t> page</a:t>
            </a:r>
            <a:endParaRPr sz="2200">
              <a:latin typeface="Times New Roman"/>
              <a:cs typeface="Times New Roman"/>
            </a:endParaRPr>
          </a:p>
          <a:p>
            <a:pPr marL="829944" indent="-38735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829944" algn="l"/>
              </a:tabLst>
            </a:pPr>
            <a:r>
              <a:rPr sz="2200" b="1" dirty="0">
                <a:latin typeface="Courier New"/>
                <a:cs typeface="Courier New"/>
              </a:rPr>
              <a:t>G</a:t>
            </a:r>
            <a:r>
              <a:rPr sz="2200" b="1" spc="260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manual </a:t>
            </a:r>
            <a:r>
              <a:rPr sz="2200" spc="-20" dirty="0">
                <a:latin typeface="Times New Roman"/>
                <a:cs typeface="Times New Roman"/>
              </a:rPr>
              <a:t>page</a:t>
            </a:r>
            <a:endParaRPr sz="2200">
              <a:latin typeface="Times New Roman"/>
              <a:cs typeface="Times New Roman"/>
            </a:endParaRPr>
          </a:p>
          <a:p>
            <a:pPr marL="829944" indent="-387350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829944" algn="l"/>
                <a:tab pos="1277620" algn="l"/>
              </a:tabLst>
            </a:pPr>
            <a:r>
              <a:rPr sz="2200" b="1" spc="-50" dirty="0">
                <a:latin typeface="Courier New"/>
                <a:cs typeface="Courier New"/>
              </a:rPr>
              <a:t>q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Exit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(quit)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3" y="1427304"/>
            <a:ext cx="9833610" cy="213741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3600" dirty="0">
                <a:latin typeface="Times New Roman"/>
                <a:cs typeface="Times New Roman"/>
              </a:rPr>
              <a:t>Other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useful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commands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find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out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more: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940"/>
              </a:spcBef>
              <a:buClr>
                <a:srgbClr val="CC0000"/>
              </a:buClr>
              <a:buSzPct val="90384"/>
              <a:buFont typeface="Wingdings"/>
              <a:buChar char=""/>
              <a:tabLst>
                <a:tab pos="758825" algn="l"/>
              </a:tabLst>
            </a:pPr>
            <a:r>
              <a:rPr sz="2600" dirty="0">
                <a:latin typeface="Times New Roman"/>
                <a:cs typeface="Times New Roman"/>
              </a:rPr>
              <a:t>Several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built-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references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available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operating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dirty="0">
                <a:latin typeface="Courier New"/>
                <a:cs typeface="Courier New"/>
              </a:rPr>
              <a:t>info</a:t>
            </a:r>
            <a:r>
              <a:rPr sz="2200" b="1" spc="-300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detailed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tutorials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examples.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dirty="0">
                <a:latin typeface="Courier New"/>
                <a:cs typeface="Courier New"/>
              </a:rPr>
              <a:t>apropos</a:t>
            </a:r>
            <a:r>
              <a:rPr sz="2200" b="1" spc="-27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Search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manual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database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“string”.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7" y="4122951"/>
            <a:ext cx="9575165" cy="207645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1220"/>
              </a:spcBef>
              <a:buClr>
                <a:srgbClr val="CC0000"/>
              </a:buClr>
              <a:buSzPct val="90384"/>
              <a:buFont typeface="Wingdings"/>
              <a:buChar char=""/>
              <a:tabLst>
                <a:tab pos="399415" algn="l"/>
              </a:tabLst>
            </a:pPr>
            <a:r>
              <a:rPr sz="2600" dirty="0">
                <a:latin typeface="Times New Roman"/>
                <a:cs typeface="Times New Roman"/>
              </a:rPr>
              <a:t>Many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reference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guides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available.</a:t>
            </a:r>
            <a:endParaRPr sz="2600">
              <a:latin typeface="Times New Roman"/>
              <a:cs typeface="Times New Roman"/>
            </a:endParaRPr>
          </a:p>
          <a:p>
            <a:pPr marL="932815" lvl="1" indent="-38671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932815" algn="l"/>
              </a:tabLst>
            </a:pPr>
            <a:r>
              <a:rPr sz="2000" dirty="0">
                <a:latin typeface="Times New Roman"/>
                <a:cs typeface="Times New Roman"/>
              </a:rPr>
              <a:t>Search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“reference”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“bash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reference”.</a:t>
            </a:r>
            <a:endParaRPr sz="2000">
              <a:latin typeface="Times New Roman"/>
              <a:cs typeface="Times New Roman"/>
            </a:endParaRPr>
          </a:p>
          <a:p>
            <a:pPr marL="932815" marR="5080" lvl="1" indent="-387350">
              <a:lnSpc>
                <a:spcPts val="2160"/>
              </a:lnSpc>
              <a:spcBef>
                <a:spcPts val="1110"/>
              </a:spcBef>
              <a:buFont typeface="Arial MT"/>
              <a:buChar char="•"/>
              <a:tabLst>
                <a:tab pos="932815" algn="l"/>
              </a:tabLst>
            </a:pPr>
            <a:r>
              <a:rPr sz="2000" dirty="0">
                <a:latin typeface="Times New Roman"/>
                <a:cs typeface="Times New Roman"/>
              </a:rPr>
              <a:t>Specifically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bash,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“bash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advanced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scripting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guide”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(but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when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advanced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stuff!</a:t>
            </a:r>
            <a:endParaRPr sz="2000">
              <a:latin typeface="Times New Roman"/>
              <a:cs typeface="Times New Roman"/>
            </a:endParaRPr>
          </a:p>
          <a:p>
            <a:pPr marL="932815" lvl="1" indent="-386715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932815" algn="l"/>
              </a:tabLst>
            </a:pPr>
            <a:r>
              <a:rPr sz="2000" dirty="0">
                <a:latin typeface="Times New Roman"/>
                <a:cs typeface="Times New Roman"/>
              </a:rPr>
              <a:t>Guides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commands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also.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8636" y="3578352"/>
            <a:ext cx="9593580" cy="878205"/>
            <a:chOff x="1278636" y="3578352"/>
            <a:chExt cx="9593580" cy="8782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584448"/>
              <a:ext cx="9552431" cy="7985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578352"/>
              <a:ext cx="3499103" cy="87782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67027" y="3608832"/>
            <a:ext cx="9458325" cy="70421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91440" marR="6351270">
              <a:lnSpc>
                <a:spcPts val="2460"/>
              </a:lnSpc>
              <a:spcBef>
                <a:spcPts val="7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info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cp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apropos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mkdir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990268" y="1454917"/>
            <a:ext cx="8946541" cy="4195481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dirty="0"/>
              <a:t>Paging</a:t>
            </a:r>
            <a:r>
              <a:rPr spc="-45" dirty="0"/>
              <a:t> </a:t>
            </a:r>
            <a:r>
              <a:rPr dirty="0"/>
              <a:t>through</a:t>
            </a:r>
            <a:r>
              <a:rPr spc="-30" dirty="0"/>
              <a:t> </a:t>
            </a:r>
            <a:r>
              <a:rPr dirty="0"/>
              <a:t>long</a:t>
            </a:r>
            <a:r>
              <a:rPr spc="-40" dirty="0"/>
              <a:t> </a:t>
            </a:r>
            <a:r>
              <a:rPr dirty="0"/>
              <a:t>text</a:t>
            </a:r>
            <a:r>
              <a:rPr spc="-35" dirty="0"/>
              <a:t> </a:t>
            </a:r>
            <a:r>
              <a:rPr spc="-10" dirty="0"/>
              <a:t>files/outputs:</a:t>
            </a:r>
          </a:p>
          <a:p>
            <a:pPr marL="758825" indent="-386715">
              <a:lnSpc>
                <a:spcPct val="100000"/>
              </a:lnSpc>
              <a:spcBef>
                <a:spcPts val="172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b="1" dirty="0">
                <a:latin typeface="Courier New"/>
                <a:cs typeface="Courier New"/>
              </a:rPr>
              <a:t>more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/>
              <a:t>command</a:t>
            </a:r>
            <a:r>
              <a:rPr sz="2800" spc="-50" dirty="0"/>
              <a:t> </a:t>
            </a:r>
            <a:r>
              <a:rPr sz="2800" dirty="0"/>
              <a:t>for</a:t>
            </a:r>
            <a:r>
              <a:rPr sz="2800" spc="-35" dirty="0"/>
              <a:t> </a:t>
            </a:r>
            <a:r>
              <a:rPr sz="2800" dirty="0"/>
              <a:t>paging</a:t>
            </a:r>
            <a:r>
              <a:rPr sz="2800" spc="-50" dirty="0"/>
              <a:t> </a:t>
            </a:r>
            <a:r>
              <a:rPr sz="2800" dirty="0"/>
              <a:t>through</a:t>
            </a:r>
            <a:r>
              <a:rPr sz="2800" spc="-60" dirty="0"/>
              <a:t> </a:t>
            </a:r>
            <a:r>
              <a:rPr sz="2800" dirty="0"/>
              <a:t>text</a:t>
            </a:r>
            <a:r>
              <a:rPr sz="2800" spc="-60" dirty="0"/>
              <a:t> </a:t>
            </a:r>
            <a:r>
              <a:rPr sz="2800" dirty="0"/>
              <a:t>one</a:t>
            </a:r>
            <a:r>
              <a:rPr sz="2800" spc="-50" dirty="0"/>
              <a:t> </a:t>
            </a:r>
            <a:r>
              <a:rPr sz="2800" dirty="0"/>
              <a:t>screenful</a:t>
            </a:r>
            <a:r>
              <a:rPr sz="2800" spc="-40" dirty="0"/>
              <a:t> </a:t>
            </a:r>
            <a:r>
              <a:rPr sz="2800" dirty="0"/>
              <a:t>at</a:t>
            </a:r>
            <a:r>
              <a:rPr sz="2800" spc="-45" dirty="0"/>
              <a:t> </a:t>
            </a:r>
            <a:r>
              <a:rPr sz="2800" dirty="0"/>
              <a:t>a</a:t>
            </a:r>
            <a:r>
              <a:rPr sz="2800" spc="-45" dirty="0"/>
              <a:t> </a:t>
            </a:r>
            <a:r>
              <a:rPr sz="2800" spc="-20" dirty="0"/>
              <a:t>time</a:t>
            </a:r>
            <a:endParaRPr sz="2800" dirty="0">
              <a:latin typeface="Courier New"/>
              <a:cs typeface="Courier New"/>
            </a:endParaRPr>
          </a:p>
          <a:p>
            <a:pPr marL="1292225" lvl="1" indent="-38671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allows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move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text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forward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4247725"/>
            <a:ext cx="9558655" cy="134874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469265" marR="5080" indent="-457200">
              <a:lnSpc>
                <a:spcPct val="102499"/>
              </a:lnSpc>
              <a:spcBef>
                <a:spcPts val="18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469265" algn="l"/>
              </a:tabLst>
            </a:pPr>
            <a:r>
              <a:rPr sz="2800" b="1" dirty="0">
                <a:latin typeface="Courier New"/>
                <a:cs typeface="Courier New"/>
              </a:rPr>
              <a:t>Less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version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Courier New"/>
                <a:cs typeface="Courier New"/>
              </a:rPr>
              <a:t>more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command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backward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movement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well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forward movement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8636" y="3454908"/>
            <a:ext cx="9593580" cy="891540"/>
            <a:chOff x="1278636" y="3454908"/>
            <a:chExt cx="9593580" cy="8915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454908"/>
              <a:ext cx="9552431" cy="8366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468623"/>
              <a:ext cx="4184903" cy="87782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67027" y="3479291"/>
            <a:ext cx="9458325" cy="74231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1440" marR="5533390">
              <a:lnSpc>
                <a:spcPct val="113900"/>
              </a:lnSpc>
              <a:spcBef>
                <a:spcPts val="9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more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./README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cat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./README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more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68552" y="5704332"/>
            <a:ext cx="9593580" cy="891540"/>
            <a:chOff x="1368552" y="5704332"/>
            <a:chExt cx="9593580" cy="8915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700" y="5704332"/>
              <a:ext cx="9552431" cy="8366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8552" y="5718047"/>
              <a:ext cx="4184903" cy="87782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456944" y="5728715"/>
            <a:ext cx="9458325" cy="74231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1440" marR="5533390">
              <a:lnSpc>
                <a:spcPct val="113900"/>
              </a:lnSpc>
              <a:spcBef>
                <a:spcPts val="9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less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./README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cat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./README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less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35419"/>
            <a:ext cx="9636760" cy="206502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dirty="0">
                <a:latin typeface="Times New Roman"/>
                <a:cs typeface="Times New Roman"/>
              </a:rPr>
              <a:t>Display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partial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content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file/output: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2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b="1" dirty="0">
                <a:latin typeface="Courier New"/>
                <a:cs typeface="Courier New"/>
              </a:rPr>
              <a:t>head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(10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default)</a:t>
            </a:r>
            <a:endParaRPr sz="28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89"/>
              </a:spcBef>
              <a:buFont typeface="Arial MT"/>
              <a:buChar char="•"/>
              <a:tabLst>
                <a:tab pos="1292225" algn="l"/>
                <a:tab pos="3143885" algn="l"/>
              </a:tabLst>
            </a:pPr>
            <a:r>
              <a:rPr sz="2200" b="1" spc="-2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n </a:t>
            </a:r>
            <a:r>
              <a:rPr sz="2200" b="1" spc="-10" dirty="0">
                <a:latin typeface="Courier New"/>
                <a:cs typeface="Courier New"/>
              </a:rPr>
              <a:t>&lt;NUM&gt;:</a:t>
            </a:r>
            <a:r>
              <a:rPr sz="2200" b="1" dirty="0">
                <a:latin typeface="Courier New"/>
                <a:cs typeface="Courier New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First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file/output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4269741"/>
            <a:ext cx="9194800" cy="1014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399415" algn="l"/>
              </a:tabLst>
            </a:pPr>
            <a:r>
              <a:rPr sz="2800" b="1" dirty="0">
                <a:latin typeface="Courier New"/>
                <a:cs typeface="Courier New"/>
              </a:rPr>
              <a:t>tail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(10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default)</a:t>
            </a:r>
            <a:endParaRPr sz="2800">
              <a:latin typeface="Times New Roman"/>
              <a:cs typeface="Times New Roman"/>
            </a:endParaRPr>
          </a:p>
          <a:p>
            <a:pPr marL="932815" lvl="1" indent="-387350">
              <a:lnSpc>
                <a:spcPct val="100000"/>
              </a:lnSpc>
              <a:spcBef>
                <a:spcPts val="1790"/>
              </a:spcBef>
              <a:buFont typeface="Arial MT"/>
              <a:buChar char="•"/>
              <a:tabLst>
                <a:tab pos="932815" algn="l"/>
                <a:tab pos="2496185" algn="l"/>
              </a:tabLst>
            </a:pPr>
            <a:r>
              <a:rPr sz="2200" b="1" spc="-2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n </a:t>
            </a:r>
            <a:r>
              <a:rPr sz="2200" b="1" spc="-10" dirty="0">
                <a:latin typeface="Courier New"/>
                <a:cs typeface="Courier New"/>
              </a:rPr>
              <a:t>&lt;NUM&gt;</a:t>
            </a:r>
            <a:r>
              <a:rPr sz="2200" spc="-10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	Last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file/output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8636" y="3454908"/>
            <a:ext cx="9593580" cy="891540"/>
            <a:chOff x="1278636" y="3454908"/>
            <a:chExt cx="9593580" cy="8915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454908"/>
              <a:ext cx="9552431" cy="8366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468623"/>
              <a:ext cx="4728971" cy="87782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67027" y="3479291"/>
            <a:ext cx="9458325" cy="74231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1440" marR="5124450">
              <a:lnSpc>
                <a:spcPct val="113900"/>
              </a:lnSpc>
              <a:spcBef>
                <a:spcPts val="9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head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15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./README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cat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./README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head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68552" y="5554979"/>
            <a:ext cx="9593580" cy="891540"/>
            <a:chOff x="1368552" y="5554979"/>
            <a:chExt cx="9593580" cy="8915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700" y="5554979"/>
              <a:ext cx="9552431" cy="8366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8552" y="5568695"/>
              <a:ext cx="4593335" cy="87782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456944" y="5579364"/>
            <a:ext cx="9458325" cy="74231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91440" marR="5124450">
              <a:lnSpc>
                <a:spcPct val="113900"/>
              </a:lnSpc>
              <a:spcBef>
                <a:spcPts val="9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tail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n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20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./README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cat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./README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tail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5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35419"/>
            <a:ext cx="9234170" cy="2619375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dirty="0">
                <a:latin typeface="Times New Roman"/>
                <a:cs typeface="Times New Roman"/>
              </a:rPr>
              <a:t>Searching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pattern(s)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files/outputs: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2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758825" algn="l"/>
              </a:tabLst>
            </a:pPr>
            <a:r>
              <a:rPr sz="2800" b="1" dirty="0">
                <a:latin typeface="Courier New"/>
                <a:cs typeface="Courier New"/>
              </a:rPr>
              <a:t>grep</a:t>
            </a:r>
            <a:r>
              <a:rPr sz="2800" b="1" spc="-1000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matching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pattern</a:t>
            </a:r>
            <a:endParaRPr sz="28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89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spc="-2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i: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Ignore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case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distinctions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PATTERN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input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files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spc="-2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v: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Invert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sense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matching,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select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non-</a:t>
            </a:r>
            <a:r>
              <a:rPr sz="2200" dirty="0">
                <a:latin typeface="Times New Roman"/>
                <a:cs typeface="Times New Roman"/>
              </a:rPr>
              <a:t>matching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lines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4352544"/>
            <a:ext cx="9593580" cy="2336800"/>
            <a:chOff x="1278636" y="4352544"/>
            <a:chExt cx="9593580" cy="2336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352544"/>
              <a:ext cx="9552431" cy="23362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491228"/>
              <a:ext cx="88391" cy="212750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4376928"/>
            <a:ext cx="9458325" cy="224218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37160" rIns="0" bIns="0" rtlCol="0">
            <a:spAutoFit/>
          </a:bodyPr>
          <a:lstStyle/>
          <a:p>
            <a:pPr marL="91440" marR="3481704">
              <a:lnSpc>
                <a:spcPct val="113900"/>
              </a:lnSpc>
              <a:spcBef>
                <a:spcPts val="108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grep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"test"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../exercise1/test1.txt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This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6D67"/>
                </a:solidFill>
                <a:latin typeface="Courier New"/>
                <a:cs typeface="Courier New"/>
              </a:rPr>
              <a:t>test</a:t>
            </a:r>
            <a:r>
              <a:rPr sz="1800" spc="-30" dirty="0">
                <a:solidFill>
                  <a:srgbClr val="FF6D67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file</a:t>
            </a:r>
            <a:endParaRPr sz="1800">
              <a:latin typeface="Courier New"/>
              <a:cs typeface="Courier New"/>
            </a:endParaRPr>
          </a:p>
          <a:p>
            <a:pPr marL="91440" marR="3756025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grep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"is"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../exercise1/test1.txt Exerc</a:t>
            </a:r>
            <a:r>
              <a:rPr sz="1800" spc="-10" dirty="0">
                <a:solidFill>
                  <a:srgbClr val="FF6D67"/>
                </a:solidFill>
                <a:latin typeface="Courier New"/>
                <a:cs typeface="Courier New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e:</a:t>
            </a:r>
            <a:endParaRPr sz="1800">
              <a:latin typeface="Courier New"/>
              <a:cs typeface="Courier New"/>
            </a:endParaRPr>
          </a:p>
          <a:p>
            <a:pPr marL="91440" marR="6488430">
              <a:lnSpc>
                <a:spcPct val="11390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Th</a:t>
            </a:r>
            <a:r>
              <a:rPr sz="1800" dirty="0">
                <a:solidFill>
                  <a:srgbClr val="FF6D67"/>
                </a:solidFill>
                <a:latin typeface="Courier New"/>
                <a:cs typeface="Courier New"/>
              </a:rPr>
              <a:t>is</a:t>
            </a:r>
            <a:r>
              <a:rPr sz="1800" spc="-45" dirty="0">
                <a:solidFill>
                  <a:srgbClr val="FF6D6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6D67"/>
                </a:solidFill>
                <a:latin typeface="Courier New"/>
                <a:cs typeface="Courier New"/>
              </a:rPr>
              <a:t>is</a:t>
            </a:r>
            <a:r>
              <a:rPr sz="1800" spc="-25" dirty="0">
                <a:solidFill>
                  <a:srgbClr val="FF6D6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test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file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here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6D67"/>
                </a:solidFill>
                <a:latin typeface="Courier New"/>
                <a:cs typeface="Courier New"/>
              </a:rPr>
              <a:t>is</a:t>
            </a:r>
            <a:r>
              <a:rPr sz="1800" spc="-25" dirty="0">
                <a:solidFill>
                  <a:srgbClr val="FF6D6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last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line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7765" y="1335419"/>
            <a:ext cx="9909175" cy="241681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dirty="0">
                <a:latin typeface="Times New Roman"/>
                <a:cs typeface="Times New Roman"/>
              </a:rPr>
              <a:t>History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your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commands:</a:t>
            </a:r>
            <a:endParaRPr sz="3600">
              <a:latin typeface="Times New Roman"/>
              <a:cs typeface="Times New Roman"/>
            </a:endParaRPr>
          </a:p>
          <a:p>
            <a:pPr marL="644525" indent="-386715">
              <a:lnSpc>
                <a:spcPct val="100000"/>
              </a:lnSpc>
              <a:spcBef>
                <a:spcPts val="1720"/>
              </a:spcBef>
              <a:buClr>
                <a:srgbClr val="CC0000"/>
              </a:buClr>
              <a:buSzPct val="89285"/>
              <a:buFont typeface="Wingdings"/>
              <a:buChar char=""/>
              <a:tabLst>
                <a:tab pos="644525" algn="l"/>
              </a:tabLst>
            </a:pPr>
            <a:r>
              <a:rPr sz="2800" b="1" dirty="0">
                <a:latin typeface="Courier New"/>
                <a:cs typeface="Courier New"/>
              </a:rPr>
              <a:t>history</a:t>
            </a:r>
            <a:r>
              <a:rPr sz="2800" b="1" spc="-1025" dirty="0">
                <a:latin typeface="Courier New"/>
                <a:cs typeface="Courier New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far.</a:t>
            </a:r>
            <a:endParaRPr sz="2800">
              <a:latin typeface="Times New Roman"/>
              <a:cs typeface="Times New Roman"/>
            </a:endParaRPr>
          </a:p>
          <a:p>
            <a:pPr marL="1178560" marR="412750" lvl="1" indent="-387350">
              <a:lnSpc>
                <a:spcPct val="105000"/>
              </a:lnSpc>
              <a:spcBef>
                <a:spcPts val="1660"/>
              </a:spcBef>
              <a:buFont typeface="Arial MT"/>
              <a:buChar char="•"/>
              <a:tabLst>
                <a:tab pos="1178560" algn="l"/>
              </a:tabLst>
            </a:pPr>
            <a:r>
              <a:rPr sz="2200" spc="-45" dirty="0">
                <a:latin typeface="Times New Roman"/>
                <a:cs typeface="Times New Roman"/>
              </a:rPr>
              <a:t>Your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saved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Courier New"/>
                <a:cs typeface="Courier New"/>
              </a:rPr>
              <a:t>.bash_history</a:t>
            </a:r>
            <a:r>
              <a:rPr sz="2200" b="1" spc="-5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your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home </a:t>
            </a:r>
            <a:r>
              <a:rPr sz="2200" spc="-10" dirty="0">
                <a:latin typeface="Times New Roman"/>
                <a:cs typeface="Times New Roman"/>
              </a:rPr>
              <a:t>directory.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4085844"/>
            <a:ext cx="9593580" cy="1408430"/>
            <a:chOff x="1278636" y="4085844"/>
            <a:chExt cx="9593580" cy="14084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085844"/>
              <a:ext cx="9552431" cy="14081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229100"/>
              <a:ext cx="88391" cy="11902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67028" y="4110227"/>
              <a:ext cx="9458325" cy="1313815"/>
            </a:xfrm>
            <a:custGeom>
              <a:avLst/>
              <a:gdLst/>
              <a:ahLst/>
              <a:cxnLst/>
              <a:rect l="l" t="t" r="r" b="b"/>
              <a:pathLst>
                <a:path w="9458325" h="1313814">
                  <a:moveTo>
                    <a:pt x="9457944" y="0"/>
                  </a:moveTo>
                  <a:lnTo>
                    <a:pt x="0" y="0"/>
                  </a:lnTo>
                  <a:lnTo>
                    <a:pt x="0" y="1313688"/>
                  </a:lnTo>
                  <a:lnTo>
                    <a:pt x="9457944" y="1313688"/>
                  </a:lnTo>
                  <a:lnTo>
                    <a:pt x="9457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7028" y="4110227"/>
              <a:ext cx="9458325" cy="1313815"/>
            </a:xfrm>
            <a:custGeom>
              <a:avLst/>
              <a:gdLst/>
              <a:ahLst/>
              <a:cxnLst/>
              <a:rect l="l" t="t" r="r" b="b"/>
              <a:pathLst>
                <a:path w="9458325" h="1313814">
                  <a:moveTo>
                    <a:pt x="0" y="0"/>
                  </a:moveTo>
                  <a:lnTo>
                    <a:pt x="9457944" y="0"/>
                  </a:lnTo>
                  <a:lnTo>
                    <a:pt x="9457944" y="1313688"/>
                  </a:lnTo>
                  <a:lnTo>
                    <a:pt x="0" y="131368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27114" y="4327914"/>
          <a:ext cx="3888103" cy="88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4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0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115">
                <a:tc>
                  <a:txBody>
                    <a:bodyPr/>
                    <a:lstStyle/>
                    <a:p>
                      <a:pPr marR="26034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solidFill>
                            <a:srgbClr val="00FF00"/>
                          </a:solidFill>
                          <a:latin typeface="Courier New"/>
                          <a:cs typeface="Courier New"/>
                        </a:rPr>
                        <a:t>quanah:$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history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less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R="26034"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00FF00"/>
                          </a:solidFill>
                          <a:latin typeface="Courier New"/>
                          <a:cs typeface="Courier New"/>
                        </a:rPr>
                        <a:t>quanah:$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history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tail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R="26034"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00FF00"/>
                          </a:solidFill>
                          <a:latin typeface="Courier New"/>
                          <a:cs typeface="Courier New"/>
                        </a:rPr>
                        <a:t>quanah:$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history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07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grep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“cp”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Exercise</a:t>
            </a:r>
            <a:r>
              <a:rPr spc="-70" dirty="0"/>
              <a:t> </a:t>
            </a:r>
            <a:r>
              <a:rPr spc="-25" dirty="0"/>
              <a:t>#3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3129" y="1577677"/>
            <a:ext cx="9826625" cy="236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5000"/>
              </a:lnSpc>
              <a:spcBef>
                <a:spcPts val="100"/>
              </a:spcBef>
              <a:buClr>
                <a:srgbClr val="CC0000"/>
              </a:buClr>
              <a:buSzPct val="89285"/>
              <a:buAutoNum type="arabicPeriod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Search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history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</a:t>
            </a:r>
            <a:r>
              <a:rPr sz="2800" dirty="0">
                <a:latin typeface="Courier New"/>
                <a:cs typeface="Courier New"/>
              </a:rPr>
              <a:t>ls</a:t>
            </a:r>
            <a:r>
              <a:rPr sz="2800" dirty="0">
                <a:latin typeface="Times New Roman"/>
                <a:cs typeface="Times New Roman"/>
              </a:rPr>
              <a:t>”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commands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-20" dirty="0">
                <a:latin typeface="Times New Roman"/>
                <a:cs typeface="Times New Roman"/>
              </a:rPr>
              <a:t> used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10"/>
              </a:spcBef>
              <a:buClr>
                <a:srgbClr val="CC0000"/>
              </a:buClr>
              <a:buFont typeface="Times New Roman"/>
              <a:buAutoNum type="arabicPeriod"/>
            </a:pPr>
            <a:endParaRPr sz="2800">
              <a:latin typeface="Times New Roman"/>
              <a:cs typeface="Times New Roman"/>
            </a:endParaRPr>
          </a:p>
          <a:p>
            <a:pPr marL="469265" marR="365760" indent="-457200">
              <a:lnSpc>
                <a:spcPct val="100000"/>
              </a:lnSpc>
              <a:buClr>
                <a:srgbClr val="CC0000"/>
              </a:buClr>
              <a:buSzPct val="89285"/>
              <a:buAutoNum type="arabicPeriod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Check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“man”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</a:t>
            </a:r>
            <a:r>
              <a:rPr sz="2800" dirty="0">
                <a:latin typeface="Times New Roman"/>
                <a:cs typeface="Times New Roman"/>
              </a:rPr>
              <a:t>manuals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Linux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Coming</a:t>
            </a:r>
            <a:r>
              <a:rPr spc="-5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dirty="0"/>
              <a:t>2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this</a:t>
            </a:r>
            <a:r>
              <a:rPr spc="-80" dirty="0"/>
              <a:t> </a:t>
            </a:r>
            <a:r>
              <a:rPr dirty="0"/>
              <a:t>Training</a:t>
            </a:r>
            <a:r>
              <a:rPr spc="-65" dirty="0"/>
              <a:t> </a:t>
            </a:r>
            <a:r>
              <a:rPr spc="-50"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7948"/>
            <a:ext cx="10006330" cy="3544570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sz="3600" b="1" dirty="0">
                <a:latin typeface="Times New Roman"/>
                <a:cs typeface="Times New Roman"/>
              </a:rPr>
              <a:t>Part</a:t>
            </a:r>
            <a:r>
              <a:rPr sz="3600" b="1" spc="-5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2:</a:t>
            </a:r>
            <a:r>
              <a:rPr sz="3600" b="1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Introduction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more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advanced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topics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Linux</a:t>
            </a:r>
            <a:endParaRPr sz="3600">
              <a:latin typeface="Times New Roman"/>
              <a:cs typeface="Times New Roman"/>
            </a:endParaRPr>
          </a:p>
          <a:p>
            <a:pPr marL="829310" indent="-457200">
              <a:lnSpc>
                <a:spcPct val="100000"/>
              </a:lnSpc>
              <a:spcBef>
                <a:spcPts val="1889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829310" algn="l"/>
              </a:tabLst>
            </a:pPr>
            <a:r>
              <a:rPr sz="2800" dirty="0">
                <a:latin typeface="Times New Roman"/>
                <a:cs typeface="Times New Roman"/>
              </a:rPr>
              <a:t>Linux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Essential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(Part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2)</a:t>
            </a:r>
            <a:endParaRPr sz="2800">
              <a:latin typeface="Times New Roman"/>
              <a:cs typeface="Times New Roman"/>
            </a:endParaRPr>
          </a:p>
          <a:p>
            <a:pPr marL="829310" indent="-457200">
              <a:lnSpc>
                <a:spcPct val="100000"/>
              </a:lnSpc>
              <a:spcBef>
                <a:spcPts val="1875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829310" algn="l"/>
              </a:tabLst>
            </a:pPr>
            <a:r>
              <a:rPr sz="2800" spc="-30" dirty="0">
                <a:latin typeface="Times New Roman"/>
                <a:cs typeface="Times New Roman"/>
              </a:rPr>
              <a:t>Text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Editors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Linux</a:t>
            </a:r>
            <a:endParaRPr sz="2800">
              <a:latin typeface="Times New Roman"/>
              <a:cs typeface="Times New Roman"/>
            </a:endParaRPr>
          </a:p>
          <a:p>
            <a:pPr marL="829310" indent="-457200">
              <a:lnSpc>
                <a:spcPct val="100000"/>
              </a:lnSpc>
              <a:spcBef>
                <a:spcPts val="1870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829310" algn="l"/>
              </a:tabLst>
            </a:pPr>
            <a:r>
              <a:rPr sz="2800" dirty="0">
                <a:latin typeface="Times New Roman"/>
                <a:cs typeface="Times New Roman"/>
              </a:rPr>
              <a:t>Linux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Environment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Variables</a:t>
            </a:r>
            <a:endParaRPr sz="2800">
              <a:latin typeface="Times New Roman"/>
              <a:cs typeface="Times New Roman"/>
            </a:endParaRPr>
          </a:p>
          <a:p>
            <a:pPr marL="829310" indent="-457200">
              <a:lnSpc>
                <a:spcPct val="100000"/>
              </a:lnSpc>
              <a:spcBef>
                <a:spcPts val="1875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829310" algn="l"/>
              </a:tabLst>
            </a:pPr>
            <a:r>
              <a:rPr sz="2800" dirty="0">
                <a:latin typeface="Times New Roman"/>
                <a:cs typeface="Times New Roman"/>
              </a:rPr>
              <a:t>Basic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Scripting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Linux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3E41-BA90-17A0-5762-984DB846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EC154-36DA-C78A-EA3E-533D48CB0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209801"/>
            <a:ext cx="10479088" cy="4195481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/carlospi2000/</a:t>
            </a:r>
            <a:r>
              <a:rPr lang="en-US" dirty="0" err="1"/>
              <a:t>computational_modelling_geosciences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7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256</TotalTime>
  <Words>2669</Words>
  <Application>Microsoft Macintosh PowerPoint</Application>
  <PresentationFormat>Widescreen</PresentationFormat>
  <Paragraphs>353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Aptos</vt:lpstr>
      <vt:lpstr>Arial MT</vt:lpstr>
      <vt:lpstr>Calibri</vt:lpstr>
      <vt:lpstr>Century Gothic</vt:lpstr>
      <vt:lpstr>Courier New</vt:lpstr>
      <vt:lpstr>Times New Roman</vt:lpstr>
      <vt:lpstr>Wingdings</vt:lpstr>
      <vt:lpstr>Wingdings 3</vt:lpstr>
      <vt:lpstr>Ion</vt:lpstr>
      <vt:lpstr>Introduction to Linux (Part 1/2)</vt:lpstr>
      <vt:lpstr>About this Training Workshop?</vt:lpstr>
      <vt:lpstr>About this Training Workshop?</vt:lpstr>
      <vt:lpstr>Course Agenda</vt:lpstr>
      <vt:lpstr>Getting Started</vt:lpstr>
      <vt:lpstr>About Linux…</vt:lpstr>
      <vt:lpstr>A brief history of Linux</vt:lpstr>
      <vt:lpstr>Linux Distributions</vt:lpstr>
      <vt:lpstr>Structure of Linux OS</vt:lpstr>
      <vt:lpstr>Linux Shell</vt:lpstr>
      <vt:lpstr>Working with Files and Directories</vt:lpstr>
      <vt:lpstr>Understanding Linux Directory Structure</vt:lpstr>
      <vt:lpstr>Basic Directory Operations</vt:lpstr>
      <vt:lpstr>Basic Directory Operations</vt:lpstr>
      <vt:lpstr>Basic Directory Operations</vt:lpstr>
      <vt:lpstr>Special Directory Names (Characters)</vt:lpstr>
      <vt:lpstr>Absolute VS. Relative path</vt:lpstr>
      <vt:lpstr>File and Directory Names</vt:lpstr>
      <vt:lpstr>A few Basic File Operations</vt:lpstr>
      <vt:lpstr>A few Basic File Operations (Cont.)</vt:lpstr>
      <vt:lpstr>Exercise #1</vt:lpstr>
      <vt:lpstr>File and Directory Operations</vt:lpstr>
      <vt:lpstr>File and Directory Operations</vt:lpstr>
      <vt:lpstr>File and Directory Operations</vt:lpstr>
      <vt:lpstr>Output Redirection</vt:lpstr>
      <vt:lpstr>Exercise #2</vt:lpstr>
      <vt:lpstr>Linux Essential Commands 2</vt:lpstr>
      <vt:lpstr>Linux Essential Commands 2</vt:lpstr>
      <vt:lpstr>Linux Essential Commands 2</vt:lpstr>
      <vt:lpstr>Linux Essential Commands (Part 1)</vt:lpstr>
      <vt:lpstr>Linux Essential Commands 1</vt:lpstr>
      <vt:lpstr>Linux Essential Commands 1</vt:lpstr>
      <vt:lpstr>Linux Essential Commands 1</vt:lpstr>
      <vt:lpstr>Linux Essential Commands 1</vt:lpstr>
      <vt:lpstr>Linux Essential Commands 1</vt:lpstr>
      <vt:lpstr>Linux Essential Commands 1</vt:lpstr>
      <vt:lpstr>Exercise #3</vt:lpstr>
      <vt:lpstr>Coming in Part 2 of this Training 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Linux</dc:title>
  <dc:creator>Ahmadian, Misha</dc:creator>
  <cp:lastModifiedBy>Carlos Pinilla</cp:lastModifiedBy>
  <cp:revision>4</cp:revision>
  <dcterms:created xsi:type="dcterms:W3CDTF">2026-01-20T00:06:20Z</dcterms:created>
  <dcterms:modified xsi:type="dcterms:W3CDTF">2026-02-02T18:52:47Z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2023-06-21T00:00:00Z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2026-01-20T00:00:00Z</vt:filetime>
  </property>
  <property fmtid="{D5CDD505-2E9C-101B-9397-08002B2CF9AE}" pid="5" name="Producer">
    <vt:lpwstr>Adobe PDF Library 23.3.233</vt:lpwstr>
  </property>
</Properties>
</file>