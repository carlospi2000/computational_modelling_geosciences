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91" r:id="rId34"/>
    <p:sldId id="289" r:id="rId35"/>
    <p:sldId id="290" r:id="rId36"/>
    <p:sldId id="286" r:id="rId37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75"/>
  </p:normalViewPr>
  <p:slideViewPr>
    <p:cSldViewPr>
      <p:cViewPr varScale="1">
        <p:scale>
          <a:sx n="95" d="100"/>
          <a:sy n="95" d="100"/>
        </p:scale>
        <p:origin x="200" y="6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850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08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42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422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251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50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8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37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88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747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941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358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588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49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60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952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954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962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54115"/>
            <a:ext cx="9404723" cy="1400530"/>
          </a:xfr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Introduction</a:t>
            </a:r>
            <a:r>
              <a:rPr lang="en-GB" sz="5400" b="0" i="0" spc="-13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to</a:t>
            </a:r>
            <a:r>
              <a:rPr lang="en-GB" sz="5400" b="0" i="0" spc="-145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b="0" i="0" spc="-1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Linux</a:t>
            </a:r>
            <a:endParaRPr lang="en-GB" sz="5400" b="0" i="0" dirty="0">
              <a:solidFill>
                <a:schemeClr val="tx1"/>
              </a:solidFill>
              <a:latin typeface="Times New Roman"/>
              <a:ea typeface="+mj-ea"/>
              <a:cs typeface="Times New Roman"/>
            </a:endParaRPr>
          </a:p>
          <a:p>
            <a:pPr marL="635">
              <a:lnSpc>
                <a:spcPct val="90000"/>
              </a:lnSpc>
              <a:spcBef>
                <a:spcPts val="80"/>
              </a:spcBef>
            </a:pPr>
            <a:r>
              <a:rPr lang="en-GB" sz="5400" b="0" i="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(</a:t>
            </a:r>
            <a:r>
              <a:rPr lang="en-GB" sz="5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Part</a:t>
            </a:r>
            <a:r>
              <a:rPr lang="en-GB" sz="5400" b="0" i="0" spc="-5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 </a:t>
            </a:r>
            <a:r>
              <a:rPr lang="en-GB" sz="5400" spc="-20" dirty="0">
                <a:solidFill>
                  <a:schemeClr val="tx1"/>
                </a:solidFill>
              </a:rPr>
              <a:t>2</a:t>
            </a:r>
            <a:r>
              <a:rPr lang="en-GB" sz="5400" b="0" i="0" spc="-2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/2</a:t>
            </a:r>
            <a:r>
              <a:rPr lang="en-GB" sz="5400" b="0" i="0" spc="-20" dirty="0">
                <a:solidFill>
                  <a:schemeClr val="tx1"/>
                </a:solidFill>
                <a:latin typeface="Times New Roman"/>
                <a:ea typeface="+mj-ea"/>
                <a:cs typeface="Times New Roman"/>
              </a:rPr>
              <a:t>)</a:t>
            </a:r>
            <a:endParaRPr lang="en-GB" sz="5400" b="0" i="0" dirty="0">
              <a:solidFill>
                <a:schemeClr val="tx1"/>
              </a:solidFill>
              <a:latin typeface="Times New Roman"/>
              <a:ea typeface="+mj-ea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324600" y="3581400"/>
            <a:ext cx="5303520" cy="290322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100"/>
              </a:spcBef>
            </a:pPr>
            <a:r>
              <a:rPr lang="en-US" sz="3600" b="0" i="0" spc="-1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Carlos Pinilla</a:t>
            </a:r>
            <a:endParaRPr lang="en-US" sz="3600" b="0" i="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  <a:p>
            <a:pPr>
              <a:spcBef>
                <a:spcPts val="15"/>
              </a:spcBef>
            </a:pPr>
            <a:r>
              <a:rPr lang="en-US" sz="3600" b="0" i="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Physics and Geosciences Dept. </a:t>
            </a:r>
          </a:p>
          <a:p>
            <a:r>
              <a:rPr lang="en-US" sz="3600" b="0" i="0" spc="-20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2026-10</a:t>
            </a:r>
            <a:endParaRPr lang="en-US" sz="3600" b="0" i="0" dirty="0">
              <a:solidFill>
                <a:schemeClr val="tx1"/>
              </a:solidFill>
              <a:latin typeface="Times New Roman"/>
              <a:ea typeface="+mn-ea"/>
              <a:cs typeface="Times New Roman"/>
            </a:endParaRPr>
          </a:p>
        </p:txBody>
      </p:sp>
      <p:pic>
        <p:nvPicPr>
          <p:cNvPr id="1026" name="Picture 2" descr="Uninorte, Universidad del Norte - Un proyecto iconico">
            <a:extLst>
              <a:ext uri="{FF2B5EF4-FFF2-40B4-BE49-F238E27FC236}">
                <a16:creationId xmlns:a16="http://schemas.microsoft.com/office/drawing/2014/main" id="{14819737-47B0-707D-E303-E7C145DFD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98987"/>
            <a:ext cx="5853882" cy="389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Course</a:t>
            </a:r>
            <a:r>
              <a:rPr spc="-180" dirty="0"/>
              <a:t> </a:t>
            </a:r>
            <a:r>
              <a:rPr spc="-1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7948"/>
            <a:ext cx="10006330" cy="3544570"/>
          </a:xfrm>
          <a:prstGeom prst="rect">
            <a:avLst/>
          </a:prstGeom>
        </p:spPr>
        <p:txBody>
          <a:bodyPr vert="horz" wrap="square" lIns="0" tIns="322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0"/>
              </a:spcBef>
            </a:pPr>
            <a:r>
              <a:rPr sz="3600" b="1" dirty="0">
                <a:latin typeface="Times New Roman"/>
                <a:cs typeface="Times New Roman"/>
              </a:rPr>
              <a:t>Part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2:</a:t>
            </a:r>
            <a:r>
              <a:rPr sz="3600" b="1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Introduction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more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advanced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topics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Linux</a:t>
            </a:r>
            <a:endParaRPr sz="36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89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Essential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Commands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(Part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2)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spc="-30" dirty="0">
                <a:latin typeface="Times New Roman"/>
                <a:cs typeface="Times New Roman"/>
              </a:rPr>
              <a:t>Text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Editors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0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Linux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Environment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Variables</a:t>
            </a:r>
            <a:endParaRPr sz="2800">
              <a:latin typeface="Times New Roman"/>
              <a:cs typeface="Times New Roman"/>
            </a:endParaRPr>
          </a:p>
          <a:p>
            <a:pPr marL="829310" indent="-457200">
              <a:lnSpc>
                <a:spcPct val="100000"/>
              </a:lnSpc>
              <a:spcBef>
                <a:spcPts val="1875"/>
              </a:spcBef>
              <a:buClr>
                <a:srgbClr val="CC0000"/>
              </a:buClr>
              <a:buSzPct val="89285"/>
              <a:buFont typeface="Wingdings"/>
              <a:buChar char=""/>
              <a:tabLst>
                <a:tab pos="829310" algn="l"/>
              </a:tabLst>
            </a:pP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Scripting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Linux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12193"/>
              </p:ext>
            </p:extLst>
          </p:nvPr>
        </p:nvGraphicFramePr>
        <p:xfrm>
          <a:off x="898525" y="1593850"/>
          <a:ext cx="10382885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678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pwd</a:t>
                      </a:r>
                      <a:endParaRPr sz="24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Prints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7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Lists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destination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mkdir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Makes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rmdir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empty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cp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Copy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mv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Move/Rename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rm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Delete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cat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Concatenates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prints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contents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endParaRPr sz="20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248626"/>
              </p:ext>
            </p:extLst>
          </p:nvPr>
        </p:nvGraphicFramePr>
        <p:xfrm>
          <a:off x="898525" y="1593850"/>
          <a:ext cx="10382885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6788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echo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2000" spc="-6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arguments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2000" spc="-6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output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wc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word,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line,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character,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byte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count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man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 Linux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more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Paging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screenful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less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version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backward/forward</a:t>
                      </a:r>
                      <a:r>
                        <a:rPr sz="20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movement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head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lines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tail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last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lines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grep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lines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pattern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history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See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commands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typed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far</a:t>
                      </a:r>
                      <a:endParaRPr sz="20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0418" y="2381118"/>
            <a:ext cx="8030209" cy="1729739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5700" dirty="0">
                <a:solidFill>
                  <a:srgbClr val="000000"/>
                </a:solidFill>
              </a:rPr>
              <a:t>Linux</a:t>
            </a:r>
            <a:r>
              <a:rPr sz="5700" spc="-105" dirty="0">
                <a:solidFill>
                  <a:srgbClr val="000000"/>
                </a:solidFill>
              </a:rPr>
              <a:t> </a:t>
            </a:r>
            <a:r>
              <a:rPr sz="5700" dirty="0">
                <a:solidFill>
                  <a:srgbClr val="000000"/>
                </a:solidFill>
              </a:rPr>
              <a:t>Essential</a:t>
            </a:r>
            <a:r>
              <a:rPr sz="5700" spc="-105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Commands</a:t>
            </a:r>
            <a:endParaRPr sz="5700"/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4400" dirty="0">
                <a:solidFill>
                  <a:srgbClr val="000000"/>
                </a:solidFill>
              </a:rPr>
              <a:t>(Part</a:t>
            </a:r>
            <a:r>
              <a:rPr sz="4400" spc="-35" dirty="0">
                <a:solidFill>
                  <a:srgbClr val="000000"/>
                </a:solidFill>
              </a:rPr>
              <a:t> </a:t>
            </a:r>
            <a:r>
              <a:rPr sz="4400" spc="-25" dirty="0">
                <a:solidFill>
                  <a:srgbClr val="000000"/>
                </a:solidFill>
              </a:rPr>
              <a:t>2)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10085705" cy="271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Define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type: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Unlike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extensions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rarely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Linux.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35"/>
              </a:spcBef>
              <a:buFont typeface="Arial MT"/>
              <a:buChar char="•"/>
              <a:tabLst>
                <a:tab pos="1292225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example: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</a:t>
            </a:r>
            <a:r>
              <a:rPr sz="2400" dirty="0">
                <a:latin typeface="Courier New"/>
                <a:cs typeface="Courier New"/>
              </a:rPr>
              <a:t>file.txt</a:t>
            </a:r>
            <a:r>
              <a:rPr sz="2400" dirty="0">
                <a:latin typeface="Times New Roman"/>
                <a:cs typeface="Times New Roman"/>
              </a:rPr>
              <a:t>”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file.</a:t>
            </a:r>
            <a:endParaRPr sz="24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5000"/>
              </a:lnSpc>
              <a:spcBef>
                <a:spcPts val="163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9460" algn="l"/>
              </a:tabLst>
            </a:pPr>
            <a:r>
              <a:rPr sz="2400" b="1" spc="-10" dirty="0">
                <a:latin typeface="Courier New"/>
                <a:cs typeface="Courier New"/>
              </a:rPr>
              <a:t>file</a:t>
            </a:r>
            <a:r>
              <a:rPr sz="2400" b="1" spc="-85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displays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along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brief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summary 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file </a:t>
            </a:r>
            <a:r>
              <a:rPr sz="2400" spc="-10" dirty="0">
                <a:latin typeface="Times New Roman"/>
                <a:cs typeface="Times New Roman"/>
              </a:rPr>
              <a:t>contents.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376928"/>
            <a:ext cx="9593580" cy="2402205"/>
            <a:chOff x="1278636" y="4376928"/>
            <a:chExt cx="9593580" cy="2402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398264"/>
              <a:ext cx="9552431" cy="22905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376928"/>
              <a:ext cx="9371075" cy="24018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422647"/>
            <a:ext cx="9458325" cy="219646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myfile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myfile: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ASCII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text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/home/mahmadia/program.py</a:t>
            </a:r>
            <a:endParaRPr sz="1800">
              <a:latin typeface="Courier New"/>
              <a:cs typeface="Courier New"/>
            </a:endParaRPr>
          </a:p>
          <a:p>
            <a:pPr marL="91440" marR="751840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/home/mahmadia/program.py:</a:t>
            </a:r>
            <a:r>
              <a:rPr sz="1800" spc="-1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Python</a:t>
            </a:r>
            <a:r>
              <a:rPr sz="18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script,</a:t>
            </a:r>
            <a:r>
              <a:rPr sz="1800" spc="-1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ASCII</a:t>
            </a:r>
            <a:r>
              <a:rPr sz="18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text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executable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test.tar.gz</a:t>
            </a:r>
            <a:endParaRPr sz="1800">
              <a:latin typeface="Courier New"/>
              <a:cs typeface="Courier New"/>
            </a:endParaRPr>
          </a:p>
          <a:p>
            <a:pPr marL="91440" marR="482600">
              <a:lnSpc>
                <a:spcPct val="100000"/>
              </a:lnSpc>
              <a:spcBef>
                <a:spcPts val="300"/>
              </a:spcBef>
              <a:tabLst>
                <a:tab pos="774065" algn="l"/>
              </a:tabLst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test.tar.gz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: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gzip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compressed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data,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from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Unix,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last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modified:</a:t>
            </a:r>
            <a:r>
              <a:rPr sz="18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Wed Sep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4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14:04:10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2019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9893935" cy="247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CRLF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Line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Terminator:</a:t>
            </a:r>
            <a:endParaRPr sz="36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9460" algn="l"/>
              </a:tabLst>
            </a:pPr>
            <a:r>
              <a:rPr sz="2400" spc="-10" dirty="0">
                <a:latin typeface="Times New Roman"/>
                <a:cs typeface="Times New Roman"/>
              </a:rPr>
              <a:t>Windows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editors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notepad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Carriage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Feed </a:t>
            </a:r>
            <a:r>
              <a:rPr sz="2400" dirty="0">
                <a:latin typeface="Times New Roman"/>
                <a:cs typeface="Times New Roman"/>
              </a:rPr>
              <a:t>(CRLF)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character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problems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Linux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applications.</a:t>
            </a: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3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spc="-10" dirty="0">
                <a:latin typeface="Courier New"/>
                <a:cs typeface="Courier New"/>
              </a:rPr>
              <a:t>dos2unix</a:t>
            </a:r>
            <a:r>
              <a:rPr sz="2400" b="1" spc="-86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 fixes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CRLF issue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Windows.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282440"/>
            <a:ext cx="9593580" cy="2281555"/>
            <a:chOff x="1278636" y="4282440"/>
            <a:chExt cx="9593580" cy="22815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282440"/>
              <a:ext cx="9552431" cy="22814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393692"/>
              <a:ext cx="8007095" cy="212750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306823"/>
            <a:ext cx="9458325" cy="218694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windows.txt</a:t>
            </a:r>
            <a:endParaRPr sz="1800">
              <a:latin typeface="Courier New"/>
              <a:cs typeface="Courier New"/>
            </a:endParaRPr>
          </a:p>
          <a:p>
            <a:pPr marL="91440" marR="2390140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windows.txt: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ASCII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text,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with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CRLF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line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terminators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dos2unix</a:t>
            </a:r>
            <a:r>
              <a:rPr sz="18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windows.txt</a:t>
            </a:r>
            <a:endParaRPr sz="1800">
              <a:latin typeface="Courier New"/>
              <a:cs typeface="Courier New"/>
            </a:endParaRPr>
          </a:p>
          <a:p>
            <a:pPr marL="91440" marR="1710689" indent="-635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dos2unix:</a:t>
            </a:r>
            <a:r>
              <a:rPr sz="18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converting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windows.txt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Unix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format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...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windows.txt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windows.txt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: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ASCII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text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8623935" cy="250952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Compression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Packaging: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zip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packages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compresses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directories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70"/>
              </a:spcBef>
              <a:buFont typeface="Arial MT"/>
              <a:buChar char="•"/>
              <a:tabLst>
                <a:tab pos="1292225" algn="l"/>
                <a:tab pos="2054860" algn="l"/>
                <a:tab pos="3731895" algn="l"/>
                <a:tab pos="5255895" algn="l"/>
                <a:tab pos="6932930" algn="l"/>
              </a:tabLst>
            </a:pPr>
            <a:r>
              <a:rPr sz="2000" b="1" spc="-25" dirty="0">
                <a:latin typeface="Courier New"/>
                <a:cs typeface="Courier New"/>
              </a:rPr>
              <a:t>zip</a:t>
            </a:r>
            <a:r>
              <a:rPr sz="2000" b="1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[OPTIONS]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zip_file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file_dir1</a:t>
            </a:r>
            <a:r>
              <a:rPr sz="2000" dirty="0">
                <a:latin typeface="Courier New"/>
                <a:cs typeface="Courier New"/>
              </a:rPr>
              <a:t>	file_dir2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50" dirty="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1292225" lvl="1" indent="-386715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1292225" algn="l"/>
              </a:tabLst>
            </a:pPr>
            <a:r>
              <a:rPr sz="2000" b="1" spc="-10" dirty="0">
                <a:latin typeface="Courier New"/>
                <a:cs typeface="Courier New"/>
              </a:rPr>
              <a:t>-</a:t>
            </a:r>
            <a:r>
              <a:rPr sz="2000" b="1" dirty="0">
                <a:latin typeface="Courier New"/>
                <a:cs typeface="Courier New"/>
              </a:rPr>
              <a:t>r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subdirectories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zip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file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4003547"/>
            <a:ext cx="9593580" cy="2560320"/>
            <a:chOff x="1278636" y="4003547"/>
            <a:chExt cx="9593580" cy="2560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003547"/>
              <a:ext cx="9552431" cy="25603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098035"/>
              <a:ext cx="5004815" cy="24399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027932"/>
            <a:ext cx="9458325" cy="246634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91440" marR="7305040">
              <a:lnSpc>
                <a:spcPct val="113900"/>
              </a:lnSpc>
              <a:spcBef>
                <a:spcPts val="73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60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</a:t>
            </a:r>
            <a:endParaRPr sz="1800">
              <a:latin typeface="Courier New"/>
              <a:cs typeface="Courier New"/>
            </a:endParaRPr>
          </a:p>
          <a:p>
            <a:pPr marL="91440" marR="471297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zip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r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archive.zip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./*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adding:</a:t>
            </a:r>
            <a:r>
              <a:rPr sz="1800" spc="-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./test1.txt</a:t>
            </a:r>
            <a:r>
              <a:rPr sz="1800" spc="-9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(deflated</a:t>
            </a:r>
            <a:r>
              <a:rPr sz="18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62%)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adding: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./mydir/</a:t>
            </a:r>
            <a:r>
              <a:rPr sz="1800" spc="-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(deflated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0%)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6D68"/>
                </a:solidFill>
                <a:latin typeface="Courier New"/>
                <a:cs typeface="Courier New"/>
              </a:rPr>
              <a:t>archive.zip</a:t>
            </a:r>
            <a:r>
              <a:rPr sz="1800" spc="-100" dirty="0">
                <a:solidFill>
                  <a:srgbClr val="FF6D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65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8622030" cy="202692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Compression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Packaging: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unzip</a:t>
            </a:r>
            <a:r>
              <a:rPr sz="2400" b="1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lists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extracts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contents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zipped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file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l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Lists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contents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zipped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file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3678935"/>
            <a:ext cx="9593580" cy="2039620"/>
            <a:chOff x="1278636" y="3678935"/>
            <a:chExt cx="9593580" cy="20396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678935"/>
              <a:ext cx="9552431" cy="20391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825239"/>
              <a:ext cx="88391" cy="181508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3703320"/>
            <a:ext cx="9458325" cy="194500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45415" rIns="0" bIns="0" rtlCol="0">
            <a:spAutoFit/>
          </a:bodyPr>
          <a:lstStyle/>
          <a:p>
            <a:pPr marL="91440" marR="7851140">
              <a:lnSpc>
                <a:spcPct val="113900"/>
              </a:lnSpc>
              <a:spcBef>
                <a:spcPts val="114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spc="-10" dirty="0">
                <a:solidFill>
                  <a:srgbClr val="FF6D68"/>
                </a:solidFill>
                <a:latin typeface="Courier New"/>
                <a:cs typeface="Courier New"/>
              </a:rPr>
              <a:t>archive.zip</a:t>
            </a:r>
            <a:endParaRPr sz="1800">
              <a:latin typeface="Courier New"/>
              <a:cs typeface="Courier New"/>
            </a:endParaRPr>
          </a:p>
          <a:p>
            <a:pPr marL="91440" marR="580263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unzip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archive.zip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6D68"/>
                </a:solidFill>
                <a:latin typeface="Courier New"/>
                <a:cs typeface="Courier New"/>
              </a:rPr>
              <a:t>archive.zip</a:t>
            </a:r>
            <a:r>
              <a:rPr sz="1800" spc="-100" dirty="0">
                <a:solidFill>
                  <a:srgbClr val="FF6D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65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676783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Compression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Packaging: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compression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Linux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66224"/>
              </p:ext>
            </p:extLst>
          </p:nvPr>
        </p:nvGraphicFramePr>
        <p:xfrm>
          <a:off x="896557" y="3126105"/>
          <a:ext cx="10383520" cy="3198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Decompression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</a:t>
                      </a:r>
                      <a:r>
                        <a:rPr sz="2000" b="1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Ext.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0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zip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381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Packages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compresses</a:t>
                      </a:r>
                      <a:r>
                        <a:rPr sz="2000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files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directories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unzip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.zip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gzip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6934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000" spc="-114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GNU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tool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20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compressing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expanding</a:t>
                      </a:r>
                      <a:r>
                        <a:rPr sz="20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files/directories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4104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gunzip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gzip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000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.gz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bzip2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797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Compresses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files</a:t>
                      </a:r>
                      <a:r>
                        <a:rPr sz="20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Burrows-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Wheeler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block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sorting</a:t>
                      </a:r>
                      <a:r>
                        <a:rPr sz="20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compression</a:t>
                      </a:r>
                      <a:r>
                        <a:rPr sz="2000" spc="-6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algorithm.</a:t>
                      </a:r>
                      <a:endParaRPr sz="20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22574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bunzip2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bzip2</a:t>
                      </a:r>
                      <a:r>
                        <a:rPr sz="2000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.bz,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.bz2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xz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Similar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gzip</a:t>
                      </a:r>
                      <a:r>
                        <a:rPr sz="2000" spc="-70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0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bzip2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unxz</a:t>
                      </a:r>
                      <a:endParaRPr sz="20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000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.xz</a:t>
                      </a:r>
                      <a:endParaRPr sz="2000" dirty="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285324"/>
            <a:ext cx="9201150" cy="5020945"/>
          </a:xfrm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sz="3300" spc="-10" dirty="0">
                <a:latin typeface="Times New Roman"/>
                <a:cs typeface="Times New Roman"/>
              </a:rPr>
              <a:t>Archiving:</a:t>
            </a:r>
            <a:endParaRPr sz="33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22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b="1" dirty="0">
                <a:latin typeface="Courier New"/>
                <a:cs typeface="Courier New"/>
              </a:rPr>
              <a:t>tar</a:t>
            </a:r>
            <a:r>
              <a:rPr sz="2200" b="1" spc="-8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saves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“archive”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file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1292225" algn="l"/>
                <a:tab pos="3171825" algn="l"/>
                <a:tab pos="4759960" algn="l"/>
                <a:tab pos="5626735" algn="l"/>
              </a:tabLst>
            </a:pPr>
            <a:r>
              <a:rPr sz="1900" b="1" dirty="0">
                <a:latin typeface="Courier New"/>
                <a:cs typeface="Courier New"/>
              </a:rPr>
              <a:t>tar</a:t>
            </a:r>
            <a:r>
              <a:rPr sz="1900" b="1" spc="-10" dirty="0">
                <a:latin typeface="Courier New"/>
                <a:cs typeface="Courier New"/>
              </a:rPr>
              <a:t> </a:t>
            </a:r>
            <a:r>
              <a:rPr sz="1900" spc="-10" dirty="0">
                <a:latin typeface="Courier New"/>
                <a:cs typeface="Courier New"/>
              </a:rPr>
              <a:t>OPTIONS</a:t>
            </a:r>
            <a:r>
              <a:rPr sz="1900" dirty="0">
                <a:latin typeface="Courier New"/>
                <a:cs typeface="Courier New"/>
              </a:rPr>
              <a:t>	</a:t>
            </a:r>
            <a:r>
              <a:rPr sz="1900" spc="-10" dirty="0">
                <a:latin typeface="Courier New"/>
                <a:cs typeface="Courier New"/>
              </a:rPr>
              <a:t>dest_file</a:t>
            </a:r>
            <a:r>
              <a:rPr sz="1900" dirty="0">
                <a:latin typeface="Courier New"/>
                <a:cs typeface="Courier New"/>
              </a:rPr>
              <a:t>	</a:t>
            </a:r>
            <a:r>
              <a:rPr sz="1900" spc="-20" dirty="0">
                <a:latin typeface="Courier New"/>
                <a:cs typeface="Courier New"/>
              </a:rPr>
              <a:t>src1</a:t>
            </a:r>
            <a:r>
              <a:rPr sz="1900" dirty="0">
                <a:latin typeface="Courier New"/>
                <a:cs typeface="Courier New"/>
              </a:rPr>
              <a:t>	src2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50" dirty="0">
                <a:latin typeface="Courier New"/>
                <a:cs typeface="Courier New"/>
              </a:rPr>
              <a:t>…</a:t>
            </a:r>
            <a:endParaRPr sz="1900">
              <a:latin typeface="Courier New"/>
              <a:cs typeface="Courier New"/>
            </a:endParaRPr>
          </a:p>
          <a:p>
            <a:pPr lvl="1">
              <a:lnSpc>
                <a:spcPct val="100000"/>
              </a:lnSpc>
              <a:spcBef>
                <a:spcPts val="905"/>
              </a:spcBef>
              <a:buFont typeface="Arial MT"/>
              <a:buChar char="•"/>
            </a:pPr>
            <a:endParaRPr sz="1900">
              <a:latin typeface="Courier New"/>
              <a:cs typeface="Courier New"/>
            </a:endParaRPr>
          </a:p>
          <a:p>
            <a:pPr marL="1292225" lvl="1" indent="-386715">
              <a:lnSpc>
                <a:spcPct val="100000"/>
              </a:lnSpc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-f</a:t>
            </a:r>
            <a:r>
              <a:rPr sz="1900" b="1" spc="-50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define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archive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path/name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-c</a:t>
            </a:r>
            <a:r>
              <a:rPr sz="1900" b="1" spc="-45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Create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new</a:t>
            </a:r>
            <a:r>
              <a:rPr sz="1900" spc="-10" dirty="0">
                <a:latin typeface="Times New Roman"/>
                <a:cs typeface="Times New Roman"/>
              </a:rPr>
              <a:t> archive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-a</a:t>
            </a:r>
            <a:r>
              <a:rPr sz="1900" b="1" spc="-60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Append to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existing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archive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file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-x</a:t>
            </a:r>
            <a:r>
              <a:rPr sz="1900" b="1" spc="-50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Extract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contents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archive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file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-z</a:t>
            </a:r>
            <a:r>
              <a:rPr sz="1900" b="1" spc="-75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Compress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archive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-20" dirty="0">
                <a:latin typeface="Times New Roman"/>
                <a:cs typeface="Times New Roman"/>
              </a:rPr>
              <a:t> gzip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-j</a:t>
            </a:r>
            <a:r>
              <a:rPr sz="1900" b="1" spc="-75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Compress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archive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bzip2</a:t>
            </a:r>
            <a:endParaRPr sz="19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1292225" algn="l"/>
              </a:tabLst>
            </a:pPr>
            <a:r>
              <a:rPr sz="1900" b="1" dirty="0">
                <a:latin typeface="Courier New"/>
                <a:cs typeface="Courier New"/>
              </a:rPr>
              <a:t>-v</a:t>
            </a:r>
            <a:r>
              <a:rPr sz="1900" b="1" spc="-60" dirty="0">
                <a:latin typeface="Courier New"/>
                <a:cs typeface="Courier New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verbosely list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files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processed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4015104" cy="146939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spc="-10" dirty="0">
                <a:latin typeface="Times New Roman"/>
                <a:cs typeface="Times New Roman"/>
              </a:rPr>
              <a:t>Archiving: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tar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examples: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2892552"/>
            <a:ext cx="9593580" cy="3965575"/>
            <a:chOff x="1278636" y="2892552"/>
            <a:chExt cx="9593580" cy="3965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2892552"/>
              <a:ext cx="9552431" cy="3960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2906267"/>
              <a:ext cx="7185659" cy="395173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2916935"/>
            <a:ext cx="9458325" cy="386651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91440" marR="7305040">
              <a:lnSpc>
                <a:spcPct val="113900"/>
              </a:lnSpc>
              <a:spcBef>
                <a:spcPts val="9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60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</a:t>
            </a:r>
            <a:endParaRPr sz="1800">
              <a:latin typeface="Courier New"/>
              <a:cs typeface="Courier New"/>
            </a:endParaRPr>
          </a:p>
          <a:p>
            <a:pPr marL="91440" marR="4714875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tar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cf</a:t>
            </a:r>
            <a:r>
              <a:rPr sz="18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myarchive.tar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./*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 marR="5120005">
              <a:lnSpc>
                <a:spcPct val="113900"/>
              </a:lnSpc>
            </a:pPr>
            <a:r>
              <a:rPr sz="1800" dirty="0">
                <a:solidFill>
                  <a:srgbClr val="FF6D68"/>
                </a:solidFill>
                <a:latin typeface="Courier New"/>
                <a:cs typeface="Courier New"/>
              </a:rPr>
              <a:t>myarchive.tar</a:t>
            </a:r>
            <a:r>
              <a:rPr sz="1800" spc="-110" dirty="0">
                <a:solidFill>
                  <a:srgbClr val="FF6D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75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tar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xvf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myarchive.tar test1.txt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mydir/</a:t>
            </a:r>
            <a:endParaRPr sz="1800">
              <a:latin typeface="Courier New"/>
              <a:cs typeface="Courier New"/>
            </a:endParaRPr>
          </a:p>
          <a:p>
            <a:pPr marL="91440" marR="266319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tar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czf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docs.tar.gz</a:t>
            </a:r>
            <a:r>
              <a:rPr sz="1800" spc="-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/home/mahmadia/docs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ls</a:t>
            </a:r>
            <a:endParaRPr sz="1800">
              <a:latin typeface="Courier New"/>
              <a:cs typeface="Courier New"/>
            </a:endParaRPr>
          </a:p>
          <a:p>
            <a:pPr marL="91440" marR="3756025" indent="-635">
              <a:lnSpc>
                <a:spcPct val="113900"/>
              </a:lnSpc>
            </a:pPr>
            <a:r>
              <a:rPr sz="1800" dirty="0">
                <a:solidFill>
                  <a:srgbClr val="FF6D68"/>
                </a:solidFill>
                <a:latin typeface="Courier New"/>
                <a:cs typeface="Courier New"/>
              </a:rPr>
              <a:t>Docs.tar.gz</a:t>
            </a:r>
            <a:r>
              <a:rPr sz="1800" spc="-114" dirty="0">
                <a:solidFill>
                  <a:srgbClr val="FF6D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6D68"/>
                </a:solidFill>
                <a:latin typeface="Courier New"/>
                <a:cs typeface="Courier New"/>
              </a:rPr>
              <a:t>myarchive.tar</a:t>
            </a:r>
            <a:r>
              <a:rPr sz="1800" spc="-105" dirty="0">
                <a:solidFill>
                  <a:srgbClr val="FF6D68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EB4E2"/>
                </a:solidFill>
                <a:latin typeface="Courier New"/>
                <a:cs typeface="Courier New"/>
              </a:rPr>
              <a:t>mydir</a:t>
            </a:r>
            <a:r>
              <a:rPr sz="1800" spc="-75" dirty="0">
                <a:solidFill>
                  <a:srgbClr val="8EB4E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test1.txt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tar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xzf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docs.tar.gz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300227"/>
            <a:ext cx="9387840" cy="202692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Download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files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from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internet: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wget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downloads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internet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-</a:t>
            </a:r>
            <a:r>
              <a:rPr sz="2200" b="1" dirty="0">
                <a:latin typeface="Courier New"/>
                <a:cs typeface="Courier New"/>
              </a:rPr>
              <a:t>O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(capital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name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destination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636" y="3678935"/>
            <a:ext cx="9593580" cy="1149350"/>
            <a:chOff x="1278636" y="3678935"/>
            <a:chExt cx="9593580" cy="1149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678935"/>
              <a:ext cx="9552431" cy="11490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867911"/>
              <a:ext cx="88391" cy="8397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3703320"/>
            <a:ext cx="9458325" cy="105473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225425" rIns="0" bIns="0" rtlCol="0">
            <a:spAutoFit/>
          </a:bodyPr>
          <a:lstStyle/>
          <a:p>
            <a:pPr marL="91440" marR="887730">
              <a:lnSpc>
                <a:spcPct val="100000"/>
              </a:lnSpc>
              <a:spcBef>
                <a:spcPts val="1775"/>
              </a:spcBef>
              <a:tabLst>
                <a:tab pos="3505200" algn="l"/>
              </a:tabLst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wget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“https://repo.anaconda.com/miniconda/Miniconda3- latest-Linux-x86_64.sh”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miniconda3.sh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466191"/>
            <a:ext cx="9645015" cy="48355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320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 your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new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directory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name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0" dirty="0">
                <a:latin typeface="Times New Roman"/>
                <a:cs typeface="Times New Roman"/>
              </a:rPr>
              <a:t> “exercise4”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Go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“exercise4”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Choose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small directory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</a:t>
            </a:r>
            <a:endParaRPr sz="26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Try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archive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compress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directory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save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under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“exercise4”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directory.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0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Now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decompress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tar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just</a:t>
            </a:r>
            <a:r>
              <a:rPr sz="2600" spc="-10" dirty="0">
                <a:latin typeface="Times New Roman"/>
                <a:cs typeface="Times New Roman"/>
              </a:rPr>
              <a:t> created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Check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file</a:t>
            </a: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25"/>
              </a:spcBef>
              <a:buClr>
                <a:srgbClr val="CC0000"/>
              </a:buClr>
              <a:buSzPct val="90384"/>
              <a:buAutoNum type="arabicPeriod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Now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untar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file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742" y="1436912"/>
            <a:ext cx="10180955" cy="499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Access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Control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List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(ACL):</a:t>
            </a:r>
            <a:endParaRPr sz="3600">
              <a:latin typeface="Times New Roman"/>
              <a:cs typeface="Times New Roman"/>
            </a:endParaRPr>
          </a:p>
          <a:p>
            <a:pPr marL="758825" indent="-385445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Second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discretionary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permissions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override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ugo/rwx</a:t>
            </a:r>
            <a:endParaRPr sz="2400">
              <a:latin typeface="Times New Roman"/>
              <a:cs typeface="Times New Roman"/>
            </a:endParaRPr>
          </a:p>
          <a:p>
            <a:pPr marL="758825" indent="-385445">
              <a:lnSpc>
                <a:spcPct val="100000"/>
              </a:lnSpc>
              <a:spcBef>
                <a:spcPts val="17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better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granularity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setting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</a:t>
            </a:r>
            <a:endParaRPr sz="2400">
              <a:latin typeface="Times New Roman"/>
              <a:cs typeface="Times New Roman"/>
            </a:endParaRPr>
          </a:p>
          <a:p>
            <a:pPr marL="758825" indent="-385445">
              <a:lnSpc>
                <a:spcPct val="100000"/>
              </a:lnSpc>
              <a:spcBef>
                <a:spcPts val="178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Recommended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HPCC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cluster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environments</a:t>
            </a: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0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b="1" dirty="0">
                <a:latin typeface="Courier New"/>
                <a:cs typeface="Courier New"/>
              </a:rPr>
              <a:t>getfacl</a:t>
            </a:r>
            <a:r>
              <a:rPr sz="2200" b="1" spc="-2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shows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file/directory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List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1292225" algn="l"/>
              </a:tabLst>
            </a:pPr>
            <a:r>
              <a:rPr sz="2000" dirty="0">
                <a:latin typeface="Courier New"/>
                <a:cs typeface="Courier New"/>
              </a:rPr>
              <a:t>getfacl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&lt;File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|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Directory&gt;</a:t>
            </a:r>
            <a:endParaRPr sz="2000">
              <a:latin typeface="Courier New"/>
              <a:cs typeface="Courier New"/>
            </a:endParaRPr>
          </a:p>
          <a:p>
            <a:pPr marL="758825" indent="-386715">
              <a:lnSpc>
                <a:spcPct val="100000"/>
              </a:lnSpc>
              <a:spcBef>
                <a:spcPts val="175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b="1" dirty="0">
                <a:latin typeface="Courier New"/>
                <a:cs typeface="Courier New"/>
              </a:rPr>
              <a:t>setfacl</a:t>
            </a:r>
            <a:r>
              <a:rPr sz="2200" b="1" spc="-13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modify/remove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the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ACL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permissions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1292225" algn="l"/>
                <a:tab pos="6322695" algn="l"/>
              </a:tabLst>
            </a:pPr>
            <a:r>
              <a:rPr sz="2000" dirty="0">
                <a:latin typeface="Courier New"/>
                <a:cs typeface="Courier New"/>
              </a:rPr>
              <a:t>setfacl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-</a:t>
            </a:r>
            <a:r>
              <a:rPr sz="2000" dirty="0">
                <a:latin typeface="Courier New"/>
                <a:cs typeface="Courier New"/>
              </a:rPr>
              <a:t>m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[u|g]:&lt;username&gt;:rwx</a:t>
            </a:r>
            <a:r>
              <a:rPr sz="2000" dirty="0">
                <a:latin typeface="Courier New"/>
                <a:cs typeface="Courier New"/>
              </a:rPr>
              <a:t>	</a:t>
            </a:r>
            <a:r>
              <a:rPr sz="2000" spc="-10" dirty="0">
                <a:latin typeface="Courier New"/>
                <a:cs typeface="Courier New"/>
              </a:rPr>
              <a:t>&lt;File|Directory&gt;</a:t>
            </a:r>
            <a:endParaRPr sz="2000">
              <a:latin typeface="Courier New"/>
              <a:cs typeface="Courier New"/>
            </a:endParaRPr>
          </a:p>
          <a:p>
            <a:pPr marL="1292225" lvl="1" indent="-38671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1292225" algn="l"/>
              </a:tabLst>
            </a:pPr>
            <a:r>
              <a:rPr sz="2000" dirty="0">
                <a:latin typeface="Courier New"/>
                <a:cs typeface="Courier New"/>
              </a:rPr>
              <a:t>setfacl</a:t>
            </a:r>
            <a:r>
              <a:rPr sz="2000" spc="-4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-</a:t>
            </a:r>
            <a:r>
              <a:rPr sz="2000" dirty="0">
                <a:latin typeface="Courier New"/>
                <a:cs typeface="Courier New"/>
              </a:rPr>
              <a:t>x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[u|g]:&lt;username&gt;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&lt;File|Directory&gt;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65" dirty="0"/>
              <a:t> </a:t>
            </a:r>
            <a:r>
              <a:rPr dirty="0"/>
              <a:t>Essential</a:t>
            </a:r>
            <a:r>
              <a:rPr spc="-65" dirty="0"/>
              <a:t> </a:t>
            </a:r>
            <a:r>
              <a:rPr dirty="0"/>
              <a:t>Commands</a:t>
            </a:r>
            <a:r>
              <a:rPr spc="-65" dirty="0"/>
              <a:t> </a:t>
            </a:r>
            <a:r>
              <a:rPr spc="-50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78636" y="1347216"/>
            <a:ext cx="9593580" cy="5511165"/>
            <a:chOff x="1278636" y="1347216"/>
            <a:chExt cx="9593580" cy="5511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1347216"/>
              <a:ext cx="9552431" cy="55062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1353312"/>
              <a:ext cx="5689091" cy="55046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67027" y="1371600"/>
              <a:ext cx="9458325" cy="5412105"/>
            </a:xfrm>
            <a:custGeom>
              <a:avLst/>
              <a:gdLst/>
              <a:ahLst/>
              <a:cxnLst/>
              <a:rect l="l" t="t" r="r" b="b"/>
              <a:pathLst>
                <a:path w="9458325" h="5412105">
                  <a:moveTo>
                    <a:pt x="9457944" y="0"/>
                  </a:moveTo>
                  <a:lnTo>
                    <a:pt x="0" y="0"/>
                  </a:lnTo>
                  <a:lnTo>
                    <a:pt x="0" y="5411724"/>
                  </a:lnTo>
                  <a:lnTo>
                    <a:pt x="9457944" y="5411724"/>
                  </a:lnTo>
                  <a:lnTo>
                    <a:pt x="9457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7027" y="1371600"/>
              <a:ext cx="9458325" cy="5412105"/>
            </a:xfrm>
            <a:custGeom>
              <a:avLst/>
              <a:gdLst/>
              <a:ahLst/>
              <a:cxnLst/>
              <a:rect l="l" t="t" r="r" b="b"/>
              <a:pathLst>
                <a:path w="9458325" h="5412105">
                  <a:moveTo>
                    <a:pt x="0" y="0"/>
                  </a:moveTo>
                  <a:lnTo>
                    <a:pt x="9457944" y="0"/>
                  </a:lnTo>
                  <a:lnTo>
                    <a:pt x="9457944" y="5411724"/>
                  </a:lnTo>
                  <a:lnTo>
                    <a:pt x="0" y="541172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46164" y="1362545"/>
            <a:ext cx="5354955" cy="533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15795">
              <a:lnSpc>
                <a:spcPct val="113900"/>
              </a:lnSpc>
              <a:spcBef>
                <a:spcPts val="10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getfacl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test.txt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file: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test.txt</a:t>
            </a:r>
            <a:endParaRPr sz="1800">
              <a:latin typeface="Courier New"/>
              <a:cs typeface="Courier New"/>
            </a:endParaRPr>
          </a:p>
          <a:p>
            <a:pPr marL="12700" marR="3008630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owner: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mahmadia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group: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CS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user::rw-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group::r-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other::r-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ct val="113900"/>
              </a:lnSpc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setfacl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u:user1:rw</a:t>
            </a:r>
            <a:r>
              <a:rPr sz="1800" spc="-7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test.txt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getfacl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test.txt</a:t>
            </a:r>
            <a:endParaRPr sz="1800">
              <a:latin typeface="Courier New"/>
              <a:cs typeface="Courier New"/>
            </a:endParaRPr>
          </a:p>
          <a:p>
            <a:pPr marL="12700" marR="3008630">
              <a:lnSpc>
                <a:spcPct val="113900"/>
              </a:lnSpc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file: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test.txt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owner: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mahmadia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#</a:t>
            </a:r>
            <a:r>
              <a:rPr sz="1800" spc="-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group: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ourier New"/>
                <a:cs typeface="Courier New"/>
              </a:rPr>
              <a:t>CS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user::rw- user:user1:rw- group::r-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mask::rw-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other::r-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6782" y="2557645"/>
            <a:ext cx="6777990" cy="970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-20" dirty="0">
                <a:solidFill>
                  <a:srgbClr val="000000"/>
                </a:solidFill>
              </a:rPr>
              <a:t>Text</a:t>
            </a:r>
            <a:r>
              <a:rPr sz="6200" spc="-140" dirty="0">
                <a:solidFill>
                  <a:srgbClr val="000000"/>
                </a:solidFill>
              </a:rPr>
              <a:t> </a:t>
            </a:r>
            <a:r>
              <a:rPr sz="6200" dirty="0">
                <a:solidFill>
                  <a:srgbClr val="000000"/>
                </a:solidFill>
              </a:rPr>
              <a:t>Editors</a:t>
            </a:r>
            <a:r>
              <a:rPr sz="6200" spc="-160" dirty="0">
                <a:solidFill>
                  <a:srgbClr val="000000"/>
                </a:solidFill>
              </a:rPr>
              <a:t> </a:t>
            </a:r>
            <a:r>
              <a:rPr sz="6200" dirty="0">
                <a:solidFill>
                  <a:srgbClr val="000000"/>
                </a:solidFill>
              </a:rPr>
              <a:t>in</a:t>
            </a:r>
            <a:r>
              <a:rPr sz="6200" spc="-135" dirty="0">
                <a:solidFill>
                  <a:srgbClr val="000000"/>
                </a:solidFill>
              </a:rPr>
              <a:t> </a:t>
            </a:r>
            <a:r>
              <a:rPr sz="6200" spc="-10" dirty="0">
                <a:solidFill>
                  <a:srgbClr val="000000"/>
                </a:solidFill>
              </a:rPr>
              <a:t>Linux</a:t>
            </a:r>
            <a:endParaRPr sz="6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Text</a:t>
            </a:r>
            <a:r>
              <a:rPr spc="-75" dirty="0"/>
              <a:t> </a:t>
            </a:r>
            <a:r>
              <a:rPr dirty="0"/>
              <a:t>Editors</a:t>
            </a:r>
            <a:r>
              <a:rPr spc="-9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9871710" cy="433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How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edit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text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files</a:t>
            </a:r>
            <a:r>
              <a:rPr sz="3600" spc="-3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</a:t>
            </a:r>
            <a:r>
              <a:rPr sz="3600" spc="-2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Linux?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editors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Linux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nano</a:t>
            </a:r>
            <a:r>
              <a:rPr sz="2200" b="1" spc="-75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friendly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editor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dirty="0">
                <a:latin typeface="Courier New"/>
                <a:cs typeface="Courier New"/>
              </a:rPr>
              <a:t>vi/vim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powerful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editor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edit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all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kinds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text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2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spc="-20" dirty="0">
                <a:latin typeface="Courier New"/>
                <a:cs typeface="Courier New"/>
              </a:rPr>
              <a:t>emacs</a:t>
            </a:r>
            <a:r>
              <a:rPr sz="2200" b="1" spc="-75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GNU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project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written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Richard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Stallman</a:t>
            </a:r>
            <a:endParaRPr sz="2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864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training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course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cover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nano</a:t>
            </a:r>
            <a:r>
              <a:rPr sz="2400" b="1" spc="-844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vi/vim</a:t>
            </a:r>
            <a:endParaRPr sz="2400">
              <a:latin typeface="Courier New"/>
              <a:cs typeface="Courier New"/>
            </a:endParaRPr>
          </a:p>
          <a:p>
            <a:pPr marL="758825" indent="-386715">
              <a:lnSpc>
                <a:spcPct val="100000"/>
              </a:lnSpc>
              <a:spcBef>
                <a:spcPts val="178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spc="-10" dirty="0">
                <a:latin typeface="Times New Roman"/>
                <a:cs typeface="Times New Roman"/>
              </a:rPr>
              <a:t>Let’s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Courier New"/>
                <a:cs typeface="Courier New"/>
              </a:rPr>
              <a:t>nano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(Demo)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465" y="1589025"/>
            <a:ext cx="10147935" cy="444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How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does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Courier New"/>
                <a:cs typeface="Courier New"/>
              </a:rPr>
              <a:t>vi/vim</a:t>
            </a:r>
            <a:r>
              <a:rPr sz="3600" spc="-140" dirty="0">
                <a:latin typeface="Courier New"/>
                <a:cs typeface="Courier New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work?</a:t>
            </a:r>
            <a:endParaRPr sz="3600">
              <a:latin typeface="Times New Roman"/>
              <a:cs typeface="Times New Roman"/>
            </a:endParaRPr>
          </a:p>
          <a:p>
            <a:pPr marL="759460" marR="699770" indent="-387350">
              <a:lnSpc>
                <a:spcPct val="105000"/>
              </a:lnSpc>
              <a:spcBef>
                <a:spcPts val="175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9460" algn="l"/>
              </a:tabLst>
            </a:pPr>
            <a:r>
              <a:rPr sz="2400" b="1" dirty="0">
                <a:latin typeface="Courier New"/>
                <a:cs typeface="Courier New"/>
              </a:rPr>
              <a:t>vi/vim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popular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text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editor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among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programmers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 administrators</a:t>
            </a: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scripting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languages</a:t>
            </a: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7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Suitable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advanced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editing</a:t>
            </a:r>
            <a:endParaRPr sz="24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35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Courier New"/>
                <a:cs typeface="Courier New"/>
              </a:rPr>
              <a:t>vi/vim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modes:</a:t>
            </a:r>
            <a:endParaRPr sz="24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745"/>
              </a:spcBef>
              <a:buAutoNum type="arabicPeriod"/>
              <a:tabLst>
                <a:tab pos="1292225" algn="l"/>
              </a:tabLst>
            </a:pPr>
            <a:r>
              <a:rPr sz="2200" b="1" spc="-40" dirty="0">
                <a:latin typeface="Times New Roman"/>
                <a:cs typeface="Times New Roman"/>
              </a:rPr>
              <a:t>Text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mode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Courier New"/>
                <a:cs typeface="Courier New"/>
              </a:rPr>
              <a:t>i</a:t>
            </a:r>
            <a:r>
              <a:rPr sz="2200" b="1" spc="-77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(insert)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spc="-20" dirty="0">
                <a:latin typeface="Courier New"/>
                <a:cs typeface="Courier New"/>
              </a:rPr>
              <a:t>a</a:t>
            </a:r>
            <a:r>
              <a:rPr sz="2200" b="1" spc="-7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(append)</a:t>
            </a:r>
            <a:endParaRPr sz="2200">
              <a:latin typeface="Times New Roman"/>
              <a:cs typeface="Times New Roman"/>
            </a:endParaRPr>
          </a:p>
          <a:p>
            <a:pPr marL="1292225" lvl="1" indent="-386715">
              <a:lnSpc>
                <a:spcPct val="100000"/>
              </a:lnSpc>
              <a:spcBef>
                <a:spcPts val="1860"/>
              </a:spcBef>
              <a:buAutoNum type="arabicPeriod"/>
              <a:tabLst>
                <a:tab pos="1292225" algn="l"/>
              </a:tabLst>
            </a:pPr>
            <a:r>
              <a:rPr sz="2200" b="1" dirty="0">
                <a:latin typeface="Times New Roman"/>
                <a:cs typeface="Times New Roman"/>
              </a:rPr>
              <a:t>Command</a:t>
            </a:r>
            <a:r>
              <a:rPr sz="2200" b="1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mode</a:t>
            </a:r>
            <a:r>
              <a:rPr sz="2200" dirty="0">
                <a:latin typeface="Times New Roman"/>
                <a:cs typeface="Times New Roman"/>
              </a:rPr>
              <a:t>: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will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pressing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Esc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key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keyboard.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Text</a:t>
            </a:r>
            <a:r>
              <a:rPr spc="-75" dirty="0"/>
              <a:t> </a:t>
            </a:r>
            <a:r>
              <a:rPr dirty="0"/>
              <a:t>Editors</a:t>
            </a:r>
            <a:r>
              <a:rPr spc="-9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Linux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Text</a:t>
            </a:r>
            <a:r>
              <a:rPr spc="-75" dirty="0"/>
              <a:t> </a:t>
            </a:r>
            <a:r>
              <a:rPr dirty="0"/>
              <a:t>Editors</a:t>
            </a:r>
            <a:r>
              <a:rPr spc="-9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589025"/>
            <a:ext cx="6442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Some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useful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Courier New"/>
                <a:cs typeface="Courier New"/>
              </a:rPr>
              <a:t>vi/vim</a:t>
            </a:r>
            <a:r>
              <a:rPr sz="3600" spc="-125" dirty="0">
                <a:latin typeface="Courier New"/>
                <a:cs typeface="Courier New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commands: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5926328"/>
            <a:ext cx="3816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399415" algn="l"/>
              </a:tabLst>
            </a:pPr>
            <a:r>
              <a:rPr sz="2400" spc="-10" dirty="0">
                <a:latin typeface="Times New Roman"/>
                <a:cs typeface="Times New Roman"/>
              </a:rPr>
              <a:t>Let’s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vim</a:t>
            </a:r>
            <a:r>
              <a:rPr sz="2400" b="1" spc="-855" dirty="0">
                <a:latin typeface="Courier New"/>
                <a:cs typeface="Courier New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(Demo)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61105"/>
              </p:ext>
            </p:extLst>
          </p:nvPr>
        </p:nvGraphicFramePr>
        <p:xfrm>
          <a:off x="896557" y="2490259"/>
          <a:ext cx="10382885" cy="3199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12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6356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975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0763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!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Forces</a:t>
                      </a:r>
                      <a:r>
                        <a:rPr sz="24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action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insert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:q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quit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append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:q!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Force</a:t>
                      </a:r>
                      <a:r>
                        <a:rPr sz="24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quit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Delete</a:t>
                      </a:r>
                      <a:r>
                        <a:rPr sz="24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character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:w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write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y[count]y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Yank</a:t>
                      </a:r>
                      <a:r>
                        <a:rPr sz="24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(copy)</a:t>
                      </a:r>
                      <a:r>
                        <a:rPr sz="2400" spc="-6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[count]</a:t>
                      </a:r>
                      <a:r>
                        <a:rPr sz="2400" spc="-6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lines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:wq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24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spc="-6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quit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d[count]d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Cut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(Delete)</a:t>
                      </a:r>
                      <a:r>
                        <a:rPr sz="24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[count]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lines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:x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2400" spc="-7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spc="-6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quit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381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Paste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4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line</a:t>
                      </a:r>
                      <a:endParaRPr sz="24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525627"/>
            <a:ext cx="8214995" cy="50520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80"/>
              </a:spcBef>
              <a:buClr>
                <a:srgbClr val="CC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780"/>
              </a:spcBef>
              <a:buClr>
                <a:srgbClr val="CC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directory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name 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“exercise5”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780"/>
              </a:spcBef>
              <a:buClr>
                <a:srgbClr val="CC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Go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“exercise5”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directory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780"/>
              </a:spcBef>
              <a:buClr>
                <a:srgbClr val="CC0000"/>
              </a:buClr>
              <a:buSzPct val="90000"/>
              <a:buAutoNum type="arabicPeriod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new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text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editor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choice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lines</a:t>
            </a:r>
            <a:r>
              <a:rPr sz="2000" spc="-10" dirty="0">
                <a:latin typeface="Times New Roman"/>
                <a:cs typeface="Times New Roman"/>
              </a:rPr>
              <a:t> below:</a:t>
            </a:r>
            <a:endParaRPr sz="2000">
              <a:latin typeface="Times New Roman"/>
              <a:cs typeface="Times New Roman"/>
            </a:endParaRPr>
          </a:p>
          <a:p>
            <a:pPr marL="871855">
              <a:lnSpc>
                <a:spcPts val="2380"/>
              </a:lnSpc>
              <a:spcBef>
                <a:spcPts val="2265"/>
              </a:spcBef>
            </a:pPr>
            <a:r>
              <a:rPr sz="2000" dirty="0">
                <a:latin typeface="Courier New"/>
                <a:cs typeface="Courier New"/>
              </a:rPr>
              <a:t>Exercise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#5</a:t>
            </a:r>
            <a:endParaRPr sz="2000">
              <a:latin typeface="Courier New"/>
              <a:cs typeface="Courier New"/>
            </a:endParaRPr>
          </a:p>
          <a:p>
            <a:pPr marL="871855" marR="1845945">
              <a:lnSpc>
                <a:spcPts val="2400"/>
              </a:lnSpc>
              <a:spcBef>
                <a:spcPts val="60"/>
              </a:spcBef>
            </a:pPr>
            <a:r>
              <a:rPr sz="2000" dirty="0">
                <a:latin typeface="Courier New"/>
                <a:cs typeface="Courier New"/>
              </a:rPr>
              <a:t>This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Linux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text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editor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exercise </a:t>
            </a:r>
            <a:r>
              <a:rPr sz="2000" dirty="0">
                <a:latin typeface="Courier New"/>
                <a:cs typeface="Courier New"/>
              </a:rPr>
              <a:t>We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finally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made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it!</a:t>
            </a:r>
            <a:endParaRPr sz="20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869"/>
              </a:spcBef>
              <a:buClr>
                <a:srgbClr val="CC0000"/>
              </a:buClr>
              <a:buSzPct val="90000"/>
              <a:buAutoNum type="arabicPeriod" startAt="5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Save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exit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780"/>
              </a:spcBef>
              <a:buClr>
                <a:srgbClr val="CC0000"/>
              </a:buClr>
              <a:buSzPct val="90000"/>
              <a:buAutoNum type="arabicPeriod" startAt="5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Try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screen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780"/>
              </a:spcBef>
              <a:buClr>
                <a:srgbClr val="CC0000"/>
              </a:buClr>
              <a:buSzPct val="90000"/>
              <a:buAutoNum type="arabicPeriod" startAt="5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below:</a:t>
            </a:r>
            <a:endParaRPr sz="2000">
              <a:latin typeface="Times New Roman"/>
              <a:cs typeface="Times New Roman"/>
            </a:endParaRPr>
          </a:p>
          <a:p>
            <a:pPr marL="1002665" lvl="1" indent="-4572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002665" algn="l"/>
              </a:tabLst>
            </a:pP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urier New"/>
                <a:cs typeface="Courier New"/>
              </a:rPr>
              <a:t>read/write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permission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owner</a:t>
            </a:r>
            <a:endParaRPr sz="1600">
              <a:latin typeface="Times New Roman"/>
              <a:cs typeface="Times New Roman"/>
            </a:endParaRPr>
          </a:p>
          <a:p>
            <a:pPr marL="1002665" lvl="1" indent="-4572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1002665" algn="l"/>
              </a:tabLst>
            </a:pPr>
            <a:r>
              <a:rPr sz="1600" dirty="0">
                <a:latin typeface="Times New Roman"/>
                <a:cs typeface="Times New Roman"/>
              </a:rPr>
              <a:t>Set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read-only</a:t>
            </a:r>
            <a:r>
              <a:rPr sz="1600" spc="-540" dirty="0">
                <a:latin typeface="Courier New"/>
                <a:cs typeface="Courier New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permission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</a:t>
            </a:r>
            <a:endParaRPr sz="1600">
              <a:latin typeface="Times New Roman"/>
              <a:cs typeface="Times New Roman"/>
            </a:endParaRPr>
          </a:p>
          <a:p>
            <a:pPr marL="1002665" lvl="1" indent="-4572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1002665" algn="l"/>
              </a:tabLst>
            </a:pPr>
            <a:r>
              <a:rPr sz="1600" dirty="0">
                <a:latin typeface="Times New Roman"/>
                <a:cs typeface="Times New Roman"/>
              </a:rPr>
              <a:t>Give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read-only</a:t>
            </a:r>
            <a:r>
              <a:rPr sz="1600" spc="-525" dirty="0">
                <a:latin typeface="Courier New"/>
                <a:cs typeface="Courier New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permission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mahmadia</a:t>
            </a:r>
            <a:r>
              <a:rPr sz="1600" spc="-535" dirty="0">
                <a:latin typeface="Courier New"/>
                <a:cs typeface="Courier New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remove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1614" y="2473825"/>
            <a:ext cx="6667500" cy="167640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095500" marR="5080" indent="-2083435">
              <a:lnSpc>
                <a:spcPts val="6160"/>
              </a:lnSpc>
              <a:spcBef>
                <a:spcPts val="869"/>
              </a:spcBef>
            </a:pPr>
            <a:r>
              <a:rPr sz="5700" dirty="0">
                <a:solidFill>
                  <a:srgbClr val="000000"/>
                </a:solidFill>
              </a:rPr>
              <a:t>Environment</a:t>
            </a:r>
            <a:r>
              <a:rPr sz="5700" spc="-270" dirty="0">
                <a:solidFill>
                  <a:srgbClr val="000000"/>
                </a:solidFill>
              </a:rPr>
              <a:t> </a:t>
            </a:r>
            <a:r>
              <a:rPr sz="5700" spc="-630" dirty="0">
                <a:solidFill>
                  <a:srgbClr val="000000"/>
                </a:solidFill>
              </a:rPr>
              <a:t>V</a:t>
            </a:r>
            <a:r>
              <a:rPr sz="5700" spc="10" dirty="0">
                <a:solidFill>
                  <a:srgbClr val="000000"/>
                </a:solidFill>
              </a:rPr>
              <a:t>aria</a:t>
            </a:r>
            <a:r>
              <a:rPr sz="5700" spc="15" dirty="0">
                <a:solidFill>
                  <a:srgbClr val="000000"/>
                </a:solidFill>
              </a:rPr>
              <a:t>b</a:t>
            </a:r>
            <a:r>
              <a:rPr sz="5700" spc="5" dirty="0">
                <a:solidFill>
                  <a:srgbClr val="000000"/>
                </a:solidFill>
              </a:rPr>
              <a:t>les</a:t>
            </a:r>
            <a:r>
              <a:rPr sz="5700" spc="-65" dirty="0">
                <a:solidFill>
                  <a:srgbClr val="000000"/>
                </a:solidFill>
              </a:rPr>
              <a:t> </a:t>
            </a:r>
            <a:r>
              <a:rPr sz="5700" dirty="0">
                <a:solidFill>
                  <a:srgbClr val="000000"/>
                </a:solidFill>
              </a:rPr>
              <a:t>in</a:t>
            </a:r>
            <a:r>
              <a:rPr sz="5700" spc="-35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Linux</a:t>
            </a:r>
            <a:endParaRPr sz="5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55" dirty="0"/>
              <a:t> </a:t>
            </a:r>
            <a:r>
              <a:rPr dirty="0"/>
              <a:t>Environment</a:t>
            </a:r>
            <a:r>
              <a:rPr spc="-114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10212070" cy="291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What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the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environment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variable?</a:t>
            </a:r>
            <a:endParaRPr sz="3600">
              <a:latin typeface="Times New Roman"/>
              <a:cs typeface="Times New Roman"/>
            </a:endParaRPr>
          </a:p>
          <a:p>
            <a:pPr marL="759460" marR="264795" indent="-387350">
              <a:lnSpc>
                <a:spcPct val="100000"/>
              </a:lnSpc>
              <a:spcBef>
                <a:spcPts val="177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9460" algn="l"/>
              </a:tabLst>
            </a:pPr>
            <a:r>
              <a:rPr sz="2200" spc="-10" dirty="0">
                <a:latin typeface="Times New Roman"/>
                <a:cs typeface="Times New Roman"/>
              </a:rPr>
              <a:t>Environment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Variables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user-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system-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that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shell.</a:t>
            </a:r>
            <a:endParaRPr sz="22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0000"/>
              </a:lnSpc>
              <a:spcBef>
                <a:spcPts val="1730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9460" algn="l"/>
              </a:tabLst>
            </a:pPr>
            <a:r>
              <a:rPr sz="2200" spc="-10" dirty="0">
                <a:latin typeface="Times New Roman"/>
                <a:cs typeface="Times New Roman"/>
              </a:rPr>
              <a:t>Environment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30" dirty="0">
                <a:latin typeface="Times New Roman"/>
                <a:cs typeface="Times New Roman"/>
              </a:rPr>
              <a:t>Variables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useful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programs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shell scripts.</a:t>
            </a:r>
            <a:endParaRPr sz="22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72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dirty="0">
                <a:latin typeface="Times New Roman"/>
                <a:cs typeface="Times New Roman"/>
              </a:rPr>
              <a:t>Defining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simple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(do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put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spaces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around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symbol)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5264913"/>
            <a:ext cx="77031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399415" algn="l"/>
              </a:tabLst>
            </a:pP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referencing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dirty="0">
                <a:latin typeface="Courier New"/>
                <a:cs typeface="Courier New"/>
              </a:rPr>
              <a:t>$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before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name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78636" y="4570476"/>
            <a:ext cx="9593580" cy="745490"/>
            <a:chOff x="1278636" y="4570476"/>
            <a:chExt cx="9593580" cy="7454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570476"/>
              <a:ext cx="9552431" cy="7452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695444"/>
              <a:ext cx="5551931" cy="5654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67027" y="4594859"/>
            <a:ext cx="9458325" cy="65087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VAR_NAME=“This</a:t>
            </a:r>
            <a:r>
              <a:rPr sz="18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variable”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8636" y="5719571"/>
            <a:ext cx="9593580" cy="942340"/>
            <a:chOff x="1278636" y="5719571"/>
            <a:chExt cx="9593580" cy="9423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5719571"/>
              <a:ext cx="9552431" cy="93725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5783579"/>
              <a:ext cx="3503675" cy="87782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67027" y="5743955"/>
            <a:ext cx="9458325" cy="84328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91440" marR="6212840">
              <a:lnSpc>
                <a:spcPct val="113900"/>
              </a:lnSpc>
              <a:spcBef>
                <a:spcPts val="49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echo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$VAR_NAME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This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is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variable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55" dirty="0"/>
              <a:t> </a:t>
            </a:r>
            <a:r>
              <a:rPr dirty="0"/>
              <a:t>Environment</a:t>
            </a:r>
            <a:r>
              <a:rPr spc="-114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617981"/>
            <a:ext cx="7243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Common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Linux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Environment</a:t>
            </a:r>
            <a:r>
              <a:rPr sz="3600" spc="-105" dirty="0">
                <a:latin typeface="Times New Roman"/>
                <a:cs typeface="Times New Roman"/>
              </a:rPr>
              <a:t> </a:t>
            </a:r>
            <a:r>
              <a:rPr sz="3600" spc="-30" dirty="0">
                <a:latin typeface="Times New Roman"/>
                <a:cs typeface="Times New Roman"/>
              </a:rPr>
              <a:t>Variables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64592"/>
              </p:ext>
            </p:extLst>
          </p:nvPr>
        </p:nvGraphicFramePr>
        <p:xfrm>
          <a:off x="1068227" y="2743200"/>
          <a:ext cx="10042524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3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HOME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Pathname</a:t>
                      </a:r>
                      <a:r>
                        <a:rPr sz="24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4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user’s</a:t>
                      </a:r>
                      <a:r>
                        <a:rPr sz="2400" spc="-3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PATH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Colon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separated</a:t>
                      </a:r>
                      <a:r>
                        <a:rPr sz="24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2400" spc="-4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directories</a:t>
                      </a:r>
                      <a:r>
                        <a:rPr sz="2400" spc="-5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2400" spc="-2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commands</a:t>
                      </a:r>
                      <a:r>
                        <a:rPr sz="2400" spc="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found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SHELL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4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Shell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program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5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PWD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2400" spc="-3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400" spc="-5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2400" spc="-2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directory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USER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2400" spc="-4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username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2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TERM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2400" spc="-1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spc="-5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terminal</a:t>
                      </a:r>
                      <a:endParaRPr sz="24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10" dirty="0">
                          <a:solidFill>
                            <a:schemeClr val="bg1"/>
                          </a:solidFill>
                          <a:latin typeface="Courier New"/>
                          <a:cs typeface="Courier New"/>
                        </a:rPr>
                        <a:t>HOSTNAME</a:t>
                      </a:r>
                      <a:endParaRPr sz="2400">
                        <a:solidFill>
                          <a:schemeClr val="bg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sz="2400" spc="-8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computer’s</a:t>
                      </a:r>
                      <a:r>
                        <a:rPr sz="2400" spc="-8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chemeClr val="bg1"/>
                          </a:solidFill>
                          <a:latin typeface="Times New Roman"/>
                          <a:cs typeface="Times New Roman"/>
                        </a:rPr>
                        <a:t>hostname</a:t>
                      </a:r>
                      <a:endParaRPr sz="24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55" dirty="0"/>
              <a:t> </a:t>
            </a:r>
            <a:r>
              <a:rPr dirty="0"/>
              <a:t>Environment</a:t>
            </a:r>
            <a:r>
              <a:rPr spc="-114" dirty="0"/>
              <a:t> </a:t>
            </a:r>
            <a:r>
              <a:rPr spc="-2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465" y="1546353"/>
            <a:ext cx="9053830" cy="163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latin typeface="Courier New"/>
                <a:cs typeface="Courier New"/>
              </a:rPr>
              <a:t>PATH</a:t>
            </a:r>
            <a:r>
              <a:rPr sz="3600" spc="-1250" dirty="0">
                <a:latin typeface="Courier New"/>
                <a:cs typeface="Courier New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Environment</a:t>
            </a:r>
            <a:r>
              <a:rPr sz="3600" spc="-15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Variable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56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dirty="0">
                <a:latin typeface="Times New Roman"/>
                <a:cs typeface="Times New Roman"/>
              </a:rPr>
              <a:t>Shell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PATH</a:t>
            </a:r>
            <a:r>
              <a:rPr sz="2200" spc="-7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commands</a:t>
            </a:r>
            <a:endParaRPr sz="22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46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75882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PATH</a:t>
            </a:r>
            <a:r>
              <a:rPr sz="2200" spc="-7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colon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dirty="0">
                <a:latin typeface="Courier New"/>
                <a:cs typeface="Courier New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separated,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displayed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echo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3129" y="4379469"/>
            <a:ext cx="86182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399415" algn="l"/>
              </a:tabLst>
            </a:pPr>
            <a:r>
              <a:rPr sz="2200" spc="-70" dirty="0">
                <a:latin typeface="Times New Roman"/>
                <a:cs typeface="Times New Roman"/>
              </a:rPr>
              <a:t>You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directory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PATH</a:t>
            </a:r>
            <a:r>
              <a:rPr sz="2200" spc="-7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own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environment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129" y="5943093"/>
            <a:ext cx="85388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6715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SzPct val="88636"/>
              <a:buFont typeface="Wingdings"/>
              <a:buChar char=""/>
              <a:tabLst>
                <a:tab pos="399415" algn="l"/>
              </a:tabLst>
            </a:pPr>
            <a:r>
              <a:rPr sz="2200" b="1" spc="-20" dirty="0">
                <a:latin typeface="Courier New"/>
                <a:cs typeface="Courier New"/>
              </a:rPr>
              <a:t>export</a:t>
            </a:r>
            <a:r>
              <a:rPr sz="2200" b="1" spc="-745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command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promotes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shell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variable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environment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variable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78636" y="3259835"/>
            <a:ext cx="9593580" cy="1035050"/>
            <a:chOff x="1278636" y="3259835"/>
            <a:chExt cx="9593580" cy="1035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3259835"/>
              <a:ext cx="9552431" cy="10347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3372611"/>
              <a:ext cx="7054595" cy="87782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67027" y="3284220"/>
            <a:ext cx="9458325" cy="94043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echo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$PATH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/usr/local/bin:/usr/bin:/usr/local/sbin:/usr/sbin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78636" y="4812791"/>
            <a:ext cx="9593580" cy="935990"/>
            <a:chOff x="1278636" y="4812791"/>
            <a:chExt cx="9593580" cy="9359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9784" y="4812791"/>
              <a:ext cx="9552431" cy="93573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8636" y="4879847"/>
              <a:ext cx="9428987" cy="86715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7027" y="4837176"/>
            <a:ext cx="9458325" cy="84137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9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export</a:t>
            </a:r>
            <a:r>
              <a:rPr sz="18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PATH="/home/username/bin:$PATH"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750" spc="-10" dirty="0">
                <a:solidFill>
                  <a:srgbClr val="FFFFFF"/>
                </a:solidFill>
                <a:latin typeface="Courier New"/>
                <a:cs typeface="Courier New"/>
              </a:rPr>
              <a:t>/home/username/bin:/usr/local/bin:/usr/bin:/usr/local/sbin:/usr/sbin</a:t>
            </a:r>
            <a:endParaRPr sz="1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465" y="1300227"/>
            <a:ext cx="10209530" cy="272796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Set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Environment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spc="-40" dirty="0">
                <a:latin typeface="Times New Roman"/>
                <a:cs typeface="Times New Roman"/>
              </a:rPr>
              <a:t>Variables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at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login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time</a:t>
            </a:r>
            <a:endParaRPr sz="3600">
              <a:latin typeface="Times New Roman"/>
              <a:cs typeface="Times New Roman"/>
            </a:endParaRPr>
          </a:p>
          <a:p>
            <a:pPr marL="759460" marR="5080" indent="-387350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9460" algn="l"/>
              </a:tabLst>
            </a:pPr>
            <a:r>
              <a:rPr sz="2400" b="1" dirty="0">
                <a:latin typeface="Courier New"/>
                <a:cs typeface="Courier New"/>
              </a:rPr>
              <a:t>~/.bashrc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5" dirty="0">
                <a:latin typeface="Times New Roman"/>
                <a:cs typeface="Times New Roman"/>
              </a:rPr>
              <a:t> up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included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urier New"/>
                <a:cs typeface="Courier New"/>
              </a:rPr>
              <a:t>~/.bashrc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file.</a:t>
            </a:r>
            <a:endParaRPr sz="2400">
              <a:latin typeface="Times New Roman"/>
              <a:cs typeface="Times New Roman"/>
            </a:endParaRPr>
          </a:p>
          <a:p>
            <a:pPr marL="1292225" marR="187325" lvl="1" indent="-387350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HPCC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highly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recommend using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ourier New"/>
                <a:cs typeface="Courier New"/>
              </a:rPr>
              <a:t>modules</a:t>
            </a:r>
            <a:r>
              <a:rPr sz="2200" spc="-73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instead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modifying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ourier New"/>
                <a:cs typeface="Courier New"/>
              </a:rPr>
              <a:t>~/.bashrc</a:t>
            </a:r>
            <a:r>
              <a:rPr sz="2200" spc="-60" dirty="0">
                <a:latin typeface="Courier New"/>
                <a:cs typeface="Courier New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file.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i="1" dirty="0">
                <a:latin typeface="Times New Roman"/>
                <a:cs typeface="Times New Roman"/>
              </a:rPr>
              <a:t>Modules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are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covered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in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HPCC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New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User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0" dirty="0">
                <a:latin typeface="Times New Roman"/>
                <a:cs typeface="Times New Roman"/>
              </a:rPr>
              <a:t>Training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Linux</a:t>
            </a:r>
            <a:r>
              <a:rPr spc="-55" dirty="0"/>
              <a:t> </a:t>
            </a:r>
            <a:r>
              <a:rPr dirty="0"/>
              <a:t>Environment</a:t>
            </a:r>
            <a:r>
              <a:rPr spc="-114" dirty="0"/>
              <a:t> </a:t>
            </a:r>
            <a:r>
              <a:rPr spc="-25" dirty="0"/>
              <a:t>Variables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78636" y="4247388"/>
            <a:ext cx="9593580" cy="2066925"/>
            <a:chOff x="1278636" y="4247388"/>
            <a:chExt cx="9593580" cy="2066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247388"/>
              <a:ext cx="9552431" cy="20665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407407"/>
              <a:ext cx="88391" cy="181508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271771"/>
            <a:ext cx="9458325" cy="1972310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4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vim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~/.bashrc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800">
              <a:latin typeface="Courier New"/>
              <a:cs typeface="Courier New"/>
            </a:endParaRPr>
          </a:p>
          <a:p>
            <a:pPr marL="91440" marR="4029075">
              <a:lnSpc>
                <a:spcPct val="113900"/>
              </a:lnSpc>
            </a:pPr>
            <a:r>
              <a:rPr sz="1800" dirty="0">
                <a:solidFill>
                  <a:srgbClr val="AE5F00"/>
                </a:solidFill>
                <a:latin typeface="Courier New"/>
                <a:cs typeface="Courier New"/>
              </a:rPr>
              <a:t>export</a:t>
            </a:r>
            <a:r>
              <a:rPr sz="1800" spc="-75" dirty="0">
                <a:solidFill>
                  <a:srgbClr val="AE5F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C5C6"/>
                </a:solidFill>
                <a:latin typeface="Courier New"/>
                <a:cs typeface="Courier New"/>
              </a:rPr>
              <a:t>WORK=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/lustre/work/mahmadia </a:t>
            </a:r>
            <a:r>
              <a:rPr sz="1800" dirty="0">
                <a:solidFill>
                  <a:srgbClr val="AE5F00"/>
                </a:solidFill>
                <a:latin typeface="Courier New"/>
                <a:cs typeface="Courier New"/>
              </a:rPr>
              <a:t>export</a:t>
            </a:r>
            <a:r>
              <a:rPr sz="1800" spc="-75" dirty="0">
                <a:solidFill>
                  <a:srgbClr val="AE5F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C5C6"/>
                </a:solidFill>
                <a:latin typeface="Courier New"/>
                <a:cs typeface="Courier New"/>
              </a:rPr>
              <a:t>SCRATCH=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/lustre/scratch/mahmadia </a:t>
            </a:r>
            <a:r>
              <a:rPr sz="1800" dirty="0">
                <a:solidFill>
                  <a:srgbClr val="AE5F00"/>
                </a:solidFill>
                <a:latin typeface="Courier New"/>
                <a:cs typeface="Courier New"/>
              </a:rPr>
              <a:t>export</a:t>
            </a:r>
            <a:r>
              <a:rPr sz="1800" spc="-75" dirty="0">
                <a:solidFill>
                  <a:srgbClr val="AE5F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0C5C6"/>
                </a:solidFill>
                <a:latin typeface="Courier New"/>
                <a:cs typeface="Courier New"/>
              </a:rPr>
              <a:t>PATH=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“</a:t>
            </a:r>
            <a:r>
              <a:rPr sz="1800" spc="-10" dirty="0">
                <a:solidFill>
                  <a:srgbClr val="C82FC7"/>
                </a:solidFill>
                <a:latin typeface="Courier New"/>
                <a:cs typeface="Courier New"/>
              </a:rPr>
              <a:t>$PATH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:</a:t>
            </a:r>
            <a:r>
              <a:rPr sz="1800" spc="-10" dirty="0">
                <a:solidFill>
                  <a:srgbClr val="C82FC7"/>
                </a:solidFill>
                <a:latin typeface="Courier New"/>
                <a:cs typeface="Courier New"/>
              </a:rPr>
              <a:t>$WORK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/bin”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602" y="2386957"/>
            <a:ext cx="6094730" cy="1762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0700" marR="5080" indent="-1778635">
              <a:lnSpc>
                <a:spcPct val="100000"/>
              </a:lnSpc>
              <a:spcBef>
                <a:spcPts val="100"/>
              </a:spcBef>
            </a:pPr>
            <a:r>
              <a:rPr sz="5700" dirty="0">
                <a:solidFill>
                  <a:srgbClr val="000000"/>
                </a:solidFill>
              </a:rPr>
              <a:t>Basic</a:t>
            </a:r>
            <a:r>
              <a:rPr sz="5700" spc="-35" dirty="0">
                <a:solidFill>
                  <a:srgbClr val="000000"/>
                </a:solidFill>
              </a:rPr>
              <a:t> </a:t>
            </a:r>
            <a:r>
              <a:rPr sz="5700" dirty="0">
                <a:solidFill>
                  <a:srgbClr val="000000"/>
                </a:solidFill>
              </a:rPr>
              <a:t>Bash</a:t>
            </a:r>
            <a:r>
              <a:rPr sz="5700" spc="-20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Scripting </a:t>
            </a:r>
            <a:r>
              <a:rPr sz="5700" dirty="0">
                <a:solidFill>
                  <a:srgbClr val="000000"/>
                </a:solidFill>
              </a:rPr>
              <a:t>In</a:t>
            </a:r>
            <a:r>
              <a:rPr sz="5700" spc="-45" dirty="0">
                <a:solidFill>
                  <a:srgbClr val="000000"/>
                </a:solidFill>
              </a:rPr>
              <a:t> </a:t>
            </a:r>
            <a:r>
              <a:rPr sz="5700" spc="-10" dirty="0">
                <a:solidFill>
                  <a:srgbClr val="000000"/>
                </a:solidFill>
              </a:rPr>
              <a:t>Linux</a:t>
            </a:r>
            <a:endParaRPr sz="5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465" y="1617981"/>
            <a:ext cx="10066655" cy="240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What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is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Bash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Script?</a:t>
            </a:r>
            <a:endParaRPr sz="3600">
              <a:latin typeface="Times New Roman"/>
              <a:cs typeface="Times New Roman"/>
            </a:endParaRPr>
          </a:p>
          <a:p>
            <a:pPr marL="758825" marR="5080" indent="-387350">
              <a:lnSpc>
                <a:spcPct val="100000"/>
              </a:lnSpc>
              <a:spcBef>
                <a:spcPts val="181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b="1" dirty="0">
                <a:latin typeface="Times New Roman"/>
                <a:cs typeface="Times New Roman"/>
              </a:rPr>
              <a:t>Bash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script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contains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shell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commands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could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simplify</a:t>
            </a:r>
            <a:r>
              <a:rPr sz="2400" spc="-10" dirty="0">
                <a:latin typeface="Times New Roman"/>
                <a:cs typeface="Times New Roman"/>
              </a:rPr>
              <a:t> things.</a:t>
            </a:r>
            <a:endParaRPr sz="2400">
              <a:latin typeface="Times New Roman"/>
              <a:cs typeface="Times New Roman"/>
            </a:endParaRPr>
          </a:p>
          <a:p>
            <a:pPr marL="1292225" marR="613410" lvl="1" indent="-387350">
              <a:lnSpc>
                <a:spcPct val="100000"/>
              </a:lnSpc>
              <a:spcBef>
                <a:spcPts val="1605"/>
              </a:spcBef>
              <a:buFont typeface="Arial MT"/>
              <a:buChar char="•"/>
              <a:tabLst>
                <a:tab pos="1292225" algn="l"/>
              </a:tabLst>
            </a:pPr>
            <a:r>
              <a:rPr sz="2200" b="1" dirty="0">
                <a:latin typeface="Times New Roman"/>
                <a:cs typeface="Times New Roman"/>
              </a:rPr>
              <a:t>Shell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script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text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file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starts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dirty="0">
                <a:latin typeface="Courier New"/>
                <a:cs typeface="Courier New"/>
              </a:rPr>
              <a:t>#!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followed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shell </a:t>
            </a:r>
            <a:r>
              <a:rPr sz="2200" dirty="0">
                <a:latin typeface="Times New Roman"/>
                <a:cs typeface="Times New Roman"/>
              </a:rPr>
              <a:t>interpreter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(i.e.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/bin/bash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40" dirty="0"/>
              <a:t> </a:t>
            </a:r>
            <a:r>
              <a:rPr dirty="0"/>
              <a:t>Bash</a:t>
            </a:r>
            <a:r>
              <a:rPr spc="-40" dirty="0"/>
              <a:t> </a:t>
            </a:r>
            <a:r>
              <a:rPr dirty="0"/>
              <a:t>Scripting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Linux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278636" y="4107179"/>
            <a:ext cx="9593580" cy="2581910"/>
            <a:chOff x="1278636" y="4107179"/>
            <a:chExt cx="9593580" cy="2581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9784" y="4107179"/>
              <a:ext cx="9552431" cy="25816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8636" y="4212335"/>
              <a:ext cx="4323587" cy="243992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67027" y="4131564"/>
            <a:ext cx="9458325" cy="2487295"/>
          </a:xfrm>
          <a:prstGeom prst="rect">
            <a:avLst/>
          </a:prstGeom>
          <a:solidFill>
            <a:srgbClr val="000000"/>
          </a:solidFill>
          <a:ln w="9525">
            <a:solidFill>
              <a:srgbClr val="497DBA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91440" marR="6076950">
              <a:lnSpc>
                <a:spcPct val="113900"/>
              </a:lnSpc>
              <a:spcBef>
                <a:spcPts val="81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7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vim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myscript.sh </a:t>
            </a:r>
            <a:r>
              <a:rPr sz="1800" spc="-10" dirty="0">
                <a:solidFill>
                  <a:srgbClr val="045EFF"/>
                </a:solidFill>
                <a:latin typeface="Courier New"/>
                <a:cs typeface="Courier New"/>
              </a:rPr>
              <a:t>#!/bin/bash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AE5F00"/>
                </a:solidFill>
                <a:latin typeface="Courier New"/>
                <a:cs typeface="Courier New"/>
              </a:rPr>
              <a:t>echo</a:t>
            </a:r>
            <a:r>
              <a:rPr sz="1800" spc="-60" dirty="0">
                <a:solidFill>
                  <a:srgbClr val="AE5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C00000"/>
                </a:solidFill>
                <a:latin typeface="Courier New"/>
                <a:cs typeface="Courier New"/>
              </a:rPr>
              <a:t>“Hello</a:t>
            </a:r>
            <a:r>
              <a:rPr sz="1800" spc="-5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ourier New"/>
                <a:cs typeface="Courier New"/>
              </a:rPr>
              <a:t>World!”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Courier New"/>
              <a:cs typeface="Courier New"/>
            </a:endParaRPr>
          </a:p>
          <a:p>
            <a:pPr marL="91440" marR="5394325">
              <a:lnSpc>
                <a:spcPct val="113900"/>
              </a:lnSpc>
              <a:spcBef>
                <a:spcPts val="5"/>
              </a:spcBef>
            </a:pP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0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chmod</a:t>
            </a:r>
            <a:r>
              <a:rPr sz="18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+x</a:t>
            </a:r>
            <a:r>
              <a:rPr sz="18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myscript.sh </a:t>
            </a:r>
            <a:r>
              <a:rPr sz="1800" dirty="0">
                <a:solidFill>
                  <a:srgbClr val="00FF00"/>
                </a:solidFill>
                <a:latin typeface="Courier New"/>
                <a:cs typeface="Courier New"/>
              </a:rPr>
              <a:t>quanah:$</a:t>
            </a:r>
            <a:r>
              <a:rPr sz="1800" spc="-85" dirty="0">
                <a:solidFill>
                  <a:srgbClr val="00FF0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./myscript.sh</a:t>
            </a:r>
            <a:endParaRPr sz="18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Hello</a:t>
            </a:r>
            <a:r>
              <a:rPr sz="18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urier New"/>
                <a:cs typeface="Courier New"/>
              </a:rPr>
              <a:t>World!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465" y="1300227"/>
            <a:ext cx="8061325" cy="1469390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0"/>
              </a:spcBef>
            </a:pPr>
            <a:r>
              <a:rPr sz="3600" dirty="0">
                <a:latin typeface="Times New Roman"/>
                <a:cs typeface="Times New Roman"/>
              </a:rPr>
              <a:t>Control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flows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67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if-then-</a:t>
            </a:r>
            <a:r>
              <a:rPr sz="2400" dirty="0">
                <a:latin typeface="Courier New"/>
                <a:cs typeface="Courier New"/>
              </a:rPr>
              <a:t>else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following: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3824" y="3011378"/>
          <a:ext cx="3874770" cy="284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8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3415">
                <a:tc>
                  <a:txBody>
                    <a:bodyPr/>
                    <a:lstStyle/>
                    <a:p>
                      <a:pPr marR="36195" algn="ctr">
                        <a:lnSpc>
                          <a:spcPts val="20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[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$var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eq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76200">
                        <a:lnSpc>
                          <a:spcPts val="20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];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0" dirty="0">
                          <a:latin typeface="Courier New"/>
                          <a:cs typeface="Courier New"/>
                        </a:rPr>
                        <a:t>then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elif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[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$var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ne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then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36195" algn="ct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elif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[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$var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gt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then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36830" algn="ct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elif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[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$var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lt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25" dirty="0"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75"/>
                        </a:lnSpc>
                      </a:pPr>
                      <a:r>
                        <a:rPr sz="2000" spc="-20" dirty="0">
                          <a:latin typeface="Courier New"/>
                          <a:cs typeface="Courier New"/>
                        </a:rPr>
                        <a:t>then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…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42620" y="5881877"/>
            <a:ext cx="3308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Courier New"/>
                <a:cs typeface="Courier New"/>
              </a:rPr>
              <a:t>fi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40" dirty="0"/>
              <a:t> </a:t>
            </a:r>
            <a:r>
              <a:rPr dirty="0"/>
              <a:t>Bash</a:t>
            </a:r>
            <a:r>
              <a:rPr spc="-40" dirty="0"/>
              <a:t> </a:t>
            </a:r>
            <a:r>
              <a:rPr dirty="0"/>
              <a:t>Scripting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Linux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3465" y="1288797"/>
            <a:ext cx="6746240" cy="5236210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spc="-10" dirty="0">
                <a:latin typeface="Times New Roman"/>
                <a:cs typeface="Times New Roman"/>
              </a:rPr>
              <a:t>Loops</a:t>
            </a:r>
            <a:endParaRPr sz="3600">
              <a:latin typeface="Times New Roman"/>
              <a:cs typeface="Times New Roman"/>
            </a:endParaRPr>
          </a:p>
          <a:p>
            <a:pPr marL="758825" indent="-386715">
              <a:lnSpc>
                <a:spcPct val="100000"/>
              </a:lnSpc>
              <a:spcBef>
                <a:spcPts val="1440"/>
              </a:spcBef>
              <a:buClr>
                <a:srgbClr val="CC0000"/>
              </a:buClr>
              <a:buSzPct val="89583"/>
              <a:buFont typeface="Wingdings"/>
              <a:buChar char=""/>
              <a:tabLst>
                <a:tab pos="75882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ourier New"/>
                <a:cs typeface="Courier New"/>
              </a:rPr>
              <a:t>for…in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following:</a:t>
            </a:r>
            <a:endParaRPr sz="2400">
              <a:latin typeface="Times New Roman"/>
              <a:cs typeface="Times New Roman"/>
            </a:endParaRPr>
          </a:p>
          <a:p>
            <a:pPr marL="372110">
              <a:lnSpc>
                <a:spcPct val="100000"/>
              </a:lnSpc>
              <a:spcBef>
                <a:spcPts val="1430"/>
              </a:spcBef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VARIABLE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1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2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3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…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do</a:t>
            </a:r>
            <a:endParaRPr sz="2000">
              <a:latin typeface="Courier New"/>
              <a:cs typeface="Courier New"/>
            </a:endParaRPr>
          </a:p>
          <a:p>
            <a:pPr marL="372110" marR="5755640" indent="249554">
              <a:lnSpc>
                <a:spcPct val="110000"/>
              </a:lnSpc>
            </a:pPr>
            <a:r>
              <a:rPr sz="2000" spc="-50" dirty="0">
                <a:latin typeface="Courier New"/>
                <a:cs typeface="Courier New"/>
              </a:rPr>
              <a:t>… </a:t>
            </a:r>
            <a:r>
              <a:rPr sz="2000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Courier New"/>
              <a:cs typeface="Courier New"/>
            </a:endParaRPr>
          </a:p>
          <a:p>
            <a:pPr marL="37211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3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VARIABLE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file1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file2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file3;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25" dirty="0">
                <a:latin typeface="Courier New"/>
                <a:cs typeface="Courier New"/>
              </a:rPr>
              <a:t>do</a:t>
            </a:r>
            <a:endParaRPr sz="2000">
              <a:latin typeface="Courier New"/>
              <a:cs typeface="Courier New"/>
            </a:endParaRPr>
          </a:p>
          <a:p>
            <a:pPr marL="372110" marR="5755640" indent="249554">
              <a:lnSpc>
                <a:spcPct val="110000"/>
              </a:lnSpc>
            </a:pPr>
            <a:r>
              <a:rPr sz="2000" spc="-50" dirty="0">
                <a:latin typeface="Courier New"/>
                <a:cs typeface="Courier New"/>
              </a:rPr>
              <a:t>… </a:t>
            </a:r>
            <a:r>
              <a:rPr sz="2000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2000">
              <a:latin typeface="Courier New"/>
              <a:cs typeface="Courier New"/>
            </a:endParaRPr>
          </a:p>
          <a:p>
            <a:pPr marL="37211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For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VARIABLE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in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`Linux</a:t>
            </a:r>
            <a:r>
              <a:rPr sz="2000" spc="-3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command`;</a:t>
            </a:r>
            <a:r>
              <a:rPr sz="2000" spc="-25" dirty="0">
                <a:latin typeface="Courier New"/>
                <a:cs typeface="Courier New"/>
              </a:rPr>
              <a:t> do</a:t>
            </a:r>
            <a:endParaRPr sz="2000">
              <a:latin typeface="Courier New"/>
              <a:cs typeface="Courier New"/>
            </a:endParaRPr>
          </a:p>
          <a:p>
            <a:pPr marL="372110" marR="5755640" indent="249554">
              <a:lnSpc>
                <a:spcPct val="110000"/>
              </a:lnSpc>
            </a:pPr>
            <a:r>
              <a:rPr sz="2000" spc="-50" dirty="0">
                <a:latin typeface="Courier New"/>
                <a:cs typeface="Courier New"/>
              </a:rPr>
              <a:t>… </a:t>
            </a:r>
            <a:r>
              <a:rPr sz="2000" spc="-20" dirty="0"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40" dirty="0"/>
              <a:t> </a:t>
            </a:r>
            <a:r>
              <a:rPr dirty="0"/>
              <a:t>Bash</a:t>
            </a:r>
            <a:r>
              <a:rPr spc="-40" dirty="0"/>
              <a:t> </a:t>
            </a:r>
            <a:r>
              <a:rPr dirty="0"/>
              <a:t>Scripting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Linux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8C37-4499-FC8C-6916-95D5123C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the if and for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219B02A-7330-4B2F-B7D3-6F24FF3B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556188"/>
            <a:ext cx="5133660" cy="34485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828D34-F820-613B-DC95-9F62094DB227}"/>
              </a:ext>
            </a:extLst>
          </p:cNvPr>
          <p:cNvSpPr txBox="1"/>
          <p:nvPr/>
        </p:nvSpPr>
        <p:spPr>
          <a:xfrm>
            <a:off x="914400" y="5638800"/>
            <a:ext cx="600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Cree </a:t>
            </a:r>
            <a:r>
              <a:rPr lang="en-US" dirty="0" err="1"/>
              <a:t>una</a:t>
            </a:r>
            <a:r>
              <a:rPr lang="en-US" dirty="0"/>
              <a:t> version similar para </a:t>
            </a:r>
            <a:r>
              <a:rPr lang="en-US" dirty="0" err="1"/>
              <a:t>borrar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directorios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43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EA09-21B5-6B03-4D1B-A628EC74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 while and if</a:t>
            </a:r>
          </a:p>
        </p:txBody>
      </p:sp>
      <p:pic>
        <p:nvPicPr>
          <p:cNvPr id="5" name="Picture 4" descr="A computer screen shot of text&#10;&#10;Description automatically generated">
            <a:extLst>
              <a:ext uri="{FF2B5EF4-FFF2-40B4-BE49-F238E27FC236}">
                <a16:creationId xmlns:a16="http://schemas.microsoft.com/office/drawing/2014/main" id="{CDC6E5BC-42F7-C124-2DEE-303AB86A0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981200"/>
            <a:ext cx="47752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13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60AD-19B8-6AFF-185D-9F105C0D2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059D-E338-AFDA-3000-C64CF6DCB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AWK Cheat Sheet">
            <a:extLst>
              <a:ext uri="{FF2B5EF4-FFF2-40B4-BE49-F238E27FC236}">
                <a16:creationId xmlns:a16="http://schemas.microsoft.com/office/drawing/2014/main" id="{0DC493C6-2EF5-CE64-D334-F183F7800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0"/>
            <a:ext cx="107013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598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9AFF-6201-EC4F-70C2-D71379D8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Awk and files modification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24EB3-93A5-D50E-C6C2-2546B0CB0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09800"/>
            <a:ext cx="573777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79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B808-1F35-F91A-C4DC-1312D2C3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F55B1-CDA2-BA5C-4F07-1D7086AB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146" y="3429000"/>
            <a:ext cx="8946541" cy="4195481"/>
          </a:xfrm>
        </p:spPr>
        <p:txBody>
          <a:bodyPr/>
          <a:lstStyle/>
          <a:p>
            <a:r>
              <a:rPr lang="en-US" dirty="0"/>
              <a:t>awk -F',' '{ print $1, $2 }' </a:t>
            </a:r>
            <a:r>
              <a:rPr lang="en-US" dirty="0" err="1"/>
              <a:t>file.csv</a:t>
            </a:r>
            <a:endParaRPr lang="en-US" dirty="0"/>
          </a:p>
          <a:p>
            <a:r>
              <a:rPr lang="en-US" dirty="0"/>
              <a:t>awk 'BEGIN { OFS="," } { print $1, $2 }' </a:t>
            </a:r>
            <a:r>
              <a:rPr lang="en-US" dirty="0" err="1"/>
              <a:t>file.txt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 descr="AWK Command: The Swiss Army Knife of Text Processing | CentLinux">
            <a:extLst>
              <a:ext uri="{FF2B5EF4-FFF2-40B4-BE49-F238E27FC236}">
                <a16:creationId xmlns:a16="http://schemas.microsoft.com/office/drawing/2014/main" id="{BF647234-04E3-B647-535F-22D6F6C39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106" y="152400"/>
            <a:ext cx="4632748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971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Exercise</a:t>
            </a:r>
            <a:r>
              <a:rPr spc="-70" dirty="0"/>
              <a:t> </a:t>
            </a:r>
            <a:r>
              <a:rPr spc="-25" dirty="0"/>
              <a:t>#6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129" y="1473201"/>
            <a:ext cx="9582785" cy="494538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5"/>
              </a:spcBef>
              <a:buClr>
                <a:srgbClr val="CC0000"/>
              </a:buClr>
              <a:buSzPct val="89583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Go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home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Clr>
                <a:srgbClr val="CC0000"/>
              </a:buClr>
              <a:buSzPct val="89583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 directory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“exercise6”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Clr>
                <a:srgbClr val="CC0000"/>
              </a:buClr>
              <a:buSzPct val="89583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Go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“exercise6”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Clr>
                <a:srgbClr val="CC0000"/>
              </a:buClr>
              <a:buSzPct val="89583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script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name 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“show_dirs.sh”</a:t>
            </a:r>
            <a:endParaRPr sz="2400">
              <a:latin typeface="Times New Roman"/>
              <a:cs typeface="Times New Roman"/>
            </a:endParaRPr>
          </a:p>
          <a:p>
            <a:pPr marL="469265" marR="5080" indent="-457200">
              <a:lnSpc>
                <a:spcPct val="100000"/>
              </a:lnSpc>
              <a:spcBef>
                <a:spcPts val="1180"/>
              </a:spcBef>
              <a:buClr>
                <a:srgbClr val="CC0000"/>
              </a:buClr>
              <a:buSzPct val="89583"/>
              <a:buAutoNum type="arabicPeriod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“show_dirs.sh”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directories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under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20" dirty="0">
                <a:latin typeface="Times New Roman"/>
                <a:cs typeface="Times New Roman"/>
              </a:rPr>
              <a:t> home </a:t>
            </a:r>
            <a:r>
              <a:rPr sz="2400" dirty="0">
                <a:latin typeface="Times New Roman"/>
                <a:cs typeface="Times New Roman"/>
              </a:rPr>
              <a:t>directory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directory: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ts val="2735"/>
              </a:lnSpc>
            </a:pPr>
            <a:r>
              <a:rPr sz="2400" dirty="0">
                <a:latin typeface="Courier New"/>
                <a:cs typeface="Courier New"/>
              </a:rPr>
              <a:t>/home/username</a:t>
            </a:r>
            <a:r>
              <a:rPr sz="2400" spc="-7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contains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--</a:t>
            </a:r>
            <a:r>
              <a:rPr sz="2400" dirty="0">
                <a:latin typeface="Courier New"/>
                <a:cs typeface="Courier New"/>
              </a:rPr>
              <a:t>&gt;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the_directory_name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400">
              <a:latin typeface="Courier New"/>
              <a:cs typeface="Courier New"/>
            </a:endParaRPr>
          </a:p>
          <a:p>
            <a:pPr marL="469265">
              <a:lnSpc>
                <a:spcPts val="2780"/>
              </a:lnSpc>
            </a:pP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“exercise6”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directory</a:t>
            </a:r>
            <a:endParaRPr sz="2400">
              <a:latin typeface="Times New Roman"/>
              <a:cs typeface="Times New Roman"/>
            </a:endParaRPr>
          </a:p>
          <a:p>
            <a:pPr marL="469265">
              <a:lnSpc>
                <a:spcPts val="2780"/>
              </a:lnSpc>
            </a:pPr>
            <a:r>
              <a:rPr sz="2400" dirty="0">
                <a:latin typeface="Courier New"/>
                <a:cs typeface="Courier New"/>
              </a:rPr>
              <a:t>This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the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last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directory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--</a:t>
            </a:r>
            <a:r>
              <a:rPr sz="2400" dirty="0">
                <a:latin typeface="Courier New"/>
                <a:cs typeface="Courier New"/>
              </a:rPr>
              <a:t>&gt;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excercise6</a:t>
            </a:r>
            <a:endParaRPr sz="2400">
              <a:latin typeface="Courier New"/>
              <a:cs typeface="Courier New"/>
            </a:endParaRPr>
          </a:p>
          <a:p>
            <a:pPr marL="469265" indent="-456565">
              <a:lnSpc>
                <a:spcPct val="100000"/>
              </a:lnSpc>
              <a:spcBef>
                <a:spcPts val="1380"/>
              </a:spcBef>
              <a:buClr>
                <a:srgbClr val="CC0000"/>
              </a:buClr>
              <a:buSzPct val="89583"/>
              <a:buAutoNum type="arabicPeriod" startAt="6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Make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script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executable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2185</Words>
  <Application>Microsoft Macintosh PowerPoint</Application>
  <PresentationFormat>Widescreen</PresentationFormat>
  <Paragraphs>340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MT</vt:lpstr>
      <vt:lpstr>Century Gothic</vt:lpstr>
      <vt:lpstr>Courier New</vt:lpstr>
      <vt:lpstr>Times New Roman</vt:lpstr>
      <vt:lpstr>Wingdings</vt:lpstr>
      <vt:lpstr>Wingdings 3</vt:lpstr>
      <vt:lpstr>Ion</vt:lpstr>
      <vt:lpstr>Introduction to Linux (Part 2/2)</vt:lpstr>
      <vt:lpstr>Course Agenda</vt:lpstr>
      <vt:lpstr>Review</vt:lpstr>
      <vt:lpstr>Review</vt:lpstr>
      <vt:lpstr>Linux Essential Commands (Part 2)</vt:lpstr>
      <vt:lpstr>Linux Essential Commands 2</vt:lpstr>
      <vt:lpstr>Linux Essential Commands 2</vt:lpstr>
      <vt:lpstr>Linux Essential Commands 2</vt:lpstr>
      <vt:lpstr>Linux Essential Commands 2</vt:lpstr>
      <vt:lpstr>Linux Essential Commands 2</vt:lpstr>
      <vt:lpstr>Linux Essential Commands 2</vt:lpstr>
      <vt:lpstr>Linux Essential Commands 2</vt:lpstr>
      <vt:lpstr>Linux Essential Commands 2</vt:lpstr>
      <vt:lpstr>Exercise #4</vt:lpstr>
      <vt:lpstr>Linux Essential Commands 2</vt:lpstr>
      <vt:lpstr>Linux Essential Commands 2</vt:lpstr>
      <vt:lpstr>Text Editors in Linux</vt:lpstr>
      <vt:lpstr>Text Editors in Linux</vt:lpstr>
      <vt:lpstr>Text Editors in Linux</vt:lpstr>
      <vt:lpstr>Text Editors in Linux</vt:lpstr>
      <vt:lpstr>Exercise #5</vt:lpstr>
      <vt:lpstr>Environment Variables in Linux</vt:lpstr>
      <vt:lpstr>Linux Environment Variables</vt:lpstr>
      <vt:lpstr>Linux Environment Variables</vt:lpstr>
      <vt:lpstr>Linux Environment Variables</vt:lpstr>
      <vt:lpstr>Linux Environment Variables</vt:lpstr>
      <vt:lpstr>Basic Bash Scripting In Linux</vt:lpstr>
      <vt:lpstr>Basic Bash Scripting in Linux</vt:lpstr>
      <vt:lpstr>Basic Bash Scripting in Linux</vt:lpstr>
      <vt:lpstr>Basic Bash Scripting in Linux</vt:lpstr>
      <vt:lpstr>Use of the if and for</vt:lpstr>
      <vt:lpstr>Cycle while and if</vt:lpstr>
      <vt:lpstr>PowerPoint Presentation</vt:lpstr>
      <vt:lpstr>Awk and files modification</vt:lpstr>
      <vt:lpstr>PowerPoint Presentation</vt:lpstr>
      <vt:lpstr>Exercise #6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Ahmadian, Misha</dc:creator>
  <cp:lastModifiedBy>Carlos Pinilla</cp:lastModifiedBy>
  <cp:revision>3</cp:revision>
  <dcterms:created xsi:type="dcterms:W3CDTF">2026-01-20T00:28:21Z</dcterms:created>
  <dcterms:modified xsi:type="dcterms:W3CDTF">2026-02-09T15:31:29Z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2023-06-21T00:00:00Z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2026-01-20T00:00:00Z</vt:filetime>
  </property>
  <property fmtid="{D5CDD505-2E9C-101B-9397-08002B2CF9AE}" pid="5" name="Producer">
    <vt:lpwstr>Adobe PDF Library 23.3.233</vt:lpwstr>
  </property>
</Properties>
</file>